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48A9A6"/>
                </a:solidFill>
                <a:latin typeface="Calibri"/>
              </a:defRPr>
            </a:pPr>
            <a:r>
              <a:t>ISLAMIC UNIVERSITY OF TECHNOLOGY</a:t>
            </a:r>
          </a:p>
          <a:p>
            <a:pPr algn="ctr">
              <a:spcAft>
                <a:spcPts val="400"/>
              </a:spcAft>
              <a:defRPr sz="1100" b="0" i="0">
                <a:solidFill>
                  <a:srgbClr val="A0C4D0"/>
                </a:solidFill>
                <a:latin typeface="Calibri"/>
              </a:defRPr>
            </a:pPr>
            <a:r>
              <a:t>Network and Data Analysis Group (NDAG)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280160"/>
            <a:ext cx="48764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Orthogonal Defect Classification on Defects4J</a:t>
            </a:r>
          </a:p>
          <a:p>
            <a:pPr algn="ctr">
              <a:spcAft>
                <a:spcPts val="400"/>
              </a:spcAft>
              <a:defRPr sz="3000" b="1" i="0">
                <a:solidFill>
                  <a:srgbClr val="48A9A6"/>
                </a:solidFill>
                <a:latin typeface="Calibri"/>
              </a:defRPr>
            </a:pPr>
            <a:r>
              <a:t>Using an LLM-Driven Scientific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A0C4D0"/>
                </a:solidFill>
                <a:latin typeface="Calibri"/>
              </a:defRPr>
            </a:pPr>
            <a:r>
              <a:t>Thesis Pre-Defense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749039"/>
            <a:ext cx="2133295" cy="18288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85929E"/>
                </a:solidFill>
                <a:latin typeface="Calibri"/>
              </a:defRPr>
            </a:pPr>
            <a:r>
              <a:t>Presented by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Hasin Mahtab Alvee  (210042174)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Mohammad Nahiyan Kabir  (210042168)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Md. Sakib Hossain  (210042133)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85929E"/>
                </a:solidFill>
                <a:latin typeface="Calibri"/>
              </a:defRPr>
            </a:pPr>
            <a:r>
              <a:t>Supervised by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48A9A6"/>
                </a:solidFill>
                <a:latin typeface="Calibri"/>
              </a:defRPr>
            </a:pPr>
            <a:r>
              <a:t>Lutfun Nahar Lota, Assistant Professor  |  Ishmam Tashdeed, Lecturer</a:t>
            </a:r>
          </a:p>
          <a:p>
            <a:pPr algn="ctr">
              <a:spcAft>
                <a:spcPts val="400"/>
              </a:spcAft>
              <a:defRPr sz="1100" b="0" i="0">
                <a:solidFill>
                  <a:srgbClr val="A0C4D0"/>
                </a:solidFill>
                <a:latin typeface="Calibri"/>
              </a:defRPr>
            </a:pPr>
            <a:r>
              <a:t>Signal and Speech Processing Laboratory (SSL)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190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Defects4J &amp; Bug Categorization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791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Existing Classifications &amp; LLM Approaches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393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Research Gap &amp; Motivation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994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Aims of the Study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03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595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Pipeline Architecture &amp; Design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Results /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7190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Classification &amp; Comparison Data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Discussion /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791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Divergence Patterns &amp; Case Study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338328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383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6393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Known Constraints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5994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Roadmap &amp; Extensions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530352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03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5595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Summary &amp;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Introduction to Defects4J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What is Defects4J?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A curated database of real, reproducible Java bugs with developer-written patches [1]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Provides per-bug artifacts: bug reports, triggering tests, buggy code, fixed code, diffs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Standard benchmark for empirical SE research (fault localization, APR, testing)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Grown to 864+ active bugs across 17 Java projects [3]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Includes CLI tools for checkout, compilation, testing, and coverage analysis</a:t>
            </a:r>
          </a:p>
          <a:p>
            <a:pPr>
              <a:spcAft>
                <a:spcPts val="400"/>
              </a:spcAft>
              <a:defRPr sz="600" b="0" i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Continued Relevance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Actively used in 2024 fault localization studies [3]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Standard benchmark for large-scale APR experiments [5]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Manual inspections confirm diagnostic value of test-suite artifacts [6]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572000" cy="4114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10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Key Artifacts per Bug</a:t>
            </a:r>
          </a:p>
          <a:p>
            <a:pPr>
              <a:spcAft>
                <a:spcPts val="0"/>
              </a:spcAft>
              <a:defRPr sz="1300" b="1" i="0">
                <a:solidFill>
                  <a:srgbClr val="2C3E50"/>
                </a:solidFill>
                <a:latin typeface="Calibri"/>
              </a:defRPr>
            </a:pPr>
            <a:r>
              <a:t>📋  Bug Report</a:t>
            </a:r>
          </a:p>
          <a:p>
            <a:pPr>
              <a:spcAft>
                <a:spcPts val="8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     Original issue description</a:t>
            </a:r>
          </a:p>
          <a:p>
            <a:pPr>
              <a:spcAft>
                <a:spcPts val="0"/>
              </a:spcAft>
              <a:defRPr sz="1300" b="1" i="0">
                <a:solidFill>
                  <a:srgbClr val="2C3E50"/>
                </a:solidFill>
                <a:latin typeface="Calibri"/>
              </a:defRPr>
            </a:pPr>
            <a:r>
              <a:t>🧪  Triggering Tests</a:t>
            </a:r>
          </a:p>
          <a:p>
            <a:pPr>
              <a:spcAft>
                <a:spcPts val="8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     Tests that expose the bug</a:t>
            </a:r>
          </a:p>
          <a:p>
            <a:pPr>
              <a:spcAft>
                <a:spcPts val="0"/>
              </a:spcAft>
              <a:defRPr sz="1300" b="1" i="0">
                <a:solidFill>
                  <a:srgbClr val="2C3E50"/>
                </a:solidFill>
                <a:latin typeface="Calibri"/>
              </a:defRPr>
            </a:pPr>
            <a:r>
              <a:t>💻  Buggy Source Code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     Pre-fix Java source</a:t>
            </a:r>
          </a:p>
          <a:p>
            <a:pPr>
              <a:spcAft>
                <a:spcPts val="0"/>
              </a:spcAft>
              <a:defRPr sz="1300" b="1" i="0">
                <a:solidFill>
                  <a:srgbClr val="2C3E50"/>
                </a:solidFill>
                <a:latin typeface="Calibri"/>
              </a:defRPr>
            </a:pPr>
            <a:r>
              <a:t>✅  Fixed Source Code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     Developer-patched code</a:t>
            </a:r>
          </a:p>
          <a:p>
            <a:pPr>
              <a:spcAft>
                <a:spcPts val="0"/>
              </a:spcAft>
              <a:defRPr sz="1300" b="1" i="0">
                <a:solidFill>
                  <a:srgbClr val="2C3E50"/>
                </a:solidFill>
                <a:latin typeface="Calibri"/>
              </a:defRPr>
            </a:pPr>
            <a:r>
              <a:t>📊  Code Diffs</a:t>
            </a:r>
          </a:p>
          <a:p>
            <a:pPr>
              <a:spcAft>
                <a:spcPts val="8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     Buggy-to-Fixed changes</a:t>
            </a:r>
          </a:p>
          <a:p>
            <a:pPr>
              <a:spcAft>
                <a:spcPts val="0"/>
              </a:spcAft>
              <a:defRPr sz="1300" b="1" i="0">
                <a:solidFill>
                  <a:srgbClr val="2C3E50"/>
                </a:solidFill>
                <a:latin typeface="Calibri"/>
              </a:defRPr>
            </a:pPr>
            <a:r>
              <a:t>⚙️  CLI Tools</a:t>
            </a:r>
          </a:p>
          <a:p>
            <a:pPr>
              <a:spcAft>
                <a:spcPts val="8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     Checkout, compile, test,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669280"/>
            <a:ext cx="10972800" cy="7315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400"/>
              </a:spcAft>
              <a:defRPr sz="1100" b="0" i="0">
                <a:solidFill>
                  <a:srgbClr val="8B4513"/>
                </a:solidFill>
                <a:latin typeface="Calibri"/>
              </a:defRPr>
            </a:pPr>
            <a:r>
              <a:t>⚠ Nuance: 77% of fault-triggering tests embed post-hoc developer knowledge [3]; D4J’s single-fault assumption is artificial — real programs average ~9.2 co-existing faults [21]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Why Bug Categorization Matters in the SDLC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The Need for Structured Categorization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Different bug types behave differently and require different fix strategies [7]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Categorization is operationally necessary for optimizing debugging [12]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Automated classification improves triage and maintenance efficiency [8]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Predicting fault category from bug reports helps prioritize early [9]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Structured categorization provides actionable in-process measurements [12]</a:t>
            </a:r>
          </a:p>
          <a:p>
            <a:pPr>
              <a:spcAft>
                <a:spcPts val="400"/>
              </a:spcAft>
              <a:defRPr sz="600" b="0" i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1" i="0">
                <a:solidFill>
                  <a:srgbClr val="E86F51"/>
                </a:solidFill>
                <a:latin typeface="Calibri"/>
              </a:defRPr>
            </a:pPr>
            <a:r>
              <a:t>Current Challenge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Human labeling is the gold standard but too expensive at scale [8]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ML-based accuracy remains imperfect without labeled training data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• This gap motivates the need for an LLM-driven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572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Bug Occurs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68512" y="2029967"/>
            <a:ext cx="36576" cy="320040"/>
          </a:xfrm>
          <a:prstGeom prst="rect">
            <a:avLst/>
          </a:prstGeom>
          <a:solidFill>
            <a:srgbClr val="D5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377440"/>
            <a:ext cx="4572000" cy="640080"/>
          </a:xfrm>
          <a:prstGeom prst="round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Manual Triage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68512" y="3035808"/>
            <a:ext cx="36576" cy="320040"/>
          </a:xfrm>
          <a:prstGeom prst="rect">
            <a:avLst/>
          </a:prstGeom>
          <a:solidFill>
            <a:srgbClr val="D5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3383280"/>
            <a:ext cx="457200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Categorize Defect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4041648"/>
            <a:ext cx="36576" cy="320040"/>
          </a:xfrm>
          <a:prstGeom prst="rect">
            <a:avLst/>
          </a:prstGeom>
          <a:solidFill>
            <a:srgbClr val="D5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4572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Assign &amp; 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68512" y="5047488"/>
            <a:ext cx="36576" cy="320040"/>
          </a:xfrm>
          <a:prstGeom prst="rect">
            <a:avLst/>
          </a:prstGeom>
          <a:solidFill>
            <a:srgbClr val="D5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5394960"/>
            <a:ext cx="4572000" cy="640080"/>
          </a:xfrm>
          <a:prstGeom prst="round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Process Improvement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651760"/>
            <a:ext cx="2286000" cy="11887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40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⚡ BOTTLENECK</a:t>
            </a:r>
          </a:p>
          <a:p>
            <a:pPr algn="ctr"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Manual categorization is expensive, inconsistent, and does not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Existing Defects4J Classification Attempts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47472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Structural / Graph-Based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 i="1">
                <a:solidFill>
                  <a:srgbClr val="5D6D7E"/>
                </a:solidFill>
                <a:latin typeface="Calibri"/>
              </a:defRPr>
            </a:pPr>
            <a:r>
              <a:t>Van der Spuy &amp; Fischer (2025) [4]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CFG/DFG-based classification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488 bugs across 7 projects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6 control-flow + 2 data-flow classes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Captures HOW bugs manifest syntactically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74720" cy="5486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Patch-Level Taxonomy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 i="1">
                <a:solidFill>
                  <a:srgbClr val="5D6D7E"/>
                </a:solidFill>
                <a:latin typeface="Calibri"/>
              </a:defRPr>
            </a:pPr>
            <a:r>
              <a:t>Sobreira et al. (2018) 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Repair-action classification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395 bugs from D4J v1.2 only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43% involve conditional changes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Manual patch taxonomy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474720" cy="548640"/>
          </a:xfrm>
          <a:prstGeom prst="round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Small-Sample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 i="1">
                <a:solidFill>
                  <a:srgbClr val="5D6D7E"/>
                </a:solidFill>
                <a:latin typeface="Calibri"/>
              </a:defRPr>
            </a:pPr>
            <a:r>
              <a:t>Xuan et al. (2017) 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Random sample of 50 bugs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Identifies fixability patterns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Manual analysis reveals detail</a:t>
            </a:r>
          </a:p>
          <a:p>
            <a:pPr>
              <a:spcAft>
                <a:spcPts val="6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Self-acknowledged validity threat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097280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Key Observation</a:t>
            </a:r>
          </a:p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None of these approaches apply a semantic, root-cause taxonomy like ODC to the full Defects4J dataset. All are either structural-only, patch-level, or limited to small subsets.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LLM-Based Defect Classification: A Viable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Evidence Supporting LLM-Driven Classification</a:t>
            </a:r>
          </a:p>
          <a:p>
            <a:pPr>
              <a:spcAft>
                <a:spcPts val="200"/>
              </a:spcAft>
              <a:defRPr sz="1300" b="1" i="0">
                <a:solidFill>
                  <a:srgbClr val="2E86AB"/>
                </a:solidFill>
                <a:latin typeface="Calibri"/>
              </a:defRPr>
            </a:pPr>
            <a:r>
              <a:t>✦ Issue Report Classification [10]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 LLMs effectively classify issue reports — validates the LLM-for-defect-classification hypothesis</a:t>
            </a:r>
          </a:p>
          <a:p>
            <a:pPr>
              <a:spcAft>
                <a:spcPts val="200"/>
              </a:spcAft>
              <a:defRPr sz="1300" b="1" i="0">
                <a:solidFill>
                  <a:srgbClr val="2E86AB"/>
                </a:solidFill>
                <a:latin typeface="Calibri"/>
              </a:defRPr>
            </a:pPr>
            <a:r>
              <a:t>✦ Fine-Grained Categorization [11]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 LLMs + prompt engineering + few-shot achieve fine-grained bug report categorization</a:t>
            </a:r>
          </a:p>
          <a:p>
            <a:pPr>
              <a:spcAft>
                <a:spcPts val="200"/>
              </a:spcAft>
              <a:defRPr sz="1300" b="1" i="0">
                <a:solidFill>
                  <a:srgbClr val="2E86AB"/>
                </a:solidFill>
                <a:latin typeface="Calibri"/>
              </a:defRPr>
            </a:pPr>
            <a:r>
              <a:t>✦ Chain-of-Thought Prompting [19]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 CoT prompting improves LLM classification accuracy by &gt;500% on structured tasks</a:t>
            </a:r>
          </a:p>
          <a:p>
            <a:pPr>
              <a:spcAft>
                <a:spcPts val="200"/>
              </a:spcAft>
              <a:defRPr sz="1300" b="1" i="0">
                <a:solidFill>
                  <a:srgbClr val="2E86AB"/>
                </a:solidFill>
                <a:latin typeface="Calibri"/>
              </a:defRPr>
            </a:pPr>
            <a:r>
              <a:t>✦ ODC-Aligned Root Cause Analysis [18]</a:t>
            </a:r>
          </a:p>
          <a:p>
            <a:pPr>
              <a:spcAft>
                <a:spcPts val="10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 LLMs generate structured, ODC-aligned root cause explanations from bug reports &amp; stack traces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12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LLMs vs Traditional ML</a:t>
            </a:r>
          </a:p>
          <a:p>
            <a:pPr>
              <a:spcAft>
                <a:spcPts val="4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Traditional ML (SVM/NB)</a:t>
            </a:r>
          </a:p>
          <a:p>
            <a:pPr>
              <a:spcAft>
                <a:spcPts val="2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• ~77–82% accuracy [13][14]</a:t>
            </a:r>
          </a:p>
          <a:p>
            <a:pPr>
              <a:spcAft>
                <a:spcPts val="2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• Requires labeled training data</a:t>
            </a:r>
          </a:p>
          <a:p>
            <a:pPr>
              <a:spcAft>
                <a:spcPts val="2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• Sparse text limitations</a:t>
            </a:r>
          </a:p>
          <a:p>
            <a:pPr>
              <a:spcAft>
                <a:spcPts val="400"/>
              </a:spcAft>
              <a:defRPr sz="800" b="0" i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 i="0">
                <a:solidFill>
                  <a:srgbClr val="2E86AB"/>
                </a:solidFill>
                <a:latin typeface="Calibri"/>
              </a:defRPr>
            </a:pPr>
            <a:r>
              <a:t>LLM-Based Approach</a:t>
            </a:r>
          </a:p>
          <a:p>
            <a:pPr>
              <a:spcAft>
                <a:spcPts val="2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• Code-aware reasoning</a:t>
            </a:r>
          </a:p>
          <a:p>
            <a:pPr>
              <a:spcAft>
                <a:spcPts val="2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• Zero-shot / few-shot capable</a:t>
            </a:r>
          </a:p>
          <a:p>
            <a:pPr>
              <a:spcAft>
                <a:spcPts val="2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• Structured taxonomy guidance</a:t>
            </a:r>
          </a:p>
          <a:p>
            <a:pPr>
              <a:spcAft>
                <a:spcPts val="400"/>
              </a:spcAft>
              <a:defRPr sz="800" b="0" i="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Key Advantage: LLMs are code-aware — they overcome the text-only limitations of traditional ML [9]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The Taxonomy Problem for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LLMs alone are not enough — without a structured taxonomy, classification collapses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20240"/>
            <a:ext cx="5577840" cy="12801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400"/>
              </a:spcAft>
              <a:defRPr sz="1300" b="1" i="0">
                <a:solidFill>
                  <a:srgbClr val="E86F51"/>
                </a:solidFill>
                <a:latin typeface="Calibri"/>
              </a:defRPr>
            </a:pPr>
            <a:r>
              <a:t>✖  Hallucination Without Structure</a:t>
            </a:r>
          </a:p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LLMs hallucinate heavily when classifying bugs without concrete stack traces or a guiding taxonomy [18]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577840" cy="12801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✖  Inconsistent Labels</a:t>
            </a:r>
          </a:p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Without standardization, different LLM runs produce different category labels for the same bug [11]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474720"/>
            <a:ext cx="5577840" cy="12801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400"/>
              </a:spcAft>
              <a:defRPr sz="1300" b="1" i="0">
                <a:solidFill>
                  <a:srgbClr val="2E86AB"/>
                </a:solidFill>
                <a:latin typeface="Calibri"/>
              </a:defRPr>
            </a:pPr>
            <a:r>
              <a:t>✖  Incompatible Taxonomies</a:t>
            </a:r>
          </a:p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Ad hoc ML classification yields a proliferation of incompatible categories that can’t be compared [8]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474720"/>
            <a:ext cx="5577840" cy="12801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400"/>
              </a:spcAft>
              <a:defRPr sz="1300" b="1" i="0">
                <a:solidFill>
                  <a:srgbClr val="8E44AD"/>
                </a:solidFill>
                <a:latin typeface="Calibri"/>
              </a:defRPr>
            </a:pPr>
            <a:r>
              <a:t>✖  Unactionable Results</a:t>
            </a:r>
          </a:p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Classification without a principled framework produces vague labels with no operational value [14]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212080"/>
            <a:ext cx="11430000" cy="10058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→  Solution: A Guiding Taxonomy</a:t>
            </a:r>
          </a:p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A well-established, mathematically rigorous taxonomy is needed to constrain and guide LLM outputs. That taxonomy is Orthogonal Defect Classification (ODC) — a proven framework with 30+ years of industrial validation [12].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Orthogonal Defect Classification (ODC)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 i="1">
                <a:solidFill>
                  <a:srgbClr val="2C3E50"/>
                </a:solidFill>
                <a:latin typeface="Calibri"/>
              </a:defRPr>
            </a:pPr>
            <a:r>
              <a:t>Chillarege et al. (1992) [12]: A mathematically rigorous taxonomy providing actionable, in-process measurements for software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029200" cy="457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OPENER Attributes (When Defect Found)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▸ Activity: Development phase when defect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▸ Trigger: Testing condition that exposed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741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▸ Impact: Effect on customer /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12064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CLOSER Attributes (When Defect Fixed)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▸ Defect Type: Root cause category (7 types)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▸ Target: Design/Code artifact affected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009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▸ Qualifier: Missing, Incorrect, or Extraneous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484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▸ Age: Base, New, or Rewritten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959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▸ Source: In-house, Library, or Vendor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10972800" cy="457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The 7 ODC Defect Types (Target = Design/Code)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● Algorithm/Method  — Wrong computational logic  [C&amp;DF]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48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● Assignment/Initialization  — Wrong value / initialization  [C&amp;DF]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95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● Checking  — Missing / wrong validation  [C&amp;DF]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43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● Timing/Serialization  — Concurrency / ordering issue  [C&amp;DF]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● Function/Class/Object  — Design-level gap  [Structural]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48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● Interface/O-O Messages  — Component boundary issue  [Structural]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95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● Relationship  — Entity association problem  [Structural]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080760"/>
            <a:ext cx="1097280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spcAft>
                <a:spcPts val="400"/>
              </a:spcAft>
              <a:defRPr sz="1100" b="0" i="1">
                <a:solidFill>
                  <a:srgbClr val="1B3A5C"/>
                </a:solidFill>
                <a:latin typeface="Calibri"/>
              </a:defRPr>
            </a:pPr>
            <a:r>
              <a:t>ODC remains viable in 2024 — applied to AI-generated code [17]. Industrial adoption validated by AutoODC [13]. Used by RCEGen for root cause analysis [18].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Limitations of Existing Classification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Critical Limitations in Current Defects4J Classification</a:t>
            </a:r>
          </a:p>
          <a:p>
            <a:pPr>
              <a:spcAft>
                <a:spcPts val="2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✗  Coverage Gap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   No study has fully labeled all 864+ D4J bugs — existing work covers only 50–488 bugs [2][4][6]</a:t>
            </a:r>
          </a:p>
          <a:p>
            <a:pPr>
              <a:spcAft>
                <a:spcPts val="2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✗  Structural-Only Taxonomy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   CFG/DFG approaches capture HOW bugs manifest, not WHY they exist semantically [4]</a:t>
            </a:r>
          </a:p>
          <a:p>
            <a:pPr>
              <a:spcAft>
                <a:spcPts val="2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✗  Patch-Level, Not Root-Cause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   Repair-action classification describes fix patterns, not the underlying mechanism [2]</a:t>
            </a:r>
          </a:p>
          <a:p>
            <a:pPr>
              <a:spcAft>
                <a:spcPts val="2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✗  Post-Fix Dependency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   Existing ML approaches require labeled training data (D4J has none for ODC) or post-fix code [14]</a:t>
            </a:r>
          </a:p>
          <a:p>
            <a:pPr>
              <a:spcAft>
                <a:spcPts val="2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✗  Descriptive, Not Diagnostic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     Current labels are too low-level or inconsistent for decision-making in triage &amp; QA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30000" cy="14630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600"/>
              </a:spcAft>
              <a:defRPr sz="1800" b="1" i="0">
                <a:solidFill>
                  <a:srgbClr val="E86F51"/>
                </a:solidFill>
                <a:latin typeface="Calibri"/>
              </a:defRPr>
            </a:pPr>
            <a:r>
              <a:t>The Core Gap</a:t>
            </a:r>
          </a:p>
          <a:p>
            <a:pPr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No study has fully labeled all Defects4J bugs. Existing work covers only 50–488 bugs, uses structural-only taxonomies, or requires post-fix code — preventing pre-triage use.</a:t>
            </a:r>
          </a:p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There exists no context-aware, semantically-grounded, scalable classification of the full Defects4J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What’s Needed: A pipeline that is…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520440"/>
            <a:ext cx="2697480" cy="1554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5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✓ Context-Aware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Multi-modal evidence:</a:t>
            </a:r>
            <a:br/>
            <a:r>
              <a:t>code, tests, bug reports,</a:t>
            </a:r>
            <a:br/>
            <a:r>
              <a:t>stack traces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520440"/>
            <a:ext cx="2697480" cy="1554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500"/>
              </a:spcAft>
              <a:defRPr sz="1300" b="1" i="0">
                <a:solidFill>
                  <a:srgbClr val="2E86AB"/>
                </a:solidFill>
                <a:latin typeface="Calibri"/>
              </a:defRPr>
            </a:pPr>
            <a:r>
              <a:t>✓ Semantic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Root-cause classification,</a:t>
            </a:r>
            <a:br/>
            <a:r>
              <a:t>not syntactic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520440"/>
            <a:ext cx="2697480" cy="1554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500"/>
              </a:spcAft>
              <a:defRPr sz="1300" b="1" i="0">
                <a:solidFill>
                  <a:srgbClr val="48A9A6"/>
                </a:solidFill>
                <a:latin typeface="Calibri"/>
              </a:defRPr>
            </a:pPr>
            <a:r>
              <a:t>✓ Taxonomy-Constrained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ODC prevents hallucination</a:t>
            </a:r>
            <a:br/>
            <a:r>
              <a:t>&amp; ensures comparability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3520440"/>
            <a:ext cx="2697480" cy="1554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500"/>
              </a:spcAft>
              <a:defRPr sz="1300" b="1" i="0">
                <a:solidFill>
                  <a:srgbClr val="8E44AD"/>
                </a:solidFill>
                <a:latin typeface="Calibri"/>
              </a:defRPr>
            </a:pPr>
            <a:r>
              <a:t>✓ Scalable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LLM-based for full dataset</a:t>
            </a:r>
            <a:br/>
            <a:r>
              <a:t>without manual labeling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49240"/>
            <a:ext cx="1143000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→  Our approach: encode Chillarege’s ODC workflow into an LLM classification pipeline with structured scientific debugging [12][15]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822960" cy="457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RO-1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463040"/>
            <a:ext cx="996696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Build an automated pipeline that classifies Defects4J bugs into ODC defect types using LLM reasoning guided by structured scientific debugging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82296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RO-2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651760"/>
            <a:ext cx="996696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Collect bug evidence in two modes — pre-fix (symptoms only) and post-fix (with the actual code fix) — mapping Defects4J artifacts to ODC opener and closer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822960" cy="457200"/>
          </a:xfrm>
          <a:prstGeom prst="round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RO-3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840480"/>
            <a:ext cx="996696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Apply Zeller’s scientific debugging methodology as an LLM prompting strategy to produce explainable, step-by-step classifications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822960" cy="457200"/>
          </a:xfrm>
          <a:prstGeom prst="round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RO-4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5029200"/>
            <a:ext cx="996696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400"/>
              </a:spcAft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Design a 4-tier evaluation framework that compares pre-fix vs post-fix classifications using strict match, top-2 match, family match, and Cohen’s Kappa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0972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spcAft>
                <a:spcPts val="40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Design Inspiration:</a:t>
            </a:r>
          </a:p>
          <a:p>
            <a:pPr>
              <a:spcAft>
                <a:spcPts val="400"/>
              </a:spcAft>
              <a:defRPr sz="1200" b="0" i="1">
                <a:solidFill>
                  <a:srgbClr val="2C3E50"/>
                </a:solidFill>
                <a:latin typeface="Calibri"/>
              </a:defRPr>
            </a:pPr>
            <a:r>
              <a:t>Just as Kang et al. (2023) [15] encoded Zeller’s scientific debugging into an LLM pipeline for fault localization, our approach encodes Chillarege’s ODC workflow into an LLM classification pipeline with structured prompting.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ODC × Defects4J: Natural Artifact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577840" cy="4114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OPENER (Discovery Story)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74519"/>
            <a:ext cx="201168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202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874519"/>
            <a:ext cx="146304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Test type tells us WHAT was</a:t>
            </a:r>
            <a:br/>
            <a:r>
              <a:t>being done when defect surfaced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26079"/>
            <a:ext cx="201168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Stack Traces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7179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926079"/>
            <a:ext cx="146304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79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Runtime context shows WHAT</a:t>
            </a:r>
            <a:br/>
            <a:r>
              <a:t>condition woke the dormant defect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77639"/>
            <a:ext cx="201168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Bug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0233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977639"/>
            <a:ext cx="146304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39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User-visible symptom describes</a:t>
            </a:r>
            <a:br/>
            <a:r>
              <a:t>the consequence (crash, wrong output)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557784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CLOSER (Repair Story)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74519"/>
            <a:ext cx="20116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Code Diffs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9202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2E86A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874519"/>
            <a:ext cx="18288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Type + Qualifier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468879"/>
            <a:ext cx="443484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Diff reveals the semantic mistake</a:t>
            </a:r>
            <a:br/>
            <a:r>
              <a:t>(Type) and how it manifested</a:t>
            </a:r>
            <a:br/>
            <a:r>
              <a:t>(Missing / Incorrect / Extraneous)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29000"/>
            <a:ext cx="20116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Modified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2E86A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3429000"/>
            <a:ext cx="18288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Target + 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023360"/>
            <a:ext cx="443484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WHERE the fix was applied</a:t>
            </a:r>
            <a:br/>
            <a:r>
              <a:t>(Target = Code) and WHEN the</a:t>
            </a:r>
            <a:br/>
            <a:r>
              <a:t>defect was injected (Base / New)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166360"/>
            <a:ext cx="11430000" cy="10515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Key Insight: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Tests → Stack Traces → Bug Reports form the Opener chain (Activity → Trigger → Impact) — the discovery story.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Code Diffs → Modified Class form the Closer chain (Type/Qualifier → Target/Age) — the repair story.</a:t>
            </a:r>
          </a:p>
          <a:p>
            <a:pPr>
              <a:spcAft>
                <a:spcPts val="400"/>
              </a:spcAft>
              <a:defRPr sz="900" b="0" i="1">
                <a:solidFill>
                  <a:srgbClr val="5D6D7E"/>
                </a:solidFill>
                <a:latin typeface="Calibri"/>
              </a:defRPr>
            </a:pPr>
            <a:r>
              <a:t>ODC’s two-phase design keeps subjective discovery data separate from objective technical data [12].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Pipeline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645920" cy="3657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1. 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Evidence</a:t>
            </a:r>
            <a:br/>
            <a:r>
              <a:t>Gathering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D4J CLI → multi-modal</a:t>
            </a:r>
            <a:br/>
            <a:r>
              <a:t>evidence → context.json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747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164592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2. 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2E86AB"/>
                </a:solidFill>
                <a:latin typeface="Calibri"/>
              </a:defRPr>
            </a:pPr>
            <a:r>
              <a:t>LLM</a:t>
            </a:r>
            <a:br/>
            <a:r>
              <a:t>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context.json → ODC prompt</a:t>
            </a:r>
            <a:br/>
            <a:r>
              <a:t>→ LLM → classification.json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4747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188720"/>
            <a:ext cx="1645920" cy="365760"/>
          </a:xfrm>
          <a:prstGeom prst="round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3. 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48A9A6"/>
                </a:solidFill>
                <a:latin typeface="Calibri"/>
              </a:defRPr>
            </a:pPr>
            <a:r>
              <a:t>Evaluation</a:t>
            </a:r>
            <a:br/>
            <a:r>
              <a:t>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Pre-fix vs Post-fix</a:t>
            </a:r>
            <a:br/>
            <a:r>
              <a:t>→ multi-tier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1097280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spcAft>
                <a:spcPts val="6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Key Architectural Principles</a:t>
            </a:r>
          </a:p>
          <a:p>
            <a:pPr>
              <a:spcAft>
                <a:spcPts val="3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▸ File-oriented, synchronous — no database, queue, or async orchestration</a:t>
            </a:r>
          </a:p>
          <a:p>
            <a:pPr>
              <a:spcAft>
                <a:spcPts val="3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▸ Multi-provider LLM support (Gemini, OpenRouter, OpenAI-compatible)</a:t>
            </a:r>
          </a:p>
          <a:p>
            <a:pPr>
              <a:spcAft>
                <a:spcPts val="3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▸ Pre-fix evidence by default; post-fix via explicit --include-fix-diff</a:t>
            </a:r>
          </a:p>
          <a:p>
            <a:pPr>
              <a:spcAft>
                <a:spcPts val="3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▸ Hidden oracle exclusion: classes.modified never enters the LLM prompt</a:t>
            </a:r>
          </a:p>
          <a:p>
            <a:pPr>
              <a:spcAft>
                <a:spcPts val="3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  ▸ Inspired by AutoSD [15]: Zeller’s scientific debugging in structured prompts [16]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Evidence Collection: Building context.json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Query D4J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Project, bug info, report URL, modified classes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Fetch Bug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JIRA / GitHub API / HTML → opener-side 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11879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Checkout &amp; Compile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Buggy version checkout → compile → test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709159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Parse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Extract test names, stack traces, exception headlines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417320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Select Suspicious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Filter framework / JDK frames → project source priority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514600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Extract Code Snippets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Production (±12 lines) + test source (±18 lines)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611879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Coverage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Cobertura XML → line/branch execution rates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59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Serialize context.json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983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D7E"/>
                </a:solidFill>
                <a:latin typeface="Calibri"/>
              </a:defRPr>
            </a:pPr>
            <a:r>
              <a:t>Complete evidence payload for classification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52160"/>
            <a:ext cx="10972800" cy="4572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spcAft>
                <a:spcPts val="40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⚠ Hidden Oracle: classes.modified stored in hidden_oracles — deliberately excluded from LLM prompt to prevent data leakage [3]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Evidence Modes: Pre-fix vs Post-fix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577840" cy="4114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5577840" cy="457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PRE-FIX MODE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LLM Sees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Symptoms only</a:t>
            </a:r>
          </a:p>
          <a:p>
            <a:pPr>
              <a:spcAft>
                <a:spcPts val="20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Evidence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Stack traces, tests, errors,</a:t>
            </a:r>
            <a:br/>
            <a:r>
              <a:t>code snippets, bug report</a:t>
            </a:r>
          </a:p>
          <a:p>
            <a:pPr>
              <a:spcAft>
                <a:spcPts val="20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Perspective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"What went wrong?"</a:t>
            </a:r>
          </a:p>
          <a:p>
            <a:pPr>
              <a:spcAft>
                <a:spcPts val="20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ODC Side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Opener (trigger, activity, impact)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50292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0" i="1">
                <a:solidFill>
                  <a:srgbClr val="5D6D7E"/>
                </a:solidFill>
                <a:latin typeface="Calibri"/>
              </a:defRPr>
            </a:pPr>
            <a:r>
              <a:t>≈  A doctor diagnosing from symptoms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577840" cy="4114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57784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POST-FIX MODE (--include-fix-diff)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 i="0">
                <a:solidFill>
                  <a:srgbClr val="2E86AB"/>
                </a:solidFill>
                <a:latin typeface="Calibri"/>
              </a:defRPr>
            </a:pPr>
            <a:r>
              <a:t>LLM Sees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Symptoms + actual code fix</a:t>
            </a:r>
          </a:p>
          <a:p>
            <a:pPr>
              <a:spcAft>
                <a:spcPts val="200"/>
              </a:spcAft>
              <a:defRPr sz="1200" b="1" i="0">
                <a:solidFill>
                  <a:srgbClr val="2E86AB"/>
                </a:solidFill>
                <a:latin typeface="Calibri"/>
              </a:defRPr>
            </a:pPr>
            <a:r>
              <a:t>Evidence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All pre-fix evidence +</a:t>
            </a:r>
            <a:br/>
            <a:r>
              <a:t>buggy→fixed diff</a:t>
            </a:r>
          </a:p>
          <a:p>
            <a:pPr>
              <a:spcAft>
                <a:spcPts val="200"/>
              </a:spcAft>
              <a:defRPr sz="1200" b="1" i="0">
                <a:solidFill>
                  <a:srgbClr val="2E86AB"/>
                </a:solidFill>
                <a:latin typeface="Calibri"/>
              </a:defRPr>
            </a:pPr>
            <a:r>
              <a:t>Perspective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"What was changed?"</a:t>
            </a:r>
          </a:p>
          <a:p>
            <a:pPr>
              <a:spcAft>
                <a:spcPts val="200"/>
              </a:spcAft>
              <a:defRPr sz="1200" b="1" i="0">
                <a:solidFill>
                  <a:srgbClr val="2E86AB"/>
                </a:solidFill>
                <a:latin typeface="Calibri"/>
              </a:defRPr>
            </a:pPr>
            <a:r>
              <a:t>ODC Side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Closer (type, qualifier, age, source)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297680"/>
            <a:ext cx="50292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0" i="1">
                <a:solidFill>
                  <a:srgbClr val="5D6D7E"/>
                </a:solidFill>
                <a:latin typeface="Calibri"/>
              </a:defRPr>
            </a:pPr>
            <a:r>
              <a:t>≈  A pathologist with biopsy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43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85929E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486400"/>
            <a:ext cx="1143000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spcAft>
                <a:spcPts val="40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ODC’s opener/closer model requires evidence from both perspectives [12]. Pre-fix captures opener evidence, post-fix captures closer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ODC Taxonomy &amp; Prompt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System Prompt: 6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3566160" cy="19202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/>
          <a:lstStyle/>
          <a:p>
            <a:pPr algn="ctr">
              <a:spcAft>
                <a:spcPts val="6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1. ODC Taxonomy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7 types with definitions,</a:t>
            </a:r>
            <a:br/>
            <a:r>
              <a:t>indicators &amp; contrastive</a:t>
            </a:r>
            <a:br/>
            <a:r>
              <a:t>“distinguish_from” 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737360"/>
            <a:ext cx="3566160" cy="19202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/>
          <a:lstStyle/>
          <a:p>
            <a:pPr algn="ctr">
              <a:spcAft>
                <a:spcPts val="6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2. Anti-Bias Rules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“Do NOT default to</a:t>
            </a:r>
            <a:br/>
            <a:r>
              <a:t>Function/Class/Object” —</a:t>
            </a:r>
            <a:br/>
            <a:r>
              <a:t>simpler explanations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566160" cy="19202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/>
          <a:lstStyle/>
          <a:p>
            <a:pPr algn="ctr">
              <a:spcAft>
                <a:spcPts val="600"/>
              </a:spcAft>
              <a:defRPr sz="1400" b="1" i="0">
                <a:solidFill>
                  <a:srgbClr val="2E86AB"/>
                </a:solidFill>
                <a:latin typeface="Calibri"/>
              </a:defRPr>
            </a:pPr>
            <a:r>
              <a:t>3. Scientific Debugging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Hypothesize → Observe →</a:t>
            </a:r>
            <a:br/>
            <a:r>
              <a:t>Predict → Examine →</a:t>
            </a:r>
            <a:br/>
            <a:r>
              <a:t>Conclude [15][16]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931920"/>
            <a:ext cx="3566160" cy="19202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/>
          <a:lstStyle/>
          <a:p>
            <a:pPr algn="ctr">
              <a:spcAft>
                <a:spcPts val="600"/>
              </a:spcAft>
              <a:defRPr sz="1400" b="1" i="0">
                <a:solidFill>
                  <a:srgbClr val="48A9A6"/>
                </a:solidFill>
                <a:latin typeface="Calibri"/>
              </a:defRPr>
            </a:pPr>
            <a:r>
              <a:t>4. Diagnostic Tree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7 questions, each maps</a:t>
            </a:r>
            <a:br/>
            <a:r>
              <a:t>to one ODC type</a:t>
            </a:r>
            <a:br/>
            <a:r>
              <a:t>(FCO deliberately last)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931920"/>
            <a:ext cx="3566160" cy="19202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/>
          <a:lstStyle/>
          <a:p>
            <a:pPr algn="ctr">
              <a:spcAft>
                <a:spcPts val="60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5. JSON Schema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Structured output:</a:t>
            </a:r>
            <a:br/>
            <a:r>
              <a:t>reasoning, confidence,</a:t>
            </a:r>
            <a:br/>
            <a:r>
              <a:t>alternatives, ODC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566160" cy="19202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/>
          <a:lstStyle/>
          <a:p>
            <a:pPr algn="ctr">
              <a:spcAft>
                <a:spcPts val="600"/>
              </a:spcAft>
              <a:defRPr sz="1400" b="1" i="0">
                <a:solidFill>
                  <a:srgbClr val="00896B"/>
                </a:solidFill>
                <a:latin typeface="Calibri"/>
              </a:defRPr>
            </a:pPr>
            <a:r>
              <a:t>6. Few-Shot (×5)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Contrastive examples:</a:t>
            </a:r>
            <a:br/>
            <a:r>
              <a:t>Symptom → Code → Type</a:t>
            </a:r>
            <a:br/>
            <a:r>
              <a:t>→ NOT X [11][19]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43600"/>
            <a:ext cx="11430000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spcAft>
                <a:spcPts val="400"/>
              </a:spcAft>
              <a:defRPr sz="900" b="0" i="1">
                <a:solidFill>
                  <a:srgbClr val="5D6D7E"/>
                </a:solidFill>
                <a:latin typeface="Calibri"/>
              </a:defRPr>
            </a:pPr>
            <a:r>
              <a:t>Few-shot pattern: Symptom → Code → Classification → “NOT X because ...”  |  Anti-bias: forces simpler ODC types before structural ones [11][19]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Scientific Debugging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148840" cy="457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Step 1: HYPOTHESIZE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20240"/>
            <a:ext cx="214884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Form a root-cause hypothesis</a:t>
            </a:r>
            <a:br/>
            <a:r>
              <a:t>from the bug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371600"/>
            <a:ext cx="214884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Step 2: OBSERVE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920240"/>
            <a:ext cx="214884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Examine failure symptoms:</a:t>
            </a:r>
            <a:br/>
            <a:r>
              <a:t>error messages, stack traces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9" y="1371600"/>
            <a:ext cx="2148840" cy="457200"/>
          </a:xfrm>
          <a:prstGeom prst="round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Step 3: PREDICT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59" y="1920240"/>
            <a:ext cx="214884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What code pattern would</a:t>
            </a:r>
            <a:br/>
            <a:r>
              <a:t>explain this defect type?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79" y="1371600"/>
            <a:ext cx="214884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Step 4: EXAMINE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79" y="1920240"/>
            <a:ext cx="214884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Check code snippets</a:t>
            </a:r>
            <a:br/>
            <a:r>
              <a:t>against the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371600"/>
            <a:ext cx="2148840" cy="457200"/>
          </a:xfrm>
          <a:prstGeom prst="round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Step 5: CONCLUDE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920240"/>
            <a:ext cx="214884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Select ODC type for the</a:t>
            </a:r>
            <a:br/>
            <a:r>
              <a:t>root cause 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399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399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399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399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291840"/>
            <a:ext cx="11430000" cy="3657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7-Question Diagnostic Decision Tree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265176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  <a:defRPr sz="1000" b="1" i="0">
                <a:solidFill>
                  <a:srgbClr val="2C3E50"/>
                </a:solidFill>
                <a:latin typeface="Calibri"/>
              </a:defRPr>
            </a:pPr>
            <a:r>
              <a:t>Q1: Missing guard/condition?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→ Checking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840480"/>
            <a:ext cx="265176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  <a:defRPr sz="1000" b="1" i="0">
                <a:solidFill>
                  <a:srgbClr val="2C3E50"/>
                </a:solidFill>
                <a:latin typeface="Calibri"/>
              </a:defRPr>
            </a:pPr>
            <a:r>
              <a:t>Q2: Wrong value or init?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→ Assignment/Init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840480"/>
            <a:ext cx="265176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  <a:defRPr sz="1000" b="1" i="0">
                <a:solidFill>
                  <a:srgbClr val="2C3E50"/>
                </a:solidFill>
                <a:latin typeface="Calibri"/>
              </a:defRPr>
            </a:pPr>
            <a:r>
              <a:t>Q3: Wrong computation logic?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→ Algorithm/Method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3840480"/>
            <a:ext cx="265176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  <a:defRPr sz="1000" b="1" i="0">
                <a:solidFill>
                  <a:srgbClr val="2C3E50"/>
                </a:solidFill>
                <a:latin typeface="Calibri"/>
              </a:defRPr>
            </a:pPr>
            <a:r>
              <a:t>Q4: Component boundary issue?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→ Interface/O-O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892040"/>
            <a:ext cx="265176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  <a:defRPr sz="1000" b="1" i="0">
                <a:solidFill>
                  <a:srgbClr val="2C3E50"/>
                </a:solidFill>
                <a:latin typeface="Calibri"/>
              </a:defRPr>
            </a:pPr>
            <a:r>
              <a:t>Q5: Execution order dependent?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→ Timing/Serial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4892040"/>
            <a:ext cx="265176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  <a:defRPr sz="1000" b="1" i="0">
                <a:solidFill>
                  <a:srgbClr val="2C3E50"/>
                </a:solidFill>
                <a:latin typeface="Calibri"/>
              </a:defRPr>
            </a:pPr>
            <a:r>
              <a:t>Q6: Entity association issue?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→ Relationship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4892040"/>
            <a:ext cx="265176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  <a:defRPr sz="1000" b="1" i="0">
                <a:solidFill>
                  <a:srgbClr val="2C3E50"/>
                </a:solidFill>
                <a:latin typeface="Calibri"/>
              </a:defRPr>
            </a:pPr>
            <a:r>
              <a:t>Q7: Needs design-level fix?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→ Fun/Cls/Obj*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943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 i="1">
                <a:solidFill>
                  <a:srgbClr val="5D6D7E"/>
                </a:solidFill>
                <a:latin typeface="Calibri"/>
              </a:defRPr>
            </a:pPr>
            <a:r>
              <a:t>*Q7 deliberately last — forces simpler explanations before “design gap” [19]  |  Based on: Zeller 2009 [16], Kang et al. 2023 [15]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Classification Pipeline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Prompt Construction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246888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context.json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246888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Load bug</a:t>
            </a:r>
            <a:br/>
            <a:r>
              <a:t>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91640"/>
            <a:ext cx="24688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System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286000"/>
            <a:ext cx="246888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ODC taxonomy +</a:t>
            </a:r>
            <a:br/>
            <a:r>
              <a:t>scientific debug</a:t>
            </a:r>
            <a:br/>
            <a:r>
              <a:t>+ few-shot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91640"/>
            <a:ext cx="2468880" cy="502920"/>
          </a:xfrm>
          <a:prstGeom prst="round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User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86000"/>
            <a:ext cx="246888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Evidence payload</a:t>
            </a:r>
            <a:br/>
            <a:r>
              <a:t>(oracles filtered)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691640"/>
            <a:ext cx="246888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LLM API 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286000"/>
            <a:ext cx="246888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Gemini / OpenRouter</a:t>
            </a:r>
            <a:br/>
            <a:r>
              <a:t>/ OpenAI-compat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74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Post-Processing &amp;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931920"/>
            <a:ext cx="24688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Extract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526280"/>
            <a:ext cx="24688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Parse from raw</a:t>
            </a:r>
            <a:br/>
            <a:r>
              <a:t>LLM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931920"/>
            <a:ext cx="2468880" cy="502920"/>
          </a:xfrm>
          <a:prstGeom prst="round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Validate 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526280"/>
            <a:ext cx="24688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Check against 7</a:t>
            </a:r>
            <a:br/>
            <a:r>
              <a:t>canonical ODC names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31920"/>
            <a:ext cx="246888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Canonicalize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526280"/>
            <a:ext cx="24688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Overwrite family</a:t>
            </a:r>
            <a:br/>
            <a:r>
              <a:t>+ normalize fields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931920"/>
            <a:ext cx="2468880" cy="502920"/>
          </a:xfrm>
          <a:prstGeom prst="round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Write Outputs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526280"/>
            <a:ext cx="24688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classification.json</a:t>
            </a:r>
            <a:br/>
            <a:r>
              <a:t>+ report.md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959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959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959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85929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577840"/>
            <a:ext cx="11430000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Safeguards:</a:t>
            </a:r>
          </a:p>
          <a:p>
            <a:pPr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Temperature=0.0 (deterministic)  •  Hidden oracle exclusion [3]  •  Family always canonicalized from code  •  Transient-only retry (429/500)  •  Schema-enforced JSON (Gemini)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Evaluation Strategy &amp;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E86F51"/>
                </a:solidFill>
                <a:latin typeface="Calibri"/>
              </a:defRPr>
            </a:pPr>
            <a:r>
              <a:t>Challenge: No ODC ground-truth labels exist for Defects4J → we cannot use traditional precision/recall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269748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2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Tier 1</a:t>
            </a:r>
          </a:p>
          <a:p>
            <a:pPr>
              <a:spcAft>
                <a:spcPts val="600"/>
              </a:spcAft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Strict Match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Do pre-fix and post-fix</a:t>
            </a:r>
            <a:br/>
            <a:r>
              <a:t>produce the exact same</a:t>
            </a:r>
            <a:br/>
            <a:r>
              <a:t>ODC defect type?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Expected: 40–60%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269748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200"/>
              </a:spcAft>
              <a:defRPr sz="1100" b="1" i="0">
                <a:solidFill>
                  <a:srgbClr val="2E86AB"/>
                </a:solidFill>
                <a:latin typeface="Calibri"/>
              </a:defRPr>
            </a:pPr>
            <a:r>
              <a:t>Tier 2</a:t>
            </a:r>
          </a:p>
          <a:p>
            <a:pPr>
              <a:spcAft>
                <a:spcPts val="600"/>
              </a:spcAft>
              <a:defRPr sz="1600" b="1" i="0">
                <a:solidFill>
                  <a:srgbClr val="2E86AB"/>
                </a:solidFill>
                <a:latin typeface="Calibri"/>
              </a:defRPr>
            </a:pPr>
            <a:r>
              <a:t>Top-2 Match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Does the primary type of</a:t>
            </a:r>
            <a:br/>
            <a:r>
              <a:t>one mode appear in the</a:t>
            </a:r>
            <a:br/>
            <a:r>
              <a:t>other’s alternatives?</a:t>
            </a:r>
          </a:p>
          <a:p>
            <a:pPr>
              <a:spcAft>
                <a:spcPts val="400"/>
              </a:spcAft>
              <a:defRPr sz="1100" b="1" i="0">
                <a:solidFill>
                  <a:srgbClr val="2E86AB"/>
                </a:solidFill>
                <a:latin typeface="Calibri"/>
              </a:defRPr>
            </a:pPr>
            <a:r>
              <a:t>Expected: 60–80%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69748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200"/>
              </a:spcAft>
              <a:defRPr sz="1100" b="1" i="0">
                <a:solidFill>
                  <a:srgbClr val="48A9A6"/>
                </a:solidFill>
                <a:latin typeface="Calibri"/>
              </a:defRPr>
            </a:pPr>
            <a:r>
              <a:t>Tier 3</a:t>
            </a:r>
          </a:p>
          <a:p>
            <a:pPr>
              <a:spcAft>
                <a:spcPts val="600"/>
              </a:spcAft>
              <a:defRPr sz="1600" b="1" i="0">
                <a:solidFill>
                  <a:srgbClr val="48A9A6"/>
                </a:solidFill>
                <a:latin typeface="Calibri"/>
              </a:defRPr>
            </a:pPr>
            <a:r>
              <a:t>Family Match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Are both types in the</a:t>
            </a:r>
            <a:br/>
            <a:r>
              <a:t>same ODC family?</a:t>
            </a:r>
            <a:br/>
            <a:r>
              <a:t>(Control&amp;DF / Structural)</a:t>
            </a:r>
          </a:p>
          <a:p>
            <a:pPr>
              <a:spcAft>
                <a:spcPts val="400"/>
              </a:spcAft>
              <a:defRPr sz="1100" b="1" i="0">
                <a:solidFill>
                  <a:srgbClr val="48A9A6"/>
                </a:solidFill>
                <a:latin typeface="Calibri"/>
              </a:defRPr>
            </a:pPr>
            <a:r>
              <a:t>Expected: 70–90%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28800"/>
            <a:ext cx="269748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200"/>
              </a:spcAft>
              <a:defRPr sz="1100" b="1" i="0">
                <a:solidFill>
                  <a:srgbClr val="8E44AD"/>
                </a:solidFill>
                <a:latin typeface="Calibri"/>
              </a:defRPr>
            </a:pPr>
            <a:r>
              <a:t>Tier 4</a:t>
            </a:r>
          </a:p>
          <a:p>
            <a:pPr>
              <a:spcAft>
                <a:spcPts val="600"/>
              </a:spcAft>
              <a:defRPr sz="1600" b="1" i="0">
                <a:solidFill>
                  <a:srgbClr val="8E44AD"/>
                </a:solidFill>
                <a:latin typeface="Calibri"/>
              </a:defRPr>
            </a:pPr>
            <a:r>
              <a:t>Cohen’s Kappa</a:t>
            </a:r>
          </a:p>
          <a:p>
            <a:pPr>
              <a:spcAft>
                <a:spcPts val="8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Statistical measure of</a:t>
            </a:r>
            <a:br/>
            <a:r>
              <a:t>agreement beyond chance</a:t>
            </a:r>
            <a:br/>
            <a:r>
              <a:t>(inter-rater reliability)</a:t>
            </a:r>
          </a:p>
          <a:p>
            <a:pPr>
              <a:spcAft>
                <a:spcPts val="400"/>
              </a:spcAft>
              <a:defRPr sz="1100" b="1" i="0">
                <a:solidFill>
                  <a:srgbClr val="8E44AD"/>
                </a:solidFill>
                <a:latin typeface="Calibri"/>
              </a:defRPr>
            </a:pPr>
            <a:r>
              <a:t>Expected: κ ≥ 0.50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846320"/>
            <a:ext cx="1143000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Why this works: 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Even human ODC experts disagree on 20–30% of bugs [12]. A tiered framework captures both exact agreement and meaningful near-agreement, matching industry evaluation practice [14].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6692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 i="1">
                <a:solidFill>
                  <a:srgbClr val="5D6D7E"/>
                </a:solidFill>
                <a:latin typeface="Calibri"/>
              </a:defRPr>
            </a:pPr>
            <a:r>
              <a:t>Based on: Chillarege 1992 [12], Thung 2012 [14]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Results /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2148840" cy="10058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Aft>
                <a:spcPts val="400"/>
              </a:spcAft>
              <a:defRPr sz="2200" b="1" i="0">
                <a:solidFill>
                  <a:srgbClr val="1B3A5C"/>
                </a:solidFill>
                <a:latin typeface="Calibri"/>
              </a:defRPr>
            </a:pPr>
            <a:r>
              <a:t>34</a:t>
            </a:r>
          </a:p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Bug Pairs</a:t>
            </a:r>
            <a:br/>
            <a:r>
              <a:t>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234440"/>
            <a:ext cx="2148840" cy="10058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Aft>
                <a:spcPts val="400"/>
              </a:spcAft>
              <a:defRPr sz="2200" b="1" i="0">
                <a:solidFill>
                  <a:srgbClr val="2E86AB"/>
                </a:solidFill>
                <a:latin typeface="Calibri"/>
              </a:defRPr>
            </a:pPr>
            <a:r>
              <a:t>17</a:t>
            </a:r>
          </a:p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Defects4J</a:t>
            </a:r>
            <a:br/>
            <a:r>
              <a:t>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234440"/>
            <a:ext cx="2148840" cy="10058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Aft>
                <a:spcPts val="400"/>
              </a:spcAft>
              <a:defRPr sz="2200" b="1" i="0">
                <a:solidFill>
                  <a:srgbClr val="48A9A6"/>
                </a:solidFill>
                <a:latin typeface="Calibri"/>
              </a:defRPr>
            </a:pPr>
            <a:r>
              <a:t>73.5%</a:t>
            </a:r>
          </a:p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Strict Type</a:t>
            </a:r>
            <a:br/>
            <a:r>
              <a:t>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19" y="1234440"/>
            <a:ext cx="2148840" cy="10058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Aft>
                <a:spcPts val="400"/>
              </a:spcAft>
              <a:defRPr sz="2200" b="1" i="0">
                <a:solidFill>
                  <a:srgbClr val="8E44AD"/>
                </a:solidFill>
                <a:latin typeface="Calibri"/>
              </a:defRPr>
            </a:pPr>
            <a:r>
              <a:t>94.1%</a:t>
            </a:r>
          </a:p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Top-2</a:t>
            </a:r>
            <a:br/>
            <a:r>
              <a:t>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234440"/>
            <a:ext cx="2148840" cy="100584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Aft>
                <a:spcPts val="400"/>
              </a:spcAft>
              <a:defRPr sz="2200" b="1" i="0">
                <a:solidFill>
                  <a:srgbClr val="E86F51"/>
                </a:solidFill>
                <a:latin typeface="Calibri"/>
              </a:defRPr>
            </a:pPr>
            <a:r>
              <a:t>97.1%</a:t>
            </a:r>
          </a:p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Family</a:t>
            </a:r>
            <a:br/>
            <a:r>
              <a:t>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68880"/>
            <a:ext cx="585216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/>
          <a:lstStyle/>
          <a:p>
            <a:pPr algn="ctr">
              <a:spcAft>
                <a:spcPts val="50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Type Agreement Distribution (25/34 stable)</a:t>
            </a:r>
          </a:p>
          <a:p>
            <a:pPr>
              <a:spcAft>
                <a:spcPts val="100"/>
              </a:spcAft>
              <a:defRPr sz="900" b="1" i="0">
                <a:solidFill>
                  <a:srgbClr val="2C3E50"/>
                </a:solidFill>
                <a:latin typeface="Calibri"/>
              </a:defRPr>
            </a:pPr>
            <a:r>
              <a:t>  Algorithm/Method (16)</a:t>
            </a:r>
          </a:p>
          <a:p>
            <a:pPr>
              <a:spcAft>
                <a:spcPts val="300"/>
              </a:spcAft>
              <a:defRPr sz="900" b="0" i="0">
                <a:solidFill>
                  <a:srgbClr val="2E86AB"/>
                </a:solidFill>
                <a:latin typeface="Calibri"/>
              </a:defRPr>
            </a:pPr>
            <a:r>
              <a:t>    ████████████████</a:t>
            </a:r>
          </a:p>
          <a:p>
            <a:pPr>
              <a:spcAft>
                <a:spcPts val="100"/>
              </a:spcAft>
              <a:defRPr sz="900" b="1" i="0">
                <a:solidFill>
                  <a:srgbClr val="2C3E50"/>
                </a:solidFill>
                <a:latin typeface="Calibri"/>
              </a:defRPr>
            </a:pPr>
            <a:r>
              <a:t>  Checking (6)</a:t>
            </a:r>
          </a:p>
          <a:p>
            <a:pPr>
              <a:spcAft>
                <a:spcPts val="300"/>
              </a:spcAft>
              <a:defRPr sz="900" b="0" i="0">
                <a:solidFill>
                  <a:srgbClr val="2E86AB"/>
                </a:solidFill>
                <a:latin typeface="Calibri"/>
              </a:defRPr>
            </a:pPr>
            <a:r>
              <a:t>    ██████</a:t>
            </a:r>
          </a:p>
          <a:p>
            <a:pPr>
              <a:spcAft>
                <a:spcPts val="100"/>
              </a:spcAft>
              <a:defRPr sz="900" b="1" i="0">
                <a:solidFill>
                  <a:srgbClr val="2C3E50"/>
                </a:solidFill>
                <a:latin typeface="Calibri"/>
              </a:defRPr>
            </a:pPr>
            <a:r>
              <a:t>  Assignment/Init (2)</a:t>
            </a:r>
          </a:p>
          <a:p>
            <a:pPr>
              <a:spcAft>
                <a:spcPts val="300"/>
              </a:spcAft>
              <a:defRPr sz="900" b="0" i="0">
                <a:solidFill>
                  <a:srgbClr val="2E86AB"/>
                </a:solidFill>
                <a:latin typeface="Calibri"/>
              </a:defRPr>
            </a:pPr>
            <a:r>
              <a:t>    ██</a:t>
            </a:r>
          </a:p>
          <a:p>
            <a:pPr>
              <a:spcAft>
                <a:spcPts val="100"/>
              </a:spcAft>
              <a:defRPr sz="900" b="1" i="0">
                <a:solidFill>
                  <a:srgbClr val="2C3E50"/>
                </a:solidFill>
                <a:latin typeface="Calibri"/>
              </a:defRPr>
            </a:pPr>
            <a:r>
              <a:t>  Function/Class/Obj (1)</a:t>
            </a:r>
          </a:p>
          <a:p>
            <a:pPr>
              <a:spcAft>
                <a:spcPts val="300"/>
              </a:spcAft>
              <a:defRPr sz="900" b="0" i="0">
                <a:solidFill>
                  <a:srgbClr val="2E86AB"/>
                </a:solidFill>
                <a:latin typeface="Calibri"/>
              </a:defRPr>
            </a:pPr>
            <a:r>
              <a:t>    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68880"/>
            <a:ext cx="521208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200" b="1" i="0">
                <a:solidFill>
                  <a:srgbClr val="E86F51"/>
                </a:solidFill>
                <a:latin typeface="Calibri"/>
              </a:defRPr>
            </a:pPr>
            <a:r>
              <a:t>Type Shift Patterns (9/34 changed)</a:t>
            </a:r>
          </a:p>
          <a:p>
            <a:pPr>
              <a:spcAft>
                <a:spcPts val="2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  Checking → Algorithm/Method  [3]</a:t>
            </a:r>
          </a:p>
          <a:p>
            <a:pPr>
              <a:spcAft>
                <a:spcPts val="2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  Algorithm/Method → Checking  [2]</a:t>
            </a:r>
          </a:p>
          <a:p>
            <a:pPr>
              <a:spcAft>
                <a:spcPts val="2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  Checking → Assignment/Init  [1]</a:t>
            </a:r>
          </a:p>
          <a:p>
            <a:pPr>
              <a:spcAft>
                <a:spcPts val="2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  Checking → Interface/O-O Msg  [1]</a:t>
            </a:r>
          </a:p>
          <a:p>
            <a:pPr>
              <a:spcAft>
                <a:spcPts val="2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  Algorithm/Method → Assignment/Init  [1]</a:t>
            </a:r>
          </a:p>
          <a:p>
            <a:pPr>
              <a:spcAft>
                <a:spcPts val="2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  Function/Class/Obj → Relationship  [1]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754880"/>
            <a:ext cx="1124712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spcAft>
                <a:spcPts val="400"/>
              </a:spcAft>
              <a:defRPr sz="1200" b="1" i="0">
                <a:solidFill>
                  <a:srgbClr val="1B3A5C"/>
                </a:solidFill>
                <a:latin typeface="Calibri"/>
              </a:defRPr>
            </a:pPr>
            <a:r>
              <a:t>Key Finding: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Out of 9 bugs where the type shifted, 7 still had overlap through alternative types. Only 2 bugs (JacksonCore-24, Math-34) had no alternative overlap — but both matched at the family level.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669280"/>
            <a:ext cx="1124712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Aft>
                <a:spcPts val="400"/>
              </a:spcAft>
              <a:defRPr sz="900" b="0" i="0">
                <a:solidFill>
                  <a:srgbClr val="5D6D7E"/>
                </a:solidFill>
                <a:latin typeface="Calibri"/>
              </a:defRPr>
            </a:pPr>
            <a:r>
              <a:t>Projects Covered:  Chart • Cli • Closure • Codec • Collections • Compress • Csv • Gson • JacksonCore • JacksonDatabind • JacksonXml • Jsoup • JxPath • Lang • Math • Mockito •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Discussion /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56616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2000" b="1" i="0">
                <a:solidFill>
                  <a:srgbClr val="48A9A6"/>
                </a:solidFill>
                <a:latin typeface="Calibri"/>
              </a:defRPr>
            </a:pPr>
            <a:r>
              <a:t>25 (73.5%)</a:t>
            </a:r>
          </a:p>
          <a:p>
            <a:pPr algn="ctr">
              <a:spcAft>
                <a:spcPts val="400"/>
              </a:spcAft>
              <a:defRPr sz="1200" b="1" i="0">
                <a:solidFill>
                  <a:srgbClr val="48A9A6"/>
                </a:solidFill>
                <a:latin typeface="Calibri"/>
              </a:defRPr>
            </a:pPr>
            <a:r>
              <a:t>Exact Match</a:t>
            </a:r>
          </a:p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Same type in both modes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34440"/>
            <a:ext cx="356616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2000" b="1" i="0">
                <a:solidFill>
                  <a:srgbClr val="FFA726"/>
                </a:solidFill>
                <a:latin typeface="Calibri"/>
              </a:defRPr>
            </a:pPr>
            <a:r>
              <a:t>7 (20.6%)</a:t>
            </a:r>
          </a:p>
          <a:p>
            <a:pPr algn="ctr">
              <a:spcAft>
                <a:spcPts val="400"/>
              </a:spcAft>
              <a:defRPr sz="1200" b="1" i="0">
                <a:solidFill>
                  <a:srgbClr val="FFA726"/>
                </a:solidFill>
                <a:latin typeface="Calibri"/>
              </a:defRPr>
            </a:pPr>
            <a:r>
              <a:t>Soft Divergence</a:t>
            </a:r>
          </a:p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Type shifted, cross-alt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56616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400"/>
              </a:spcAft>
              <a:defRPr sz="2000" b="1" i="0">
                <a:solidFill>
                  <a:srgbClr val="E86F51"/>
                </a:solidFill>
                <a:latin typeface="Calibri"/>
              </a:defRPr>
            </a:pPr>
            <a:r>
              <a:t>2 (5.9%)</a:t>
            </a:r>
          </a:p>
          <a:p>
            <a:pPr algn="ctr">
              <a:spcAft>
                <a:spcPts val="400"/>
              </a:spcAft>
              <a:defRPr sz="1200" b="1" i="0">
                <a:solidFill>
                  <a:srgbClr val="E86F51"/>
                </a:solidFill>
                <a:latin typeface="Calibri"/>
              </a:defRPr>
            </a:pPr>
            <a:r>
              <a:t>Hard Divergence</a:t>
            </a:r>
          </a:p>
          <a:p>
            <a:pPr algn="ctr"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No alternative overlap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60320"/>
            <a:ext cx="11430000" cy="3657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Why Do Types Diverge?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08960"/>
            <a:ext cx="3566160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300"/>
              </a:spcAft>
              <a:defRPr sz="1100" b="1" i="0">
                <a:solidFill>
                  <a:srgbClr val="2E86AB"/>
                </a:solidFill>
                <a:latin typeface="Calibri"/>
              </a:defRPr>
            </a:pPr>
            <a:r>
              <a:t>Symptom vs Cause</a:t>
            </a:r>
          </a:p>
          <a:p>
            <a:pPr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Pre-fix sees symptoms;</a:t>
            </a:r>
            <a:br/>
            <a:r>
              <a:t>post-fix sees the actual fix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108960"/>
            <a:ext cx="3566160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300"/>
              </a:spcAft>
              <a:defRPr sz="1100" b="1" i="0">
                <a:solidFill>
                  <a:srgbClr val="E86F51"/>
                </a:solidFill>
                <a:latin typeface="Calibri"/>
              </a:defRPr>
            </a:pPr>
            <a:r>
              <a:t>ODC Boundary Ambiguity</a:t>
            </a:r>
          </a:p>
          <a:p>
            <a:pPr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Checking ↔ Algorithm boundary</a:t>
            </a:r>
            <a:br/>
            <a:r>
              <a:t>is inherently ambiguous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108960"/>
            <a:ext cx="3566160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300"/>
              </a:spcAft>
              <a:defRPr sz="1100" b="1" i="0">
                <a:solidFill>
                  <a:srgbClr val="8E44AD"/>
                </a:solidFill>
                <a:latin typeface="Calibri"/>
              </a:defRPr>
            </a:pPr>
            <a:r>
              <a:t>Information Gap</a:t>
            </a:r>
          </a:p>
          <a:p>
            <a:pPr>
              <a:spcAft>
                <a:spcPts val="400"/>
              </a:spcAft>
              <a:defRPr sz="900" b="0" i="0">
                <a:solidFill>
                  <a:srgbClr val="2C3E50"/>
                </a:solidFill>
                <a:latin typeface="Calibri"/>
              </a:defRPr>
            </a:pPr>
            <a:r>
              <a:t>Post-fix has code change;</a:t>
            </a:r>
            <a:br/>
            <a:r>
              <a:t>pre-fix infers from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434840"/>
            <a:ext cx="11430000" cy="9601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54864"/>
          <a:lstStyle/>
          <a:p>
            <a:pPr algn="ctr">
              <a:spcAft>
                <a:spcPts val="300"/>
              </a:spcAft>
              <a:defRPr sz="1100" b="1" i="0">
                <a:solidFill>
                  <a:srgbClr val="8E44AD"/>
                </a:solidFill>
                <a:latin typeface="Calibri"/>
              </a:defRPr>
            </a:pPr>
            <a:r>
              <a:t>Case Study: Closure-140 (Soft Divergence)</a:t>
            </a:r>
          </a:p>
          <a:p>
            <a:pPr>
              <a:spcAft>
                <a:spcPts val="2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Pre-fix → Checking (validation/guard issue)  |  Post-fix → Algorithm/Method (procedural correction)</a:t>
            </a:r>
          </a:p>
          <a:p>
            <a:pPr>
              <a:spcAft>
                <a:spcPts val="400"/>
              </a:spcAft>
              <a:defRPr sz="900" b="1" i="0">
                <a:solidFill>
                  <a:srgbClr val="1B3A5C"/>
                </a:solidFill>
                <a:latin typeface="Calibri"/>
              </a:defRPr>
            </a:pPr>
            <a:r>
              <a:t>→ Cross-alternative match: each primary type appears in the other side’s alternatives — exactly what ODC theory predicts [12]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577840"/>
            <a:ext cx="1143000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The 26.5% type-shift rate reflects the expected difference between symptom-based and cause-based classification — not pipeline failure. 97.1% family match demonstrates robust semantic consistency [12][14].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300"/>
              </a:spcAft>
              <a:defRPr sz="1200" b="1" i="0">
                <a:solidFill>
                  <a:srgbClr val="E86F51"/>
                </a:solidFill>
                <a:latin typeface="Calibri"/>
              </a:defRPr>
            </a:pPr>
            <a:r>
              <a:t>L1: No Ground-Truth Labels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Defects4J has no ODC labels from human experts. We evaluate using self-consistency, not a gold standard. [8][12]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557784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300"/>
              </a:spcAft>
              <a:defRPr sz="1200" b="1" i="0">
                <a:solidFill>
                  <a:srgbClr val="E86F51"/>
                </a:solidFill>
                <a:latin typeface="Calibri"/>
              </a:defRPr>
            </a:pPr>
            <a:r>
              <a:t>L2: LLM Reproducibility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Outputs can vary between models and runs. Temperature=0.0 helps but doesn’t fully eliminate variability. [11]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480560"/>
            <a:ext cx="557784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300"/>
              </a:spcAft>
              <a:defRPr sz="1200" b="1" i="0">
                <a:solidFill>
                  <a:srgbClr val="E86F51"/>
                </a:solidFill>
                <a:latin typeface="Calibri"/>
              </a:defRPr>
            </a:pPr>
            <a:r>
              <a:t>L3: Data Contamination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LLMs may have seen D4J bugs during training, especially popular projects like Lang and Math. [3]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57784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300"/>
              </a:spcAft>
              <a:defRPr sz="1200" b="1" i="0">
                <a:solidFill>
                  <a:srgbClr val="2E86AB"/>
                </a:solidFill>
                <a:latin typeface="Calibri"/>
              </a:defRPr>
            </a:pPr>
            <a:r>
              <a:t>L4: Heuristic Hints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Opener/closer hints are keyword-based, not validated by trained assessors. [12]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926080"/>
            <a:ext cx="557784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300"/>
              </a:spcAft>
              <a:defRPr sz="1200" b="1" i="0">
                <a:solidFill>
                  <a:srgbClr val="2E86AB"/>
                </a:solidFill>
                <a:latin typeface="Calibri"/>
              </a:defRPr>
            </a:pPr>
            <a:r>
              <a:t>L5: Evidence Quality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Not all projects give equally rich evidence — stack trace depth varies between projects.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480560"/>
            <a:ext cx="557784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>
              <a:spcAft>
                <a:spcPts val="300"/>
              </a:spcAft>
              <a:defRPr sz="1200" b="1" i="0">
                <a:solidFill>
                  <a:srgbClr val="2E86AB"/>
                </a:solidFill>
                <a:latin typeface="Calibri"/>
              </a:defRPr>
            </a:pPr>
            <a:r>
              <a:t>L6: Java-Only Scope</a:t>
            </a:r>
          </a:p>
          <a:p>
            <a:pPr>
              <a:spcAft>
                <a:spcPts val="4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Evidence collection is tied to D4J’s Java ecosystem. Classification logic itself is language-independent.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731520" cy="4114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FW-1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25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Full Dataset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Scale to all 864+ active D4J bugs — create the first complete ODC-labeled Defects4J dataset [9]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7315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FW-2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2E86AB"/>
                </a:solidFill>
                <a:latin typeface="Calibri"/>
              </a:defRPr>
            </a:pPr>
            <a:r>
              <a:t>Multi-Model Consensus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42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Classify with 3+ models (Gemini, GPT-4, Claude) and use majority voting to reduce variability [10]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731520" cy="411480"/>
          </a:xfrm>
          <a:prstGeom prst="round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FW-3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54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48A9A6"/>
                </a:solidFill>
                <a:latin typeface="Calibri"/>
              </a:defRPr>
            </a:pPr>
            <a:r>
              <a:t>Validated ODC Opener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56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Replace keyword heuristics with proper Activity → Trigger mapping using D4J test metadata [12]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731520" cy="411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FW-4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69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ODC-Guided 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708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Use ODC labels to pick the right repair tool: e.g. Checking → conditional templates [5]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731520" cy="411480"/>
          </a:xfrm>
          <a:prstGeom prst="round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FW-5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E86F51"/>
                </a:solidFill>
                <a:latin typeface="Calibri"/>
              </a:defRPr>
            </a:pPr>
            <a:r>
              <a:t>Cross-Dataset Extension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285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Adapt the pipeline for other datasets like Bears, BugSwarm, and non-Java projects [7]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760720"/>
            <a:ext cx="1143000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spcAft>
                <a:spcPts val="400"/>
              </a:spcAft>
              <a:defRPr sz="1100" b="1" i="0">
                <a:solidFill>
                  <a:srgbClr val="1B3A5C"/>
                </a:solidFill>
                <a:latin typeface="Calibri"/>
              </a:defRPr>
            </a:pPr>
            <a:r>
              <a:t>Next Semester: Full-dataset classification (FW-1) → multi-model consensus (FW-2) → validated opener (FW-3) → thesis defense with complete results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✦  Research Gap Addressed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First study to apply ODC taxonomy to Defects4J using LLM-driven scientific debugging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73152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✦  Pipeline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3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Fully automated pipeline: evidence collection → structured prompting → explainable classifications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73152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✦  Methodological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Combined Chillarege’s ODC with Zeller’s scientific debugging into a principled LLM prompting 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39"/>
            <a:ext cx="73152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✦  4-Tier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5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Strict match, top-2 match, family match, and Cohen’s Kappa — accounts for the 20–30% human disagreement ceiling [12]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73152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✦  Practical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Pre-fix ODC classification works — type shifts between modes are expected, not failures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0972800" cy="8229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/>
          <a:lstStyle/>
          <a:p>
            <a:pPr algn="ctr">
              <a:spcAft>
                <a:spcPts val="400"/>
              </a:spcAft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“LLM-driven scientific debugging, constrained by ODC taxonomy, can produce explainable and defensible bug classifications from pre-fix evidence alone.”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5929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Aft>
                <a:spcPts val="400"/>
              </a:spcAft>
              <a:defRPr sz="2400" b="0" i="0">
                <a:solidFill>
                  <a:srgbClr val="48A9A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 i="0">
                <a:solidFill>
                  <a:srgbClr val="A0C4D0"/>
                </a:solidFill>
                <a:latin typeface="Calibri"/>
              </a:defRPr>
            </a:pPr>
            <a:r>
              <a:t>Hasin Mahtab Alvee  •  Mohammad Nahiyan Kabir  •  Md. Sakib Hossain</a:t>
            </a:r>
          </a:p>
          <a:p>
            <a:pPr algn="ctr">
              <a:spcAft>
                <a:spcPts val="400"/>
              </a:spcAft>
              <a:defRPr sz="1200" b="0" i="0">
                <a:solidFill>
                  <a:srgbClr val="A0C4D0"/>
                </a:solidFill>
                <a:latin typeface="Calibri"/>
              </a:defRPr>
            </a:pPr>
            <a:r>
              <a:t>Supervised by: Lutfun Nahar Lota (Asst. Prof.) &amp; Ishmam Tashdeed (Lecturer)</a:t>
            </a:r>
          </a:p>
          <a:p>
            <a:pPr algn="ctr">
              <a:spcAft>
                <a:spcPts val="200"/>
              </a:spcAft>
              <a:defRPr sz="1100" b="0" i="0">
                <a:solidFill>
                  <a:srgbClr val="85929E"/>
                </a:solidFill>
                <a:latin typeface="Calibri"/>
              </a:defRPr>
            </a:pPr>
            <a:r>
              <a:t>Network and Data Analysis Group (NDAG) | Signal and Speech Processing Laboratory (SSL)</a:t>
            </a:r>
          </a:p>
          <a:p>
            <a:pPr algn="ctr">
              <a:spcAft>
                <a:spcPts val="400"/>
              </a:spcAft>
              <a:defRPr sz="1100" b="0" i="0">
                <a:solidFill>
                  <a:srgbClr val="85929E"/>
                </a:solidFill>
                <a:latin typeface="Calibri"/>
              </a:defRPr>
            </a:pPr>
            <a:r>
              <a:t>Islamic University of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[1] Just, R., Jalali, D., &amp; Ernst, M. D. (2014). Defects4J: A database of existing faults to enable controlled testing studies for Java programs. ISSTA 2014, ACM, pp. 437–440.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[2] Sobreira, V., Durieux, T., Madeiral, F., Monperrus, M., &amp; Maia, M. A. (2018). Dissection of a Bug Dataset: Anatomy of 395 Patches from Defects4J. IEEE SANER 2018, pp. 130–140.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[3] Rafi, M. N., Chen, A. R., Chen, T.-H. P., &amp; Wang, S. (2024). Revisiting Defects4J for Fault Localization in Diverse Development Scenarios. arXiv:2402.13040.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[4] Van der Spuy, A., &amp; Fischer, B. (2025). An Anatomy of 488 Faults from Defects4J Based on the Control- and Data-Flow Graph Representations of Programs. arXiv:2502.02299.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[5] Durieux, T., Martinez, M., Monperrus, M., &amp; Wuttke, J. (2018). Automatic Repair of Real Bugs in Java: A Large-Scale Experiment on the Defects4J Dataset. arXiv:1811.02429.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[6] Xuan, J., Monperrus, M., et al. (2017). Better test cases for better automated program repair: A manual inspection of Defects4J bugs. FSE 2017, ACM, pp. 831–841.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[7] Catolino, G., Palomba, F., Zaidman, A., &amp; Ferrucci, F. (2019). Not all bugs are the same: Understanding, characterizing, and classifying bug types. J. Systems and Software, 153, pp. 1–18.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[8] Andrade, R., Teixeira, C., Laranjeiro, N., &amp; Vieira, M. (2025). An Empirical Study on the Classification of Bug Reports with Machine Learning. arXiv:2503.00660.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[9] Hirsch, T., &amp; Hofer, B. (2022). Using textual bug reports to predict the fault category of software bugs. Array, 15, 100189.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[10] Colavito, G., Lanubile, F., Novielli, N., &amp; Quaranta, L. (2024). Large Language Models for Issue Report Classification. Ital-IA 2024, CEUR Workshop Proceedings.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[11] Koyuncu, A. (2025). Exploring fine-grained bug report categorization with LLMs and prompt engineering. ACM TOSEM.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[12] Chillarege, R., et al. (1992). Orthogonal Defect Classification — A Concept for In-Process Measurements. IEEE TSE, 18(11), pp. 943–956.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[13] Huang, B., &amp; Ng, V., et al. (2011). AutoODC: Automated generation of Orthogonal Defect Classifications. ASE 2011.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[14] Thung, F., Lo, D., et al. (2012). Automatic Defect Categorization. WCRE 2012.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[15] Kang, S., Chen, B., Yoo, S., &amp; Lou, J.-G. (2023). Explainable Automated Debugging via Large Language Model-driven Scientific Debugging. arXiv:2304.02195.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[16] Zeller, A. (2009). Why Programs Fail: A Guide to Systematic Debugging (2nd ed.). Morgan Kaufmann.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[17] Pan, X., et al. (2024). Understanding Defects in Generated Codes by Language Models. CASCON 2024. (arXiv:2408.13372)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[18] Gao, X., et al. (2024). RCEGen: A Generative Approach for Automated Root Cause Analysis. MDPI Computers, 4(4), 29.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[19] Nong, Y., et al. (2024). Chain-of-Thought Prompting of Large Language Models for Discovering and Fixing Software Vulnerabilities. arXiv:2402.17230.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[20] IBM. (2013). Orthogonal Defect Classification v 5.2 for Software Design and Code. IBM Research.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2C3E50"/>
                </a:solidFill>
                <a:latin typeface="Calibri"/>
              </a:defRPr>
            </a:pPr>
            <a:r>
              <a:t>[21] Callaghan, D. (2024). Mining Bug Repositories for Multi-Fault Programs. defects4j-mf,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