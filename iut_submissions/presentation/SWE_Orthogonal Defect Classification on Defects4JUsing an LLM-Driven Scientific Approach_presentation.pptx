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0488b4e2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0488b4e2d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457200"/>
            <a:ext cx="1036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ISLAMIC UNIVERSITY OF TECHNOLOGY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3657600" y="1280160"/>
            <a:ext cx="4876495" cy="27432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1554480"/>
            <a:ext cx="107286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Orthogonal Defect Classification on Defects4J</a:t>
            </a:r>
            <a:endParaRPr sz="1500">
              <a:solidFill>
                <a:schemeClr val="dk2"/>
              </a:solidFill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Using an LLM-Driven Scientific Approach</a:t>
            </a:r>
            <a:endParaRPr sz="1500">
              <a:solidFill>
                <a:srgbClr val="2E86AB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3200400"/>
            <a:ext cx="1036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Thesis Pre-Defense Presentation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029200" y="3749039"/>
            <a:ext cx="2133295" cy="18288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4023360"/>
            <a:ext cx="103629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Hasin Mahtab Alvee  (210042174)</a:t>
            </a:r>
            <a:endParaRPr sz="1700">
              <a:solidFill>
                <a:srgbClr val="1B3A5C"/>
              </a:solidFill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Mohammad Nahiyan Kabir  (210042168)</a:t>
            </a:r>
            <a:endParaRPr sz="1700">
              <a:solidFill>
                <a:srgbClr val="1B3A5C"/>
              </a:solidFill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Md. Sakib Hossain  (210042133)</a:t>
            </a:r>
            <a:endParaRPr sz="1700">
              <a:solidFill>
                <a:srgbClr val="1B3A5C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5486400"/>
            <a:ext cx="10362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Lutfun Nahar Lota, Assistant Professor  |  Ishmam Tashdeed, Lecturer</a:t>
            </a:r>
            <a:endParaRPr sz="1700">
              <a:solidFill>
                <a:schemeClr val="dk2"/>
              </a:solidFill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Network and Data Analysis Group (NDAG)</a:t>
            </a:r>
            <a:endParaRPr b="1" i="1" sz="1700">
              <a:solidFill>
                <a:srgbClr val="2C3E50"/>
              </a:solidFill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0" y="6675120"/>
            <a:ext cx="12191700" cy="1830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Presentation Outline</a:t>
            </a:r>
            <a:endParaRPr sz="1600"/>
          </a:p>
        </p:txBody>
      </p:sp>
      <p:sp>
        <p:nvSpPr>
          <p:cNvPr id="99" name="Google Shape;99;p1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/>
          </a:p>
        </p:txBody>
      </p:sp>
      <p:sp>
        <p:nvSpPr>
          <p:cNvPr id="103" name="Google Shape;103;p14"/>
          <p:cNvSpPr txBox="1"/>
          <p:nvPr/>
        </p:nvSpPr>
        <p:spPr>
          <a:xfrm>
            <a:off x="1371600" y="146304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600"/>
          </a:p>
        </p:txBody>
      </p:sp>
      <p:sp>
        <p:nvSpPr>
          <p:cNvPr id="104" name="Google Shape;104;p14"/>
          <p:cNvSpPr txBox="1"/>
          <p:nvPr/>
        </p:nvSpPr>
        <p:spPr>
          <a:xfrm>
            <a:off x="1371600" y="171907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Defects4J &amp; Bug Categorization</a:t>
            </a:r>
            <a:endParaRPr sz="1600"/>
          </a:p>
        </p:txBody>
      </p:sp>
      <p:sp>
        <p:nvSpPr>
          <p:cNvPr id="105" name="Google Shape;105;p14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/>
          </a:p>
        </p:txBody>
      </p:sp>
      <p:sp>
        <p:nvSpPr>
          <p:cNvPr id="106" name="Google Shape;106;p14"/>
          <p:cNvSpPr txBox="1"/>
          <p:nvPr/>
        </p:nvSpPr>
        <p:spPr>
          <a:xfrm>
            <a:off x="1371600" y="242316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600"/>
          </a:p>
        </p:txBody>
      </p:sp>
      <p:sp>
        <p:nvSpPr>
          <p:cNvPr id="107" name="Google Shape;107;p14"/>
          <p:cNvSpPr txBox="1"/>
          <p:nvPr/>
        </p:nvSpPr>
        <p:spPr>
          <a:xfrm>
            <a:off x="1371600" y="267919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Existing Classifications &amp; LLM Approaches</a:t>
            </a:r>
            <a:endParaRPr sz="1600"/>
          </a:p>
        </p:txBody>
      </p:sp>
      <p:sp>
        <p:nvSpPr>
          <p:cNvPr id="108" name="Google Shape;108;p14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/>
          </a:p>
        </p:txBody>
      </p:sp>
      <p:sp>
        <p:nvSpPr>
          <p:cNvPr id="109" name="Google Shape;109;p14"/>
          <p:cNvSpPr txBox="1"/>
          <p:nvPr/>
        </p:nvSpPr>
        <p:spPr>
          <a:xfrm>
            <a:off x="1371600" y="338328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1600"/>
          </a:p>
        </p:txBody>
      </p:sp>
      <p:sp>
        <p:nvSpPr>
          <p:cNvPr id="110" name="Google Shape;110;p14"/>
          <p:cNvSpPr txBox="1"/>
          <p:nvPr/>
        </p:nvSpPr>
        <p:spPr>
          <a:xfrm>
            <a:off x="1371600" y="363931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Research Gap &amp; Motivation</a:t>
            </a:r>
            <a:endParaRPr sz="1600"/>
          </a:p>
        </p:txBody>
      </p:sp>
      <p:sp>
        <p:nvSpPr>
          <p:cNvPr id="111" name="Google Shape;111;p14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/>
          </a:p>
        </p:txBody>
      </p:sp>
      <p:sp>
        <p:nvSpPr>
          <p:cNvPr id="112" name="Google Shape;112;p14"/>
          <p:cNvSpPr txBox="1"/>
          <p:nvPr/>
        </p:nvSpPr>
        <p:spPr>
          <a:xfrm>
            <a:off x="1371600" y="43434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1600"/>
          </a:p>
        </p:txBody>
      </p:sp>
      <p:sp>
        <p:nvSpPr>
          <p:cNvPr id="113" name="Google Shape;113;p14"/>
          <p:cNvSpPr txBox="1"/>
          <p:nvPr/>
        </p:nvSpPr>
        <p:spPr>
          <a:xfrm>
            <a:off x="1371600" y="459943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Aims of the Study</a:t>
            </a:r>
            <a:endParaRPr sz="1600"/>
          </a:p>
        </p:txBody>
      </p:sp>
      <p:sp>
        <p:nvSpPr>
          <p:cNvPr id="114" name="Google Shape;114;p14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/>
          </a:p>
        </p:txBody>
      </p:sp>
      <p:sp>
        <p:nvSpPr>
          <p:cNvPr id="115" name="Google Shape;115;p14"/>
          <p:cNvSpPr txBox="1"/>
          <p:nvPr/>
        </p:nvSpPr>
        <p:spPr>
          <a:xfrm>
            <a:off x="1371600" y="530352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 sz="1600"/>
          </a:p>
        </p:txBody>
      </p:sp>
      <p:sp>
        <p:nvSpPr>
          <p:cNvPr id="116" name="Google Shape;116;p14"/>
          <p:cNvSpPr txBox="1"/>
          <p:nvPr/>
        </p:nvSpPr>
        <p:spPr>
          <a:xfrm>
            <a:off x="1371600" y="555955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Pipeline Architecture &amp; Design</a:t>
            </a:r>
            <a:endParaRPr sz="1600"/>
          </a:p>
        </p:txBody>
      </p:sp>
      <p:sp>
        <p:nvSpPr>
          <p:cNvPr id="117" name="Google Shape;117;p14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500"/>
          </a:p>
        </p:txBody>
      </p:sp>
      <p:sp>
        <p:nvSpPr>
          <p:cNvPr id="118" name="Google Shape;118;p14"/>
          <p:cNvSpPr txBox="1"/>
          <p:nvPr/>
        </p:nvSpPr>
        <p:spPr>
          <a:xfrm>
            <a:off x="7040880" y="146304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Classification Findings</a:t>
            </a:r>
            <a:endParaRPr b="1" sz="18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7040880" y="171907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Classification &amp; Comparison Data</a:t>
            </a:r>
            <a:endParaRPr sz="1600"/>
          </a:p>
        </p:txBody>
      </p:sp>
      <p:sp>
        <p:nvSpPr>
          <p:cNvPr id="120" name="Google Shape;120;p14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/>
          </a:p>
        </p:txBody>
      </p:sp>
      <p:sp>
        <p:nvSpPr>
          <p:cNvPr id="121" name="Google Shape;121;p14"/>
          <p:cNvSpPr txBox="1"/>
          <p:nvPr/>
        </p:nvSpPr>
        <p:spPr>
          <a:xfrm>
            <a:off x="7040880" y="242316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Discussion </a:t>
            </a:r>
            <a:r>
              <a:rPr b="1" lang="en-US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 Analysis</a:t>
            </a:r>
            <a:endParaRPr sz="1600"/>
          </a:p>
        </p:txBody>
      </p:sp>
      <p:sp>
        <p:nvSpPr>
          <p:cNvPr id="122" name="Google Shape;122;p14"/>
          <p:cNvSpPr txBox="1"/>
          <p:nvPr/>
        </p:nvSpPr>
        <p:spPr>
          <a:xfrm>
            <a:off x="7040880" y="267919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Divergence Patterns &amp; Case Study</a:t>
            </a:r>
            <a:endParaRPr sz="1600"/>
          </a:p>
        </p:txBody>
      </p:sp>
      <p:sp>
        <p:nvSpPr>
          <p:cNvPr id="123" name="Google Shape;123;p14"/>
          <p:cNvSpPr/>
          <p:nvPr/>
        </p:nvSpPr>
        <p:spPr>
          <a:xfrm>
            <a:off x="6400800" y="338328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500"/>
          </a:p>
        </p:txBody>
      </p:sp>
      <p:sp>
        <p:nvSpPr>
          <p:cNvPr id="124" name="Google Shape;124;p14"/>
          <p:cNvSpPr txBox="1"/>
          <p:nvPr/>
        </p:nvSpPr>
        <p:spPr>
          <a:xfrm>
            <a:off x="7040880" y="338328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600"/>
          </a:p>
        </p:txBody>
      </p:sp>
      <p:sp>
        <p:nvSpPr>
          <p:cNvPr id="125" name="Google Shape;125;p14"/>
          <p:cNvSpPr txBox="1"/>
          <p:nvPr/>
        </p:nvSpPr>
        <p:spPr>
          <a:xfrm>
            <a:off x="7040880" y="363931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Known Constraints</a:t>
            </a:r>
            <a:endParaRPr sz="1600"/>
          </a:p>
        </p:txBody>
      </p:sp>
      <p:sp>
        <p:nvSpPr>
          <p:cNvPr id="126" name="Google Shape;126;p14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500"/>
          </a:p>
        </p:txBody>
      </p:sp>
      <p:sp>
        <p:nvSpPr>
          <p:cNvPr id="127" name="Google Shape;127;p14"/>
          <p:cNvSpPr txBox="1"/>
          <p:nvPr/>
        </p:nvSpPr>
        <p:spPr>
          <a:xfrm>
            <a:off x="7040880" y="43434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600"/>
          </a:p>
        </p:txBody>
      </p:sp>
      <p:sp>
        <p:nvSpPr>
          <p:cNvPr id="128" name="Google Shape;128;p14"/>
          <p:cNvSpPr txBox="1"/>
          <p:nvPr/>
        </p:nvSpPr>
        <p:spPr>
          <a:xfrm>
            <a:off x="7040880" y="459943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Roadmap &amp; Extensions</a:t>
            </a:r>
            <a:endParaRPr sz="1600"/>
          </a:p>
        </p:txBody>
      </p:sp>
      <p:sp>
        <p:nvSpPr>
          <p:cNvPr id="129" name="Google Shape;129;p14"/>
          <p:cNvSpPr/>
          <p:nvPr/>
        </p:nvSpPr>
        <p:spPr>
          <a:xfrm>
            <a:off x="6400800" y="530352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200"/>
          </a:p>
        </p:txBody>
      </p:sp>
      <p:sp>
        <p:nvSpPr>
          <p:cNvPr id="130" name="Google Shape;130;p14"/>
          <p:cNvSpPr txBox="1"/>
          <p:nvPr/>
        </p:nvSpPr>
        <p:spPr>
          <a:xfrm>
            <a:off x="7040880" y="530352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600"/>
          </a:p>
        </p:txBody>
      </p:sp>
      <p:sp>
        <p:nvSpPr>
          <p:cNvPr id="131" name="Google Shape;131;p14"/>
          <p:cNvSpPr txBox="1"/>
          <p:nvPr/>
        </p:nvSpPr>
        <p:spPr>
          <a:xfrm>
            <a:off x="7040880" y="555955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Summary &amp; Closing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Introduction to Defects4J</a:t>
            </a:r>
            <a:endParaRPr sz="1600"/>
          </a:p>
        </p:txBody>
      </p:sp>
      <p:sp>
        <p:nvSpPr>
          <p:cNvPr id="138" name="Google Shape;138;p1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548650" y="1280150"/>
            <a:ext cx="7027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What is Defects4J?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urated database of real, reproducible Java bugs with developer</a:t>
            </a: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written patches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Provides per-bug artifacts:</a:t>
            </a: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bug reports, triggering tests, buggy code, fixed code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Standard benchmark for empirical SE research (fault localization, APR, testing)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Grown to 864+ active bugs across 17 Java projects [3]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Includes CLI tools for checkout, compilation, testing, and coverage analysis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Continued Relevance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Actively used in 2024 fault localization studies [3]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Standard benchmark for large-scale APR experiments [5]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Manual inspections confirm diagnostic value of test-suite artifacts [6]</a:t>
            </a:r>
            <a:endParaRPr sz="1700"/>
          </a:p>
        </p:txBody>
      </p:sp>
      <p:sp>
        <p:nvSpPr>
          <p:cNvPr id="141" name="Google Shape;141;p15"/>
          <p:cNvSpPr/>
          <p:nvPr/>
        </p:nvSpPr>
        <p:spPr>
          <a:xfrm>
            <a:off x="7858650" y="1280150"/>
            <a:ext cx="3718200" cy="3936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Key Artifacts per Bug</a:t>
            </a:r>
            <a:endParaRPr sz="1600" u="sng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Bug Report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Original issue description</a:t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Triggering Tests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Tests that expose the bug</a:t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Buggy Source Code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Pre-fix Java source</a:t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Fixed Source Code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Developer-patched code</a:t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Code Diffs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Buggy-to-Fixed changes</a:t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CLI Tools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Checkout, compile, test, coverage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Why Bug Categorization Matters in the SDLC</a:t>
            </a:r>
            <a:endParaRPr sz="1600"/>
          </a:p>
        </p:txBody>
      </p:sp>
      <p:sp>
        <p:nvSpPr>
          <p:cNvPr id="149" name="Google Shape;149;p16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48650" y="1280150"/>
            <a:ext cx="6669900" cy="31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Need for Structured Categorization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Different bug types behave differently and require different fix strategies [7]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Categorization is operationally necessary for optimizing debugging [12]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Automated classification improves triage and maintenance efficiency [8]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Predicting fault category from bug reports helps prioritize early [9]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Structured categorization provides actionable in-process measurements [12]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Current Challenge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Manual </a:t>
            </a: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labeling is the gold standard but too expensive at scale [8]</a:t>
            </a:r>
            <a:endParaRPr sz="1700"/>
          </a:p>
        </p:txBody>
      </p:sp>
      <p:sp>
        <p:nvSpPr>
          <p:cNvPr id="152" name="Google Shape;152;p16"/>
          <p:cNvSpPr/>
          <p:nvPr/>
        </p:nvSpPr>
        <p:spPr>
          <a:xfrm>
            <a:off x="7218475" y="1371600"/>
            <a:ext cx="3965700" cy="6402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Occurs</a:t>
            </a:r>
            <a:endParaRPr sz="1500"/>
          </a:p>
        </p:txBody>
      </p:sp>
      <p:sp>
        <p:nvSpPr>
          <p:cNvPr id="153" name="Google Shape;153;p16"/>
          <p:cNvSpPr/>
          <p:nvPr/>
        </p:nvSpPr>
        <p:spPr>
          <a:xfrm>
            <a:off x="9185501" y="2029965"/>
            <a:ext cx="31500" cy="320100"/>
          </a:xfrm>
          <a:prstGeom prst="rect">
            <a:avLst/>
          </a:prstGeom>
          <a:solidFill>
            <a:srgbClr val="D5DB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7218475" y="2377438"/>
            <a:ext cx="3965700" cy="640200"/>
          </a:xfrm>
          <a:prstGeom prst="roundRect">
            <a:avLst>
              <a:gd fmla="val 16667" name="adj"/>
            </a:avLst>
          </a:prstGeom>
          <a:solidFill>
            <a:srgbClr val="E86F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Triage</a:t>
            </a:r>
            <a:endParaRPr sz="1500"/>
          </a:p>
        </p:txBody>
      </p:sp>
      <p:sp>
        <p:nvSpPr>
          <p:cNvPr id="155" name="Google Shape;155;p16"/>
          <p:cNvSpPr/>
          <p:nvPr/>
        </p:nvSpPr>
        <p:spPr>
          <a:xfrm>
            <a:off x="9185501" y="3035804"/>
            <a:ext cx="31500" cy="320100"/>
          </a:xfrm>
          <a:prstGeom prst="rect">
            <a:avLst/>
          </a:prstGeom>
          <a:solidFill>
            <a:srgbClr val="D5DB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218475" y="3383275"/>
            <a:ext cx="3965700" cy="6402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Categorize Defect</a:t>
            </a:r>
            <a:endParaRPr sz="1500"/>
          </a:p>
        </p:txBody>
      </p:sp>
      <p:sp>
        <p:nvSpPr>
          <p:cNvPr id="157" name="Google Shape;157;p16"/>
          <p:cNvSpPr/>
          <p:nvPr/>
        </p:nvSpPr>
        <p:spPr>
          <a:xfrm>
            <a:off x="9185501" y="4041641"/>
            <a:ext cx="31500" cy="320100"/>
          </a:xfrm>
          <a:prstGeom prst="rect">
            <a:avLst/>
          </a:prstGeom>
          <a:solidFill>
            <a:srgbClr val="D5DB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7218475" y="4389113"/>
            <a:ext cx="3965700" cy="6402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 &amp; Fix</a:t>
            </a:r>
            <a:endParaRPr sz="1500"/>
          </a:p>
        </p:txBody>
      </p:sp>
      <p:sp>
        <p:nvSpPr>
          <p:cNvPr id="159" name="Google Shape;159;p16"/>
          <p:cNvSpPr/>
          <p:nvPr/>
        </p:nvSpPr>
        <p:spPr>
          <a:xfrm>
            <a:off x="9185496" y="5052092"/>
            <a:ext cx="31500" cy="320100"/>
          </a:xfrm>
          <a:prstGeom prst="rect">
            <a:avLst/>
          </a:prstGeom>
          <a:solidFill>
            <a:srgbClr val="D5DB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7218475" y="5394950"/>
            <a:ext cx="3965700" cy="640200"/>
          </a:xfrm>
          <a:prstGeom prst="roundRect">
            <a:avLst>
              <a:gd fmla="val 16667" name="adj"/>
            </a:avLst>
          </a:prstGeom>
          <a:solidFill>
            <a:srgbClr val="48A9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Improvement</a:t>
            </a:r>
            <a:endParaRPr sz="1500"/>
          </a:p>
        </p:txBody>
      </p:sp>
      <p:sp>
        <p:nvSpPr>
          <p:cNvPr id="161" name="Google Shape;161;p16"/>
          <p:cNvSpPr/>
          <p:nvPr/>
        </p:nvSpPr>
        <p:spPr>
          <a:xfrm>
            <a:off x="9946743" y="2432745"/>
            <a:ext cx="1983000" cy="1188600"/>
          </a:xfrm>
          <a:prstGeom prst="roundRect">
            <a:avLst>
              <a:gd fmla="val 16667" name="adj"/>
            </a:avLst>
          </a:prstGeom>
          <a:solidFill>
            <a:srgbClr val="FFEBEE"/>
          </a:solidFill>
          <a:ln cap="flat" cmpd="sng" w="254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09725" spcFirstLastPara="1" rIns="1097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sng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 sz="1700" u="sng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Manual categorization is expensive, inconsistent, and does not scale</a:t>
            </a:r>
            <a:endParaRPr sz="1500"/>
          </a:p>
        </p:txBody>
      </p:sp>
      <p:sp>
        <p:nvSpPr>
          <p:cNvPr id="162" name="Google Shape;162;p16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Existing Defects4J Classification Attempts</a:t>
            </a:r>
            <a:endParaRPr sz="1600"/>
          </a:p>
        </p:txBody>
      </p:sp>
      <p:sp>
        <p:nvSpPr>
          <p:cNvPr id="169" name="Google Shape;169;p17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48640" y="1280160"/>
            <a:ext cx="3474720" cy="54864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 / Graph-Based</a:t>
            </a:r>
            <a:endParaRPr sz="2000"/>
          </a:p>
        </p:txBody>
      </p:sp>
      <p:sp>
        <p:nvSpPr>
          <p:cNvPr id="172" name="Google Shape;172;p17"/>
          <p:cNvSpPr txBox="1"/>
          <p:nvPr/>
        </p:nvSpPr>
        <p:spPr>
          <a:xfrm>
            <a:off x="640080" y="1920240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Van der Spuy &amp; Fischer (2025) [4]</a:t>
            </a:r>
            <a:endParaRPr sz="1800"/>
          </a:p>
        </p:txBody>
      </p:sp>
      <p:sp>
        <p:nvSpPr>
          <p:cNvPr id="173" name="Google Shape;173;p17"/>
          <p:cNvSpPr txBox="1"/>
          <p:nvPr/>
        </p:nvSpPr>
        <p:spPr>
          <a:xfrm>
            <a:off x="640075" y="2513527"/>
            <a:ext cx="3291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CFG/DFG-based classification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488 bugs across 7 projects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6 control-flow + 2 data-flow classes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Captures HOW bugs manifest syntactically</a:t>
            </a:r>
            <a:endParaRPr sz="1800"/>
          </a:p>
        </p:txBody>
      </p:sp>
      <p:sp>
        <p:nvSpPr>
          <p:cNvPr id="174" name="Google Shape;174;p17"/>
          <p:cNvSpPr/>
          <p:nvPr/>
        </p:nvSpPr>
        <p:spPr>
          <a:xfrm>
            <a:off x="4389120" y="1280160"/>
            <a:ext cx="3474720" cy="54864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Patch-Level Taxonomy</a:t>
            </a:r>
            <a:endParaRPr sz="2000"/>
          </a:p>
        </p:txBody>
      </p:sp>
      <p:sp>
        <p:nvSpPr>
          <p:cNvPr id="175" name="Google Shape;175;p17"/>
          <p:cNvSpPr txBox="1"/>
          <p:nvPr/>
        </p:nvSpPr>
        <p:spPr>
          <a:xfrm>
            <a:off x="4480559" y="1920240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Sobreira et al. (2018) [2]</a:t>
            </a:r>
            <a:endParaRPr sz="1800"/>
          </a:p>
        </p:txBody>
      </p:sp>
      <p:sp>
        <p:nvSpPr>
          <p:cNvPr id="176" name="Google Shape;176;p17"/>
          <p:cNvSpPr txBox="1"/>
          <p:nvPr/>
        </p:nvSpPr>
        <p:spPr>
          <a:xfrm>
            <a:off x="4480559" y="2513527"/>
            <a:ext cx="3291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Repair-action classification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395 bugs from D4J v1.2 only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43% involve conditional changes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Manual patch taxonomy extraction</a:t>
            </a:r>
            <a:endParaRPr sz="1800"/>
          </a:p>
        </p:txBody>
      </p:sp>
      <p:sp>
        <p:nvSpPr>
          <p:cNvPr id="177" name="Google Shape;177;p17"/>
          <p:cNvSpPr/>
          <p:nvPr/>
        </p:nvSpPr>
        <p:spPr>
          <a:xfrm>
            <a:off x="8229600" y="1280160"/>
            <a:ext cx="3474720" cy="548640"/>
          </a:xfrm>
          <a:prstGeom prst="roundRect">
            <a:avLst>
              <a:gd fmla="val 16667" name="adj"/>
            </a:avLst>
          </a:prstGeom>
          <a:solidFill>
            <a:srgbClr val="48A9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Small-Sample Inspection</a:t>
            </a:r>
            <a:endParaRPr sz="2000"/>
          </a:p>
        </p:txBody>
      </p:sp>
      <p:sp>
        <p:nvSpPr>
          <p:cNvPr id="178" name="Google Shape;178;p17"/>
          <p:cNvSpPr txBox="1"/>
          <p:nvPr/>
        </p:nvSpPr>
        <p:spPr>
          <a:xfrm>
            <a:off x="8321040" y="1920240"/>
            <a:ext cx="3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J. Jiang </a:t>
            </a:r>
            <a:r>
              <a:rPr b="0" i="1" lang="en-US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et al. (2017) [6]</a:t>
            </a:r>
            <a:endParaRPr sz="1800"/>
          </a:p>
        </p:txBody>
      </p:sp>
      <p:sp>
        <p:nvSpPr>
          <p:cNvPr id="179" name="Google Shape;179;p17"/>
          <p:cNvSpPr txBox="1"/>
          <p:nvPr/>
        </p:nvSpPr>
        <p:spPr>
          <a:xfrm>
            <a:off x="8321046" y="2513527"/>
            <a:ext cx="3291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Random sample of 50 bugs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Identifies fixability patterns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Manual analysis reveals detail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Self-acknowledged validity threat</a:t>
            </a:r>
            <a:endParaRPr sz="1800"/>
          </a:p>
        </p:txBody>
      </p:sp>
      <p:sp>
        <p:nvSpPr>
          <p:cNvPr id="180" name="Google Shape;180;p17"/>
          <p:cNvSpPr/>
          <p:nvPr/>
        </p:nvSpPr>
        <p:spPr>
          <a:xfrm>
            <a:off x="548640" y="5029200"/>
            <a:ext cx="10972800" cy="109728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254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None of these approaches apply a semantic, root-cause taxonomy to the full Defects4J dataset. All are either structural-only, patch-level, or limited to small subsets.</a:t>
            </a:r>
            <a:endParaRPr i="1" sz="1800"/>
          </a:p>
        </p:txBody>
      </p:sp>
      <p:sp>
        <p:nvSpPr>
          <p:cNvPr id="181" name="Google Shape;181;p17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Limitations of Existing Classification Approaches</a:t>
            </a:r>
            <a:endParaRPr sz="1600"/>
          </a:p>
        </p:txBody>
      </p:sp>
      <p:sp>
        <p:nvSpPr>
          <p:cNvPr id="188" name="Google Shape;188;p18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48650" y="1457678"/>
            <a:ext cx="109728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Critical Limitations in Current Defects4J Classification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✗  Coverage Gap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  No study has fully labeled all 864+ D4J bugs</a:t>
            </a:r>
            <a:r>
              <a:rPr lang="en-US" sz="17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existing work covers only 50–488 bugs [2][4][6]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✗  Structural-Only Taxonomy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  CFG/DFG approaches capture </a:t>
            </a:r>
            <a:r>
              <a:rPr b="1" i="1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bugs manifest, not </a:t>
            </a:r>
            <a:r>
              <a:rPr b="1" i="1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they exist </a:t>
            </a:r>
            <a:r>
              <a:rPr b="1" i="1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semantically </a:t>
            </a: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✗  Patch-Level, Not Root-Cause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  Repair-action classification describes fix patterns, not the </a:t>
            </a:r>
            <a:r>
              <a:rPr b="1" i="1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underlying mechanism</a:t>
            </a: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[2]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✗  Post-Fix Dependency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  Existing ML approaches require labeled training data or post-fix code [14]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✗  Descriptive, Not Diagnostic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  Current labels are too low-level or inconsistent for decision</a:t>
            </a:r>
            <a:r>
              <a:rPr lang="en-US" sz="17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making in triage &amp; QA [7]</a:t>
            </a:r>
            <a:endParaRPr sz="1900"/>
          </a:p>
        </p:txBody>
      </p:sp>
      <p:sp>
        <p:nvSpPr>
          <p:cNvPr id="191" name="Google Shape;191;p18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LLM-Based Defect Classification: A Viable Path</a:t>
            </a:r>
            <a:endParaRPr sz="1600"/>
          </a:p>
        </p:txBody>
      </p:sp>
      <p:sp>
        <p:nvSpPr>
          <p:cNvPr id="198" name="Google Shape;198;p19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548650" y="1399325"/>
            <a:ext cx="5770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Evidence Supporting LLM-Driven Classification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✦ Issue Report Classification [10]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LLMs effectively classify issue reports — validates the LLM-for-defect-classification hypothesis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✦ Fine-Grained Categorization [11]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LLMs + prompt engineering + few-shot achieve fine-grained bug report categorization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✦ Chain-of-Thought Prompting [19]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CoT prompting improves LLM classification accuracy by &gt;500% on structured tasks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✦ ODC-Aligned Root Cause Analysis [18]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LLMs generate structured, ODC-aligned root cause explanations from bug reports &amp; stack traces</a:t>
            </a:r>
            <a:endParaRPr sz="1900"/>
          </a:p>
        </p:txBody>
      </p:sp>
      <p:sp>
        <p:nvSpPr>
          <p:cNvPr id="201" name="Google Shape;201;p19"/>
          <p:cNvSpPr/>
          <p:nvPr/>
        </p:nvSpPr>
        <p:spPr>
          <a:xfrm>
            <a:off x="6893450" y="1280150"/>
            <a:ext cx="4617300" cy="4272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sng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LLMs vs Traditional ML</a:t>
            </a:r>
            <a:endParaRPr sz="1800" u="sng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Traditional ML (SVM/NB)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~77–82% accuracy [13][14]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Requires labeled training data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Sparse text limitations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LLM-Based Approach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Code-aware reasoning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Zero-shot / few-shot capable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Structured taxonomy guidance</a:t>
            </a:r>
            <a:endParaRPr i="1" sz="1800"/>
          </a:p>
        </p:txBody>
      </p:sp>
      <p:sp>
        <p:nvSpPr>
          <p:cNvPr id="202" name="Google Shape;202;p19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/>
        </p:nvSpPr>
        <p:spPr>
          <a:xfrm>
            <a:off x="548640" y="13716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Taxonomy Problem for LLMs</a:t>
            </a:r>
            <a:endParaRPr sz="1600"/>
          </a:p>
        </p:txBody>
      </p:sp>
      <p:sp>
        <p:nvSpPr>
          <p:cNvPr id="209" name="Google Shape;209;p20"/>
          <p:cNvSpPr/>
          <p:nvPr/>
        </p:nvSpPr>
        <p:spPr>
          <a:xfrm>
            <a:off x="548640" y="1051560"/>
            <a:ext cx="1828800" cy="366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0" y="6675120"/>
            <a:ext cx="12191700" cy="1830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65760" y="1494459"/>
            <a:ext cx="114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LLMs alone are not enough — without a structured taxonomy, classification collapses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65750" y="2304825"/>
            <a:ext cx="5577900" cy="1418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✖  Hallucination Without Structure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LLMs hallucinate heavily when classifying bugs without concrete stack traces or a guiding taxonomy [18]</a:t>
            </a:r>
            <a:endParaRPr sz="1900"/>
          </a:p>
        </p:txBody>
      </p:sp>
      <p:sp>
        <p:nvSpPr>
          <p:cNvPr id="213" name="Google Shape;213;p20"/>
          <p:cNvSpPr/>
          <p:nvPr/>
        </p:nvSpPr>
        <p:spPr>
          <a:xfrm>
            <a:off x="6172199" y="2304825"/>
            <a:ext cx="5577900" cy="1418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✖  Inconsistent Labels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Without standardization, different LLM runs produce different category labels for the same bug [11]</a:t>
            </a:r>
            <a:endParaRPr sz="1900"/>
          </a:p>
        </p:txBody>
      </p:sp>
      <p:sp>
        <p:nvSpPr>
          <p:cNvPr id="214" name="Google Shape;214;p20"/>
          <p:cNvSpPr/>
          <p:nvPr/>
        </p:nvSpPr>
        <p:spPr>
          <a:xfrm>
            <a:off x="365750" y="4027109"/>
            <a:ext cx="5577900" cy="1418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✖  Incompatible Taxonomies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Ad hoc ML classification yields a proliferation of incompatible categories that can’t be compared [8]</a:t>
            </a:r>
            <a:endParaRPr sz="1900"/>
          </a:p>
        </p:txBody>
      </p:sp>
      <p:sp>
        <p:nvSpPr>
          <p:cNvPr id="215" name="Google Shape;215;p20"/>
          <p:cNvSpPr/>
          <p:nvPr/>
        </p:nvSpPr>
        <p:spPr>
          <a:xfrm>
            <a:off x="6172199" y="4027109"/>
            <a:ext cx="5577900" cy="1418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✖  Unactionable Results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Classification without a principled framework produces vague labels with no operational value [14]</a:t>
            </a:r>
            <a:endParaRPr sz="1900"/>
          </a:p>
        </p:txBody>
      </p:sp>
      <p:sp>
        <p:nvSpPr>
          <p:cNvPr id="216" name="Google Shape;216;p20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sz="1600"/>
          </a:p>
        </p:txBody>
      </p:sp>
      <p:sp>
        <p:nvSpPr>
          <p:cNvPr id="223" name="Google Shape;223;p21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65750" y="1397638"/>
            <a:ext cx="11430000" cy="1701900"/>
          </a:xfrm>
          <a:prstGeom prst="roundRect">
            <a:avLst>
              <a:gd fmla="val 16667" name="adj"/>
            </a:avLst>
          </a:prstGeom>
          <a:solidFill>
            <a:srgbClr val="FCE4EC"/>
          </a:solidFill>
          <a:ln cap="flat" cmpd="sng" w="254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274300" spcFirstLastPara="1" rIns="274300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The Core Gap</a:t>
            </a:r>
            <a:endParaRPr sz="19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study has fully labeled all Defects4J bugs. Existing work covers only 50–488 bugs, uses structural-only taxonomies, or requires post-fix code — preventing pre-triage use.</a:t>
            </a:r>
            <a:r>
              <a:rPr lang="en-US" sz="1900"/>
              <a:t> </a:t>
            </a:r>
            <a:r>
              <a:rPr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There exists no context-aware, semantically-grounded, scalable classification of the full Defects4J dataset.</a:t>
            </a:r>
            <a:endParaRPr sz="1900"/>
          </a:p>
        </p:txBody>
      </p:sp>
      <p:sp>
        <p:nvSpPr>
          <p:cNvPr id="227" name="Google Shape;227;p21"/>
          <p:cNvSpPr txBox="1"/>
          <p:nvPr/>
        </p:nvSpPr>
        <p:spPr>
          <a:xfrm>
            <a:off x="365750" y="3418680"/>
            <a:ext cx="1143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What’s Needed: A pipeline that i</a:t>
            </a:r>
            <a:r>
              <a:rPr b="1" lang="en-US" sz="19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 →</a:t>
            </a:r>
            <a:endParaRPr sz="1800"/>
          </a:p>
        </p:txBody>
      </p:sp>
      <p:sp>
        <p:nvSpPr>
          <p:cNvPr id="228" name="Google Shape;228;p21"/>
          <p:cNvSpPr/>
          <p:nvPr/>
        </p:nvSpPr>
        <p:spPr>
          <a:xfrm>
            <a:off x="365750" y="4003719"/>
            <a:ext cx="2697600" cy="1808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914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✓ Context-Aware</a:t>
            </a:r>
            <a:endParaRPr sz="20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Multi-modal evidence:</a:t>
            </a:r>
            <a:b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code, tests, bug reports,</a:t>
            </a:r>
            <a:b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stack traces</a:t>
            </a:r>
            <a:endParaRPr sz="2000"/>
          </a:p>
        </p:txBody>
      </p:sp>
      <p:sp>
        <p:nvSpPr>
          <p:cNvPr id="229" name="Google Shape;229;p21"/>
          <p:cNvSpPr/>
          <p:nvPr/>
        </p:nvSpPr>
        <p:spPr>
          <a:xfrm>
            <a:off x="3246110" y="4003719"/>
            <a:ext cx="2697600" cy="1808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914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✓ Semantic</a:t>
            </a:r>
            <a:endParaRPr sz="20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Root-cause classification,</a:t>
            </a:r>
            <a:b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not syntactic patterns</a:t>
            </a:r>
            <a:endParaRPr sz="2000"/>
          </a:p>
        </p:txBody>
      </p:sp>
      <p:sp>
        <p:nvSpPr>
          <p:cNvPr id="230" name="Google Shape;230;p21"/>
          <p:cNvSpPr/>
          <p:nvPr/>
        </p:nvSpPr>
        <p:spPr>
          <a:xfrm>
            <a:off x="6126470" y="4003719"/>
            <a:ext cx="2697600" cy="1808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914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✓ Taxonomy-Constrained</a:t>
            </a:r>
            <a:endParaRPr sz="20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Taxonomy</a:t>
            </a: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prevents hallucination</a:t>
            </a: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&amp; ensures comparability</a:t>
            </a:r>
            <a:endParaRPr sz="2000"/>
          </a:p>
        </p:txBody>
      </p:sp>
      <p:sp>
        <p:nvSpPr>
          <p:cNvPr id="231" name="Google Shape;231;p21"/>
          <p:cNvSpPr/>
          <p:nvPr/>
        </p:nvSpPr>
        <p:spPr>
          <a:xfrm>
            <a:off x="9006830" y="4003719"/>
            <a:ext cx="2697600" cy="1808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914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✓ Scalable</a:t>
            </a:r>
            <a:endParaRPr sz="20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LLM-based for full dataset</a:t>
            </a:r>
            <a:b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without manual labeling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Orthogonal Defect Classification (ODC)</a:t>
            </a:r>
            <a:endParaRPr sz="1600"/>
          </a:p>
        </p:txBody>
      </p:sp>
      <p:sp>
        <p:nvSpPr>
          <p:cNvPr id="238" name="Google Shape;238;p2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48650" y="1345147"/>
            <a:ext cx="5029200" cy="5121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OPENER Attributes (When Defect Found)</a:t>
            </a:r>
            <a:endParaRPr sz="1800"/>
          </a:p>
        </p:txBody>
      </p:sp>
      <p:sp>
        <p:nvSpPr>
          <p:cNvPr id="241" name="Google Shape;241;p22"/>
          <p:cNvSpPr txBox="1"/>
          <p:nvPr/>
        </p:nvSpPr>
        <p:spPr>
          <a:xfrm>
            <a:off x="731530" y="2010724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Activity: Development phase when defect found</a:t>
            </a:r>
            <a:endParaRPr sz="1800"/>
          </a:p>
        </p:txBody>
      </p:sp>
      <p:sp>
        <p:nvSpPr>
          <p:cNvPr id="242" name="Google Shape;242;p22"/>
          <p:cNvSpPr txBox="1"/>
          <p:nvPr/>
        </p:nvSpPr>
        <p:spPr>
          <a:xfrm>
            <a:off x="731530" y="244079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Trigger: Testing condition that exposed defect</a:t>
            </a:r>
            <a:endParaRPr sz="1800"/>
          </a:p>
        </p:txBody>
      </p:sp>
      <p:sp>
        <p:nvSpPr>
          <p:cNvPr id="243" name="Google Shape;243;p22"/>
          <p:cNvSpPr txBox="1"/>
          <p:nvPr/>
        </p:nvSpPr>
        <p:spPr>
          <a:xfrm>
            <a:off x="731530" y="2870855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Impact: Effect on customer / system</a:t>
            </a:r>
            <a:endParaRPr sz="1800"/>
          </a:p>
        </p:txBody>
      </p:sp>
      <p:sp>
        <p:nvSpPr>
          <p:cNvPr id="244" name="Google Shape;244;p22"/>
          <p:cNvSpPr/>
          <p:nvPr/>
        </p:nvSpPr>
        <p:spPr>
          <a:xfrm>
            <a:off x="6400800" y="1345147"/>
            <a:ext cx="5120700" cy="5121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CLOSER Attributes (When Defect Fixed)</a:t>
            </a:r>
            <a:endParaRPr sz="1800"/>
          </a:p>
        </p:txBody>
      </p:sp>
      <p:sp>
        <p:nvSpPr>
          <p:cNvPr id="245" name="Google Shape;245;p22"/>
          <p:cNvSpPr txBox="1"/>
          <p:nvPr/>
        </p:nvSpPr>
        <p:spPr>
          <a:xfrm>
            <a:off x="6583680" y="2010724"/>
            <a:ext cx="493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Defect Type: Root cause category (7 types)</a:t>
            </a:r>
            <a:endParaRPr sz="1800"/>
          </a:p>
        </p:txBody>
      </p:sp>
      <p:sp>
        <p:nvSpPr>
          <p:cNvPr id="246" name="Google Shape;246;p22"/>
          <p:cNvSpPr txBox="1"/>
          <p:nvPr/>
        </p:nvSpPr>
        <p:spPr>
          <a:xfrm>
            <a:off x="6583680" y="2399831"/>
            <a:ext cx="493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Target: Design/Code artifact affected</a:t>
            </a:r>
            <a:endParaRPr sz="1800"/>
          </a:p>
        </p:txBody>
      </p:sp>
      <p:sp>
        <p:nvSpPr>
          <p:cNvPr id="247" name="Google Shape;247;p22"/>
          <p:cNvSpPr txBox="1"/>
          <p:nvPr/>
        </p:nvSpPr>
        <p:spPr>
          <a:xfrm>
            <a:off x="6583680" y="2788938"/>
            <a:ext cx="493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Qualifier: Missing, Incorrect, or Extraneous</a:t>
            </a:r>
            <a:endParaRPr sz="1800"/>
          </a:p>
        </p:txBody>
      </p:sp>
      <p:sp>
        <p:nvSpPr>
          <p:cNvPr id="248" name="Google Shape;248;p22"/>
          <p:cNvSpPr txBox="1"/>
          <p:nvPr/>
        </p:nvSpPr>
        <p:spPr>
          <a:xfrm>
            <a:off x="6583680" y="3178045"/>
            <a:ext cx="493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Age: Base, New, or Rewritten code</a:t>
            </a:r>
            <a:endParaRPr sz="1800"/>
          </a:p>
        </p:txBody>
      </p:sp>
      <p:sp>
        <p:nvSpPr>
          <p:cNvPr id="249" name="Google Shape;249;p22"/>
          <p:cNvSpPr txBox="1"/>
          <p:nvPr/>
        </p:nvSpPr>
        <p:spPr>
          <a:xfrm>
            <a:off x="6583680" y="3567152"/>
            <a:ext cx="493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Source: In-house, Library, or Vendor</a:t>
            </a:r>
            <a:endParaRPr sz="1800"/>
          </a:p>
        </p:txBody>
      </p:sp>
      <p:sp>
        <p:nvSpPr>
          <p:cNvPr id="250" name="Google Shape;250;p22"/>
          <p:cNvSpPr/>
          <p:nvPr/>
        </p:nvSpPr>
        <p:spPr>
          <a:xfrm>
            <a:off x="548650" y="4108297"/>
            <a:ext cx="10972800" cy="5169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7 ODC Defect Types (Target = Design/Code)</a:t>
            </a:r>
            <a:endParaRPr sz="1800"/>
          </a:p>
        </p:txBody>
      </p:sp>
      <p:sp>
        <p:nvSpPr>
          <p:cNvPr id="251" name="Google Shape;251;p22"/>
          <p:cNvSpPr txBox="1"/>
          <p:nvPr/>
        </p:nvSpPr>
        <p:spPr>
          <a:xfrm>
            <a:off x="731525" y="4780325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● Algorithm/Method  — Wrong computational logic  [C&amp;DF]</a:t>
            </a:r>
            <a:endParaRPr sz="1800"/>
          </a:p>
        </p:txBody>
      </p:sp>
      <p:sp>
        <p:nvSpPr>
          <p:cNvPr id="252" name="Google Shape;252;p22"/>
          <p:cNvSpPr txBox="1"/>
          <p:nvPr/>
        </p:nvSpPr>
        <p:spPr>
          <a:xfrm>
            <a:off x="731525" y="5204267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● Assignment/Initialization  — Wrong value / initialization </a:t>
            </a:r>
            <a:endParaRPr sz="1800"/>
          </a:p>
        </p:txBody>
      </p:sp>
      <p:sp>
        <p:nvSpPr>
          <p:cNvPr id="253" name="Google Shape;253;p22"/>
          <p:cNvSpPr txBox="1"/>
          <p:nvPr/>
        </p:nvSpPr>
        <p:spPr>
          <a:xfrm>
            <a:off x="731525" y="5628209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● Checking  — Missing / wrong validation</a:t>
            </a:r>
            <a:endParaRPr sz="1800"/>
          </a:p>
        </p:txBody>
      </p:sp>
      <p:sp>
        <p:nvSpPr>
          <p:cNvPr id="254" name="Google Shape;254;p22"/>
          <p:cNvSpPr txBox="1"/>
          <p:nvPr/>
        </p:nvSpPr>
        <p:spPr>
          <a:xfrm>
            <a:off x="731525" y="6052152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● Timing/Serialization  — Concurrency / ordering issue </a:t>
            </a:r>
            <a:endParaRPr sz="1800"/>
          </a:p>
        </p:txBody>
      </p:sp>
      <p:sp>
        <p:nvSpPr>
          <p:cNvPr id="255" name="Google Shape;255;p22"/>
          <p:cNvSpPr txBox="1"/>
          <p:nvPr/>
        </p:nvSpPr>
        <p:spPr>
          <a:xfrm>
            <a:off x="6400800" y="4780325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● Function/Class/Object  — Design-level gap  [Structural]</a:t>
            </a:r>
            <a:endParaRPr sz="1800"/>
          </a:p>
        </p:txBody>
      </p:sp>
      <p:sp>
        <p:nvSpPr>
          <p:cNvPr id="256" name="Google Shape;256;p22"/>
          <p:cNvSpPr txBox="1"/>
          <p:nvPr/>
        </p:nvSpPr>
        <p:spPr>
          <a:xfrm>
            <a:off x="6400800" y="5219030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● Interface/O-O Messages  — Component boundary issue </a:t>
            </a:r>
            <a:endParaRPr sz="1800"/>
          </a:p>
        </p:txBody>
      </p:sp>
      <p:sp>
        <p:nvSpPr>
          <p:cNvPr id="257" name="Google Shape;257;p22"/>
          <p:cNvSpPr txBox="1"/>
          <p:nvPr/>
        </p:nvSpPr>
        <p:spPr>
          <a:xfrm>
            <a:off x="6400800" y="5657735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● Relationship  — Entity association problem </a:t>
            </a:r>
            <a:endParaRPr sz="1800"/>
          </a:p>
        </p:txBody>
      </p:sp>
      <p:sp>
        <p:nvSpPr>
          <p:cNvPr id="258" name="Google Shape;258;p22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ODC × Defects4J: Natural Artifact Mapping</a:t>
            </a:r>
            <a:endParaRPr sz="1600"/>
          </a:p>
        </p:txBody>
      </p:sp>
      <p:sp>
        <p:nvSpPr>
          <p:cNvPr id="265" name="Google Shape;265;p23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365750" y="1490275"/>
            <a:ext cx="5577900" cy="5115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OPENER (Discovery Story)</a:t>
            </a:r>
            <a:endParaRPr sz="1800"/>
          </a:p>
        </p:txBody>
      </p:sp>
      <p:sp>
        <p:nvSpPr>
          <p:cNvPr id="269" name="Google Shape;269;p23"/>
          <p:cNvSpPr/>
          <p:nvPr/>
        </p:nvSpPr>
        <p:spPr>
          <a:xfrm>
            <a:off x="365750" y="2228490"/>
            <a:ext cx="2011800" cy="6246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sz="1800"/>
          </a:p>
        </p:txBody>
      </p:sp>
      <p:sp>
        <p:nvSpPr>
          <p:cNvPr id="270" name="Google Shape;270;p23"/>
          <p:cNvSpPr txBox="1"/>
          <p:nvPr/>
        </p:nvSpPr>
        <p:spPr>
          <a:xfrm>
            <a:off x="2468875" y="2285276"/>
            <a:ext cx="4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/>
          </a:p>
        </p:txBody>
      </p:sp>
      <p:sp>
        <p:nvSpPr>
          <p:cNvPr id="271" name="Google Shape;271;p23"/>
          <p:cNvSpPr/>
          <p:nvPr/>
        </p:nvSpPr>
        <p:spPr>
          <a:xfrm>
            <a:off x="2971796" y="2228490"/>
            <a:ext cx="1463100" cy="6246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1800"/>
          </a:p>
        </p:txBody>
      </p:sp>
      <p:sp>
        <p:nvSpPr>
          <p:cNvPr id="272" name="Google Shape;272;p23"/>
          <p:cNvSpPr txBox="1"/>
          <p:nvPr/>
        </p:nvSpPr>
        <p:spPr>
          <a:xfrm>
            <a:off x="4572000" y="2228490"/>
            <a:ext cx="1463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Test type tells us WHAT was</a:t>
            </a:r>
            <a:b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being done when defect surfaced</a:t>
            </a:r>
            <a:endParaRPr sz="1800"/>
          </a:p>
        </p:txBody>
      </p:sp>
      <p:sp>
        <p:nvSpPr>
          <p:cNvPr id="273" name="Google Shape;273;p23"/>
          <p:cNvSpPr/>
          <p:nvPr/>
        </p:nvSpPr>
        <p:spPr>
          <a:xfrm>
            <a:off x="365750" y="3534565"/>
            <a:ext cx="2011800" cy="6246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Traces</a:t>
            </a:r>
            <a:endParaRPr sz="1800"/>
          </a:p>
        </p:txBody>
      </p:sp>
      <p:sp>
        <p:nvSpPr>
          <p:cNvPr id="274" name="Google Shape;274;p23"/>
          <p:cNvSpPr txBox="1"/>
          <p:nvPr/>
        </p:nvSpPr>
        <p:spPr>
          <a:xfrm>
            <a:off x="2468875" y="3591351"/>
            <a:ext cx="4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/>
          </a:p>
        </p:txBody>
      </p:sp>
      <p:sp>
        <p:nvSpPr>
          <p:cNvPr id="275" name="Google Shape;275;p23"/>
          <p:cNvSpPr/>
          <p:nvPr/>
        </p:nvSpPr>
        <p:spPr>
          <a:xfrm>
            <a:off x="2971796" y="3534565"/>
            <a:ext cx="1463100" cy="6246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sz="1800"/>
          </a:p>
        </p:txBody>
      </p:sp>
      <p:sp>
        <p:nvSpPr>
          <p:cNvPr id="276" name="Google Shape;276;p23"/>
          <p:cNvSpPr txBox="1"/>
          <p:nvPr/>
        </p:nvSpPr>
        <p:spPr>
          <a:xfrm>
            <a:off x="4572000" y="3534565"/>
            <a:ext cx="14631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Runtime context shows WHAT</a:t>
            </a:r>
            <a:b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condition woke the dormant defect</a:t>
            </a:r>
            <a:endParaRPr sz="1800"/>
          </a:p>
        </p:txBody>
      </p:sp>
      <p:sp>
        <p:nvSpPr>
          <p:cNvPr id="277" name="Google Shape;277;p23"/>
          <p:cNvSpPr/>
          <p:nvPr/>
        </p:nvSpPr>
        <p:spPr>
          <a:xfrm>
            <a:off x="365750" y="4840639"/>
            <a:ext cx="2011800" cy="6246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Reports</a:t>
            </a:r>
            <a:endParaRPr sz="1800"/>
          </a:p>
        </p:txBody>
      </p:sp>
      <p:sp>
        <p:nvSpPr>
          <p:cNvPr id="278" name="Google Shape;278;p23"/>
          <p:cNvSpPr txBox="1"/>
          <p:nvPr/>
        </p:nvSpPr>
        <p:spPr>
          <a:xfrm>
            <a:off x="2468875" y="4897425"/>
            <a:ext cx="4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/>
          </a:p>
        </p:txBody>
      </p:sp>
      <p:sp>
        <p:nvSpPr>
          <p:cNvPr id="279" name="Google Shape;279;p23"/>
          <p:cNvSpPr/>
          <p:nvPr/>
        </p:nvSpPr>
        <p:spPr>
          <a:xfrm>
            <a:off x="2971796" y="4840639"/>
            <a:ext cx="1463100" cy="6246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1800"/>
          </a:p>
        </p:txBody>
      </p:sp>
      <p:sp>
        <p:nvSpPr>
          <p:cNvPr id="280" name="Google Shape;280;p23"/>
          <p:cNvSpPr txBox="1"/>
          <p:nvPr/>
        </p:nvSpPr>
        <p:spPr>
          <a:xfrm>
            <a:off x="4572000" y="4840639"/>
            <a:ext cx="146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User-visible symptom describes</a:t>
            </a:r>
            <a:b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 consequence (crash, wrong output)</a:t>
            </a:r>
            <a:endParaRPr sz="1800"/>
          </a:p>
        </p:txBody>
      </p:sp>
      <p:sp>
        <p:nvSpPr>
          <p:cNvPr id="281" name="Google Shape;281;p23"/>
          <p:cNvSpPr/>
          <p:nvPr/>
        </p:nvSpPr>
        <p:spPr>
          <a:xfrm>
            <a:off x="6217924" y="1490275"/>
            <a:ext cx="5577900" cy="5115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CLOSER (Repair Story)</a:t>
            </a:r>
            <a:endParaRPr sz="1800"/>
          </a:p>
        </p:txBody>
      </p:sp>
      <p:sp>
        <p:nvSpPr>
          <p:cNvPr id="282" name="Google Shape;282;p23"/>
          <p:cNvSpPr/>
          <p:nvPr/>
        </p:nvSpPr>
        <p:spPr>
          <a:xfrm>
            <a:off x="6217924" y="2228490"/>
            <a:ext cx="2011800" cy="6246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Diffs</a:t>
            </a:r>
            <a:endParaRPr sz="1800"/>
          </a:p>
        </p:txBody>
      </p:sp>
      <p:sp>
        <p:nvSpPr>
          <p:cNvPr id="283" name="Google Shape;283;p23"/>
          <p:cNvSpPr txBox="1"/>
          <p:nvPr/>
        </p:nvSpPr>
        <p:spPr>
          <a:xfrm>
            <a:off x="8321049" y="2285276"/>
            <a:ext cx="4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/>
          </a:p>
        </p:txBody>
      </p:sp>
      <p:sp>
        <p:nvSpPr>
          <p:cNvPr id="284" name="Google Shape;284;p23"/>
          <p:cNvSpPr/>
          <p:nvPr/>
        </p:nvSpPr>
        <p:spPr>
          <a:xfrm>
            <a:off x="8823970" y="2228490"/>
            <a:ext cx="1828800" cy="6246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+ Qualifier</a:t>
            </a:r>
            <a:endParaRPr sz="1800"/>
          </a:p>
        </p:txBody>
      </p:sp>
      <p:sp>
        <p:nvSpPr>
          <p:cNvPr id="285" name="Google Shape;285;p23"/>
          <p:cNvSpPr/>
          <p:nvPr/>
        </p:nvSpPr>
        <p:spPr>
          <a:xfrm>
            <a:off x="6217924" y="2966706"/>
            <a:ext cx="4434900" cy="965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Diff reveals the semantic mistake</a:t>
            </a:r>
            <a:b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(Type) and how it manifested</a:t>
            </a:r>
            <a:b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(Missing / Incorrect / Extraneous)</a:t>
            </a:r>
            <a:endParaRPr sz="1800"/>
          </a:p>
        </p:txBody>
      </p:sp>
      <p:sp>
        <p:nvSpPr>
          <p:cNvPr id="286" name="Google Shape;286;p23"/>
          <p:cNvSpPr/>
          <p:nvPr/>
        </p:nvSpPr>
        <p:spPr>
          <a:xfrm>
            <a:off x="6217924" y="4159210"/>
            <a:ext cx="2011800" cy="6246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Modified Class</a:t>
            </a:r>
            <a:endParaRPr sz="1800"/>
          </a:p>
        </p:txBody>
      </p:sp>
      <p:sp>
        <p:nvSpPr>
          <p:cNvPr id="287" name="Google Shape;287;p23"/>
          <p:cNvSpPr txBox="1"/>
          <p:nvPr/>
        </p:nvSpPr>
        <p:spPr>
          <a:xfrm>
            <a:off x="8321049" y="4215996"/>
            <a:ext cx="4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/>
          </a:p>
        </p:txBody>
      </p:sp>
      <p:sp>
        <p:nvSpPr>
          <p:cNvPr id="288" name="Google Shape;288;p23"/>
          <p:cNvSpPr/>
          <p:nvPr/>
        </p:nvSpPr>
        <p:spPr>
          <a:xfrm>
            <a:off x="8823970" y="4159210"/>
            <a:ext cx="1828800" cy="6246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+ Age</a:t>
            </a:r>
            <a:endParaRPr sz="1800"/>
          </a:p>
        </p:txBody>
      </p:sp>
      <p:sp>
        <p:nvSpPr>
          <p:cNvPr id="289" name="Google Shape;289;p23"/>
          <p:cNvSpPr/>
          <p:nvPr/>
        </p:nvSpPr>
        <p:spPr>
          <a:xfrm>
            <a:off x="6217924" y="4897427"/>
            <a:ext cx="4434900" cy="965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WHERE the fix was applied</a:t>
            </a:r>
            <a:b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(Target = Code) and WHEN the</a:t>
            </a:r>
            <a:b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defect was injected (Base / New)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sz="1600"/>
          </a:p>
        </p:txBody>
      </p:sp>
      <p:sp>
        <p:nvSpPr>
          <p:cNvPr id="296" name="Google Shape;296;p2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548650" y="1463051"/>
            <a:ext cx="822900" cy="4932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700"/>
          </a:p>
        </p:txBody>
      </p:sp>
      <p:sp>
        <p:nvSpPr>
          <p:cNvPr id="299" name="Google Shape;299;p24"/>
          <p:cNvSpPr/>
          <p:nvPr/>
        </p:nvSpPr>
        <p:spPr>
          <a:xfrm>
            <a:off x="1554484" y="1463062"/>
            <a:ext cx="9966900" cy="776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Build an automated pipeline that classifies Defects4J bugs into ODC defect types using LLM reasoning guided by structured scientific debugging.</a:t>
            </a:r>
            <a:endParaRPr sz="16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548650" y="2745065"/>
            <a:ext cx="822900" cy="4932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700"/>
          </a:p>
        </p:txBody>
      </p:sp>
      <p:sp>
        <p:nvSpPr>
          <p:cNvPr id="301" name="Google Shape;301;p24"/>
          <p:cNvSpPr/>
          <p:nvPr/>
        </p:nvSpPr>
        <p:spPr>
          <a:xfrm>
            <a:off x="1554484" y="2650597"/>
            <a:ext cx="9966900" cy="776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Collect bug evidence in two modes — pre-fix (symptoms only) and post-fix (with the actual code fix) — mapping Defects4J artifacts to ODC opener and closer attributes.</a:t>
            </a:r>
            <a:endParaRPr sz="16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548650" y="4027078"/>
            <a:ext cx="822900" cy="493200"/>
          </a:xfrm>
          <a:prstGeom prst="roundRect">
            <a:avLst>
              <a:gd fmla="val 16667" name="adj"/>
            </a:avLst>
          </a:prstGeom>
          <a:solidFill>
            <a:srgbClr val="48A9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700"/>
          </a:p>
        </p:txBody>
      </p:sp>
      <p:sp>
        <p:nvSpPr>
          <p:cNvPr id="303" name="Google Shape;303;p24"/>
          <p:cNvSpPr/>
          <p:nvPr/>
        </p:nvSpPr>
        <p:spPr>
          <a:xfrm>
            <a:off x="1554484" y="3838133"/>
            <a:ext cx="9966900" cy="776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Apply Zeller’s scientific debugging methodology as an LLM prompting strategy to produce explainable, step-by-step classifications.</a:t>
            </a:r>
            <a:endParaRPr sz="16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548650" y="5309092"/>
            <a:ext cx="822900" cy="493200"/>
          </a:xfrm>
          <a:prstGeom prst="roundRect">
            <a:avLst>
              <a:gd fmla="val 16667" name="adj"/>
            </a:avLst>
          </a:prstGeom>
          <a:solidFill>
            <a:srgbClr val="E86F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700"/>
          </a:p>
        </p:txBody>
      </p:sp>
      <p:sp>
        <p:nvSpPr>
          <p:cNvPr id="305" name="Google Shape;305;p24"/>
          <p:cNvSpPr/>
          <p:nvPr/>
        </p:nvSpPr>
        <p:spPr>
          <a:xfrm>
            <a:off x="1554484" y="5025668"/>
            <a:ext cx="9966900" cy="7764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Design a 4-tier evaluation framework that compares pre-fix vs post-fix classifications using strict match, top-2 match, family match, and Cohen’s Kappa.</a:t>
            </a:r>
            <a:endParaRPr sz="16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Pipeline Architecture Overview</a:t>
            </a:r>
            <a:endParaRPr sz="1600"/>
          </a:p>
        </p:txBody>
      </p:sp>
      <p:sp>
        <p:nvSpPr>
          <p:cNvPr id="313" name="Google Shape;313;p2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548640" y="13716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548640" y="1188720"/>
            <a:ext cx="1645920" cy="36576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COLLECT</a:t>
            </a:r>
            <a:endParaRPr sz="1700"/>
          </a:p>
        </p:txBody>
      </p:sp>
      <p:sp>
        <p:nvSpPr>
          <p:cNvPr id="317" name="Google Shape;317;p25"/>
          <p:cNvSpPr txBox="1"/>
          <p:nvPr/>
        </p:nvSpPr>
        <p:spPr>
          <a:xfrm>
            <a:off x="731525" y="1804375"/>
            <a:ext cx="31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br>
              <a:rPr b="1" i="0" lang="en-US" sz="2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Gathering</a:t>
            </a:r>
            <a:endParaRPr sz="1700"/>
          </a:p>
        </p:txBody>
      </p:sp>
      <p:sp>
        <p:nvSpPr>
          <p:cNvPr id="318" name="Google Shape;318;p25"/>
          <p:cNvSpPr txBox="1"/>
          <p:nvPr/>
        </p:nvSpPr>
        <p:spPr>
          <a:xfrm>
            <a:off x="731525" y="2833063"/>
            <a:ext cx="310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D4J CLI → multi-modal</a:t>
            </a:r>
            <a:b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evidence → context.json</a:t>
            </a:r>
            <a:endParaRPr sz="1900"/>
          </a:p>
        </p:txBody>
      </p:sp>
      <p:sp>
        <p:nvSpPr>
          <p:cNvPr id="319" name="Google Shape;319;p25"/>
          <p:cNvSpPr/>
          <p:nvPr/>
        </p:nvSpPr>
        <p:spPr>
          <a:xfrm>
            <a:off x="4389120" y="13716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4389120" y="1188720"/>
            <a:ext cx="1645920" cy="36576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CLASSIFY</a:t>
            </a:r>
            <a:endParaRPr sz="1700"/>
          </a:p>
        </p:txBody>
      </p:sp>
      <p:sp>
        <p:nvSpPr>
          <p:cNvPr id="321" name="Google Shape;321;p25"/>
          <p:cNvSpPr txBox="1"/>
          <p:nvPr/>
        </p:nvSpPr>
        <p:spPr>
          <a:xfrm>
            <a:off x="4572000" y="1804375"/>
            <a:ext cx="31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br>
              <a:rPr b="1" i="0" lang="en-US" sz="2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700"/>
          </a:p>
        </p:txBody>
      </p:sp>
      <p:sp>
        <p:nvSpPr>
          <p:cNvPr id="322" name="Google Shape;322;p25"/>
          <p:cNvSpPr txBox="1"/>
          <p:nvPr/>
        </p:nvSpPr>
        <p:spPr>
          <a:xfrm>
            <a:off x="4572000" y="2833063"/>
            <a:ext cx="310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context.json → ODC prompt</a:t>
            </a:r>
            <a:b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LLM → classification.json</a:t>
            </a:r>
            <a:endParaRPr sz="1900"/>
          </a:p>
        </p:txBody>
      </p:sp>
      <p:sp>
        <p:nvSpPr>
          <p:cNvPr id="323" name="Google Shape;323;p25"/>
          <p:cNvSpPr/>
          <p:nvPr/>
        </p:nvSpPr>
        <p:spPr>
          <a:xfrm>
            <a:off x="8229600" y="137160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8229600" y="1188720"/>
            <a:ext cx="1645920" cy="365760"/>
          </a:xfrm>
          <a:prstGeom prst="roundRect">
            <a:avLst>
              <a:gd fmla="val 16667" name="adj"/>
            </a:avLst>
          </a:prstGeom>
          <a:solidFill>
            <a:srgbClr val="48A9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COMPARE</a:t>
            </a:r>
            <a:endParaRPr sz="1700"/>
          </a:p>
        </p:txBody>
      </p:sp>
      <p:sp>
        <p:nvSpPr>
          <p:cNvPr id="325" name="Google Shape;325;p25"/>
          <p:cNvSpPr txBox="1"/>
          <p:nvPr/>
        </p:nvSpPr>
        <p:spPr>
          <a:xfrm>
            <a:off x="8412475" y="1804375"/>
            <a:ext cx="310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br>
              <a:rPr b="1" i="0" lang="en-US" sz="21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1700"/>
          </a:p>
        </p:txBody>
      </p:sp>
      <p:sp>
        <p:nvSpPr>
          <p:cNvPr id="326" name="Google Shape;326;p25"/>
          <p:cNvSpPr txBox="1"/>
          <p:nvPr/>
        </p:nvSpPr>
        <p:spPr>
          <a:xfrm>
            <a:off x="8412475" y="2833063"/>
            <a:ext cx="310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Pre-fix vs Post-fix</a:t>
            </a:r>
            <a:b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multi-tier analysis</a:t>
            </a:r>
            <a:endParaRPr sz="1900"/>
          </a:p>
        </p:txBody>
      </p:sp>
      <p:sp>
        <p:nvSpPr>
          <p:cNvPr id="327" name="Google Shape;327;p25"/>
          <p:cNvSpPr txBox="1"/>
          <p:nvPr/>
        </p:nvSpPr>
        <p:spPr>
          <a:xfrm>
            <a:off x="4114800" y="2468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7955279" y="2468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548650" y="4389125"/>
            <a:ext cx="10972800" cy="2160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Key Architectural Principles</a:t>
            </a:r>
            <a:endParaRPr b="1" sz="19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▸ File-oriented, synchronous — no database, queue, or async orchestration</a:t>
            </a:r>
            <a:endParaRPr sz="19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Multi-provider LLM support (Gemini, OpenRouter, OpenAI-compatible)</a:t>
            </a:r>
            <a:endParaRPr sz="19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Pre-fix evidence by default; post-fix via explicit --include-fix-diff</a:t>
            </a:r>
            <a:endParaRPr sz="19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Hidden oracle exclusion: classes.modified never enters the LLM prompt</a:t>
            </a:r>
            <a:endParaRPr sz="19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▸ Inspired by AutoSD [15]: Zeller’s scientific debugging in structured prompts [16]</a:t>
            </a:r>
            <a:endParaRPr sz="1900"/>
          </a:p>
        </p:txBody>
      </p:sp>
      <p:sp>
        <p:nvSpPr>
          <p:cNvPr id="330" name="Google Shape;330;p25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Evidence Collection: Building context.json</a:t>
            </a:r>
            <a:endParaRPr sz="1600"/>
          </a:p>
        </p:txBody>
      </p:sp>
      <p:sp>
        <p:nvSpPr>
          <p:cNvPr id="337" name="Google Shape;337;p26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548650" y="1447552"/>
            <a:ext cx="365700" cy="3960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/>
          </a:p>
        </p:txBody>
      </p:sp>
      <p:sp>
        <p:nvSpPr>
          <p:cNvPr id="340" name="Google Shape;340;p26"/>
          <p:cNvSpPr txBox="1"/>
          <p:nvPr/>
        </p:nvSpPr>
        <p:spPr>
          <a:xfrm>
            <a:off x="1051570" y="1398037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Query D4J Metadata</a:t>
            </a:r>
            <a:endParaRPr sz="2000"/>
          </a:p>
        </p:txBody>
      </p:sp>
      <p:sp>
        <p:nvSpPr>
          <p:cNvPr id="341" name="Google Shape;341;p26"/>
          <p:cNvSpPr txBox="1"/>
          <p:nvPr/>
        </p:nvSpPr>
        <p:spPr>
          <a:xfrm>
            <a:off x="1051570" y="1744644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Project, bug info, report URL, modified classes</a:t>
            </a:r>
            <a:endParaRPr sz="2000"/>
          </a:p>
        </p:txBody>
      </p:sp>
      <p:sp>
        <p:nvSpPr>
          <p:cNvPr id="342" name="Google Shape;342;p26"/>
          <p:cNvSpPr/>
          <p:nvPr/>
        </p:nvSpPr>
        <p:spPr>
          <a:xfrm>
            <a:off x="548650" y="2635917"/>
            <a:ext cx="365700" cy="3960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/>
          </a:p>
        </p:txBody>
      </p:sp>
      <p:sp>
        <p:nvSpPr>
          <p:cNvPr id="343" name="Google Shape;343;p26"/>
          <p:cNvSpPr txBox="1"/>
          <p:nvPr/>
        </p:nvSpPr>
        <p:spPr>
          <a:xfrm>
            <a:off x="1051570" y="2586402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Fetch Bug Report</a:t>
            </a:r>
            <a:endParaRPr sz="2000"/>
          </a:p>
        </p:txBody>
      </p:sp>
      <p:sp>
        <p:nvSpPr>
          <p:cNvPr id="344" name="Google Shape;344;p26"/>
          <p:cNvSpPr txBox="1"/>
          <p:nvPr/>
        </p:nvSpPr>
        <p:spPr>
          <a:xfrm>
            <a:off x="1051570" y="2933008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JIRA / GitHub API / HTML → opener-side evidence</a:t>
            </a:r>
            <a:endParaRPr sz="2000"/>
          </a:p>
        </p:txBody>
      </p:sp>
      <p:sp>
        <p:nvSpPr>
          <p:cNvPr id="345" name="Google Shape;345;p26"/>
          <p:cNvSpPr/>
          <p:nvPr/>
        </p:nvSpPr>
        <p:spPr>
          <a:xfrm>
            <a:off x="548650" y="3824280"/>
            <a:ext cx="365700" cy="3960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/>
          </a:p>
        </p:txBody>
      </p:sp>
      <p:sp>
        <p:nvSpPr>
          <p:cNvPr id="346" name="Google Shape;346;p26"/>
          <p:cNvSpPr txBox="1"/>
          <p:nvPr/>
        </p:nvSpPr>
        <p:spPr>
          <a:xfrm>
            <a:off x="1051570" y="3774766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Checkout &amp; Compile</a:t>
            </a:r>
            <a:endParaRPr sz="2000"/>
          </a:p>
        </p:txBody>
      </p:sp>
      <p:sp>
        <p:nvSpPr>
          <p:cNvPr id="347" name="Google Shape;347;p26"/>
          <p:cNvSpPr txBox="1"/>
          <p:nvPr/>
        </p:nvSpPr>
        <p:spPr>
          <a:xfrm>
            <a:off x="1051570" y="4121372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Buggy version checkout → compile → test</a:t>
            </a:r>
            <a:endParaRPr sz="2000"/>
          </a:p>
        </p:txBody>
      </p:sp>
      <p:sp>
        <p:nvSpPr>
          <p:cNvPr id="348" name="Google Shape;348;p26"/>
          <p:cNvSpPr/>
          <p:nvPr/>
        </p:nvSpPr>
        <p:spPr>
          <a:xfrm>
            <a:off x="548650" y="5012644"/>
            <a:ext cx="365700" cy="3960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/>
          </a:p>
        </p:txBody>
      </p:sp>
      <p:sp>
        <p:nvSpPr>
          <p:cNvPr id="349" name="Google Shape;349;p26"/>
          <p:cNvSpPr txBox="1"/>
          <p:nvPr/>
        </p:nvSpPr>
        <p:spPr>
          <a:xfrm>
            <a:off x="1051570" y="4963130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Parse Failures</a:t>
            </a:r>
            <a:endParaRPr sz="2000"/>
          </a:p>
        </p:txBody>
      </p:sp>
      <p:sp>
        <p:nvSpPr>
          <p:cNvPr id="350" name="Google Shape;350;p26"/>
          <p:cNvSpPr txBox="1"/>
          <p:nvPr/>
        </p:nvSpPr>
        <p:spPr>
          <a:xfrm>
            <a:off x="1051570" y="5309735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Extract test names, stack traces, exception headlines</a:t>
            </a:r>
            <a:endParaRPr sz="2000"/>
          </a:p>
        </p:txBody>
      </p:sp>
      <p:sp>
        <p:nvSpPr>
          <p:cNvPr id="351" name="Google Shape;351;p26"/>
          <p:cNvSpPr/>
          <p:nvPr/>
        </p:nvSpPr>
        <p:spPr>
          <a:xfrm>
            <a:off x="6400806" y="1447552"/>
            <a:ext cx="365700" cy="3960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/>
          </a:p>
        </p:txBody>
      </p:sp>
      <p:sp>
        <p:nvSpPr>
          <p:cNvPr id="352" name="Google Shape;352;p26"/>
          <p:cNvSpPr txBox="1"/>
          <p:nvPr/>
        </p:nvSpPr>
        <p:spPr>
          <a:xfrm>
            <a:off x="6903725" y="1398037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Select Suspicious Frames</a:t>
            </a:r>
            <a:endParaRPr sz="2000"/>
          </a:p>
        </p:txBody>
      </p:sp>
      <p:sp>
        <p:nvSpPr>
          <p:cNvPr id="353" name="Google Shape;353;p26"/>
          <p:cNvSpPr txBox="1"/>
          <p:nvPr/>
        </p:nvSpPr>
        <p:spPr>
          <a:xfrm>
            <a:off x="6903725" y="1744644"/>
            <a:ext cx="502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Filter framework / JDK frames → project source priority</a:t>
            </a:r>
            <a:endParaRPr sz="2000"/>
          </a:p>
        </p:txBody>
      </p:sp>
      <p:sp>
        <p:nvSpPr>
          <p:cNvPr id="354" name="Google Shape;354;p26"/>
          <p:cNvSpPr/>
          <p:nvPr/>
        </p:nvSpPr>
        <p:spPr>
          <a:xfrm>
            <a:off x="6400806" y="2635917"/>
            <a:ext cx="365700" cy="3960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/>
          </a:p>
        </p:txBody>
      </p:sp>
      <p:sp>
        <p:nvSpPr>
          <p:cNvPr id="355" name="Google Shape;355;p26"/>
          <p:cNvSpPr txBox="1"/>
          <p:nvPr/>
        </p:nvSpPr>
        <p:spPr>
          <a:xfrm>
            <a:off x="6903725" y="2586402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Extract Code Snippets</a:t>
            </a:r>
            <a:endParaRPr sz="2000"/>
          </a:p>
        </p:txBody>
      </p:sp>
      <p:sp>
        <p:nvSpPr>
          <p:cNvPr id="356" name="Google Shape;356;p26"/>
          <p:cNvSpPr txBox="1"/>
          <p:nvPr/>
        </p:nvSpPr>
        <p:spPr>
          <a:xfrm>
            <a:off x="6903725" y="2933008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Production (±12 lines) + test source (±18 lines)</a:t>
            </a:r>
            <a:endParaRPr sz="2000"/>
          </a:p>
        </p:txBody>
      </p:sp>
      <p:sp>
        <p:nvSpPr>
          <p:cNvPr id="357" name="Google Shape;357;p26"/>
          <p:cNvSpPr/>
          <p:nvPr/>
        </p:nvSpPr>
        <p:spPr>
          <a:xfrm>
            <a:off x="6400806" y="3824280"/>
            <a:ext cx="365700" cy="3960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000"/>
          </a:p>
        </p:txBody>
      </p:sp>
      <p:sp>
        <p:nvSpPr>
          <p:cNvPr id="358" name="Google Shape;358;p26"/>
          <p:cNvSpPr txBox="1"/>
          <p:nvPr/>
        </p:nvSpPr>
        <p:spPr>
          <a:xfrm>
            <a:off x="6903725" y="3774766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Coverage (optional)</a:t>
            </a:r>
            <a:endParaRPr sz="2000"/>
          </a:p>
        </p:txBody>
      </p:sp>
      <p:sp>
        <p:nvSpPr>
          <p:cNvPr id="359" name="Google Shape;359;p26"/>
          <p:cNvSpPr txBox="1"/>
          <p:nvPr/>
        </p:nvSpPr>
        <p:spPr>
          <a:xfrm>
            <a:off x="6903725" y="4121372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Cobertura XML → line/branch execution rates</a:t>
            </a:r>
            <a:endParaRPr sz="2000"/>
          </a:p>
        </p:txBody>
      </p:sp>
      <p:sp>
        <p:nvSpPr>
          <p:cNvPr id="360" name="Google Shape;360;p26"/>
          <p:cNvSpPr/>
          <p:nvPr/>
        </p:nvSpPr>
        <p:spPr>
          <a:xfrm>
            <a:off x="6400806" y="5012644"/>
            <a:ext cx="365700" cy="396000"/>
          </a:xfrm>
          <a:prstGeom prst="ellipse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000"/>
          </a:p>
        </p:txBody>
      </p:sp>
      <p:sp>
        <p:nvSpPr>
          <p:cNvPr id="361" name="Google Shape;361;p26"/>
          <p:cNvSpPr txBox="1"/>
          <p:nvPr/>
        </p:nvSpPr>
        <p:spPr>
          <a:xfrm>
            <a:off x="6903725" y="4963130"/>
            <a:ext cx="50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Serialize context.json</a:t>
            </a:r>
            <a:endParaRPr sz="2000"/>
          </a:p>
        </p:txBody>
      </p:sp>
      <p:sp>
        <p:nvSpPr>
          <p:cNvPr id="362" name="Google Shape;362;p26"/>
          <p:cNvSpPr txBox="1"/>
          <p:nvPr/>
        </p:nvSpPr>
        <p:spPr>
          <a:xfrm>
            <a:off x="6903725" y="5309735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Complete evidence payload for classification</a:t>
            </a:r>
            <a:endParaRPr sz="2000"/>
          </a:p>
        </p:txBody>
      </p:sp>
      <p:sp>
        <p:nvSpPr>
          <p:cNvPr id="363" name="Google Shape;363;p26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Evidence Modes: Pre-fix vs Post-fix</a:t>
            </a:r>
            <a:endParaRPr sz="1600"/>
          </a:p>
        </p:txBody>
      </p:sp>
      <p:sp>
        <p:nvSpPr>
          <p:cNvPr id="370" name="Google Shape;370;p27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548640" y="1371600"/>
            <a:ext cx="5303520" cy="41148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548640" y="1188720"/>
            <a:ext cx="5303520" cy="4572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PRE-FIX MODE (Default)</a:t>
            </a:r>
            <a:endParaRPr sz="1800"/>
          </a:p>
        </p:txBody>
      </p:sp>
      <p:sp>
        <p:nvSpPr>
          <p:cNvPr id="374" name="Google Shape;374;p27"/>
          <p:cNvSpPr/>
          <p:nvPr/>
        </p:nvSpPr>
        <p:spPr>
          <a:xfrm>
            <a:off x="6309360" y="1371600"/>
            <a:ext cx="5303520" cy="41148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6309360" y="1188720"/>
            <a:ext cx="5303520" cy="4572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POST-FIX MODE (--include-fix-diff)</a:t>
            </a:r>
            <a:endParaRPr sz="1800"/>
          </a:p>
        </p:txBody>
      </p:sp>
      <p:sp>
        <p:nvSpPr>
          <p:cNvPr id="376" name="Google Shape;376;p27"/>
          <p:cNvSpPr/>
          <p:nvPr/>
        </p:nvSpPr>
        <p:spPr>
          <a:xfrm>
            <a:off x="548640" y="5669280"/>
            <a:ext cx="10972800" cy="73152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27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91425" wrap="square" tIns="7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ODC’s opener/closer model requires evidence from both perspectives [12]. </a:t>
            </a:r>
            <a:endParaRPr i="1" sz="15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Pre-fix captures opener evidence, post-fix captures closer evidence.</a:t>
            </a:r>
            <a:endParaRPr i="1" sz="18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78" name="Google Shape;378;p27"/>
          <p:cNvSpPr txBox="1"/>
          <p:nvPr/>
        </p:nvSpPr>
        <p:spPr>
          <a:xfrm>
            <a:off x="640080" y="1783080"/>
            <a:ext cx="5029200" cy="27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LLM Sees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Symptoms only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Stack traces, tests, errors,</a:t>
            </a:r>
            <a:b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code snippets, bug report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Perspective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"What went wrong?"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ODC Side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Opener (trigger, activity, impact)</a:t>
            </a:r>
            <a:endParaRPr sz="1900"/>
          </a:p>
        </p:txBody>
      </p:sp>
      <p:sp>
        <p:nvSpPr>
          <p:cNvPr id="379" name="Google Shape;379;p27"/>
          <p:cNvSpPr/>
          <p:nvPr/>
        </p:nvSpPr>
        <p:spPr>
          <a:xfrm>
            <a:off x="640080" y="4828552"/>
            <a:ext cx="5029200" cy="457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≈  A doctor diagnosing from symptoms</a:t>
            </a:r>
            <a:endParaRPr sz="1900"/>
          </a:p>
        </p:txBody>
      </p:sp>
      <p:sp>
        <p:nvSpPr>
          <p:cNvPr id="380" name="Google Shape;380;p27"/>
          <p:cNvSpPr txBox="1"/>
          <p:nvPr/>
        </p:nvSpPr>
        <p:spPr>
          <a:xfrm>
            <a:off x="6492240" y="1783080"/>
            <a:ext cx="5029200" cy="27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LLM Sees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Symptoms + actual code fix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All pre-fix evidence +</a:t>
            </a:r>
            <a:b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buggy→fixed diff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Perspective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"What was changed?"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ODC Side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Closer (type, qualifier, age, source)</a:t>
            </a:r>
            <a:endParaRPr sz="1900"/>
          </a:p>
        </p:txBody>
      </p:sp>
      <p:sp>
        <p:nvSpPr>
          <p:cNvPr id="381" name="Google Shape;381;p27"/>
          <p:cNvSpPr/>
          <p:nvPr/>
        </p:nvSpPr>
        <p:spPr>
          <a:xfrm>
            <a:off x="6492240" y="4828552"/>
            <a:ext cx="5029200" cy="457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D5DB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≈  A pathologist with biopsy results</a:t>
            </a:r>
            <a:endParaRPr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ODC Taxonomy Integration &amp; Prompt Design</a:t>
            </a:r>
            <a:endParaRPr sz="1600"/>
          </a:p>
        </p:txBody>
      </p:sp>
      <p:sp>
        <p:nvSpPr>
          <p:cNvPr id="388" name="Google Shape;388;p28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365760" y="1288611"/>
            <a:ext cx="1143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System Prompt: 6 Components</a:t>
            </a:r>
            <a:endParaRPr sz="2100"/>
          </a:p>
        </p:txBody>
      </p:sp>
      <p:sp>
        <p:nvSpPr>
          <p:cNvPr id="392" name="Google Shape;392;p28"/>
          <p:cNvSpPr/>
          <p:nvPr/>
        </p:nvSpPr>
        <p:spPr>
          <a:xfrm>
            <a:off x="365750" y="1942313"/>
            <a:ext cx="3566100" cy="1801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37150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ODC Taxonomy</a:t>
            </a:r>
            <a:endParaRPr sz="19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7 types with definitions,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indicators &amp; contrastive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“distinguish_from” guidance</a:t>
            </a:r>
            <a:endParaRPr sz="1900"/>
          </a:p>
        </p:txBody>
      </p:sp>
      <p:sp>
        <p:nvSpPr>
          <p:cNvPr id="393" name="Google Shape;393;p28"/>
          <p:cNvSpPr/>
          <p:nvPr/>
        </p:nvSpPr>
        <p:spPr>
          <a:xfrm>
            <a:off x="4206237" y="1942313"/>
            <a:ext cx="3566100" cy="1801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37150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2. Anti-Bias Rules</a:t>
            </a:r>
            <a:endParaRPr sz="19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“Do NOT default to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Function/Class/Object” —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simpler explanations first</a:t>
            </a:r>
            <a:endParaRPr sz="1900"/>
          </a:p>
        </p:txBody>
      </p:sp>
      <p:sp>
        <p:nvSpPr>
          <p:cNvPr id="394" name="Google Shape;394;p28"/>
          <p:cNvSpPr/>
          <p:nvPr/>
        </p:nvSpPr>
        <p:spPr>
          <a:xfrm>
            <a:off x="8046725" y="1942313"/>
            <a:ext cx="3566100" cy="1801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37150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3. Scientific Debugging</a:t>
            </a:r>
            <a:endParaRPr sz="19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Hypothesize → Observe →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Predict → Examine →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Conclude [15][16]</a:t>
            </a:r>
            <a:endParaRPr sz="1900"/>
          </a:p>
        </p:txBody>
      </p:sp>
      <p:sp>
        <p:nvSpPr>
          <p:cNvPr id="395" name="Google Shape;395;p28"/>
          <p:cNvSpPr/>
          <p:nvPr/>
        </p:nvSpPr>
        <p:spPr>
          <a:xfrm>
            <a:off x="365750" y="4000977"/>
            <a:ext cx="3566100" cy="1801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37150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4. Diagnostic Tree</a:t>
            </a:r>
            <a:endParaRPr sz="19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7 questions, each maps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to one ODC type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(FCO deliberately last)</a:t>
            </a:r>
            <a:endParaRPr sz="1900"/>
          </a:p>
        </p:txBody>
      </p:sp>
      <p:sp>
        <p:nvSpPr>
          <p:cNvPr id="396" name="Google Shape;396;p28"/>
          <p:cNvSpPr/>
          <p:nvPr/>
        </p:nvSpPr>
        <p:spPr>
          <a:xfrm>
            <a:off x="4206237" y="4000977"/>
            <a:ext cx="3566100" cy="1801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37150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5. JSON Schema</a:t>
            </a:r>
            <a:endParaRPr sz="19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Structured output: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reasoning, confidence,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alternatives, ODC fields</a:t>
            </a:r>
            <a:endParaRPr sz="1900"/>
          </a:p>
        </p:txBody>
      </p:sp>
      <p:sp>
        <p:nvSpPr>
          <p:cNvPr id="397" name="Google Shape;397;p28"/>
          <p:cNvSpPr/>
          <p:nvPr/>
        </p:nvSpPr>
        <p:spPr>
          <a:xfrm>
            <a:off x="8046725" y="4000977"/>
            <a:ext cx="3566100" cy="1801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0089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37150" spcFirstLastPara="1" rIns="1097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896B"/>
                </a:solidFill>
                <a:latin typeface="Calibri"/>
                <a:ea typeface="Calibri"/>
                <a:cs typeface="Calibri"/>
                <a:sym typeface="Calibri"/>
              </a:rPr>
              <a:t>6. Few-Shot (×5)</a:t>
            </a:r>
            <a:endParaRPr sz="19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Contrastive examples: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Symptom → Code → Type</a:t>
            </a:r>
            <a:b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NOT X [11][19]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Scientific </a:t>
            </a:r>
            <a:r>
              <a:rPr b="1" lang="en-US" sz="30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Classification </a:t>
            </a: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sz="1600"/>
          </a:p>
        </p:txBody>
      </p:sp>
      <p:sp>
        <p:nvSpPr>
          <p:cNvPr id="404" name="Google Shape;404;p29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274325" y="1371600"/>
            <a:ext cx="2148900" cy="5109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1: HYPOTHESIZE</a:t>
            </a:r>
            <a:endParaRPr sz="1800"/>
          </a:p>
        </p:txBody>
      </p:sp>
      <p:sp>
        <p:nvSpPr>
          <p:cNvPr id="408" name="Google Shape;408;p29"/>
          <p:cNvSpPr/>
          <p:nvPr/>
        </p:nvSpPr>
        <p:spPr>
          <a:xfrm>
            <a:off x="274325" y="1984688"/>
            <a:ext cx="2148900" cy="112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Form a root-cause hypothesis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from the bug report</a:t>
            </a:r>
            <a:endParaRPr sz="1800"/>
          </a:p>
        </p:txBody>
      </p:sp>
      <p:sp>
        <p:nvSpPr>
          <p:cNvPr id="409" name="Google Shape;409;p29"/>
          <p:cNvSpPr/>
          <p:nvPr/>
        </p:nvSpPr>
        <p:spPr>
          <a:xfrm>
            <a:off x="2606043" y="1371600"/>
            <a:ext cx="2148900" cy="5109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2: OBSERVE</a:t>
            </a:r>
            <a:endParaRPr sz="1800"/>
          </a:p>
        </p:txBody>
      </p:sp>
      <p:sp>
        <p:nvSpPr>
          <p:cNvPr id="410" name="Google Shape;410;p29"/>
          <p:cNvSpPr/>
          <p:nvPr/>
        </p:nvSpPr>
        <p:spPr>
          <a:xfrm>
            <a:off x="2606043" y="1984688"/>
            <a:ext cx="2148900" cy="112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Examine failure symptoms: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error messages, stack traces</a:t>
            </a:r>
            <a:endParaRPr sz="1800"/>
          </a:p>
        </p:txBody>
      </p:sp>
      <p:sp>
        <p:nvSpPr>
          <p:cNvPr id="411" name="Google Shape;411;p29"/>
          <p:cNvSpPr/>
          <p:nvPr/>
        </p:nvSpPr>
        <p:spPr>
          <a:xfrm>
            <a:off x="4937762" y="1371600"/>
            <a:ext cx="2148900" cy="510900"/>
          </a:xfrm>
          <a:prstGeom prst="roundRect">
            <a:avLst>
              <a:gd fmla="val 16667" name="adj"/>
            </a:avLst>
          </a:prstGeom>
          <a:solidFill>
            <a:srgbClr val="48A9A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3: PREDICT</a:t>
            </a:r>
            <a:endParaRPr sz="1800"/>
          </a:p>
        </p:txBody>
      </p:sp>
      <p:sp>
        <p:nvSpPr>
          <p:cNvPr id="412" name="Google Shape;412;p29"/>
          <p:cNvSpPr/>
          <p:nvPr/>
        </p:nvSpPr>
        <p:spPr>
          <a:xfrm>
            <a:off x="4937762" y="1984688"/>
            <a:ext cx="2148900" cy="112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What code pattern would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explain this defect type?</a:t>
            </a:r>
            <a:endParaRPr sz="1800"/>
          </a:p>
        </p:txBody>
      </p:sp>
      <p:sp>
        <p:nvSpPr>
          <p:cNvPr id="413" name="Google Shape;413;p29"/>
          <p:cNvSpPr/>
          <p:nvPr/>
        </p:nvSpPr>
        <p:spPr>
          <a:xfrm>
            <a:off x="7269481" y="1371600"/>
            <a:ext cx="2148900" cy="510900"/>
          </a:xfrm>
          <a:prstGeom prst="roundRect">
            <a:avLst>
              <a:gd fmla="val 16667" name="adj"/>
            </a:avLst>
          </a:prstGeom>
          <a:solidFill>
            <a:srgbClr val="8E44A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4: EXAMINE</a:t>
            </a:r>
            <a:endParaRPr sz="1800"/>
          </a:p>
        </p:txBody>
      </p:sp>
      <p:sp>
        <p:nvSpPr>
          <p:cNvPr id="414" name="Google Shape;414;p29"/>
          <p:cNvSpPr/>
          <p:nvPr/>
        </p:nvSpPr>
        <p:spPr>
          <a:xfrm>
            <a:off x="7269481" y="1984688"/>
            <a:ext cx="2148900" cy="112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Check code snippets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against the prediction</a:t>
            </a:r>
            <a:endParaRPr sz="1800"/>
          </a:p>
        </p:txBody>
      </p:sp>
      <p:sp>
        <p:nvSpPr>
          <p:cNvPr id="415" name="Google Shape;415;p29"/>
          <p:cNvSpPr/>
          <p:nvPr/>
        </p:nvSpPr>
        <p:spPr>
          <a:xfrm>
            <a:off x="9601201" y="1371600"/>
            <a:ext cx="2148900" cy="510900"/>
          </a:xfrm>
          <a:prstGeom prst="roundRect">
            <a:avLst>
              <a:gd fmla="val 16667" name="adj"/>
            </a:avLst>
          </a:prstGeom>
          <a:solidFill>
            <a:srgbClr val="E86F5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5: CONCLUDE</a:t>
            </a:r>
            <a:endParaRPr sz="1800"/>
          </a:p>
        </p:txBody>
      </p:sp>
      <p:sp>
        <p:nvSpPr>
          <p:cNvPr id="416" name="Google Shape;416;p29"/>
          <p:cNvSpPr/>
          <p:nvPr/>
        </p:nvSpPr>
        <p:spPr>
          <a:xfrm>
            <a:off x="9601201" y="1984688"/>
            <a:ext cx="2148900" cy="112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Select ODC type for the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root cause mechanism</a:t>
            </a:r>
            <a:endParaRPr sz="1800"/>
          </a:p>
        </p:txBody>
      </p:sp>
      <p:sp>
        <p:nvSpPr>
          <p:cNvPr id="417" name="Google Shape;417;p29"/>
          <p:cNvSpPr txBox="1"/>
          <p:nvPr/>
        </p:nvSpPr>
        <p:spPr>
          <a:xfrm>
            <a:off x="2241363" y="1399032"/>
            <a:ext cx="45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700"/>
          </a:p>
        </p:txBody>
      </p:sp>
      <p:sp>
        <p:nvSpPr>
          <p:cNvPr id="418" name="Google Shape;418;p29"/>
          <p:cNvSpPr txBox="1"/>
          <p:nvPr/>
        </p:nvSpPr>
        <p:spPr>
          <a:xfrm>
            <a:off x="4573083" y="1399032"/>
            <a:ext cx="45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700"/>
          </a:p>
        </p:txBody>
      </p:sp>
      <p:sp>
        <p:nvSpPr>
          <p:cNvPr id="419" name="Google Shape;419;p29"/>
          <p:cNvSpPr txBox="1"/>
          <p:nvPr/>
        </p:nvSpPr>
        <p:spPr>
          <a:xfrm>
            <a:off x="6904803" y="1399032"/>
            <a:ext cx="45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700"/>
          </a:p>
        </p:txBody>
      </p:sp>
      <p:sp>
        <p:nvSpPr>
          <p:cNvPr id="420" name="Google Shape;420;p29"/>
          <p:cNvSpPr txBox="1"/>
          <p:nvPr/>
        </p:nvSpPr>
        <p:spPr>
          <a:xfrm>
            <a:off x="9236523" y="1399032"/>
            <a:ext cx="45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700"/>
          </a:p>
        </p:txBody>
      </p:sp>
      <p:sp>
        <p:nvSpPr>
          <p:cNvPr id="421" name="Google Shape;421;p29"/>
          <p:cNvSpPr/>
          <p:nvPr/>
        </p:nvSpPr>
        <p:spPr>
          <a:xfrm>
            <a:off x="365750" y="3429000"/>
            <a:ext cx="11430000" cy="3804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 Diagnostic Decision Tree</a:t>
            </a:r>
            <a:endParaRPr sz="1800"/>
          </a:p>
        </p:txBody>
      </p:sp>
      <p:sp>
        <p:nvSpPr>
          <p:cNvPr id="422" name="Google Shape;422;p29"/>
          <p:cNvSpPr/>
          <p:nvPr/>
        </p:nvSpPr>
        <p:spPr>
          <a:xfrm>
            <a:off x="365750" y="3999679"/>
            <a:ext cx="2651700" cy="903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Q1: Missing guard/condition?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 Checking</a:t>
            </a:r>
            <a:endParaRPr sz="1800"/>
          </a:p>
        </p:txBody>
      </p:sp>
      <p:sp>
        <p:nvSpPr>
          <p:cNvPr id="423" name="Google Shape;423;p29"/>
          <p:cNvSpPr/>
          <p:nvPr/>
        </p:nvSpPr>
        <p:spPr>
          <a:xfrm>
            <a:off x="3200390" y="3999679"/>
            <a:ext cx="2651700" cy="903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Q2: Wrong value or init?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 Assignment/Init</a:t>
            </a:r>
            <a:endParaRPr sz="1800"/>
          </a:p>
        </p:txBody>
      </p:sp>
      <p:sp>
        <p:nvSpPr>
          <p:cNvPr id="424" name="Google Shape;424;p29"/>
          <p:cNvSpPr/>
          <p:nvPr/>
        </p:nvSpPr>
        <p:spPr>
          <a:xfrm>
            <a:off x="6035030" y="3999679"/>
            <a:ext cx="2651700" cy="903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Q3: Wrong computation logic?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 Algorithm/Method</a:t>
            </a:r>
            <a:endParaRPr sz="1800"/>
          </a:p>
        </p:txBody>
      </p:sp>
      <p:sp>
        <p:nvSpPr>
          <p:cNvPr id="425" name="Google Shape;425;p29"/>
          <p:cNvSpPr/>
          <p:nvPr/>
        </p:nvSpPr>
        <p:spPr>
          <a:xfrm>
            <a:off x="8869670" y="3999679"/>
            <a:ext cx="2651700" cy="903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Q4: Component boundary issue?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 Interface/O-O</a:t>
            </a:r>
            <a:endParaRPr sz="1800"/>
          </a:p>
        </p:txBody>
      </p:sp>
      <p:sp>
        <p:nvSpPr>
          <p:cNvPr id="426" name="Google Shape;426;p29"/>
          <p:cNvSpPr/>
          <p:nvPr/>
        </p:nvSpPr>
        <p:spPr>
          <a:xfrm>
            <a:off x="365750" y="5093480"/>
            <a:ext cx="2651700" cy="903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Q5: Execution order dependent?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 Timing/Serial</a:t>
            </a:r>
            <a:endParaRPr sz="1800"/>
          </a:p>
        </p:txBody>
      </p:sp>
      <p:sp>
        <p:nvSpPr>
          <p:cNvPr id="427" name="Google Shape;427;p29"/>
          <p:cNvSpPr/>
          <p:nvPr/>
        </p:nvSpPr>
        <p:spPr>
          <a:xfrm>
            <a:off x="3200390" y="5093480"/>
            <a:ext cx="2651700" cy="903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Q6: Entity association issue?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 Relationship</a:t>
            </a:r>
            <a:endParaRPr sz="1800"/>
          </a:p>
        </p:txBody>
      </p:sp>
      <p:sp>
        <p:nvSpPr>
          <p:cNvPr id="428" name="Google Shape;428;p29"/>
          <p:cNvSpPr/>
          <p:nvPr/>
        </p:nvSpPr>
        <p:spPr>
          <a:xfrm>
            <a:off x="6035030" y="5093480"/>
            <a:ext cx="2651700" cy="9036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Q7: Needs design-level fix?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 Fun/Cls/Obj*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0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</p:txBody>
      </p:sp>
      <p:sp>
        <p:nvSpPr>
          <p:cNvPr id="434" name="Google Shape;434;p30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Classification Pipeline &amp; Validation</a:t>
            </a:r>
            <a:endParaRPr sz="1600"/>
          </a:p>
        </p:txBody>
      </p:sp>
      <p:sp>
        <p:nvSpPr>
          <p:cNvPr id="435" name="Google Shape;435;p30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0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38" name="Google Shape;438;p30"/>
          <p:cNvSpPr txBox="1"/>
          <p:nvPr/>
        </p:nvSpPr>
        <p:spPr>
          <a:xfrm>
            <a:off x="365750" y="1234452"/>
            <a:ext cx="1143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Prompt Construction</a:t>
            </a:r>
            <a:endParaRPr sz="1900"/>
          </a:p>
        </p:txBody>
      </p:sp>
      <p:sp>
        <p:nvSpPr>
          <p:cNvPr id="439" name="Google Shape;439;p30"/>
          <p:cNvSpPr/>
          <p:nvPr/>
        </p:nvSpPr>
        <p:spPr>
          <a:xfrm>
            <a:off x="365750" y="1765599"/>
            <a:ext cx="2469000" cy="5382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context.json</a:t>
            </a:r>
            <a:endParaRPr sz="1900"/>
          </a:p>
        </p:txBody>
      </p:sp>
      <p:sp>
        <p:nvSpPr>
          <p:cNvPr id="440" name="Google Shape;440;p30"/>
          <p:cNvSpPr/>
          <p:nvPr/>
        </p:nvSpPr>
        <p:spPr>
          <a:xfrm>
            <a:off x="365750" y="2401706"/>
            <a:ext cx="2469000" cy="1027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Load bug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900"/>
          </a:p>
        </p:txBody>
      </p:sp>
      <p:sp>
        <p:nvSpPr>
          <p:cNvPr id="441" name="Google Shape;441;p30"/>
          <p:cNvSpPr/>
          <p:nvPr/>
        </p:nvSpPr>
        <p:spPr>
          <a:xfrm>
            <a:off x="3246109" y="1765599"/>
            <a:ext cx="2469000" cy="5382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Prompt</a:t>
            </a:r>
            <a:endParaRPr sz="1900"/>
          </a:p>
        </p:txBody>
      </p:sp>
      <p:sp>
        <p:nvSpPr>
          <p:cNvPr id="442" name="Google Shape;442;p30"/>
          <p:cNvSpPr/>
          <p:nvPr/>
        </p:nvSpPr>
        <p:spPr>
          <a:xfrm>
            <a:off x="3246109" y="2401706"/>
            <a:ext cx="2469000" cy="1027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ODC taxonomy +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scientific debug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+ few-shot</a:t>
            </a:r>
            <a:endParaRPr sz="1900"/>
          </a:p>
        </p:txBody>
      </p:sp>
      <p:sp>
        <p:nvSpPr>
          <p:cNvPr id="443" name="Google Shape;443;p30"/>
          <p:cNvSpPr/>
          <p:nvPr/>
        </p:nvSpPr>
        <p:spPr>
          <a:xfrm>
            <a:off x="6126467" y="1765599"/>
            <a:ext cx="2469000" cy="538200"/>
          </a:xfrm>
          <a:prstGeom prst="roundRect">
            <a:avLst>
              <a:gd fmla="val 16667" name="adj"/>
            </a:avLst>
          </a:prstGeom>
          <a:solidFill>
            <a:srgbClr val="48A9A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Prompt</a:t>
            </a:r>
            <a:endParaRPr sz="1900"/>
          </a:p>
        </p:txBody>
      </p:sp>
      <p:sp>
        <p:nvSpPr>
          <p:cNvPr id="444" name="Google Shape;444;p30"/>
          <p:cNvSpPr/>
          <p:nvPr/>
        </p:nvSpPr>
        <p:spPr>
          <a:xfrm>
            <a:off x="6126467" y="2401706"/>
            <a:ext cx="2469000" cy="1027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Evidence payload</a:t>
            </a:r>
            <a:endParaRPr sz="1900"/>
          </a:p>
        </p:txBody>
      </p:sp>
      <p:sp>
        <p:nvSpPr>
          <p:cNvPr id="445" name="Google Shape;445;p30"/>
          <p:cNvSpPr/>
          <p:nvPr/>
        </p:nvSpPr>
        <p:spPr>
          <a:xfrm>
            <a:off x="9006826" y="1765599"/>
            <a:ext cx="2469000" cy="538200"/>
          </a:xfrm>
          <a:prstGeom prst="roundRect">
            <a:avLst>
              <a:gd fmla="val 16667" name="adj"/>
            </a:avLst>
          </a:prstGeom>
          <a:solidFill>
            <a:srgbClr val="8E44A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API Call</a:t>
            </a:r>
            <a:endParaRPr sz="1900"/>
          </a:p>
        </p:txBody>
      </p:sp>
      <p:sp>
        <p:nvSpPr>
          <p:cNvPr id="446" name="Google Shape;446;p30"/>
          <p:cNvSpPr/>
          <p:nvPr/>
        </p:nvSpPr>
        <p:spPr>
          <a:xfrm>
            <a:off x="9006826" y="2401706"/>
            <a:ext cx="2469000" cy="10272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Gemini / OpenRouter</a:t>
            </a:r>
            <a:endParaRPr sz="1900"/>
          </a:p>
        </p:txBody>
      </p:sp>
      <p:sp>
        <p:nvSpPr>
          <p:cNvPr id="447" name="Google Shape;447;p30"/>
          <p:cNvSpPr txBox="1"/>
          <p:nvPr/>
        </p:nvSpPr>
        <p:spPr>
          <a:xfrm>
            <a:off x="2685335" y="1794958"/>
            <a:ext cx="45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900"/>
          </a:p>
        </p:txBody>
      </p:sp>
      <p:sp>
        <p:nvSpPr>
          <p:cNvPr id="448" name="Google Shape;448;p30"/>
          <p:cNvSpPr txBox="1"/>
          <p:nvPr/>
        </p:nvSpPr>
        <p:spPr>
          <a:xfrm>
            <a:off x="5565693" y="1794958"/>
            <a:ext cx="45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900"/>
          </a:p>
        </p:txBody>
      </p:sp>
      <p:sp>
        <p:nvSpPr>
          <p:cNvPr id="449" name="Google Shape;449;p30"/>
          <p:cNvSpPr txBox="1"/>
          <p:nvPr/>
        </p:nvSpPr>
        <p:spPr>
          <a:xfrm>
            <a:off x="8446052" y="1794958"/>
            <a:ext cx="45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900"/>
          </a:p>
        </p:txBody>
      </p:sp>
      <p:sp>
        <p:nvSpPr>
          <p:cNvPr id="450" name="Google Shape;450;p30"/>
          <p:cNvSpPr txBox="1"/>
          <p:nvPr/>
        </p:nvSpPr>
        <p:spPr>
          <a:xfrm>
            <a:off x="365750" y="3837022"/>
            <a:ext cx="1143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Post-Processing &amp; Validation</a:t>
            </a:r>
            <a:endParaRPr sz="1900"/>
          </a:p>
        </p:txBody>
      </p:sp>
      <p:sp>
        <p:nvSpPr>
          <p:cNvPr id="451" name="Google Shape;451;p30"/>
          <p:cNvSpPr/>
          <p:nvPr/>
        </p:nvSpPr>
        <p:spPr>
          <a:xfrm>
            <a:off x="365750" y="4368159"/>
            <a:ext cx="2469000" cy="5841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 JSON</a:t>
            </a:r>
            <a:endParaRPr sz="1900"/>
          </a:p>
        </p:txBody>
      </p:sp>
      <p:sp>
        <p:nvSpPr>
          <p:cNvPr id="452" name="Google Shape;452;p30"/>
          <p:cNvSpPr/>
          <p:nvPr/>
        </p:nvSpPr>
        <p:spPr>
          <a:xfrm>
            <a:off x="365750" y="5058637"/>
            <a:ext cx="2469000" cy="903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Parse from raw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LLM response</a:t>
            </a:r>
            <a:endParaRPr sz="1900"/>
          </a:p>
        </p:txBody>
      </p:sp>
      <p:sp>
        <p:nvSpPr>
          <p:cNvPr id="453" name="Google Shape;453;p30"/>
          <p:cNvSpPr/>
          <p:nvPr/>
        </p:nvSpPr>
        <p:spPr>
          <a:xfrm>
            <a:off x="3246110" y="4368159"/>
            <a:ext cx="2469000" cy="584100"/>
          </a:xfrm>
          <a:prstGeom prst="roundRect">
            <a:avLst>
              <a:gd fmla="val 16667" name="adj"/>
            </a:avLst>
          </a:prstGeom>
          <a:solidFill>
            <a:srgbClr val="E86F5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 Type</a:t>
            </a:r>
            <a:endParaRPr sz="1900"/>
          </a:p>
        </p:txBody>
      </p:sp>
      <p:sp>
        <p:nvSpPr>
          <p:cNvPr id="454" name="Google Shape;454;p30"/>
          <p:cNvSpPr/>
          <p:nvPr/>
        </p:nvSpPr>
        <p:spPr>
          <a:xfrm>
            <a:off x="3246110" y="5058637"/>
            <a:ext cx="2469000" cy="903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Check against 7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canonical ODC names</a:t>
            </a:r>
            <a:endParaRPr sz="1900"/>
          </a:p>
        </p:txBody>
      </p:sp>
      <p:sp>
        <p:nvSpPr>
          <p:cNvPr id="455" name="Google Shape;455;p30"/>
          <p:cNvSpPr/>
          <p:nvPr/>
        </p:nvSpPr>
        <p:spPr>
          <a:xfrm>
            <a:off x="6126470" y="4368159"/>
            <a:ext cx="2469000" cy="5841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Canonicalize</a:t>
            </a:r>
            <a:endParaRPr sz="1900"/>
          </a:p>
        </p:txBody>
      </p:sp>
      <p:sp>
        <p:nvSpPr>
          <p:cNvPr id="456" name="Google Shape;456;p30"/>
          <p:cNvSpPr/>
          <p:nvPr/>
        </p:nvSpPr>
        <p:spPr>
          <a:xfrm>
            <a:off x="6126470" y="5058637"/>
            <a:ext cx="2469000" cy="903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Overwrite family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+ normalize fields</a:t>
            </a:r>
            <a:endParaRPr sz="1900"/>
          </a:p>
        </p:txBody>
      </p:sp>
      <p:sp>
        <p:nvSpPr>
          <p:cNvPr id="457" name="Google Shape;457;p30"/>
          <p:cNvSpPr/>
          <p:nvPr/>
        </p:nvSpPr>
        <p:spPr>
          <a:xfrm>
            <a:off x="9006830" y="4368159"/>
            <a:ext cx="2469000" cy="584100"/>
          </a:xfrm>
          <a:prstGeom prst="roundRect">
            <a:avLst>
              <a:gd fmla="val 16667" name="adj"/>
            </a:avLst>
          </a:prstGeom>
          <a:solidFill>
            <a:srgbClr val="48A9A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Write Outputs</a:t>
            </a:r>
            <a:endParaRPr sz="1900"/>
          </a:p>
        </p:txBody>
      </p:sp>
      <p:sp>
        <p:nvSpPr>
          <p:cNvPr id="458" name="Google Shape;458;p30"/>
          <p:cNvSpPr/>
          <p:nvPr/>
        </p:nvSpPr>
        <p:spPr>
          <a:xfrm>
            <a:off x="9006830" y="5058637"/>
            <a:ext cx="2469000" cy="903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classification.json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+ report.md</a:t>
            </a:r>
            <a:endParaRPr sz="1900"/>
          </a:p>
        </p:txBody>
      </p:sp>
      <p:sp>
        <p:nvSpPr>
          <p:cNvPr id="459" name="Google Shape;459;p30"/>
          <p:cNvSpPr txBox="1"/>
          <p:nvPr/>
        </p:nvSpPr>
        <p:spPr>
          <a:xfrm>
            <a:off x="2685336" y="4400027"/>
            <a:ext cx="45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900"/>
          </a:p>
        </p:txBody>
      </p:sp>
      <p:sp>
        <p:nvSpPr>
          <p:cNvPr id="460" name="Google Shape;460;p30"/>
          <p:cNvSpPr txBox="1"/>
          <p:nvPr/>
        </p:nvSpPr>
        <p:spPr>
          <a:xfrm>
            <a:off x="5565696" y="4400027"/>
            <a:ext cx="45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900"/>
          </a:p>
        </p:txBody>
      </p:sp>
      <p:sp>
        <p:nvSpPr>
          <p:cNvPr id="461" name="Google Shape;461;p30"/>
          <p:cNvSpPr txBox="1"/>
          <p:nvPr/>
        </p:nvSpPr>
        <p:spPr>
          <a:xfrm>
            <a:off x="8446056" y="4400027"/>
            <a:ext cx="45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592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</p:txBody>
      </p:sp>
      <p:sp>
        <p:nvSpPr>
          <p:cNvPr id="467" name="Google Shape;467;p31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Evaluation Strategy &amp; Framework</a:t>
            </a:r>
            <a:endParaRPr sz="1600"/>
          </a:p>
        </p:txBody>
      </p:sp>
      <p:sp>
        <p:nvSpPr>
          <p:cNvPr id="468" name="Google Shape;468;p31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1"/>
          <p:cNvSpPr txBox="1"/>
          <p:nvPr/>
        </p:nvSpPr>
        <p:spPr>
          <a:xfrm>
            <a:off x="548650" y="1414348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Defects4J lacks complete ODC ground-truth labels, so predicted classifications cannot be reliably validated. Therefore, precision and recall cannot be meaningfully computed without accurate reference annotations. To address this, we adopt a tier-based evaluation approach with progressively relaxed agreement criteria. 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471" name="Google Shape;471;p31"/>
          <p:cNvSpPr/>
          <p:nvPr/>
        </p:nvSpPr>
        <p:spPr>
          <a:xfrm>
            <a:off x="548640" y="2830306"/>
            <a:ext cx="2651700" cy="20118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Tier 1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Strict Match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Exact odc_type agreement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Expected: 40–60%</a:t>
            </a:r>
            <a:endParaRPr sz="1700"/>
          </a:p>
        </p:txBody>
      </p:sp>
      <p:sp>
        <p:nvSpPr>
          <p:cNvPr id="472" name="Google Shape;472;p31"/>
          <p:cNvSpPr/>
          <p:nvPr/>
        </p:nvSpPr>
        <p:spPr>
          <a:xfrm>
            <a:off x="3383280" y="2830306"/>
            <a:ext cx="2651700" cy="20118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Tier 2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Top-2 Match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Primary or alternative overlap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Expected: 60–80%</a:t>
            </a:r>
            <a:endParaRPr sz="1700"/>
          </a:p>
        </p:txBody>
      </p:sp>
      <p:sp>
        <p:nvSpPr>
          <p:cNvPr id="473" name="Google Shape;473;p31"/>
          <p:cNvSpPr/>
          <p:nvPr/>
        </p:nvSpPr>
        <p:spPr>
          <a:xfrm>
            <a:off x="6217920" y="2830306"/>
            <a:ext cx="2651700" cy="20118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Tier 3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Family Match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Same ODC family (C&amp;DF / Structural)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Expected: 70–90%</a:t>
            </a:r>
            <a:endParaRPr sz="1700"/>
          </a:p>
        </p:txBody>
      </p:sp>
      <p:sp>
        <p:nvSpPr>
          <p:cNvPr id="474" name="Google Shape;474;p31"/>
          <p:cNvSpPr/>
          <p:nvPr/>
        </p:nvSpPr>
        <p:spPr>
          <a:xfrm>
            <a:off x="9052560" y="2830306"/>
            <a:ext cx="2651700" cy="20118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Tier 4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Cohen’s Kappa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Statistical measure of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agreement beyond chance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Expected: κ ≥ 0.50</a:t>
            </a:r>
            <a:endParaRPr sz="1700"/>
          </a:p>
        </p:txBody>
      </p:sp>
      <p:sp>
        <p:nvSpPr>
          <p:cNvPr id="475" name="Google Shape;475;p31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76" name="Google Shape;476;p31"/>
          <p:cNvSpPr/>
          <p:nvPr/>
        </p:nvSpPr>
        <p:spPr>
          <a:xfrm>
            <a:off x="365760" y="5463865"/>
            <a:ext cx="11430000" cy="6402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Even human ODC experts disagree on 20–30% of bugs [12]. A tiered framework captures both exact agreement and meaningful near-agreement, matching industry evaluation practice [14][22].</a:t>
            </a:r>
            <a:endParaRPr i="1"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/>
          <p:nvPr/>
        </p:nvSpPr>
        <p:spPr>
          <a:xfrm>
            <a:off x="548640" y="13716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482" name="Google Shape;482;p32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</a:t>
            </a:r>
            <a:r>
              <a:rPr b="1" lang="en-US" sz="30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assification </a:t>
            </a: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sz="1600"/>
          </a:p>
        </p:txBody>
      </p:sp>
      <p:sp>
        <p:nvSpPr>
          <p:cNvPr id="483" name="Google Shape;483;p32"/>
          <p:cNvSpPr/>
          <p:nvPr/>
        </p:nvSpPr>
        <p:spPr>
          <a:xfrm>
            <a:off x="548640" y="1051560"/>
            <a:ext cx="1828800" cy="366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0" y="6675120"/>
            <a:ext cx="12191700" cy="1830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365760" y="1505293"/>
            <a:ext cx="2148900" cy="1005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7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Bug Pairs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Analyzed</a:t>
            </a:r>
            <a:endParaRPr sz="1700"/>
          </a:p>
        </p:txBody>
      </p:sp>
      <p:sp>
        <p:nvSpPr>
          <p:cNvPr id="486" name="Google Shape;486;p32"/>
          <p:cNvSpPr/>
          <p:nvPr/>
        </p:nvSpPr>
        <p:spPr>
          <a:xfrm>
            <a:off x="2697479" y="1505293"/>
            <a:ext cx="2148900" cy="1005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7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Defects4J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Projects</a:t>
            </a:r>
            <a:endParaRPr sz="1700"/>
          </a:p>
        </p:txBody>
      </p:sp>
      <p:sp>
        <p:nvSpPr>
          <p:cNvPr id="487" name="Google Shape;487;p32"/>
          <p:cNvSpPr/>
          <p:nvPr/>
        </p:nvSpPr>
        <p:spPr>
          <a:xfrm>
            <a:off x="5029200" y="1505293"/>
            <a:ext cx="2148900" cy="1005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73.5%</a:t>
            </a:r>
            <a:endParaRPr sz="17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Strict Type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sz="1700"/>
          </a:p>
        </p:txBody>
      </p:sp>
      <p:sp>
        <p:nvSpPr>
          <p:cNvPr id="488" name="Google Shape;488;p32"/>
          <p:cNvSpPr/>
          <p:nvPr/>
        </p:nvSpPr>
        <p:spPr>
          <a:xfrm>
            <a:off x="7360919" y="1505293"/>
            <a:ext cx="2148900" cy="1005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94.1%</a:t>
            </a:r>
            <a:endParaRPr sz="17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Top-2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sz="1700"/>
          </a:p>
        </p:txBody>
      </p:sp>
      <p:sp>
        <p:nvSpPr>
          <p:cNvPr id="489" name="Google Shape;489;p32"/>
          <p:cNvSpPr/>
          <p:nvPr/>
        </p:nvSpPr>
        <p:spPr>
          <a:xfrm>
            <a:off x="9692640" y="1505293"/>
            <a:ext cx="2148900" cy="10059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97.1%</a:t>
            </a:r>
            <a:endParaRPr sz="17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Family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sz="1700"/>
          </a:p>
        </p:txBody>
      </p:sp>
      <p:sp>
        <p:nvSpPr>
          <p:cNvPr id="490" name="Google Shape;490;p32"/>
          <p:cNvSpPr/>
          <p:nvPr/>
        </p:nvSpPr>
        <p:spPr>
          <a:xfrm>
            <a:off x="365760" y="2967250"/>
            <a:ext cx="5852100" cy="2103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Type Agreement Distribution (25/34 stable)</a:t>
            </a:r>
            <a:endParaRPr sz="16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Algorithm/Method (16)</a:t>
            </a:r>
            <a:endParaRPr sz="16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    ████████████████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Checking (6)</a:t>
            </a:r>
            <a:endParaRPr sz="16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    ██████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Assignment/Init (2)</a:t>
            </a:r>
            <a:endParaRPr sz="16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    ██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Function/Class/Obj (1)</a:t>
            </a:r>
            <a:endParaRPr sz="16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    █</a:t>
            </a:r>
            <a:endParaRPr sz="1600"/>
          </a:p>
        </p:txBody>
      </p:sp>
      <p:sp>
        <p:nvSpPr>
          <p:cNvPr id="491" name="Google Shape;491;p32"/>
          <p:cNvSpPr/>
          <p:nvPr/>
        </p:nvSpPr>
        <p:spPr>
          <a:xfrm>
            <a:off x="6400800" y="2967250"/>
            <a:ext cx="5212200" cy="21030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Type Shift Patterns (9/34 changed)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Checking → Algorithm/Method  [3]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Algorithm/Method → Checking  [2]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Checking → Assignment/Init  [1]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Checking → Interface/O-O Msg  [1]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Algorithm/Method → Assignment/Init  [1]</a:t>
            </a:r>
            <a:endParaRPr sz="18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Function/Class/Obj → Relationship  [1]</a:t>
            </a:r>
            <a:endParaRPr sz="1800"/>
          </a:p>
        </p:txBody>
      </p:sp>
      <p:sp>
        <p:nvSpPr>
          <p:cNvPr id="492" name="Google Shape;492;p32"/>
          <p:cNvSpPr/>
          <p:nvPr/>
        </p:nvSpPr>
        <p:spPr>
          <a:xfrm>
            <a:off x="365760" y="5448264"/>
            <a:ext cx="11247000" cy="777300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127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Out of 9 bugs where the type shifted, 7 still had overlap through alternative types. Only 2 bugs (JacksonCore-24, Math-34) had no alternative overlap — but both matched at the family level.</a:t>
            </a:r>
            <a:endParaRPr i="1" sz="16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2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3"/>
          <p:cNvSpPr txBox="1"/>
          <p:nvPr/>
        </p:nvSpPr>
        <p:spPr>
          <a:xfrm>
            <a:off x="548640" y="13716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/>
          </a:p>
        </p:txBody>
      </p:sp>
      <p:sp>
        <p:nvSpPr>
          <p:cNvPr id="499" name="Google Shape;499;p33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Discussion </a:t>
            </a:r>
            <a:r>
              <a:rPr b="1" lang="en-US" sz="30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600"/>
          </a:p>
        </p:txBody>
      </p:sp>
      <p:sp>
        <p:nvSpPr>
          <p:cNvPr id="500" name="Google Shape;500;p33"/>
          <p:cNvSpPr/>
          <p:nvPr/>
        </p:nvSpPr>
        <p:spPr>
          <a:xfrm>
            <a:off x="548640" y="1051560"/>
            <a:ext cx="1828800" cy="366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3"/>
          <p:cNvSpPr/>
          <p:nvPr/>
        </p:nvSpPr>
        <p:spPr>
          <a:xfrm>
            <a:off x="0" y="6675120"/>
            <a:ext cx="12191700" cy="1830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3"/>
          <p:cNvSpPr/>
          <p:nvPr/>
        </p:nvSpPr>
        <p:spPr>
          <a:xfrm>
            <a:off x="365750" y="1432225"/>
            <a:ext cx="3566100" cy="124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48A9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25 (73.5%)</a:t>
            </a:r>
            <a:endParaRPr sz="19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Exact Match</a:t>
            </a:r>
            <a:endParaRPr sz="19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Same type in both modes</a:t>
            </a:r>
            <a:endParaRPr sz="1900"/>
          </a:p>
        </p:txBody>
      </p:sp>
      <p:sp>
        <p:nvSpPr>
          <p:cNvPr id="503" name="Google Shape;503;p33"/>
          <p:cNvSpPr/>
          <p:nvPr/>
        </p:nvSpPr>
        <p:spPr>
          <a:xfrm>
            <a:off x="4206230" y="1432225"/>
            <a:ext cx="3566100" cy="124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A726"/>
                </a:solidFill>
                <a:latin typeface="Calibri"/>
                <a:ea typeface="Calibri"/>
                <a:cs typeface="Calibri"/>
                <a:sym typeface="Calibri"/>
              </a:rPr>
              <a:t>7 (20.6%)</a:t>
            </a:r>
            <a:endParaRPr sz="19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A726"/>
                </a:solidFill>
                <a:latin typeface="Calibri"/>
                <a:ea typeface="Calibri"/>
                <a:cs typeface="Calibri"/>
                <a:sym typeface="Calibri"/>
              </a:rPr>
              <a:t>Soft Divergence</a:t>
            </a:r>
            <a:endParaRPr sz="19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Type shifted, cross-alt match</a:t>
            </a:r>
            <a:endParaRPr sz="1900"/>
          </a:p>
        </p:txBody>
      </p:sp>
      <p:sp>
        <p:nvSpPr>
          <p:cNvPr id="504" name="Google Shape;504;p33"/>
          <p:cNvSpPr/>
          <p:nvPr/>
        </p:nvSpPr>
        <p:spPr>
          <a:xfrm>
            <a:off x="8046710" y="1432225"/>
            <a:ext cx="3566100" cy="124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254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2 (5.9%)</a:t>
            </a:r>
            <a:endParaRPr sz="19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Hard Divergence</a:t>
            </a:r>
            <a:endParaRPr sz="19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alternative overlap</a:t>
            </a:r>
            <a:endParaRPr sz="1900"/>
          </a:p>
        </p:txBody>
      </p:sp>
      <p:sp>
        <p:nvSpPr>
          <p:cNvPr id="505" name="Google Shape;505;p33"/>
          <p:cNvSpPr/>
          <p:nvPr/>
        </p:nvSpPr>
        <p:spPr>
          <a:xfrm>
            <a:off x="365750" y="2935363"/>
            <a:ext cx="11430000" cy="4146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Do Types Diverge?</a:t>
            </a:r>
            <a:endParaRPr sz="1900"/>
          </a:p>
        </p:txBody>
      </p:sp>
      <p:sp>
        <p:nvSpPr>
          <p:cNvPr id="506" name="Google Shape;506;p33"/>
          <p:cNvSpPr/>
          <p:nvPr/>
        </p:nvSpPr>
        <p:spPr>
          <a:xfrm>
            <a:off x="365750" y="3557351"/>
            <a:ext cx="3566100" cy="124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914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Symptom vs Cause</a:t>
            </a:r>
            <a:endParaRPr sz="19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Pre-fix sees symptoms;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post-fix sees the actual fix</a:t>
            </a:r>
            <a:endParaRPr sz="1900"/>
          </a:p>
        </p:txBody>
      </p:sp>
      <p:sp>
        <p:nvSpPr>
          <p:cNvPr id="507" name="Google Shape;507;p33"/>
          <p:cNvSpPr/>
          <p:nvPr/>
        </p:nvSpPr>
        <p:spPr>
          <a:xfrm>
            <a:off x="4206230" y="3557351"/>
            <a:ext cx="3566100" cy="124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914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ODC Boundary Ambiguity</a:t>
            </a:r>
            <a:endParaRPr sz="19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Checking ↔ Algorithm boundary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is inherently ambiguous</a:t>
            </a:r>
            <a:endParaRPr sz="1900"/>
          </a:p>
        </p:txBody>
      </p:sp>
      <p:sp>
        <p:nvSpPr>
          <p:cNvPr id="508" name="Google Shape;508;p33"/>
          <p:cNvSpPr/>
          <p:nvPr/>
        </p:nvSpPr>
        <p:spPr>
          <a:xfrm>
            <a:off x="8046710" y="3557351"/>
            <a:ext cx="3566100" cy="1244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91425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Information Gap</a:t>
            </a:r>
            <a:endParaRPr sz="19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Post-fix has code change;</a:t>
            </a:r>
            <a:b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pre-fix infers from signals</a:t>
            </a:r>
            <a:endParaRPr sz="1900"/>
          </a:p>
        </p:txBody>
      </p:sp>
      <p:sp>
        <p:nvSpPr>
          <p:cNvPr id="509" name="Google Shape;509;p33"/>
          <p:cNvSpPr/>
          <p:nvPr/>
        </p:nvSpPr>
        <p:spPr>
          <a:xfrm>
            <a:off x="365750" y="5060488"/>
            <a:ext cx="11430000" cy="1088400"/>
          </a:xfrm>
          <a:prstGeom prst="roundRect">
            <a:avLst>
              <a:gd fmla="val 16667" name="adj"/>
            </a:avLst>
          </a:prstGeom>
          <a:solidFill>
            <a:srgbClr val="F3E5F5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Case Study: Closure-140 (Soft Divergence)</a:t>
            </a:r>
            <a:endParaRPr sz="19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Pre-fix → Checking (validation/guard issue)  |  Post-fix → Algorithm/Method (procedural correction)</a:t>
            </a:r>
            <a:endParaRPr sz="19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→ Cross-alternative match: each primary type appears in the other side’s alternatives — exactly what ODC theory predicts [12]</a:t>
            </a:r>
            <a:endParaRPr sz="1900"/>
          </a:p>
        </p:txBody>
      </p:sp>
      <p:sp>
        <p:nvSpPr>
          <p:cNvPr id="510" name="Google Shape;510;p33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516" name="Google Shape;516;p34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600"/>
          </a:p>
        </p:txBody>
      </p:sp>
      <p:sp>
        <p:nvSpPr>
          <p:cNvPr id="517" name="Google Shape;517;p34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4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365760" y="1371600"/>
            <a:ext cx="5577900" cy="1280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L1: No Ground-Truth Labels</a:t>
            </a:r>
            <a:endParaRPr sz="20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Defects4J has no ODC labels from human experts. We evaluate using self-consistency, not a gold standard. [8][12]</a:t>
            </a:r>
            <a:endParaRPr sz="2000"/>
          </a:p>
        </p:txBody>
      </p:sp>
      <p:sp>
        <p:nvSpPr>
          <p:cNvPr id="521" name="Google Shape;521;p34"/>
          <p:cNvSpPr/>
          <p:nvPr/>
        </p:nvSpPr>
        <p:spPr>
          <a:xfrm>
            <a:off x="365760" y="2926080"/>
            <a:ext cx="5577900" cy="1280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L2: LLM Reproducibility</a:t>
            </a:r>
            <a:endParaRPr sz="20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Outputs can vary between models and runs. Temperature=0.0 helps but doesn’t fully eliminate variability. [11]</a:t>
            </a:r>
            <a:endParaRPr sz="2000"/>
          </a:p>
        </p:txBody>
      </p:sp>
      <p:sp>
        <p:nvSpPr>
          <p:cNvPr id="522" name="Google Shape;522;p34"/>
          <p:cNvSpPr/>
          <p:nvPr/>
        </p:nvSpPr>
        <p:spPr>
          <a:xfrm>
            <a:off x="365760" y="4480560"/>
            <a:ext cx="5577900" cy="1280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E86F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L3: Data Contamination</a:t>
            </a:r>
            <a:endParaRPr sz="20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LLMs may have seen D4J bugs during training, especially popular projects like Lang and Math. [3]</a:t>
            </a:r>
            <a:endParaRPr sz="2000"/>
          </a:p>
        </p:txBody>
      </p:sp>
      <p:sp>
        <p:nvSpPr>
          <p:cNvPr id="523" name="Google Shape;523;p34"/>
          <p:cNvSpPr/>
          <p:nvPr/>
        </p:nvSpPr>
        <p:spPr>
          <a:xfrm>
            <a:off x="6172200" y="1371600"/>
            <a:ext cx="5577900" cy="1280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L4: Heuristic Hints</a:t>
            </a:r>
            <a:endParaRPr sz="20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Opener/closer hints are keyword-based, not validated by trained assessors. [12]</a:t>
            </a:r>
            <a:endParaRPr sz="2000"/>
          </a:p>
        </p:txBody>
      </p:sp>
      <p:sp>
        <p:nvSpPr>
          <p:cNvPr id="524" name="Google Shape;524;p34"/>
          <p:cNvSpPr/>
          <p:nvPr/>
        </p:nvSpPr>
        <p:spPr>
          <a:xfrm>
            <a:off x="6172200" y="2926080"/>
            <a:ext cx="5577900" cy="1280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L5: Evidence Quality</a:t>
            </a:r>
            <a:endParaRPr sz="20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Not all projects give equally rich evidence — stack trace depth varies between projects.</a:t>
            </a:r>
            <a:endParaRPr sz="2000"/>
          </a:p>
        </p:txBody>
      </p:sp>
      <p:sp>
        <p:nvSpPr>
          <p:cNvPr id="525" name="Google Shape;525;p34"/>
          <p:cNvSpPr/>
          <p:nvPr/>
        </p:nvSpPr>
        <p:spPr>
          <a:xfrm>
            <a:off x="6172200" y="4480560"/>
            <a:ext cx="5577900" cy="128010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L6: Java-Only Scope</a:t>
            </a:r>
            <a:endParaRPr sz="20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Evidence collection is tied to D4J’s Java ecosystem. Classification logic itself is language-independent.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5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531" name="Google Shape;531;p35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600"/>
          </a:p>
        </p:txBody>
      </p:sp>
      <p:sp>
        <p:nvSpPr>
          <p:cNvPr id="532" name="Google Shape;532;p3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5"/>
          <p:cNvSpPr/>
          <p:nvPr/>
        </p:nvSpPr>
        <p:spPr>
          <a:xfrm>
            <a:off x="548650" y="1374010"/>
            <a:ext cx="731400" cy="433200"/>
          </a:xfrm>
          <a:prstGeom prst="roundRect">
            <a:avLst>
              <a:gd fmla="val 16667" name="adj"/>
            </a:avLst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FW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/>
          </a:p>
        </p:txBody>
      </p:sp>
      <p:sp>
        <p:nvSpPr>
          <p:cNvPr id="535" name="Google Shape;535;p35"/>
          <p:cNvSpPr/>
          <p:nvPr/>
        </p:nvSpPr>
        <p:spPr>
          <a:xfrm>
            <a:off x="548650" y="2336711"/>
            <a:ext cx="731400" cy="4332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FW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/>
          </a:p>
        </p:txBody>
      </p:sp>
      <p:sp>
        <p:nvSpPr>
          <p:cNvPr id="536" name="Google Shape;536;p35"/>
          <p:cNvSpPr/>
          <p:nvPr/>
        </p:nvSpPr>
        <p:spPr>
          <a:xfrm>
            <a:off x="548650" y="3299411"/>
            <a:ext cx="731400" cy="433200"/>
          </a:xfrm>
          <a:prstGeom prst="roundRect">
            <a:avLst>
              <a:gd fmla="val 16667" name="adj"/>
            </a:avLst>
          </a:prstGeom>
          <a:solidFill>
            <a:srgbClr val="48A9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FW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/>
          </a:p>
        </p:txBody>
      </p:sp>
      <p:sp>
        <p:nvSpPr>
          <p:cNvPr id="537" name="Google Shape;537;p35"/>
          <p:cNvSpPr/>
          <p:nvPr/>
        </p:nvSpPr>
        <p:spPr>
          <a:xfrm>
            <a:off x="548650" y="4262111"/>
            <a:ext cx="731400" cy="433200"/>
          </a:xfrm>
          <a:prstGeom prst="roundRect">
            <a:avLst>
              <a:gd fmla="val 16667" name="adj"/>
            </a:avLst>
          </a:prstGeom>
          <a:solidFill>
            <a:srgbClr val="8E44A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FW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/>
          </a:p>
        </p:txBody>
      </p:sp>
      <p:sp>
        <p:nvSpPr>
          <p:cNvPr id="538" name="Google Shape;538;p35"/>
          <p:cNvSpPr/>
          <p:nvPr/>
        </p:nvSpPr>
        <p:spPr>
          <a:xfrm>
            <a:off x="548650" y="5224812"/>
            <a:ext cx="731400" cy="433200"/>
          </a:xfrm>
          <a:prstGeom prst="roundRect">
            <a:avLst>
              <a:gd fmla="val 16667" name="adj"/>
            </a:avLst>
          </a:prstGeom>
          <a:solidFill>
            <a:srgbClr val="E86F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FW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/>
          </a:p>
        </p:txBody>
      </p:sp>
      <p:sp>
        <p:nvSpPr>
          <p:cNvPr id="539" name="Google Shape;539;p35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1463050" y="1374000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Full Dataset Classification</a:t>
            </a:r>
            <a:endParaRPr sz="2000"/>
          </a:p>
        </p:txBody>
      </p:sp>
      <p:sp>
        <p:nvSpPr>
          <p:cNvPr id="541" name="Google Shape;541;p35"/>
          <p:cNvSpPr txBox="1"/>
          <p:nvPr/>
        </p:nvSpPr>
        <p:spPr>
          <a:xfrm>
            <a:off x="1463050" y="1680252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Scale to all 864+ active D4J bugs — create the first complete ODC-labeled Defects4J dataset [9]</a:t>
            </a:r>
            <a:endParaRPr sz="2000"/>
          </a:p>
        </p:txBody>
      </p:sp>
      <p:sp>
        <p:nvSpPr>
          <p:cNvPr id="542" name="Google Shape;542;p35"/>
          <p:cNvSpPr txBox="1"/>
          <p:nvPr/>
        </p:nvSpPr>
        <p:spPr>
          <a:xfrm>
            <a:off x="1463050" y="2302037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Multi-Model Consensus</a:t>
            </a:r>
            <a:endParaRPr sz="2000"/>
          </a:p>
        </p:txBody>
      </p:sp>
      <p:sp>
        <p:nvSpPr>
          <p:cNvPr id="543" name="Google Shape;543;p35"/>
          <p:cNvSpPr txBox="1"/>
          <p:nvPr/>
        </p:nvSpPr>
        <p:spPr>
          <a:xfrm>
            <a:off x="1463050" y="2608289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Classify with 3+ models (Gemini, GPT-4, Claude) and use majority voting to reduce variability [10]</a:t>
            </a:r>
            <a:endParaRPr sz="2000"/>
          </a:p>
        </p:txBody>
      </p:sp>
      <p:sp>
        <p:nvSpPr>
          <p:cNvPr id="544" name="Google Shape;544;p35"/>
          <p:cNvSpPr txBox="1"/>
          <p:nvPr/>
        </p:nvSpPr>
        <p:spPr>
          <a:xfrm>
            <a:off x="1463050" y="3230074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8A9A6"/>
                </a:solidFill>
                <a:latin typeface="Calibri"/>
                <a:ea typeface="Calibri"/>
                <a:cs typeface="Calibri"/>
                <a:sym typeface="Calibri"/>
              </a:rPr>
              <a:t>Validated ODC Opener</a:t>
            </a:r>
            <a:endParaRPr sz="2000"/>
          </a:p>
        </p:txBody>
      </p:sp>
      <p:sp>
        <p:nvSpPr>
          <p:cNvPr id="545" name="Google Shape;545;p35"/>
          <p:cNvSpPr txBox="1"/>
          <p:nvPr/>
        </p:nvSpPr>
        <p:spPr>
          <a:xfrm>
            <a:off x="1463050" y="3536327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Replace keyword heuristics with proper Activity → Trigger mapping using D4J test metadata [12]</a:t>
            </a:r>
            <a:endParaRPr sz="2000"/>
          </a:p>
        </p:txBody>
      </p:sp>
      <p:sp>
        <p:nvSpPr>
          <p:cNvPr id="546" name="Google Shape;546;p35"/>
          <p:cNvSpPr txBox="1"/>
          <p:nvPr/>
        </p:nvSpPr>
        <p:spPr>
          <a:xfrm>
            <a:off x="1463050" y="4158111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ODC-Guided APR</a:t>
            </a:r>
            <a:endParaRPr sz="2000"/>
          </a:p>
        </p:txBody>
      </p:sp>
      <p:sp>
        <p:nvSpPr>
          <p:cNvPr id="547" name="Google Shape;547;p35"/>
          <p:cNvSpPr txBox="1"/>
          <p:nvPr/>
        </p:nvSpPr>
        <p:spPr>
          <a:xfrm>
            <a:off x="1463050" y="4464364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 ODC labels to pick the right repair tool: e.g. Checking → conditional templates [5]</a:t>
            </a:r>
            <a:endParaRPr sz="2000"/>
          </a:p>
        </p:txBody>
      </p:sp>
      <p:sp>
        <p:nvSpPr>
          <p:cNvPr id="548" name="Google Shape;548;p35"/>
          <p:cNvSpPr txBox="1"/>
          <p:nvPr/>
        </p:nvSpPr>
        <p:spPr>
          <a:xfrm>
            <a:off x="1463050" y="5086149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6F51"/>
                </a:solidFill>
                <a:latin typeface="Calibri"/>
                <a:ea typeface="Calibri"/>
                <a:cs typeface="Calibri"/>
                <a:sym typeface="Calibri"/>
              </a:rPr>
              <a:t>Cross-Dataset Extension</a:t>
            </a:r>
            <a:endParaRPr sz="2000"/>
          </a:p>
        </p:txBody>
      </p:sp>
      <p:sp>
        <p:nvSpPr>
          <p:cNvPr id="549" name="Google Shape;549;p35"/>
          <p:cNvSpPr txBox="1"/>
          <p:nvPr/>
        </p:nvSpPr>
        <p:spPr>
          <a:xfrm>
            <a:off x="1463050" y="5392401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Adapt the pipeline for other datasets like Bears, BugSwarm, and non-Java projects [7]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6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555" name="Google Shape;555;p36"/>
          <p:cNvSpPr txBox="1"/>
          <p:nvPr/>
        </p:nvSpPr>
        <p:spPr>
          <a:xfrm>
            <a:off x="548640" y="411480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600"/>
          </a:p>
        </p:txBody>
      </p:sp>
      <p:sp>
        <p:nvSpPr>
          <p:cNvPr id="556" name="Google Shape;556;p36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548650" y="1280150"/>
            <a:ext cx="73200" cy="6234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6"/>
          <p:cNvSpPr/>
          <p:nvPr/>
        </p:nvSpPr>
        <p:spPr>
          <a:xfrm>
            <a:off x="548650" y="2215440"/>
            <a:ext cx="73200" cy="6234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548650" y="3150730"/>
            <a:ext cx="73200" cy="6234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548650" y="4086019"/>
            <a:ext cx="73200" cy="6234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6"/>
          <p:cNvSpPr/>
          <p:nvPr/>
        </p:nvSpPr>
        <p:spPr>
          <a:xfrm>
            <a:off x="548650" y="5021311"/>
            <a:ext cx="73200" cy="6234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6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64" name="Google Shape;564;p36"/>
          <p:cNvSpPr txBox="1"/>
          <p:nvPr/>
        </p:nvSpPr>
        <p:spPr>
          <a:xfrm>
            <a:off x="822950" y="1280150"/>
            <a:ext cx="1051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✦  Research Gap Addressed</a:t>
            </a:r>
            <a:endParaRPr sz="1900"/>
          </a:p>
        </p:txBody>
      </p:sp>
      <p:sp>
        <p:nvSpPr>
          <p:cNvPr id="565" name="Google Shape;565;p36"/>
          <p:cNvSpPr txBox="1"/>
          <p:nvPr/>
        </p:nvSpPr>
        <p:spPr>
          <a:xfrm>
            <a:off x="1097270" y="1591694"/>
            <a:ext cx="1024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First study to apply ODC taxonomy to Defects4J using LLM-driven scientific </a:t>
            </a:r>
            <a:r>
              <a:rPr lang="en-US" sz="17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900"/>
          </a:p>
        </p:txBody>
      </p:sp>
      <p:sp>
        <p:nvSpPr>
          <p:cNvPr id="566" name="Google Shape;566;p36"/>
          <p:cNvSpPr txBox="1"/>
          <p:nvPr/>
        </p:nvSpPr>
        <p:spPr>
          <a:xfrm>
            <a:off x="822950" y="2214783"/>
            <a:ext cx="1051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✦  Pipeline Contribution</a:t>
            </a:r>
            <a:endParaRPr sz="1900"/>
          </a:p>
        </p:txBody>
      </p:sp>
      <p:sp>
        <p:nvSpPr>
          <p:cNvPr id="567" name="Google Shape;567;p36"/>
          <p:cNvSpPr txBox="1"/>
          <p:nvPr/>
        </p:nvSpPr>
        <p:spPr>
          <a:xfrm>
            <a:off x="1097270" y="2526326"/>
            <a:ext cx="1024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Fully automated pipeline: evidence collection → structured prompting → explainable classifications</a:t>
            </a:r>
            <a:endParaRPr sz="1900"/>
          </a:p>
        </p:txBody>
      </p:sp>
      <p:sp>
        <p:nvSpPr>
          <p:cNvPr id="568" name="Google Shape;568;p36"/>
          <p:cNvSpPr txBox="1"/>
          <p:nvPr/>
        </p:nvSpPr>
        <p:spPr>
          <a:xfrm>
            <a:off x="822950" y="3149415"/>
            <a:ext cx="1051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✦  Methodological Innovation</a:t>
            </a:r>
            <a:endParaRPr sz="1900"/>
          </a:p>
        </p:txBody>
      </p:sp>
      <p:sp>
        <p:nvSpPr>
          <p:cNvPr id="569" name="Google Shape;569;p36"/>
          <p:cNvSpPr txBox="1"/>
          <p:nvPr/>
        </p:nvSpPr>
        <p:spPr>
          <a:xfrm>
            <a:off x="1097270" y="3460960"/>
            <a:ext cx="1024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Combined Chillarege’s ODC with </a:t>
            </a:r>
            <a:r>
              <a:rPr lang="en-US" sz="17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AutoSD</a:t>
            </a: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’s scientific debugging into a principled LLM prompting strategy</a:t>
            </a:r>
            <a:endParaRPr sz="1900"/>
          </a:p>
        </p:txBody>
      </p:sp>
      <p:sp>
        <p:nvSpPr>
          <p:cNvPr id="570" name="Google Shape;570;p36"/>
          <p:cNvSpPr txBox="1"/>
          <p:nvPr/>
        </p:nvSpPr>
        <p:spPr>
          <a:xfrm>
            <a:off x="822950" y="4084047"/>
            <a:ext cx="1051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✦  4-Tier Evaluation</a:t>
            </a:r>
            <a:endParaRPr sz="1900"/>
          </a:p>
        </p:txBody>
      </p:sp>
      <p:sp>
        <p:nvSpPr>
          <p:cNvPr id="571" name="Google Shape;571;p36"/>
          <p:cNvSpPr txBox="1"/>
          <p:nvPr/>
        </p:nvSpPr>
        <p:spPr>
          <a:xfrm>
            <a:off x="1097270" y="4395591"/>
            <a:ext cx="102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Strict match, top-2 match, family match, and Cohen’s Kappa — accounts for the 20–30% human disagreement ceiling [12]</a:t>
            </a:r>
            <a:endParaRPr sz="1900"/>
          </a:p>
        </p:txBody>
      </p:sp>
      <p:sp>
        <p:nvSpPr>
          <p:cNvPr id="572" name="Google Shape;572;p36"/>
          <p:cNvSpPr txBox="1"/>
          <p:nvPr/>
        </p:nvSpPr>
        <p:spPr>
          <a:xfrm>
            <a:off x="822950" y="5018681"/>
            <a:ext cx="1051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✦  Practical Impact</a:t>
            </a:r>
            <a:endParaRPr sz="1900"/>
          </a:p>
        </p:txBody>
      </p:sp>
      <p:sp>
        <p:nvSpPr>
          <p:cNvPr id="573" name="Google Shape;573;p36"/>
          <p:cNvSpPr txBox="1"/>
          <p:nvPr/>
        </p:nvSpPr>
        <p:spPr>
          <a:xfrm>
            <a:off x="1097270" y="5330225"/>
            <a:ext cx="1024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Pre-fix ODC classification works — type shifts between modes are expected, not failures</a:t>
            </a:r>
            <a:endParaRPr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579" name="Google Shape;579;p37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References (1/2)</a:t>
            </a:r>
            <a:endParaRPr/>
          </a:p>
        </p:txBody>
      </p:sp>
      <p:sp>
        <p:nvSpPr>
          <p:cNvPr id="580" name="Google Shape;580;p37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7"/>
          <p:cNvSpPr txBox="1"/>
          <p:nvPr/>
        </p:nvSpPr>
        <p:spPr>
          <a:xfrm>
            <a:off x="548640" y="1280160"/>
            <a:ext cx="10972800" cy="3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[1] Just, R., Jalali, D., &amp; Ernst, M. D. (2014). Defects4J: A database of existing faults to enable controlled testing studies for Java programs. ISSTA 2014, ACM, pp. 437–440.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[2] Sobreira, V., Durieux, T., Madeiral, F., Monperrus, M., &amp; Maia, M. A. (2018). Dissection of a Bug Dataset: Anatomy of 395 Patches from Defects4J. IEEE SANER 2018, pp. 130–140.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[3] Rafi, M. N., Chen, A. R., Chen, T.-H. P., &amp; Wang, S. (2024). Revisiting Defects4J for Fault Localization in Diverse Development Scenarios. arXiv:2402.13040.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[4] Van der Spuy, A., &amp; Fischer, B. (2025). An Anatomy of 488 Faults from Defects4J Based on the Control- and Data-Flow Graph Representations of Programs. arXiv:2502.02299.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[5] Durieux, T., Martinez, M., Monperrus, M., &amp; Wuttke, J. (2018). Automatic Repair of Real Bugs in Java: A Large-Scale Experiment on the Defects4J Dataset. arXiv:1811.02429.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[6] </a:t>
            </a:r>
            <a:r>
              <a:rPr i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J Jiang</a:t>
            </a: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, , et al. (2017). A manual inspection of Defects4J bugs and its implications for automatic program repair</a:t>
            </a:r>
            <a:r>
              <a:rPr i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SCIS</a:t>
            </a: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201</a:t>
            </a:r>
            <a:r>
              <a:rPr i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[7] Catolino, G., Palomba, F., Zaidman, A., &amp; Ferrucci, F. (2019). Not all bugs are the same: Understanding, characterizing, and classifying bug types. J. Systems and Software, 153, pp. 1–18.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[8] Andrade, R., Teixeira, C., Laranjeiro, N., &amp; Vieira, M. (2025). An Empirical Study on the Classification of Bug Reports with Machine Learning. arXiv:2503.00660.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[9] Hirsch, T., &amp; Hofer, B. (2022). Using textual bug reports to predict the fault category of software bugs. Array, 15, 100189.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[10] Colavito, G., Lanubile, F., Novielli, N., &amp; Quaranta, L. (2024). Large Language Models for Issue Report Classification. Ital-IA 2024, CEUR Workshop Proceedings.</a:t>
            </a:r>
            <a:endParaRPr i="1" sz="12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[11] Koyuncu, A. (2025). Exploring fine-grained bug report categorization with LLMs and prompt engineering. ACM TOSEM.</a:t>
            </a:r>
            <a:endParaRPr i="1" sz="1200"/>
          </a:p>
        </p:txBody>
      </p:sp>
      <p:sp>
        <p:nvSpPr>
          <p:cNvPr id="583" name="Google Shape;583;p37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8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589" name="Google Shape;589;p38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References (2/2)</a:t>
            </a:r>
            <a:endParaRPr/>
          </a:p>
        </p:txBody>
      </p:sp>
      <p:sp>
        <p:nvSpPr>
          <p:cNvPr id="590" name="Google Shape;590;p38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8"/>
          <p:cNvSpPr txBox="1"/>
          <p:nvPr/>
        </p:nvSpPr>
        <p:spPr>
          <a:xfrm>
            <a:off x="548640" y="1280160"/>
            <a:ext cx="109728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[12] Chillarege, R., et al. (1992). Orthogonal Defect Classification — A Concept for In-Process Measurements. IEEE TSE, 18(11), pp. 943–956.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[13] Huang, B., &amp; Ng, V., et al. (2011). AutoODC: Automated generation of Orthogonal Defect Classifications. ASE 2011.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[14] Thung, F., Lo, D., et al. (2012). Automatic Defect Categorization. WCRE 2012.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[15] Kang, S., Chen, B., Yoo, S., &amp; Lou, J.-G. (2023). Explainable Automated Debugging via Large Language Model-driven Scientific Debugging. arXiv:2304.02195.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[16] Zeller, A. (2009). Why Programs Fail: A Guide to Systematic Debugging (2nd ed.). Morgan Kaufmann.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[17] </a:t>
            </a:r>
            <a:r>
              <a:rPr i="1"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Esfahani</a:t>
            </a: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, et al. (2024). Understanding Defects in Generated Codes by Language Models. CASCON 2024. (arXiv:2408.13372)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[18] </a:t>
            </a:r>
            <a:r>
              <a:rPr i="1" lang="en-US" sz="13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Mollik</a:t>
            </a: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., et al. (2024). RCEGen: A Generative Approach for Automated Root Cause Analysis. MDPI Computers, 4(4), 29.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[19] Nong, Y., et al. (2024). Chain-of-Thought Prompting of Large Language Models for Discovering and Fixing Software Vulnerabilities. arXiv:2402.17230.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[20] IBM. (2013). Orthogonal Defect Classification v 5.2 for Software Design and Code. IBM Research.</a:t>
            </a:r>
            <a:endParaRPr i="1" sz="13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[21] Callaghan, D. (2024). Mining Bug Repositories for Multi-Fault Programs. defects4j-mf, GitHub.</a:t>
            </a:r>
            <a:endParaRPr i="1" sz="1300"/>
          </a:p>
        </p:txBody>
      </p:sp>
      <p:sp>
        <p:nvSpPr>
          <p:cNvPr id="593" name="Google Shape;593;p38"/>
          <p:cNvSpPr txBox="1"/>
          <p:nvPr/>
        </p:nvSpPr>
        <p:spPr>
          <a:xfrm>
            <a:off x="11422124" y="6238300"/>
            <a:ext cx="6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9"/>
          <p:cNvSpPr txBox="1"/>
          <p:nvPr/>
        </p:nvSpPr>
        <p:spPr>
          <a:xfrm>
            <a:off x="914400" y="2790275"/>
            <a:ext cx="10362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599" name="Google Shape;599;p39"/>
          <p:cNvSpPr/>
          <p:nvPr/>
        </p:nvSpPr>
        <p:spPr>
          <a:xfrm>
            <a:off x="0" y="6675120"/>
            <a:ext cx="12191700" cy="1830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