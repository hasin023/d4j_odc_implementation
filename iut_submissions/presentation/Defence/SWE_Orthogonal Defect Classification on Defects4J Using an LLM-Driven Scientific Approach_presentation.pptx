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02920"/>
            <a:ext cx="750241" cy="1234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45920" y="658368"/>
            <a:ext cx="64008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Islamic University of 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024128"/>
            <a:ext cx="64008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Department of Computer Science and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9692640" cy="1554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12284C"/>
                </a:solidFill>
                <a:latin typeface="Source Sans 3"/>
              </a:rPr>
              <a:t>Orthogonal Defect Classification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12284C"/>
                </a:solidFill>
                <a:latin typeface="Source Sans 3"/>
              </a:rPr>
              <a:t>on Defects4J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9692640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C2128"/>
                </a:solidFill>
                <a:latin typeface="Source Sans 3"/>
              </a:rPr>
              <a:t>Using an LLM-Driven Scientific Approach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343400"/>
            <a:ext cx="2377440" cy="0"/>
          </a:xfrm>
          <a:prstGeom prst="line">
            <a:avLst/>
          </a:prstGeom>
          <a:ln w="19050">
            <a:solidFill>
              <a:srgbClr val="12284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731520" y="4453128"/>
            <a:ext cx="76809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Thesis Defence  ·  B.Sc. in Computer Science and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74920"/>
            <a:ext cx="4206240" cy="1463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Presented by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Md. Sakib Hossain  (210042133)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Mohammad Nahiyan Kabir  (210042168)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Hasin Mahtab Alvee  (210042174)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5074920"/>
            <a:ext cx="4206240" cy="1463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Supervisor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Lutfun Nahar Lota, Assistant Professor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Co-supervisor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Ishmam Tashdeed, Lecturer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Outline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 / 24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600200"/>
            <a:ext cx="3520440" cy="6400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874519"/>
            <a:ext cx="731520" cy="6858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6EAF0"/>
                </a:solidFill>
                <a:latin typeface="Source Sans 3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1874519"/>
            <a:ext cx="274320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C2128"/>
                </a:solidFill>
                <a:latin typeface="Source Sans 3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331720"/>
            <a:ext cx="27432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slides 3–8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926080"/>
            <a:ext cx="3520440" cy="2743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1800"/>
              </a:spcAft>
            </a:pPr>
            <a:r>
              <a:rPr sz="14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Motivation and Defects4J</a:t>
            </a:r>
          </a:p>
          <a:p>
            <a:pPr algn="l">
              <a:lnSpc>
                <a:spcPct val="105000"/>
              </a:lnSpc>
              <a:spcAft>
                <a:spcPts val="1800"/>
              </a:spcAft>
            </a:pPr>
            <a:r>
              <a:rPr sz="14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ODC and related work</a:t>
            </a:r>
          </a:p>
          <a:p>
            <a:pPr algn="l">
              <a:lnSpc>
                <a:spcPct val="105000"/>
              </a:lnSpc>
              <a:spcAft>
                <a:spcPts val="1800"/>
              </a:spcAft>
            </a:pPr>
            <a:r>
              <a:rPr sz="14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Pre-fix vs post-fix</a:t>
            </a:r>
          </a:p>
          <a:p>
            <a:pPr algn="l">
              <a:lnSpc>
                <a:spcPct val="105000"/>
              </a:lnSpc>
              <a:spcAft>
                <a:spcPts val="1800"/>
              </a:spcAft>
            </a:pPr>
            <a:r>
              <a:rPr sz="14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Research questions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1600200"/>
            <a:ext cx="3520440" cy="6400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874519"/>
            <a:ext cx="731520" cy="6858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6EAF0"/>
                </a:solidFill>
                <a:latin typeface="Source Sans 3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1874519"/>
            <a:ext cx="274320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C2128"/>
                </a:solidFill>
                <a:latin typeface="Source Sans 3"/>
              </a:rPr>
              <a:t>Methodology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2331720"/>
            <a:ext cx="27432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slides 9–16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2926080"/>
            <a:ext cx="3520440" cy="2743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1800"/>
              </a:spcAft>
            </a:pPr>
            <a:r>
              <a:rPr sz="14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Pipeline and evidence</a:t>
            </a:r>
          </a:p>
          <a:p>
            <a:pPr algn="l">
              <a:lnSpc>
                <a:spcPct val="105000"/>
              </a:lnSpc>
              <a:spcAft>
                <a:spcPts val="1800"/>
              </a:spcAft>
            </a:pPr>
            <a:r>
              <a:rPr sz="14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Conditions and prompts</a:t>
            </a:r>
          </a:p>
          <a:p>
            <a:pPr algn="l">
              <a:lnSpc>
                <a:spcPct val="105000"/>
              </a:lnSpc>
              <a:spcAft>
                <a:spcPts val="1800"/>
              </a:spcAft>
            </a:pPr>
            <a:r>
              <a:rPr sz="14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The reasoning loop</a:t>
            </a:r>
          </a:p>
          <a:p>
            <a:pPr algn="l">
              <a:lnSpc>
                <a:spcPct val="105000"/>
              </a:lnSpc>
              <a:spcAft>
                <a:spcPts val="1800"/>
              </a:spcAft>
            </a:pPr>
            <a:r>
              <a:rPr sz="14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Evaluation and setup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60" y="1600200"/>
            <a:ext cx="3520440" cy="6400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1874519"/>
            <a:ext cx="731520" cy="6858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6EAF0"/>
                </a:solidFill>
                <a:latin typeface="Source Sans 3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1874519"/>
            <a:ext cx="274320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C2128"/>
                </a:solidFill>
                <a:latin typeface="Source Sans 3"/>
              </a:rPr>
              <a:t>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2331720"/>
            <a:ext cx="27432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slides 17–24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2926080"/>
            <a:ext cx="3520440" cy="2743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1800"/>
              </a:spcAft>
            </a:pPr>
            <a:r>
              <a:rPr sz="14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RQ1–RQ2: types, coverage</a:t>
            </a:r>
          </a:p>
          <a:p>
            <a:pPr algn="l">
              <a:lnSpc>
                <a:spcPct val="105000"/>
              </a:lnSpc>
              <a:spcAft>
                <a:spcPts val="1800"/>
              </a:spcAft>
            </a:pPr>
            <a:r>
              <a:rPr sz="14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RQ3: agreement and drift</a:t>
            </a:r>
          </a:p>
          <a:p>
            <a:pPr algn="l">
              <a:lnSpc>
                <a:spcPct val="105000"/>
              </a:lnSpc>
              <a:spcAft>
                <a:spcPts val="1800"/>
              </a:spcAft>
            </a:pPr>
            <a:r>
              <a:rPr sz="14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RQ4: taxonomy and loop</a:t>
            </a:r>
          </a:p>
          <a:p>
            <a:pPr algn="l">
              <a:lnSpc>
                <a:spcPct val="105000"/>
              </a:lnSpc>
              <a:spcAft>
                <a:spcPts val="1800"/>
              </a:spcAft>
            </a:pPr>
            <a:r>
              <a:rPr sz="14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Threats and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Motivation: Classifying Defects in Defects4J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3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325880"/>
            <a:ext cx="2468880" cy="8412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12284C"/>
                </a:solidFill>
                <a:latin typeface="Source Sans 3"/>
              </a:rPr>
              <a:t>836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185416"/>
            <a:ext cx="246888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reproducible real bugs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1325880"/>
            <a:ext cx="2468880" cy="8412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12284C"/>
                </a:solidFill>
                <a:latin typeface="Source Sans 3"/>
              </a:rPr>
              <a:t>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185416"/>
            <a:ext cx="246888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Java projects [5]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2514600"/>
            <a:ext cx="5212080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48640" y="2697480"/>
            <a:ext cx="5394960" cy="2194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1800"/>
              </a:spcAft>
            </a:pPr>
            <a:r>
              <a:rPr sz="14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Defect types need different debugging strategies</a:t>
            </a:r>
          </a:p>
          <a:p>
            <a:pPr algn="l">
              <a:lnSpc>
                <a:spcPct val="105000"/>
              </a:lnSpc>
              <a:spcAft>
                <a:spcPts val="1800"/>
              </a:spcAft>
            </a:pPr>
            <a:r>
              <a:rPr sz="14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Aggregated labels expose recurring mistakes</a:t>
            </a:r>
          </a:p>
          <a:p>
            <a:pPr algn="l">
              <a:lnSpc>
                <a:spcPct val="105000"/>
              </a:lnSpc>
              <a:spcAft>
                <a:spcPts val="1800"/>
              </a:spcAft>
            </a:pPr>
            <a:r>
              <a:rPr sz="14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Manual triage is accurate, but does not 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325880"/>
            <a:ext cx="533095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WHAT EVERY DEFECTS4J BUG SHIPS WITH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1719072"/>
            <a:ext cx="5330952" cy="60350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1719072"/>
            <a:ext cx="64008" cy="603504"/>
          </a:xfrm>
          <a:prstGeom prst="rect">
            <a:avLst/>
          </a:prstGeom>
          <a:solidFill>
            <a:srgbClr val="5A62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1719072"/>
            <a:ext cx="4873752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Bug report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2432304"/>
            <a:ext cx="5330952" cy="60350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2432304"/>
            <a:ext cx="64008" cy="603504"/>
          </a:xfrm>
          <a:prstGeom prst="rect">
            <a:avLst/>
          </a:prstGeom>
          <a:solidFill>
            <a:srgbClr val="5A62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2432304"/>
            <a:ext cx="4873752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Failing tests + stack traces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145536"/>
            <a:ext cx="5330952" cy="603504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3145536"/>
            <a:ext cx="64008" cy="603504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3145536"/>
            <a:ext cx="4873752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A23B3B"/>
                </a:solidFill>
                <a:latin typeface="Source Sans 3"/>
              </a:rPr>
              <a:t>Buggy source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3858768"/>
            <a:ext cx="5330952" cy="603504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3858768"/>
            <a:ext cx="64008" cy="603504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3858768"/>
            <a:ext cx="4873752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F7D4F"/>
                </a:solidFill>
                <a:latin typeface="Source Sans 3"/>
              </a:rPr>
              <a:t>Fixed source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4572000"/>
            <a:ext cx="5330952" cy="603504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4572000"/>
            <a:ext cx="64008" cy="603504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4572000"/>
            <a:ext cx="4873752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F7D4F"/>
                </a:solidFill>
                <a:latin typeface="Source Sans 3"/>
              </a:rPr>
              <a:t>Fix diff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440680"/>
            <a:ext cx="64008" cy="64008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440680"/>
            <a:ext cx="10881360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Every bug ships with its fix, so one bug can be classified </a:t>
            </a:r>
            <a:r>
              <a:rPr sz="1800" b="1" i="0">
                <a:solidFill>
                  <a:srgbClr val="A23B3B"/>
                </a:solidFill>
                <a:latin typeface="Source Sans 3"/>
              </a:rPr>
              <a:t>before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 and </a:t>
            </a:r>
            <a:r>
              <a:rPr sz="1800" b="1" i="0">
                <a:solidFill>
                  <a:srgbClr val="2F7D4F"/>
                </a:solidFill>
                <a:latin typeface="Source Sans 3"/>
              </a:rPr>
              <a:t>after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Orthogonal Defect Classification (ODC)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4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07008"/>
            <a:ext cx="1109167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ODC [4, 15] describes a defect when it is found (</a:t>
            </a:r>
            <a:r>
              <a:rPr sz="1800" b="0" i="1">
                <a:solidFill>
                  <a:srgbClr val="1C2128"/>
                </a:solidFill>
                <a:latin typeface="Source Sans 3"/>
              </a:rPr>
              <a:t>opener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) and when it is fixed (</a:t>
            </a:r>
            <a:r>
              <a:rPr sz="1800" b="0" i="1">
                <a:solidFill>
                  <a:srgbClr val="1C2128"/>
                </a:solidFill>
                <a:latin typeface="Source Sans 3"/>
              </a:rPr>
              <a:t>closer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). We classify one closer attribute: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0" y="1783080"/>
            <a:ext cx="2377440" cy="54864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1783080"/>
            <a:ext cx="2377440" cy="5486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ource Sans 3"/>
              </a:rPr>
              <a:t>Defect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1783080"/>
            <a:ext cx="3657600" cy="5486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the nature of the correction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03520" y="2331720"/>
            <a:ext cx="0" cy="27432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406140" y="2606040"/>
            <a:ext cx="5660136" cy="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3406140" y="2606040"/>
            <a:ext cx="0" cy="18288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sp>
        <p:nvSpPr>
          <p:cNvPr id="21" name="Rectangle 20"/>
          <p:cNvSpPr/>
          <p:nvPr/>
        </p:nvSpPr>
        <p:spPr>
          <a:xfrm>
            <a:off x="548640" y="2788920"/>
            <a:ext cx="5715000" cy="457200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788920"/>
            <a:ext cx="571500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Control and Data Flow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221867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24" name="Rectangle 23"/>
          <p:cNvSpPr/>
          <p:nvPr/>
        </p:nvSpPr>
        <p:spPr>
          <a:xfrm>
            <a:off x="548640" y="3410712"/>
            <a:ext cx="134645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410712"/>
            <a:ext cx="1346454" cy="64008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3" y="3538728"/>
            <a:ext cx="1236726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Checking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4389120"/>
            <a:ext cx="1200150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missing or wrong condition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678049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2004822" y="3410712"/>
            <a:ext cx="134645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04822" y="3410712"/>
            <a:ext cx="1346454" cy="64008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59686" y="3538728"/>
            <a:ext cx="1236726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Algorithm/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Method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77974" y="4389120"/>
            <a:ext cx="1200150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wrong computation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134230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34" name="Rectangle 33"/>
          <p:cNvSpPr/>
          <p:nvPr/>
        </p:nvSpPr>
        <p:spPr>
          <a:xfrm>
            <a:off x="3461003" y="3410712"/>
            <a:ext cx="134645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61003" y="3410712"/>
            <a:ext cx="1346454" cy="64008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15868" y="3538728"/>
            <a:ext cx="1236726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Assignment/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Initialization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4156" y="4389120"/>
            <a:ext cx="1200150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wrong value or initialization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590413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4917186" y="3410712"/>
            <a:ext cx="134645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17186" y="3410712"/>
            <a:ext cx="1346454" cy="64008"/>
          </a:xfrm>
          <a:prstGeom prst="rect">
            <a:avLst/>
          </a:prstGeom>
          <a:solidFill>
            <a:srgbClr val="8A91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2049" y="3538728"/>
            <a:ext cx="1236726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Timing/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Serialization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90338" y="4389120"/>
            <a:ext cx="1200150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wrong ordering or concurrency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066276" y="2606040"/>
            <a:ext cx="0" cy="18288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sp>
        <p:nvSpPr>
          <p:cNvPr id="44" name="Rectangle 43"/>
          <p:cNvSpPr/>
          <p:nvPr/>
        </p:nvSpPr>
        <p:spPr>
          <a:xfrm>
            <a:off x="6492240" y="2788920"/>
            <a:ext cx="5148072" cy="457200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2788920"/>
            <a:ext cx="5148072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Structural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313676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47" name="Rectangle 46"/>
          <p:cNvSpPr/>
          <p:nvPr/>
        </p:nvSpPr>
        <p:spPr>
          <a:xfrm>
            <a:off x="6492240" y="3410712"/>
            <a:ext cx="1642872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92240" y="3410712"/>
            <a:ext cx="1642872" cy="64008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47103" y="3538728"/>
            <a:ext cx="1533144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Function/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Class/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Object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65392" y="4389120"/>
            <a:ext cx="1496568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missing capability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066276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52" name="Rectangle 51"/>
          <p:cNvSpPr/>
          <p:nvPr/>
        </p:nvSpPr>
        <p:spPr>
          <a:xfrm>
            <a:off x="8244839" y="3410712"/>
            <a:ext cx="1642872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244839" y="3410712"/>
            <a:ext cx="1642872" cy="64008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99704" y="3538728"/>
            <a:ext cx="1533144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Interface/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O-O Messages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17991" y="4389120"/>
            <a:ext cx="1496568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wrong interaction across a boundary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0818876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57" name="Rectangle 56"/>
          <p:cNvSpPr/>
          <p:nvPr/>
        </p:nvSpPr>
        <p:spPr>
          <a:xfrm>
            <a:off x="9997440" y="3410712"/>
            <a:ext cx="1642872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997440" y="3410712"/>
            <a:ext cx="1642872" cy="64008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2304" y="3538728"/>
            <a:ext cx="1533144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Relationship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70592" y="4389120"/>
            <a:ext cx="1496568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broken association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5532120"/>
            <a:ext cx="1109167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+ Other</a:t>
            </a:r>
            <a:r>
              <a:rPr sz="1700" b="0" i="0">
                <a:solidFill>
                  <a:srgbClr val="5A6270"/>
                </a:solidFill>
                <a:latin typeface="Source Sans 3"/>
              </a:rPr>
              <a:t>  —  escape category added in this study, allowed only with a written justification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Related Work and the Research Gap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5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8016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WHAT PRIOR WORK ON DEFECTS4J ACTUALLY LABELS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2880360"/>
            <a:ext cx="10058400" cy="0"/>
          </a:xfrm>
          <a:prstGeom prst="line">
            <a:avLst/>
          </a:prstGeom>
          <a:ln w="15875">
            <a:solidFill>
              <a:srgbClr val="8A919C"/>
            </a:solidFill>
            <a:tailEnd type="triangle" w="med" len="med"/>
          </a:ln>
        </p:spPr>
      </p:cxnSp>
      <p:sp>
        <p:nvSpPr>
          <p:cNvPr id="16" name="Oval 15"/>
          <p:cNvSpPr/>
          <p:nvPr/>
        </p:nvSpPr>
        <p:spPr>
          <a:xfrm>
            <a:off x="1536192" y="2798064"/>
            <a:ext cx="164592" cy="164592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645919"/>
            <a:ext cx="2103120" cy="82296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how a bug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manifests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044952"/>
            <a:ext cx="2103120" cy="685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Van der Spuy &amp;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Fischer 2025 [8]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749039"/>
            <a:ext cx="21031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488 faults</a:t>
            </a:r>
          </a:p>
        </p:txBody>
      </p:sp>
      <p:sp>
        <p:nvSpPr>
          <p:cNvPr id="20" name="Oval 19"/>
          <p:cNvSpPr/>
          <p:nvPr/>
        </p:nvSpPr>
        <p:spPr>
          <a:xfrm>
            <a:off x="4453128" y="2798064"/>
            <a:ext cx="164592" cy="164592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83864" y="1645919"/>
            <a:ext cx="2103120" cy="82296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what the patch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changed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864" y="3044952"/>
            <a:ext cx="2103120" cy="685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Sobreira et al.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2018 [9]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3864" y="3749039"/>
            <a:ext cx="21031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395 patches</a:t>
            </a:r>
          </a:p>
        </p:txBody>
      </p:sp>
      <p:sp>
        <p:nvSpPr>
          <p:cNvPr id="24" name="Oval 23"/>
          <p:cNvSpPr/>
          <p:nvPr/>
        </p:nvSpPr>
        <p:spPr>
          <a:xfrm>
            <a:off x="7068312" y="2798064"/>
            <a:ext cx="164592" cy="164592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9048" y="1645919"/>
            <a:ext cx="2103120" cy="82296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one-off manual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inspection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9048" y="3044952"/>
            <a:ext cx="2103120" cy="685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Jiang et al.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2019 [10]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9048" y="3749039"/>
            <a:ext cx="21031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50 bugs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1120" y="1554480"/>
            <a:ext cx="2011679" cy="2468880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0" y="1645919"/>
            <a:ext cx="2011679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semantic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defect type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3108960"/>
            <a:ext cx="2011679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A23B3B"/>
                </a:solidFill>
                <a:latin typeface="Source Sans 3"/>
              </a:rPr>
              <a:t>not labelled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A23B3B"/>
                </a:solidFill>
                <a:latin typeface="Source Sans 3"/>
              </a:rPr>
              <a:t>at scale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251960"/>
            <a:ext cx="5394960" cy="10972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LLM classifiers [11, 12, 14, 16]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read bug-report text only; without a fixed taxonomy their labels are inconsistent.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251960"/>
            <a:ext cx="5330952" cy="10972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ODC studies [19, 20, 21]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classify other corpora — never Defects4J at benchmark scale.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440680"/>
            <a:ext cx="64008" cy="54864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440680"/>
            <a:ext cx="10881360" cy="5486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Gap: no semantic defect-type labels for Defects4J, and no way to evaluate them without ground truth.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Problem Statement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6 /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371600"/>
            <a:ext cx="64008" cy="146304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325880"/>
            <a:ext cx="10698480" cy="1554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0" i="0">
                <a:solidFill>
                  <a:srgbClr val="1C2128"/>
                </a:solidFill>
                <a:latin typeface="Source Sans 3"/>
              </a:rPr>
              <a:t>Classify Defects4J bugs into ODC defect types </a:t>
            </a:r>
            <a:r>
              <a:rPr sz="2700" b="1" i="0">
                <a:solidFill>
                  <a:srgbClr val="12284C"/>
                </a:solidFill>
                <a:latin typeface="Source Sans 3"/>
              </a:rPr>
              <a:t>from pre-fix evidence alone</a:t>
            </a:r>
            <a:r>
              <a:rPr sz="2700" b="0" i="0">
                <a:solidFill>
                  <a:srgbClr val="1C2128"/>
                </a:solidFill>
                <a:latin typeface="Source Sans 3"/>
              </a:rPr>
              <a:t> — and evaluate that classification </a:t>
            </a:r>
            <a:r>
              <a:rPr sz="2700" b="1" i="0">
                <a:solidFill>
                  <a:srgbClr val="12284C"/>
                </a:solidFill>
                <a:latin typeface="Source Sans 3"/>
              </a:rPr>
              <a:t>without ground-truth labels.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0040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A SOLUTION THEREFORE HAS TO BE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3749039"/>
            <a:ext cx="5422391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548640" y="3877055"/>
            <a:ext cx="5422392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C2128"/>
                </a:solidFill>
                <a:latin typeface="Source Sans 3"/>
              </a:rPr>
              <a:t>Context-aware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352544"/>
            <a:ext cx="542239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code, tests, traces and reports together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217920" y="3749039"/>
            <a:ext cx="5422392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6217920" y="3877055"/>
            <a:ext cx="5422392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C2128"/>
                </a:solidFill>
                <a:latin typeface="Source Sans 3"/>
              </a:rPr>
              <a:t>Semantic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352544"/>
            <a:ext cx="542239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the defect mechanism, not the syntax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5120640"/>
            <a:ext cx="5422391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548640" y="5248655"/>
            <a:ext cx="5422392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C2128"/>
                </a:solidFill>
                <a:latin typeface="Source Sans 3"/>
              </a:rPr>
              <a:t>Taxonomy-constrained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724144"/>
            <a:ext cx="542239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a fixed, comparable label space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217920" y="5120640"/>
            <a:ext cx="5422392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6217920" y="5248655"/>
            <a:ext cx="5422392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C2128"/>
                </a:solidFill>
                <a:latin typeface="Source Sans 3"/>
              </a:rPr>
              <a:t>Evaluable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5724144"/>
            <a:ext cx="542239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carries its own reference, without ground truth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Core Idea: One Bug, Two Classifications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7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80160"/>
            <a:ext cx="58978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DEFECTS4J CHART_9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645920"/>
            <a:ext cx="5897880" cy="402336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45920"/>
            <a:ext cx="5623560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Code Pro"/>
              </a:rPr>
              <a:t>org.jfree.data.time.TimeSeries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048256"/>
            <a:ext cx="5897880" cy="18836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121408"/>
            <a:ext cx="56235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Code Pro"/>
              </a:rPr>
              <a:t>      endIndex = endIndex - 1;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468880"/>
            <a:ext cx="5897880" cy="347472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468880"/>
            <a:ext cx="45720" cy="347472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468880"/>
            <a:ext cx="56235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A23B3B"/>
                </a:solidFill>
                <a:latin typeface="Source Code Pro"/>
              </a:rPr>
              <a:t>- if (endIndex &lt; 0) {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16352"/>
            <a:ext cx="5897880" cy="347472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816352"/>
            <a:ext cx="45720" cy="347472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816352"/>
            <a:ext cx="56235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2F7D4F"/>
                </a:solidFill>
                <a:latin typeface="Source Code Pro"/>
              </a:rPr>
              <a:t>+ if ((endIndex &lt; 0) || (endIndex &lt; startIndex)) {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163824"/>
            <a:ext cx="56235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Code Pro"/>
              </a:rPr>
              <a:t>      emptyRange = true;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511296"/>
            <a:ext cx="56235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Code Pro"/>
              </a:rPr>
              <a:t>  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023360"/>
            <a:ext cx="589788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The fix widens a guard to catch an empty range.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66560" y="1280160"/>
            <a:ext cx="48737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766560" y="1280160"/>
            <a:ext cx="64008" cy="1371600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5160" y="1353312"/>
            <a:ext cx="450799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23B3B"/>
                </a:solidFill>
                <a:latin typeface="Source Sans 3"/>
              </a:rPr>
              <a:t>Pre-fix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1764792"/>
            <a:ext cx="450799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Code Pro"/>
              </a:rPr>
              <a:t>report · tests · trace · code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2176272"/>
            <a:ext cx="450799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Triage: no fix exists yet.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2834639"/>
            <a:ext cx="48737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66560" y="2834639"/>
            <a:ext cx="64008" cy="137160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5160" y="2907791"/>
            <a:ext cx="450799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2F7D4F"/>
                </a:solidFill>
                <a:latin typeface="Source Sans 3"/>
              </a:rPr>
              <a:t>Post-fix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3319272"/>
            <a:ext cx="450799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Code Pro"/>
              </a:rPr>
              <a:t>the same evidence + the fix diff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5160" y="3730752"/>
            <a:ext cx="450799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Informed by the correction.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52628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DEFECTS4J HAS NO ODC LABELS, SO WE DEFINE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4892040"/>
            <a:ext cx="3520440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548640" y="4956048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Post-fix label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349240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8A919C"/>
                </a:solidFill>
                <a:latin typeface="Source Sans 3"/>
              </a:rPr>
              <a:t>=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the fix-informed reference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343400" y="4892040"/>
            <a:ext cx="3520440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43" name="TextBox 42"/>
          <p:cNvSpPr txBox="1"/>
          <p:nvPr/>
        </p:nvSpPr>
        <p:spPr>
          <a:xfrm>
            <a:off x="4343400" y="4956048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Pre-fix vs post-fix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5349240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8A919C"/>
                </a:solidFill>
                <a:latin typeface="Source Sans 3"/>
              </a:rPr>
              <a:t>=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does the triage label hold?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138160" y="4892040"/>
            <a:ext cx="3520440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46" name="TextBox 45"/>
          <p:cNvSpPr txBox="1"/>
          <p:nvPr/>
        </p:nvSpPr>
        <p:spPr>
          <a:xfrm>
            <a:off x="8138160" y="4956048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Labels differ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5349240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8A919C"/>
                </a:solidFill>
                <a:latin typeface="Source Sans 3"/>
              </a:rPr>
              <a:t>=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drift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5A6270"/>
                </a:solidFill>
                <a:latin typeface="Source Sans 3"/>
              </a:rPr>
              <a:t>Agreement is not correctness: we measure how closely a pre-fix label reproduces a better-informed reference.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Research Questions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8 /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444752"/>
            <a:ext cx="1143000" cy="74980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444752"/>
            <a:ext cx="1143000" cy="7498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Source Sans 3"/>
              </a:rPr>
              <a:t>RQ1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44752"/>
            <a:ext cx="969264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C2128"/>
                </a:solidFill>
                <a:latin typeface="Source Sans 3"/>
              </a:rPr>
              <a:t>Distribution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1847088"/>
            <a:ext cx="96926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Which ODC types dominate, and does the mix differ by project?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2395728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548640" y="2542032"/>
            <a:ext cx="1143000" cy="74980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542032"/>
            <a:ext cx="1143000" cy="7498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Source Sans 3"/>
              </a:rPr>
              <a:t>RQ2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2542032"/>
            <a:ext cx="969264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C2128"/>
                </a:solidFill>
                <a:latin typeface="Source Sans 3"/>
              </a:rPr>
              <a:t>Coverage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2944368"/>
            <a:ext cx="96926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Do the seven types cover every bug, or is “Other” needed?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3493008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4" name="Rectangle 23"/>
          <p:cNvSpPr/>
          <p:nvPr/>
        </p:nvSpPr>
        <p:spPr>
          <a:xfrm>
            <a:off x="548640" y="3639312"/>
            <a:ext cx="1143000" cy="74980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39312"/>
            <a:ext cx="1143000" cy="7498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Source Sans 3"/>
              </a:rPr>
              <a:t>RQ3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3639312"/>
            <a:ext cx="969264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C2128"/>
                </a:solidFill>
                <a:latin typeface="Source Sans 3"/>
              </a:rPr>
              <a:t>Accuracy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4041648"/>
            <a:ext cx="96926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How often does the pre-fix label match the post-fix reference?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4590288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548640" y="4736592"/>
            <a:ext cx="1143000" cy="74980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736592"/>
            <a:ext cx="1143000" cy="7498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Source Sans 3"/>
              </a:rPr>
              <a:t>RQ4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4736592"/>
            <a:ext cx="969264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C2128"/>
                </a:solidFill>
                <a:latin typeface="Source Sans 3"/>
              </a:rPr>
              <a:t>Components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5138927"/>
            <a:ext cx="96926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What do (a) the taxonomy and (b) the enforced loop contribute?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5A6270"/>
                </a:solidFill>
                <a:latin typeface="Source Sans 3"/>
              </a:rPr>
              <a:t>410 bugs  ·  six Defects4J projects  ·  1,640 classifications.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Pipeline Overview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9 / 24</a:t>
            </a:r>
          </a:p>
        </p:txBody>
      </p:sp>
      <p:pic>
        <p:nvPicPr>
          <p:cNvPr id="14" name="Picture 13" descr="methodology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706" y="1280160"/>
            <a:ext cx="9568281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Evidence Collection: the Case File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10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98448"/>
            <a:ext cx="557784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CONTEXT.JSON  ·  ONE PER BUG AND EVIDENCE MODE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664208"/>
            <a:ext cx="5577840" cy="40233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1810512"/>
            <a:ext cx="5212079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Code Pro"/>
              </a:rPr>
              <a:t>{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194560"/>
            <a:ext cx="5212079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Code Pro"/>
              </a:rPr>
              <a:t>  "bug_report":        sanitized,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578608"/>
            <a:ext cx="5212079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Code Pro"/>
              </a:rPr>
              <a:t>  "failing_tests":     name, message,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962656"/>
            <a:ext cx="5212079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Code Pro"/>
              </a:rPr>
              <a:t>                       stack trace,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46704"/>
            <a:ext cx="5212079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Code Pro"/>
              </a:rPr>
              <a:t>  "suspicious_frames": project frames,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730752"/>
            <a:ext cx="5212079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Code Pro"/>
              </a:rPr>
              <a:t>  "code_snippets":     ±12 / ±18 lines,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114800"/>
            <a:ext cx="5212079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Code Pro"/>
              </a:rPr>
              <a:t>  "coverage":          line, branch,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498848"/>
            <a:ext cx="5212079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B7791F"/>
                </a:solidFill>
                <a:latin typeface="Source Code Pro"/>
              </a:rPr>
              <a:t>  "hidden_oracles":    modified classes,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882896"/>
            <a:ext cx="5212079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2F7D4F"/>
                </a:solidFill>
                <a:latin typeface="Source Code Pro"/>
              </a:rPr>
              <a:t>  "fix_diff":          post-fix only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66944"/>
            <a:ext cx="5212079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Code Pro"/>
              </a:rPr>
              <a:t>}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1746504"/>
            <a:ext cx="54864" cy="100584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1691640"/>
            <a:ext cx="491947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Suspicious frames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2103120"/>
            <a:ext cx="4919472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Only frames in the project's own source; JUnit, JDK and build-tool frames are dropped.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3118104"/>
            <a:ext cx="54864" cy="100584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3063240"/>
            <a:ext cx="491947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Sanitized pre-fix evidence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3474720"/>
            <a:ext cx="4919472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Classes touched by the fix and “fixed in” discussion are removed.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4489703"/>
            <a:ext cx="54864" cy="100584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0840" y="4434840"/>
            <a:ext cx="491947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Hidden oracle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4846320"/>
            <a:ext cx="4919472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Modified classes are kept for evaluation, never put in the prompt.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5A6270"/>
                </a:solidFill>
                <a:latin typeface="Source Sans 3"/>
              </a:rPr>
              <a:t>Pre-fix and post-fix runs share one evidence store; only the fix diff differs.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Classification Conditions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11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07008"/>
            <a:ext cx="1109167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5A6270"/>
                </a:solidFill>
                <a:latin typeface="Source Sans 3"/>
              </a:rPr>
              <a:t>A condition = taxonomy (label space) × strategy (reasoning).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1783080"/>
            <a:ext cx="50749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TAXONOMY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194560"/>
            <a:ext cx="155448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STRATEGY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194560"/>
            <a:ext cx="169164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free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194560"/>
            <a:ext cx="169164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closed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194560"/>
            <a:ext cx="169164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open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2651760"/>
            <a:ext cx="6629400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548640" y="2697480"/>
            <a:ext cx="1554480" cy="8412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zero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76272" y="2770632"/>
            <a:ext cx="1545336" cy="6949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76272" y="2770632"/>
            <a:ext cx="1545336" cy="6949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zero-free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2697480"/>
            <a:ext cx="1691640" cy="8412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8A919C"/>
                </a:solidFill>
                <a:latin typeface="Source Sans 3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2697480"/>
            <a:ext cx="1691640" cy="8412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8A919C"/>
                </a:solidFill>
                <a:latin typeface="Source Sans 3"/>
              </a:rPr>
              <a:t>—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3538728"/>
            <a:ext cx="6629400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548640" y="3538728"/>
            <a:ext cx="1554480" cy="8412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few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3538728"/>
            <a:ext cx="1691640" cy="8412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8A919C"/>
                </a:solidFill>
                <a:latin typeface="Source Sans 3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67912" y="3611880"/>
            <a:ext cx="1545336" cy="6949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67912" y="3611880"/>
            <a:ext cx="1545336" cy="6949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few-closed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59552" y="3611880"/>
            <a:ext cx="1545336" cy="6949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59552" y="3611880"/>
            <a:ext cx="1545336" cy="6949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few-open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4379976"/>
            <a:ext cx="6629400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548640" y="4379976"/>
            <a:ext cx="1554480" cy="8412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scientific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4379976"/>
            <a:ext cx="1691640" cy="8412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8A919C"/>
                </a:solidFill>
                <a:latin typeface="Source Sans 3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67912" y="4453128"/>
            <a:ext cx="1545336" cy="6949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7912" y="4453128"/>
            <a:ext cx="1545336" cy="6949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scientific-closed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552" y="4453128"/>
            <a:ext cx="1545336" cy="69494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559552" y="4453128"/>
            <a:ext cx="1545336" cy="6949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scientific-open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ource Sans 3"/>
              </a:rPr>
              <a:t>default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48640" y="5221224"/>
            <a:ext cx="6629400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41" name="TextBox 40"/>
          <p:cNvSpPr txBox="1"/>
          <p:nvPr/>
        </p:nvSpPr>
        <p:spPr>
          <a:xfrm>
            <a:off x="548640" y="5212080"/>
            <a:ext cx="658368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Five of nine combinations are valid: zero uses no taxonomy, and free defines none.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1783080"/>
            <a:ext cx="427939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TAXONOMY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60920" y="2167128"/>
            <a:ext cx="1143000" cy="5120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free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3920" y="2167128"/>
            <a:ext cx="3136392" cy="5120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the model's own words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60920" y="2697480"/>
            <a:ext cx="427939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46" name="TextBox 45"/>
          <p:cNvSpPr txBox="1"/>
          <p:nvPr/>
        </p:nvSpPr>
        <p:spPr>
          <a:xfrm>
            <a:off x="7360920" y="2715768"/>
            <a:ext cx="1143000" cy="5120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closed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2715768"/>
            <a:ext cx="3136392" cy="5120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one of the 7 ODC types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360920" y="3246120"/>
            <a:ext cx="427939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49" name="TextBox 48"/>
          <p:cNvSpPr txBox="1"/>
          <p:nvPr/>
        </p:nvSpPr>
        <p:spPr>
          <a:xfrm>
            <a:off x="7360920" y="3264408"/>
            <a:ext cx="1143000" cy="5120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open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3264408"/>
            <a:ext cx="3136392" cy="5120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7 types + a justified “Other”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360920" y="3794760"/>
            <a:ext cx="427939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52" name="TextBox 51"/>
          <p:cNvSpPr txBox="1"/>
          <p:nvPr/>
        </p:nvSpPr>
        <p:spPr>
          <a:xfrm>
            <a:off x="7360920" y="4041648"/>
            <a:ext cx="427939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STRATEGY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60920" y="4425696"/>
            <a:ext cx="1143000" cy="5120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zero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03920" y="4425696"/>
            <a:ext cx="3136392" cy="5120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one plain prompt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360920" y="4956048"/>
            <a:ext cx="427939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56" name="TextBox 55"/>
          <p:cNvSpPr txBox="1"/>
          <p:nvPr/>
        </p:nvSpPr>
        <p:spPr>
          <a:xfrm>
            <a:off x="7360920" y="4974336"/>
            <a:ext cx="1143000" cy="5120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few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03920" y="4974336"/>
            <a:ext cx="3136392" cy="5120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definitions, tree, 5 examples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7360920" y="5504688"/>
            <a:ext cx="427939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59" name="TextBox 58"/>
          <p:cNvSpPr txBox="1"/>
          <p:nvPr/>
        </p:nvSpPr>
        <p:spPr>
          <a:xfrm>
            <a:off x="7360920" y="5522975"/>
            <a:ext cx="1143000" cy="5120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scientific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5522975"/>
            <a:ext cx="3136392" cy="5120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enforced hypothesis–probe loop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360920" y="6053327"/>
            <a:ext cx="427939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Prompt Design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12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188720"/>
            <a:ext cx="1109167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Capitalised names are prompt components: defined once, or filled in per bug.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719072"/>
            <a:ext cx="5440680" cy="42062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1719072"/>
            <a:ext cx="5074920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ource Code Pro"/>
              </a:rPr>
              <a:t>few-open</a:t>
            </a:r>
            <a:r>
              <a:rPr sz="1500" b="0" i="0">
                <a:solidFill>
                  <a:srgbClr val="FFFFFF"/>
                </a:solidFill>
                <a:latin typeface="Source Code Pro"/>
              </a:rPr>
              <a:t>     one call, one answer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331720"/>
            <a:ext cx="5440680" cy="13716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2331720"/>
            <a:ext cx="54864" cy="137160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386584"/>
            <a:ext cx="10515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2284C"/>
                </a:solidFill>
                <a:latin typeface="Source Code Pro"/>
              </a:rPr>
              <a:t>system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368296"/>
            <a:ext cx="3931920" cy="12801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0" i="0">
                <a:solidFill>
                  <a:srgbClr val="1C2128"/>
                </a:solidFill>
                <a:latin typeface="Source Code Pro"/>
              </a:rPr>
              <a:t>ODC_TAXONOMY  ANTI_BIAS_RULES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0" i="0">
                <a:solidFill>
                  <a:srgbClr val="1C2128"/>
                </a:solidFill>
                <a:latin typeface="Source Code Pro"/>
              </a:rPr>
              <a:t>DECISION_TREE      (7 questions)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0" i="0">
                <a:solidFill>
                  <a:srgbClr val="1C2128"/>
                </a:solidFill>
                <a:latin typeface="Source Code Pro"/>
              </a:rPr>
              <a:t>FEW_SHOT_EXAMPLES  (5 bugs)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0" i="0">
                <a:solidFill>
                  <a:srgbClr val="1C2128"/>
                </a:solidFill>
                <a:latin typeface="Source Code Pro"/>
              </a:rPr>
              <a:t>OUTPUT_SCHEMA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68980" y="3703320"/>
            <a:ext cx="0" cy="246888"/>
          </a:xfrm>
          <a:prstGeom prst="line">
            <a:avLst/>
          </a:prstGeom>
          <a:ln w="15875">
            <a:solidFill>
              <a:srgbClr val="8A919C"/>
            </a:solidFill>
            <a:tailEnd type="triangle" w="med" len="med"/>
          </a:ln>
        </p:spPr>
      </p:cxnSp>
      <p:sp>
        <p:nvSpPr>
          <p:cNvPr id="22" name="Rectangle 21"/>
          <p:cNvSpPr/>
          <p:nvPr/>
        </p:nvSpPr>
        <p:spPr>
          <a:xfrm>
            <a:off x="548640" y="3950208"/>
            <a:ext cx="5440680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950208"/>
            <a:ext cx="54864" cy="566928"/>
          </a:xfrm>
          <a:prstGeom prst="rect">
            <a:avLst/>
          </a:prstGeom>
          <a:solidFill>
            <a:srgbClr val="5A62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4005072"/>
            <a:ext cx="10515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5A6270"/>
                </a:solidFill>
                <a:latin typeface="Source Code Pro"/>
              </a:rPr>
              <a:t>user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3986784"/>
            <a:ext cx="393192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0" i="0">
                <a:solidFill>
                  <a:srgbClr val="1C2128"/>
                </a:solidFill>
                <a:latin typeface="Source Code Pro"/>
              </a:rPr>
              <a:t>BUG_CONTEXT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268980" y="4517136"/>
            <a:ext cx="0" cy="246888"/>
          </a:xfrm>
          <a:prstGeom prst="line">
            <a:avLst/>
          </a:prstGeom>
          <a:ln w="15875">
            <a:solidFill>
              <a:srgbClr val="8A919C"/>
            </a:solidFill>
            <a:tailEnd type="triangle" w="med" len="med"/>
          </a:ln>
        </p:spPr>
      </p:cxnSp>
      <p:sp>
        <p:nvSpPr>
          <p:cNvPr id="27" name="Rectangle 26"/>
          <p:cNvSpPr/>
          <p:nvPr/>
        </p:nvSpPr>
        <p:spPr>
          <a:xfrm>
            <a:off x="548640" y="4764024"/>
            <a:ext cx="5440680" cy="566928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4764024"/>
            <a:ext cx="54864" cy="56692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4818888"/>
            <a:ext cx="10515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F7D4F"/>
                </a:solidFill>
                <a:latin typeface="Source Code Pro"/>
              </a:rPr>
              <a:t>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4800600"/>
            <a:ext cx="393192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0" i="0">
                <a:solidFill>
                  <a:srgbClr val="1C2128"/>
                </a:solidFill>
                <a:latin typeface="Source Code Pro"/>
              </a:rPr>
              <a:t>one JSON classification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99632" y="1719072"/>
            <a:ext cx="5440680" cy="42062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719072"/>
            <a:ext cx="5074920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ource Code Pro"/>
              </a:rPr>
              <a:t>scientific-open</a:t>
            </a:r>
            <a:r>
              <a:rPr sz="1500" b="0" i="0">
                <a:solidFill>
                  <a:srgbClr val="FFFFFF"/>
                </a:solidFill>
                <a:latin typeface="Source Code Pro"/>
              </a:rPr>
              <a:t>     up to 6 turns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99632" y="2331720"/>
            <a:ext cx="5440680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99632" y="2331720"/>
            <a:ext cx="54864" cy="91440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2386584"/>
            <a:ext cx="10515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2284C"/>
                </a:solidFill>
                <a:latin typeface="Source Code Pro"/>
              </a:rPr>
              <a:t>system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2368296"/>
            <a:ext cx="3931920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0" i="0">
                <a:solidFill>
                  <a:srgbClr val="1C2128"/>
                </a:solidFill>
                <a:latin typeface="Source Code Pro"/>
              </a:rPr>
              <a:t>ODC_TAXONOMY  ANTI_BIAS_RULES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0" i="0">
                <a:solidFill>
                  <a:srgbClr val="1C2128"/>
                </a:solidFill>
                <a:latin typeface="Source Code Pro"/>
              </a:rPr>
              <a:t>PROBE_CATALOGUE  TURN_SCHEMA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919972" y="3246120"/>
            <a:ext cx="0" cy="210312"/>
          </a:xfrm>
          <a:prstGeom prst="line">
            <a:avLst/>
          </a:prstGeom>
          <a:ln w="15875">
            <a:solidFill>
              <a:srgbClr val="8A919C"/>
            </a:solidFill>
            <a:tailEnd type="triangle" w="med" len="med"/>
          </a:ln>
        </p:spPr>
      </p:cxnSp>
      <p:sp>
        <p:nvSpPr>
          <p:cNvPr id="38" name="Rectangle 37"/>
          <p:cNvSpPr/>
          <p:nvPr/>
        </p:nvSpPr>
        <p:spPr>
          <a:xfrm>
            <a:off x="6199632" y="3456432"/>
            <a:ext cx="5440680" cy="493776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9632" y="3456432"/>
            <a:ext cx="54864" cy="493776"/>
          </a:xfrm>
          <a:prstGeom prst="rect">
            <a:avLst/>
          </a:prstGeom>
          <a:solidFill>
            <a:srgbClr val="5A62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3511296"/>
            <a:ext cx="10515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5A6270"/>
                </a:solidFill>
                <a:latin typeface="Source Code Pro"/>
              </a:rPr>
              <a:t>user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3493008"/>
            <a:ext cx="3931920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0" i="0">
                <a:solidFill>
                  <a:srgbClr val="1C2128"/>
                </a:solidFill>
                <a:latin typeface="Source Code Pro"/>
              </a:rPr>
              <a:t>BUG_CONTEXT (summary)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89904" y="4114800"/>
            <a:ext cx="5660136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12284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17920" y="4142232"/>
            <a:ext cx="23774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2284C"/>
                </a:solidFill>
                <a:latin typeface="Source Sans 3"/>
              </a:rPr>
              <a:t>EACH TURN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9632" y="4443984"/>
            <a:ext cx="5440680" cy="43891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99632" y="4443984"/>
            <a:ext cx="54864" cy="43891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4498848"/>
            <a:ext cx="10515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2284C"/>
                </a:solidFill>
                <a:latin typeface="Source Code Pro"/>
              </a:rPr>
              <a:t>model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25512" y="4480560"/>
            <a:ext cx="393192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i="0">
                <a:solidFill>
                  <a:srgbClr val="1C2128"/>
                </a:solidFill>
                <a:latin typeface="Source Code Pro"/>
              </a:rPr>
              <a:t>hypothesis · prediction · probe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99632" y="4919472"/>
            <a:ext cx="5440680" cy="438912"/>
          </a:xfrm>
          <a:prstGeom prst="rect">
            <a:avLst/>
          </a:prstGeom>
          <a:solidFill>
            <a:srgbClr val="FBF2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99632" y="4919472"/>
            <a:ext cx="54864" cy="438912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4974336"/>
            <a:ext cx="10515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7791F"/>
                </a:solidFill>
                <a:latin typeface="Source Code Pro"/>
              </a:rPr>
              <a:t>user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25512" y="4956048"/>
            <a:ext cx="393192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i="0">
                <a:solidFill>
                  <a:srgbClr val="1C2128"/>
                </a:solidFill>
                <a:latin typeface="Source Code Pro"/>
              </a:rPr>
              <a:t>PROBE_RESULT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658600" y="4114800"/>
            <a:ext cx="502920" cy="12984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Sans 3"/>
              </a:rPr>
              <a:t>×6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919972" y="5413248"/>
            <a:ext cx="0" cy="210312"/>
          </a:xfrm>
          <a:prstGeom prst="line">
            <a:avLst/>
          </a:prstGeom>
          <a:ln w="15875">
            <a:solidFill>
              <a:srgbClr val="8A919C"/>
            </a:solidFill>
            <a:tailEnd type="triangle" w="med" len="med"/>
          </a:ln>
        </p:spPr>
      </p:cxnSp>
      <p:sp>
        <p:nvSpPr>
          <p:cNvPr id="54" name="Rectangle 53"/>
          <p:cNvSpPr/>
          <p:nvPr/>
        </p:nvSpPr>
        <p:spPr>
          <a:xfrm>
            <a:off x="6199632" y="5623560"/>
            <a:ext cx="5440680" cy="50292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199632" y="5623560"/>
            <a:ext cx="54864" cy="5029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0" y="5678424"/>
            <a:ext cx="10515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F7D4F"/>
                </a:solidFill>
                <a:latin typeface="Source Code Pro"/>
              </a:rPr>
              <a:t>model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25512" y="5660136"/>
            <a:ext cx="393192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0" i="0">
                <a:solidFill>
                  <a:srgbClr val="1C2128"/>
                </a:solidFill>
                <a:latin typeface="Source Code Pro"/>
              </a:rPr>
              <a:t>conclude → ODC defect type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5623560"/>
            <a:ext cx="544068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1">
                <a:solidFill>
                  <a:srgbClr val="5A6270"/>
                </a:solidFill>
                <a:latin typeface="Source Sans 3"/>
              </a:rPr>
              <a:t>The taxonomy and the evidence are identical in both.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The Enforced Scientific Reasoning Loop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13 /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463040"/>
            <a:ext cx="2331720" cy="1005840"/>
          </a:xfrm>
          <a:prstGeom prst="rect">
            <a:avLst/>
          </a:prstGeom>
          <a:solidFill>
            <a:srgbClr val="FFFFFF"/>
          </a:solidFill>
          <a:ln w="15875">
            <a:solidFill>
              <a:srgbClr val="12284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463040"/>
            <a:ext cx="2331720" cy="5486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1572768"/>
            <a:ext cx="233172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Hypothesis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993392"/>
            <a:ext cx="233172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commit to a type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35224" y="1965960"/>
            <a:ext cx="475488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3465576" y="1463040"/>
            <a:ext cx="2331720" cy="1005840"/>
          </a:xfrm>
          <a:prstGeom prst="rect">
            <a:avLst/>
          </a:prstGeom>
          <a:solidFill>
            <a:srgbClr val="FFFFFF"/>
          </a:solidFill>
          <a:ln w="15875">
            <a:solidFill>
              <a:srgbClr val="12284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65576" y="1463040"/>
            <a:ext cx="2331720" cy="5486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65576" y="1572768"/>
            <a:ext cx="233172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Prediction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5576" y="1993392"/>
            <a:ext cx="233172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evidence that must exist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852159" y="1965960"/>
            <a:ext cx="475489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6382512" y="1463040"/>
            <a:ext cx="2331720" cy="1005840"/>
          </a:xfrm>
          <a:prstGeom prst="rect">
            <a:avLst/>
          </a:prstGeom>
          <a:solidFill>
            <a:srgbClr val="FFFFFF"/>
          </a:solidFill>
          <a:ln w="15875">
            <a:solidFill>
              <a:srgbClr val="12284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82512" y="1463040"/>
            <a:ext cx="2331720" cy="5486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2512" y="1572768"/>
            <a:ext cx="233172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Probe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1993392"/>
            <a:ext cx="233172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request that evidence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769096" y="1965960"/>
            <a:ext cx="475488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sp>
        <p:nvSpPr>
          <p:cNvPr id="29" name="Rectangle 28"/>
          <p:cNvSpPr/>
          <p:nvPr/>
        </p:nvSpPr>
        <p:spPr>
          <a:xfrm>
            <a:off x="9299448" y="1463040"/>
            <a:ext cx="2331720" cy="1005840"/>
          </a:xfrm>
          <a:prstGeom prst="rect">
            <a:avLst/>
          </a:prstGeom>
          <a:solidFill>
            <a:srgbClr val="FFFFFF"/>
          </a:solidFill>
          <a:ln w="15875">
            <a:solidFill>
              <a:srgbClr val="12284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99448" y="1463040"/>
            <a:ext cx="2331720" cy="5486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99448" y="1572768"/>
            <a:ext cx="233172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Observation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1993392"/>
            <a:ext cx="233172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read what came back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465308" y="2468880"/>
            <a:ext cx="0" cy="411480"/>
          </a:xfrm>
          <a:prstGeom prst="line">
            <a:avLst/>
          </a:prstGeom>
          <a:ln w="19050">
            <a:solidFill>
              <a:srgbClr val="12284C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1714500" y="2880360"/>
            <a:ext cx="8750808" cy="0"/>
          </a:xfrm>
          <a:prstGeom prst="line">
            <a:avLst/>
          </a:prstGeom>
          <a:ln w="19050">
            <a:solidFill>
              <a:srgbClr val="12284C"/>
            </a:solidFill>
            <a:prstDash val="dash"/>
          </a:ln>
        </p:spPr>
      </p:cxnSp>
      <p:cxnSp>
        <p:nvCxnSpPr>
          <p:cNvPr id="35" name="Connector 34"/>
          <p:cNvCxnSpPr/>
          <p:nvPr/>
        </p:nvCxnSpPr>
        <p:spPr>
          <a:xfrm flipV="1">
            <a:off x="1714500" y="2505456"/>
            <a:ext cx="0" cy="374904"/>
          </a:xfrm>
          <a:prstGeom prst="line">
            <a:avLst/>
          </a:prstGeom>
          <a:ln w="19050">
            <a:solidFill>
              <a:srgbClr val="12284C"/>
            </a:solidFill>
            <a:prstDash val="dash"/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2926080" y="2898648"/>
            <a:ext cx="63093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5A6270"/>
                </a:solidFill>
                <a:latin typeface="Source Sans 3"/>
              </a:rPr>
              <a:t>next turn while the evidence is insufficient  ·  at most 6 turns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308592" y="3355848"/>
            <a:ext cx="2331720" cy="50292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08592" y="3355848"/>
            <a:ext cx="233172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2F7D4F"/>
                </a:solidFill>
                <a:latin typeface="Source Sans 3"/>
              </a:rPr>
              <a:t>Conclude: ODC label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3355848"/>
            <a:ext cx="850392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Adapted from AutoSD [17, 18]: from locating a fault to naming its type.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393192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FIVE PROBES, EXECUTED AGAINST THE EVIDENCE STORE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315968"/>
            <a:ext cx="3749039" cy="5120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4315968"/>
            <a:ext cx="2423160" cy="5120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Code Pro"/>
              </a:rPr>
              <a:t>list_evidence()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54680" y="4315968"/>
            <a:ext cx="960120" cy="5120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what evidence exists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80559" y="4315968"/>
            <a:ext cx="3749039" cy="5120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63440" y="4315968"/>
            <a:ext cx="2423160" cy="5120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Code Pro"/>
              </a:rPr>
              <a:t>full_stack_trace(test)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6600" y="4315968"/>
            <a:ext cx="960120" cy="5120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trace and message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4937759"/>
            <a:ext cx="3749039" cy="5120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4937759"/>
            <a:ext cx="2423160" cy="5120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Code Pro"/>
              </a:rPr>
              <a:t>snippet(class)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54680" y="4937759"/>
            <a:ext cx="960120" cy="5120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source snippets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80559" y="4937759"/>
            <a:ext cx="3749039" cy="5120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63440" y="4937759"/>
            <a:ext cx="2423160" cy="5120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Code Pro"/>
              </a:rPr>
              <a:t>coverage(class)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86600" y="4937759"/>
            <a:ext cx="960120" cy="5120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line and branch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5559552"/>
            <a:ext cx="3749039" cy="5120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5559552"/>
            <a:ext cx="2423160" cy="5120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Code Pro"/>
              </a:rPr>
              <a:t>bug_report()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54680" y="5559552"/>
            <a:ext cx="960120" cy="5120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the full report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4480560"/>
            <a:ext cx="3136392" cy="10972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1">
                <a:solidFill>
                  <a:srgbClr val="1C2128"/>
                </a:solidFill>
                <a:latin typeface="Source Sans 3"/>
              </a:rPr>
              <a:t>The prediction is fixed before the evidence arrives, so a first guess cannot be rationalised.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Evaluation Framework: Four Tiers of Agreement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14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80160"/>
            <a:ext cx="630936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TIERS 1–3 ARE NESTED: STRICT INSIDE FORGIVING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691640"/>
            <a:ext cx="6309360" cy="777240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691640"/>
            <a:ext cx="603504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5A6270"/>
                </a:solidFill>
                <a:latin typeface="Source Sans 3"/>
              </a:rPr>
              <a:t>Tier 3   Family 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2075688"/>
            <a:ext cx="603504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both types in the same family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2560320"/>
            <a:ext cx="4846320" cy="777240"/>
          </a:xfrm>
          <a:prstGeom prst="rect">
            <a:avLst/>
          </a:prstGeom>
          <a:solidFill>
            <a:srgbClr val="C9D3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4752" y="2560320"/>
            <a:ext cx="45720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Tier 2   Top-2 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2944368"/>
            <a:ext cx="45720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either label is the other's alternative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3429000"/>
            <a:ext cx="3383280" cy="777240"/>
          </a:xfrm>
          <a:prstGeom prst="rect">
            <a:avLst/>
          </a:prstGeom>
          <a:solidFill>
            <a:srgbClr val="2E4A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76272" y="3429000"/>
            <a:ext cx="310896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Tier 1   Strict match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6272" y="3813048"/>
            <a:ext cx="310896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Source Sans 3"/>
              </a:rPr>
              <a:t>the same ODC type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343400"/>
            <a:ext cx="6309360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Three types cover 97.8% of labels, so shuffled labels still reach &gt;92% on Tiers 2–3: we use them to grade disagreements, not as scores.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1280160"/>
            <a:ext cx="44622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TIER 4  ·  COHEN'S KAPPA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1600200"/>
            <a:ext cx="4462272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1">
                <a:solidFill>
                  <a:srgbClr val="1C2128"/>
                </a:solidFill>
                <a:latin typeface="Source Sans 3"/>
              </a:rPr>
              <a:t>κ</a:t>
            </a:r>
            <a:r>
              <a:rPr sz="2700" b="0" i="0">
                <a:solidFill>
                  <a:srgbClr val="1C2128"/>
                </a:solidFill>
                <a:latin typeface="Source Sans 3"/>
              </a:rPr>
              <a:t>  =  (</a:t>
            </a:r>
            <a:r>
              <a:rPr sz="2700" b="0" i="1">
                <a:solidFill>
                  <a:srgbClr val="1C2128"/>
                </a:solidFill>
                <a:latin typeface="Source Sans 3"/>
              </a:rPr>
              <a:t>p</a:t>
            </a:r>
            <a:r>
              <a:rPr sz="2700" b="0" i="0" baseline="-25000">
                <a:solidFill>
                  <a:srgbClr val="1C2128"/>
                </a:solidFill>
                <a:latin typeface="Source Sans 3"/>
              </a:rPr>
              <a:t>o</a:t>
            </a:r>
            <a:r>
              <a:rPr sz="2700" b="0" i="0">
                <a:solidFill>
                  <a:srgbClr val="1C2128"/>
                </a:solidFill>
                <a:latin typeface="Source Sans 3"/>
              </a:rPr>
              <a:t> − </a:t>
            </a:r>
            <a:r>
              <a:rPr sz="2700" b="0" i="1">
                <a:solidFill>
                  <a:srgbClr val="1C2128"/>
                </a:solidFill>
                <a:latin typeface="Source Sans 3"/>
              </a:rPr>
              <a:t>p</a:t>
            </a:r>
            <a:r>
              <a:rPr sz="2700" b="0" i="0" baseline="-25000">
                <a:solidFill>
                  <a:srgbClr val="1C2128"/>
                </a:solidFill>
                <a:latin typeface="Source Sans 3"/>
              </a:rPr>
              <a:t>e</a:t>
            </a:r>
            <a:r>
              <a:rPr sz="2700" b="0" i="0">
                <a:solidFill>
                  <a:srgbClr val="1C2128"/>
                </a:solidFill>
                <a:latin typeface="Source Sans 3"/>
              </a:rPr>
              <a:t>)  /  (1 − </a:t>
            </a:r>
            <a:r>
              <a:rPr sz="2700" b="0" i="1">
                <a:solidFill>
                  <a:srgbClr val="1C2128"/>
                </a:solidFill>
                <a:latin typeface="Source Sans 3"/>
              </a:rPr>
              <a:t>p</a:t>
            </a:r>
            <a:r>
              <a:rPr sz="2700" b="0" i="0" baseline="-25000">
                <a:solidFill>
                  <a:srgbClr val="1C2128"/>
                </a:solidFill>
                <a:latin typeface="Source Sans 3"/>
              </a:rPr>
              <a:t>e</a:t>
            </a:r>
            <a:r>
              <a:rPr sz="2700" b="0" i="0">
                <a:solidFill>
                  <a:srgbClr val="1C2128"/>
                </a:solidFill>
                <a:latin typeface="Source Sans 3"/>
              </a:rPr>
              <a:t>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2286000"/>
            <a:ext cx="4462272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700" b="0" i="1">
                <a:solidFill>
                  <a:srgbClr val="1C2128"/>
                </a:solidFill>
                <a:latin typeface="Source Sans 3"/>
              </a:rPr>
              <a:t>p</a:t>
            </a:r>
            <a:r>
              <a:rPr sz="1700" b="0" i="0" baseline="-25000">
                <a:solidFill>
                  <a:srgbClr val="1C2128"/>
                </a:solidFill>
                <a:latin typeface="Source Sans 3"/>
              </a:rPr>
              <a:t>o</a:t>
            </a:r>
            <a:r>
              <a:rPr sz="1700" b="0" i="0">
                <a:solidFill>
                  <a:srgbClr val="5A6270"/>
                </a:solidFill>
                <a:latin typeface="Source Sans 3"/>
              </a:rPr>
              <a:t> is observed agreement, </a:t>
            </a:r>
            <a:r>
              <a:rPr sz="1700" b="0" i="1">
                <a:solidFill>
                  <a:srgbClr val="1C2128"/>
                </a:solidFill>
                <a:latin typeface="Source Sans 3"/>
              </a:rPr>
              <a:t>p</a:t>
            </a:r>
            <a:r>
              <a:rPr sz="1700" b="0" i="0" baseline="-25000">
                <a:solidFill>
                  <a:srgbClr val="1C2128"/>
                </a:solidFill>
                <a:latin typeface="Source Sans 3"/>
              </a:rPr>
              <a:t>e</a:t>
            </a:r>
            <a:r>
              <a:rPr sz="1700" b="0" i="0">
                <a:solidFill>
                  <a:srgbClr val="5A6270"/>
                </a:solidFill>
                <a:latin typeface="Source Sans 3"/>
              </a:rPr>
              <a:t> the agreement expected by chance.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78040" y="4114800"/>
            <a:ext cx="892454" cy="310896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8040" y="4443983"/>
            <a:ext cx="892454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A6270"/>
                </a:solidFill>
                <a:latin typeface="Source Sans 3"/>
              </a:rPr>
              <a:t>slight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70494" y="4114800"/>
            <a:ext cx="892454" cy="310896"/>
          </a:xfrm>
          <a:prstGeom prst="rect">
            <a:avLst/>
          </a:prstGeom>
          <a:solidFill>
            <a:srgbClr val="D3D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0494" y="4443983"/>
            <a:ext cx="892454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A6270"/>
                </a:solidFill>
                <a:latin typeface="Source Sans 3"/>
              </a:rPr>
              <a:t>fair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62948" y="4114800"/>
            <a:ext cx="892454" cy="310896"/>
          </a:xfrm>
          <a:prstGeom prst="rect">
            <a:avLst/>
          </a:prstGeom>
          <a:solidFill>
            <a:srgbClr val="9FB0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2948" y="4443983"/>
            <a:ext cx="892454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A6270"/>
                </a:solidFill>
                <a:latin typeface="Source Sans 3"/>
              </a:rPr>
              <a:t>moderate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55403" y="4114800"/>
            <a:ext cx="892454" cy="31089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55403" y="4443983"/>
            <a:ext cx="892454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A6270"/>
                </a:solidFill>
                <a:latin typeface="Source Sans 3"/>
              </a:rPr>
              <a:t>substantial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747857" y="4114800"/>
            <a:ext cx="892454" cy="310896"/>
          </a:xfrm>
          <a:prstGeom prst="rect">
            <a:avLst/>
          </a:prstGeom>
          <a:solidFill>
            <a:srgbClr val="2E4A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747857" y="4443983"/>
            <a:ext cx="892454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A6270"/>
                </a:solidFill>
                <a:latin typeface="Source Sans 3"/>
              </a:rPr>
              <a:t>almost perfect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17771" y="3968496"/>
            <a:ext cx="27432" cy="603504"/>
          </a:xfrm>
          <a:prstGeom prst="rect">
            <a:avLst/>
          </a:prstGeom>
          <a:solidFill>
            <a:srgbClr val="1C212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8527" y="3602736"/>
            <a:ext cx="164592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κ = 0.505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78040" y="4754880"/>
            <a:ext cx="446227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Landis–Koch bands [27]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Why the Post-Fix Label Is a Valid Reference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15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80160"/>
            <a:ext cx="66751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HUMAN AGREEMENT ON ODC-STYLE CLASSIFICATION RISES WITH EVIDENCE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51560" y="2194560"/>
            <a:ext cx="0" cy="2286000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1051560" y="4480560"/>
            <a:ext cx="4846319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548640" y="4315968"/>
            <a:ext cx="43891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0.0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51560" y="3337560"/>
            <a:ext cx="4846319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48640" y="3172968"/>
            <a:ext cx="43891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0.5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51560" y="2194560"/>
            <a:ext cx="4846319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548640" y="2029967"/>
            <a:ext cx="43891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1.0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1810512"/>
            <a:ext cx="128016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1">
                <a:solidFill>
                  <a:srgbClr val="8A919C"/>
                </a:solidFill>
                <a:latin typeface="Source Sans 3"/>
              </a:rPr>
              <a:t>κ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1536192" y="2880360"/>
            <a:ext cx="2035454" cy="1234440"/>
          </a:xfrm>
          <a:prstGeom prst="line">
            <a:avLst/>
          </a:prstGeom>
          <a:ln w="25400">
            <a:solidFill>
              <a:srgbClr val="12284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3571646" y="2354579"/>
            <a:ext cx="1986991" cy="525781"/>
          </a:xfrm>
          <a:prstGeom prst="line">
            <a:avLst/>
          </a:prstGeom>
          <a:ln w="25400">
            <a:solidFill>
              <a:srgbClr val="12284C"/>
            </a:solidFill>
          </a:ln>
        </p:spPr>
      </p:cxnSp>
      <p:sp>
        <p:nvSpPr>
          <p:cNvPr id="25" name="Oval 24"/>
          <p:cNvSpPr/>
          <p:nvPr/>
        </p:nvSpPr>
        <p:spPr>
          <a:xfrm>
            <a:off x="1435607" y="4014215"/>
            <a:ext cx="201168" cy="201168"/>
          </a:xfrm>
          <a:prstGeom prst="ellipse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1" y="3584448"/>
            <a:ext cx="164592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A23B3B"/>
                </a:solidFill>
                <a:latin typeface="Source Sans 3"/>
              </a:rPr>
              <a:t>0.16</a:t>
            </a:r>
          </a:p>
        </p:txBody>
      </p:sp>
      <p:sp>
        <p:nvSpPr>
          <p:cNvPr id="27" name="Oval 26"/>
          <p:cNvSpPr/>
          <p:nvPr/>
        </p:nvSpPr>
        <p:spPr>
          <a:xfrm>
            <a:off x="1051560" y="4672583"/>
            <a:ext cx="164592" cy="164592"/>
          </a:xfrm>
          <a:prstGeom prst="ellipse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25880" y="4590288"/>
            <a:ext cx="49377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fault descriptions only [22]</a:t>
            </a:r>
          </a:p>
        </p:txBody>
      </p:sp>
      <p:sp>
        <p:nvSpPr>
          <p:cNvPr id="29" name="Oval 28"/>
          <p:cNvSpPr/>
          <p:nvPr/>
        </p:nvSpPr>
        <p:spPr>
          <a:xfrm>
            <a:off x="3471062" y="2779776"/>
            <a:ext cx="201168" cy="201168"/>
          </a:xfrm>
          <a:prstGeom prst="ellipse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8686" y="2350008"/>
            <a:ext cx="164592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B7791F"/>
                </a:solidFill>
                <a:latin typeface="Source Sans 3"/>
              </a:rPr>
              <a:t>0.70</a:t>
            </a:r>
          </a:p>
        </p:txBody>
      </p:sp>
      <p:sp>
        <p:nvSpPr>
          <p:cNvPr id="31" name="Oval 30"/>
          <p:cNvSpPr/>
          <p:nvPr/>
        </p:nvSpPr>
        <p:spPr>
          <a:xfrm>
            <a:off x="1051560" y="5020055"/>
            <a:ext cx="164592" cy="164592"/>
          </a:xfrm>
          <a:prstGeom prst="ellipse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25880" y="4937759"/>
            <a:ext cx="49377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full repository context [25]</a:t>
            </a:r>
          </a:p>
        </p:txBody>
      </p:sp>
      <p:sp>
        <p:nvSpPr>
          <p:cNvPr id="33" name="Oval 32"/>
          <p:cNvSpPr/>
          <p:nvPr/>
        </p:nvSpPr>
        <p:spPr>
          <a:xfrm>
            <a:off x="5458053" y="2253996"/>
            <a:ext cx="201168" cy="201168"/>
          </a:xfrm>
          <a:prstGeom prst="ellipse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35677" y="1824227"/>
            <a:ext cx="164592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F7D4F"/>
                </a:solidFill>
                <a:latin typeface="Source Sans 3"/>
              </a:rPr>
              <a:t>0.93</a:t>
            </a:r>
          </a:p>
        </p:txBody>
      </p:sp>
      <p:sp>
        <p:nvSpPr>
          <p:cNvPr id="35" name="Oval 34"/>
          <p:cNvSpPr/>
          <p:nvPr/>
        </p:nvSpPr>
        <p:spPr>
          <a:xfrm>
            <a:off x="1051560" y="5367527"/>
            <a:ext cx="164592" cy="164592"/>
          </a:xfrm>
          <a:prstGeom prst="ellipse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25880" y="5285231"/>
            <a:ext cx="49377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full code and change [26]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1280160"/>
            <a:ext cx="46908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OUR DATA BEHAVE THE SAME WAY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1920240"/>
            <a:ext cx="469087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2284C"/>
                </a:solidFill>
                <a:latin typeface="Source Sans 3"/>
              </a:rPr>
              <a:t>68.0% → 76.3%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2423160"/>
            <a:ext cx="469087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strategy agreement, without → with the fix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949440" y="2880360"/>
            <a:ext cx="46908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41" name="TextBox 40"/>
          <p:cNvSpPr txBox="1"/>
          <p:nvPr/>
        </p:nvSpPr>
        <p:spPr>
          <a:xfrm>
            <a:off x="6949440" y="3291840"/>
            <a:ext cx="469087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2284C"/>
                </a:solidFill>
                <a:latin typeface="Source Sans 3"/>
              </a:rPr>
              <a:t>6 of 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3794760"/>
            <a:ext cx="469087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projects agree more once the fix is visible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949440" y="4251960"/>
            <a:ext cx="46908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44" name="Rectangle 43"/>
          <p:cNvSpPr/>
          <p:nvPr/>
        </p:nvSpPr>
        <p:spPr>
          <a:xfrm>
            <a:off x="548640" y="5669280"/>
            <a:ext cx="64008" cy="54864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669280"/>
            <a:ext cx="10881360" cy="5486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The run that sees the fix is better informed — but two labels can agree and both be wrong.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Experimental Setup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16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80160"/>
            <a:ext cx="6858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410 BUGS  ·  ONE SQUARE PER BUG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8016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46304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64592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2880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01168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9456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7744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6032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2608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0896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9184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7472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84048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2336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0624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8912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75488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93776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12064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0352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852160" y="16916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3152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9728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28016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46304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64592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82880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01168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19456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37744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56032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4320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2608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10896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9184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47472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65760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84048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2336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20624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38912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57200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5488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93776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12064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30352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48640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66928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852160" y="187452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4864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3152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1440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9728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28016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6304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64592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82880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01168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19456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37744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56032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74320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92608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10896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29184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47472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5760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84048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02336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20624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38912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57200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75488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93776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12064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30352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48640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66928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852160" y="205740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4864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3152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1440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9728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28016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46304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64592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82880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01168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19456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37744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56032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74320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92608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10896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29184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47472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65760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84048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02336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20624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38912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57200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75488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93776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512064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530352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548640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66928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852160" y="224028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4864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3152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1440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09728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28016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46304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64592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2880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01168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19456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37744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256032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274320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292608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10896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29184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47472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65760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84048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02336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20624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38912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57200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75488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93776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512064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530352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548640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566928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852160" y="242316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548640" y="26060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31520" y="26060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914400" y="2606040"/>
            <a:ext cx="141732" cy="1417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09728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28016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46304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64592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182880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01168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19456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37744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256032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274320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2608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310896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29184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47472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365760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84048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02336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20624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38912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57200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75488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93776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12064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30352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48640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66928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5852160" y="260604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54864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73152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91440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09728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128016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146304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164592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82880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201168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219456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37744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56032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274320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292608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10896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29184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347472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65760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4048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02336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20624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38912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457200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475488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493776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512064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530352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548640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566928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5852160" y="278892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54864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73152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91440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09728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128016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146304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164592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182880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201168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219456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237744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256032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274320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292608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310896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329184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347472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365760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384048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402336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420624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438912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457200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475488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493776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512064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530352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548640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566928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5852160" y="297180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548640" y="315468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731520" y="315468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914400" y="315468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097280" y="315468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1280160" y="315468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1463040" y="315468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1645920" y="315468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1828800" y="315468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2011680" y="315468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2194560" y="315468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2377440" y="315468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2560320" y="315468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2743200" y="315468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2926080" y="315468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3108960" y="315468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3291840" y="315468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3474720" y="315468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3657600" y="315468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3840480" y="3154680"/>
            <a:ext cx="141732" cy="141732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4023360" y="315468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4206240" y="315468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4389120" y="315468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4572000" y="315468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4754880" y="315468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4937760" y="315468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5120640" y="315468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5303520" y="315468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5486400" y="315468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5669280" y="315468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5852160" y="315468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54864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73152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91440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09728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128016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146304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164592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182880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201168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219456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237744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256032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274320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292608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310896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329184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347472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365760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384048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402336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420624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438912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457200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475488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493776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512064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530352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548640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566928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5852160" y="333756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548640" y="352044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31520" y="352044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914400" y="352044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1097280" y="352044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1280160" y="352044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1463040" y="352044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1645920" y="352044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1828800" y="352044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2011680" y="352044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2194560" y="352044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2377440" y="352044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2560320" y="352044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2743200" y="352044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2926080" y="352044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3108960" y="352044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3291840" y="352044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3474720" y="352044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3657600" y="352044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3840480" y="352044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4023360" y="3520440"/>
            <a:ext cx="141732" cy="14173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4206240" y="352044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4389120" y="352044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572000" y="352044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4754880" y="352044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4937760" y="352044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5120640" y="352044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5303520" y="352044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5486400" y="352044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5669280" y="352044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5852160" y="352044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54864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73152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91440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09728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28016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46304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4592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82880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201168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219456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237744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256032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274320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292608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10896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329184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347472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365760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384048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402336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420624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438912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457200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475488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493776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512064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530352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5486400" y="3703320"/>
            <a:ext cx="141732" cy="141732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5669280" y="370332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5852160" y="370332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54864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73152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91440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109728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128016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146304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164592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182880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01168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19456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37744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56032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4320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92608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310896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329184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347472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365760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384048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402336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420624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438912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457200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4754880" y="3886200"/>
            <a:ext cx="141732" cy="141732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4937760" y="388620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5120640" y="388620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5303520" y="388620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5486400" y="388620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5669280" y="388620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5852160" y="388620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548640" y="406908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731520" y="406908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914400" y="406908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1097280" y="406908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1280160" y="406908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1463040" y="406908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1645920" y="406908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1828800" y="406908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2011680" y="406908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2194560" y="406908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2377440" y="406908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2560320" y="406908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2743200" y="406908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2926080" y="406908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3108960" y="406908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3291840" y="406908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3474720" y="406908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3657600" y="406908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3840480" y="406908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4023360" y="4069080"/>
            <a:ext cx="141732" cy="141732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548640" y="4507992"/>
            <a:ext cx="201168" cy="20116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6" name="TextBox 425"/>
          <p:cNvSpPr txBox="1"/>
          <p:nvPr/>
        </p:nvSpPr>
        <p:spPr>
          <a:xfrm>
            <a:off x="841247" y="4434840"/>
            <a:ext cx="17373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Closure  153</a:t>
            </a:r>
          </a:p>
        </p:txBody>
      </p:sp>
      <p:sp>
        <p:nvSpPr>
          <p:cNvPr id="427" name="Rectangle 426"/>
          <p:cNvSpPr/>
          <p:nvPr/>
        </p:nvSpPr>
        <p:spPr>
          <a:xfrm>
            <a:off x="2651760" y="4507992"/>
            <a:ext cx="201168" cy="201168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8" name="TextBox 427"/>
          <p:cNvSpPr txBox="1"/>
          <p:nvPr/>
        </p:nvSpPr>
        <p:spPr>
          <a:xfrm>
            <a:off x="2944368" y="4434840"/>
            <a:ext cx="17373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Math  106</a:t>
            </a:r>
          </a:p>
        </p:txBody>
      </p:sp>
      <p:sp>
        <p:nvSpPr>
          <p:cNvPr id="429" name="Rectangle 428"/>
          <p:cNvSpPr/>
          <p:nvPr/>
        </p:nvSpPr>
        <p:spPr>
          <a:xfrm>
            <a:off x="4754879" y="4507992"/>
            <a:ext cx="201168" cy="20116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0" name="TextBox 429"/>
          <p:cNvSpPr txBox="1"/>
          <p:nvPr/>
        </p:nvSpPr>
        <p:spPr>
          <a:xfrm>
            <a:off x="5047488" y="4434840"/>
            <a:ext cx="17373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Lang  61</a:t>
            </a:r>
          </a:p>
        </p:txBody>
      </p:sp>
      <p:sp>
        <p:nvSpPr>
          <p:cNvPr id="431" name="Rectangle 430"/>
          <p:cNvSpPr/>
          <p:nvPr/>
        </p:nvSpPr>
        <p:spPr>
          <a:xfrm>
            <a:off x="548640" y="4919472"/>
            <a:ext cx="201168" cy="201168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2" name="TextBox 431"/>
          <p:cNvSpPr txBox="1"/>
          <p:nvPr/>
        </p:nvSpPr>
        <p:spPr>
          <a:xfrm>
            <a:off x="841247" y="4846320"/>
            <a:ext cx="17373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Mockito  38</a:t>
            </a:r>
          </a:p>
        </p:txBody>
      </p:sp>
      <p:sp>
        <p:nvSpPr>
          <p:cNvPr id="433" name="Rectangle 432"/>
          <p:cNvSpPr/>
          <p:nvPr/>
        </p:nvSpPr>
        <p:spPr>
          <a:xfrm>
            <a:off x="2651760" y="4919472"/>
            <a:ext cx="201168" cy="201168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4" name="TextBox 433"/>
          <p:cNvSpPr txBox="1"/>
          <p:nvPr/>
        </p:nvSpPr>
        <p:spPr>
          <a:xfrm>
            <a:off x="2944368" y="4846320"/>
            <a:ext cx="17373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Chart  26</a:t>
            </a:r>
          </a:p>
        </p:txBody>
      </p:sp>
      <p:sp>
        <p:nvSpPr>
          <p:cNvPr id="435" name="Rectangle 434"/>
          <p:cNvSpPr/>
          <p:nvPr/>
        </p:nvSpPr>
        <p:spPr>
          <a:xfrm>
            <a:off x="4754879" y="4919472"/>
            <a:ext cx="201168" cy="201168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6" name="TextBox 435"/>
          <p:cNvSpPr txBox="1"/>
          <p:nvPr/>
        </p:nvSpPr>
        <p:spPr>
          <a:xfrm>
            <a:off x="5047488" y="4846320"/>
            <a:ext cx="17373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Time  26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7223760" y="1280160"/>
            <a:ext cx="441655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MODELS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7223760" y="1645920"/>
            <a:ext cx="3291840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2284C"/>
                </a:solidFill>
                <a:latin typeface="Source Code Pro"/>
              </a:rPr>
              <a:t>gemini-3.1-flash-lite-preview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0515600" y="1645920"/>
            <a:ext cx="1124712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410 bugs</a:t>
            </a:r>
          </a:p>
        </p:txBody>
      </p:sp>
      <p:cxnSp>
        <p:nvCxnSpPr>
          <p:cNvPr id="440" name="Connector 439"/>
          <p:cNvCxnSpPr/>
          <p:nvPr/>
        </p:nvCxnSpPr>
        <p:spPr>
          <a:xfrm>
            <a:off x="7223760" y="2103120"/>
            <a:ext cx="441655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441" name="TextBox 440"/>
          <p:cNvSpPr txBox="1"/>
          <p:nvPr/>
        </p:nvSpPr>
        <p:spPr>
          <a:xfrm>
            <a:off x="7223760" y="2121408"/>
            <a:ext cx="3291840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2284C"/>
                </a:solidFill>
                <a:latin typeface="Source Code Pro"/>
              </a:rPr>
              <a:t>gpt-5-mini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10515600" y="2121408"/>
            <a:ext cx="1124712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13 bugs</a:t>
            </a:r>
          </a:p>
        </p:txBody>
      </p:sp>
      <p:cxnSp>
        <p:nvCxnSpPr>
          <p:cNvPr id="443" name="Connector 442"/>
          <p:cNvCxnSpPr/>
          <p:nvPr/>
        </p:nvCxnSpPr>
        <p:spPr>
          <a:xfrm>
            <a:off x="7223760" y="2578608"/>
            <a:ext cx="441655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444" name="TextBox 443"/>
          <p:cNvSpPr txBox="1"/>
          <p:nvPr/>
        </p:nvSpPr>
        <p:spPr>
          <a:xfrm>
            <a:off x="7223760" y="2880360"/>
            <a:ext cx="441655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EVERY BUG, FOUR TIMES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7223760" y="3291840"/>
            <a:ext cx="441655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284C"/>
                </a:solidFill>
                <a:latin typeface="Source Sans 3"/>
              </a:rPr>
              <a:t>2 conditions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7223760" y="3675888"/>
            <a:ext cx="441655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scientific-open and few-open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7223760" y="4133088"/>
            <a:ext cx="441655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284C"/>
                </a:solidFill>
                <a:latin typeface="Source Sans 3"/>
              </a:rPr>
              <a:t>2 evidence modes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7223760" y="4517136"/>
            <a:ext cx="441655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pre-fix and post-fix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7223760" y="4974336"/>
            <a:ext cx="441655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284C"/>
                </a:solidFill>
                <a:latin typeface="Source Sans 3"/>
              </a:rPr>
              <a:t>1,640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7223760" y="5358384"/>
            <a:ext cx="441655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classifications, plus a zero-free baseline</a:t>
            </a:r>
          </a:p>
        </p:txBody>
      </p:sp>
      <p:sp>
        <p:nvSpPr>
          <p:cNvPr id="451" name="Rectangle 450"/>
          <p:cNvSpPr/>
          <p:nvPr/>
        </p:nvSpPr>
        <p:spPr>
          <a:xfrm>
            <a:off x="548640" y="5623560"/>
            <a:ext cx="64008" cy="45720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2" name="TextBox 451"/>
          <p:cNvSpPr txBox="1"/>
          <p:nvPr/>
        </p:nvSpPr>
        <p:spPr>
          <a:xfrm>
            <a:off x="777240" y="5623560"/>
            <a:ext cx="1088136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Reporting follows the guidelines for empirical studies with LLMs [28].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RQ1–RQ2: Distribution and Coverage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17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80160"/>
            <a:ext cx="6858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RQ1  ·  410 PRE-FIX LABELS, ONE SQUARE PER BUG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801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4630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6459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288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0116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945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774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603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260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089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918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747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8404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233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062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891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7548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9377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1206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035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8521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315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972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2801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4630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6459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8288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0116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1945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3774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5603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432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260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1089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918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4747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6576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8404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233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2062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3891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5720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548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9377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1206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3035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4864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6692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8521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486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315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144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972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2801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630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6459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8288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0116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1945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3774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5603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7432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9260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1089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2918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4747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576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8404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0233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2062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3891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5720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7548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9377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1206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3035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4864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6692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8521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486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315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144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972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2801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4630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6459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8288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0116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1945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3774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5603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7432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9260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1089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2918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4747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6576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8404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0233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2062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3891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5720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7548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9377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51206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53035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54864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6692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8521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486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315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144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0972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2801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4630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6459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288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0116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1945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3774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25603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27432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29260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1089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2918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4747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6576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8404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0233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2062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3891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5720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7548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9377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51206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53035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54864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56692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8521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5486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315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9144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0972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2801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4630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6459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18288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0116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1945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3774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25603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27432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260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31089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2918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4747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36576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8404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0233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2062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3891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5720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7548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9377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1206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3035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4864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6692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58521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54864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73152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91440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09728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128016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146304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164592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82880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201168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219456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37744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56032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274320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292608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10896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29184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347472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65760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4048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02336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20624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38912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457200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475488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493776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512064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530352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548640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566928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585216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5486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7315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9144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0972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12801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14630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16459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18288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20116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21945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23774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25603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27432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29260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31089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32918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34747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36576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38404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40233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42062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43891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45720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47548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49377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51206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53035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54864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56692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58521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5486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7315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9144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0972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12801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14630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16459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18288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20116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21945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23774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25603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27432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29260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31089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32918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34747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36576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38404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40233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42062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43891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45720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47548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49377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51206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53035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54864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56692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58521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5486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7315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9144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0972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12801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14630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16459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18288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20116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21945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23774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25603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27432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29260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31089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32918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34747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36576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38404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40233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42062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43891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45720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47548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49377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51206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53035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54864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56692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58521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5486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315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9144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10972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12801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14630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16459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18288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20116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21945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23774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25603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27432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29260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31089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32918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34747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36576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38404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40233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42062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43891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5720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47548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49377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51206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53035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54864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56692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58521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5486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7315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9144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0972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2801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4630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459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8288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20116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21945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23774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25603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27432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29260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1089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32918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34747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36576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38404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40233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42062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43891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45720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47548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49377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51206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53035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54864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56692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58521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54864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73152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91440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109728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128016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146304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164592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182880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01168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19456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37744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56032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4320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92608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310896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329184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347472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365760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384048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402336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420624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438912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457200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475488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493776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512064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530352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548640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566928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585216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54864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73152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91440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109728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128016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146304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164592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182880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201168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219456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237744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2560320" y="4041648"/>
            <a:ext cx="141732" cy="141732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2743200" y="4041648"/>
            <a:ext cx="141732" cy="141732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2926080" y="4041648"/>
            <a:ext cx="141732" cy="141732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3108960" y="4041648"/>
            <a:ext cx="141732" cy="141732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3291840" y="4041648"/>
            <a:ext cx="141732" cy="141732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3474720" y="4041648"/>
            <a:ext cx="141732" cy="141732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3657600" y="4041648"/>
            <a:ext cx="141732" cy="141732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3840480" y="4041648"/>
            <a:ext cx="141732" cy="141732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4023360" y="4041648"/>
            <a:ext cx="141732" cy="141732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548640" y="4462272"/>
            <a:ext cx="201168" cy="201168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6" name="TextBox 425"/>
          <p:cNvSpPr txBox="1"/>
          <p:nvPr/>
        </p:nvSpPr>
        <p:spPr>
          <a:xfrm>
            <a:off x="841247" y="4389120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Checking  48.3%</a:t>
            </a:r>
          </a:p>
        </p:txBody>
      </p:sp>
      <p:sp>
        <p:nvSpPr>
          <p:cNvPr id="427" name="Rectangle 426"/>
          <p:cNvSpPr/>
          <p:nvPr/>
        </p:nvSpPr>
        <p:spPr>
          <a:xfrm>
            <a:off x="4023359" y="4462272"/>
            <a:ext cx="201168" cy="201168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8" name="TextBox 427"/>
          <p:cNvSpPr txBox="1"/>
          <p:nvPr/>
        </p:nvSpPr>
        <p:spPr>
          <a:xfrm>
            <a:off x="4315968" y="4389120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Algorithm/Method  42.7%</a:t>
            </a:r>
          </a:p>
        </p:txBody>
      </p:sp>
      <p:sp>
        <p:nvSpPr>
          <p:cNvPr id="429" name="Rectangle 428"/>
          <p:cNvSpPr/>
          <p:nvPr/>
        </p:nvSpPr>
        <p:spPr>
          <a:xfrm>
            <a:off x="548640" y="4864608"/>
            <a:ext cx="201168" cy="201168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0" name="TextBox 429"/>
          <p:cNvSpPr txBox="1"/>
          <p:nvPr/>
        </p:nvSpPr>
        <p:spPr>
          <a:xfrm>
            <a:off x="841247" y="4791456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Assignment  6.8%</a:t>
            </a:r>
          </a:p>
        </p:txBody>
      </p:sp>
      <p:sp>
        <p:nvSpPr>
          <p:cNvPr id="431" name="Rectangle 430"/>
          <p:cNvSpPr/>
          <p:nvPr/>
        </p:nvSpPr>
        <p:spPr>
          <a:xfrm>
            <a:off x="4023359" y="4864608"/>
            <a:ext cx="201168" cy="201168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2" name="TextBox 431"/>
          <p:cNvSpPr txBox="1"/>
          <p:nvPr/>
        </p:nvSpPr>
        <p:spPr>
          <a:xfrm>
            <a:off x="4315968" y="4791456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Relationship  1.2%</a:t>
            </a:r>
          </a:p>
        </p:txBody>
      </p:sp>
      <p:sp>
        <p:nvSpPr>
          <p:cNvPr id="433" name="Rectangle 432"/>
          <p:cNvSpPr/>
          <p:nvPr/>
        </p:nvSpPr>
        <p:spPr>
          <a:xfrm>
            <a:off x="548640" y="5266944"/>
            <a:ext cx="201168" cy="201168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4" name="TextBox 433"/>
          <p:cNvSpPr txBox="1"/>
          <p:nvPr/>
        </p:nvSpPr>
        <p:spPr>
          <a:xfrm>
            <a:off x="841247" y="5193792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Function/Class  0.7%</a:t>
            </a:r>
          </a:p>
        </p:txBody>
      </p:sp>
      <p:sp>
        <p:nvSpPr>
          <p:cNvPr id="435" name="Rectangle 434"/>
          <p:cNvSpPr/>
          <p:nvPr/>
        </p:nvSpPr>
        <p:spPr>
          <a:xfrm>
            <a:off x="4023359" y="5266944"/>
            <a:ext cx="201168" cy="201168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6" name="TextBox 435"/>
          <p:cNvSpPr txBox="1"/>
          <p:nvPr/>
        </p:nvSpPr>
        <p:spPr>
          <a:xfrm>
            <a:off x="4315968" y="5193792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Interface  0.2%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548640" y="5669280"/>
            <a:ext cx="6675120" cy="7772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Sans 3"/>
              </a:rPr>
              <a:t>97.8%</a:t>
            </a:r>
            <a:r>
              <a:rPr sz="1600" b="0" i="0">
                <a:solidFill>
                  <a:srgbClr val="1C2128"/>
                </a:solidFill>
                <a:latin typeface="Source Sans 3"/>
              </a:rPr>
              <a:t> in three Control and Data Flow types; Timing never occurs. Mix by project: scientific </a:t>
            </a:r>
            <a:r>
              <a:rPr sz="1600" b="1" i="0">
                <a:solidFill>
                  <a:srgbClr val="1C2128"/>
                </a:solidFill>
                <a:latin typeface="Source Sans 3"/>
              </a:rPr>
              <a:t>p = 0.096</a:t>
            </a:r>
            <a:r>
              <a:rPr sz="1600" b="0" i="0">
                <a:solidFill>
                  <a:srgbClr val="1C2128"/>
                </a:solidFill>
                <a:latin typeface="Source Sans 3"/>
              </a:rPr>
              <a:t>, few-shot </a:t>
            </a:r>
            <a:r>
              <a:rPr sz="1600" b="1" i="0">
                <a:solidFill>
                  <a:srgbClr val="1C2128"/>
                </a:solidFill>
                <a:latin typeface="Source Sans 3"/>
              </a:rPr>
              <a:t>p = 0.010</a:t>
            </a:r>
            <a:r>
              <a:rPr sz="1600" b="0" i="0">
                <a:solidFill>
                  <a:srgbClr val="1C2128"/>
                </a:solidFill>
                <a:latin typeface="Source Sans 3"/>
              </a:rPr>
              <a:t>.</a:t>
            </a:r>
          </a:p>
        </p:txBody>
      </p:sp>
      <p:sp>
        <p:nvSpPr>
          <p:cNvPr id="438" name="Rectangle 437"/>
          <p:cNvSpPr/>
          <p:nvPr/>
        </p:nvSpPr>
        <p:spPr>
          <a:xfrm>
            <a:off x="7635240" y="1280160"/>
            <a:ext cx="4005072" cy="46177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9" name="TextBox 438"/>
          <p:cNvSpPr txBox="1"/>
          <p:nvPr/>
        </p:nvSpPr>
        <p:spPr>
          <a:xfrm>
            <a:off x="7909560" y="1417320"/>
            <a:ext cx="35478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RQ2  ·  THE “OTHER” CATEGORY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7909560" y="1737360"/>
            <a:ext cx="3547872" cy="10515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0" b="1" i="0">
                <a:solidFill>
                  <a:srgbClr val="12284C"/>
                </a:solidFill>
                <a:latin typeface="Source Sans 3"/>
              </a:rPr>
              <a:t>0</a:t>
            </a:r>
            <a:r>
              <a:rPr sz="2400" b="0" i="0">
                <a:solidFill>
                  <a:srgbClr val="5A6270"/>
                </a:solidFill>
                <a:latin typeface="Source Sans 3"/>
              </a:rPr>
              <a:t>  of 1,640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7909560" y="2788920"/>
            <a:ext cx="3547872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classifications chose “Other”, although it was offered every time.</a:t>
            </a:r>
          </a:p>
        </p:txBody>
      </p:sp>
      <p:cxnSp>
        <p:nvCxnSpPr>
          <p:cNvPr id="442" name="Connector 441"/>
          <p:cNvCxnSpPr/>
          <p:nvPr/>
        </p:nvCxnSpPr>
        <p:spPr>
          <a:xfrm>
            <a:off x="7909560" y="3566160"/>
            <a:ext cx="345643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443" name="TextBox 442"/>
          <p:cNvSpPr txBox="1"/>
          <p:nvPr/>
        </p:nvSpPr>
        <p:spPr>
          <a:xfrm>
            <a:off x="7909560" y="3886200"/>
            <a:ext cx="1188720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≤ 0.2%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9144000" y="3886200"/>
            <a:ext cx="2221991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95% upper bound on the escape rate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7909560" y="4754880"/>
            <a:ext cx="1188720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6 of 7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9144000" y="4754880"/>
            <a:ext cx="2221991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ODC types actually used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RQ3: Agreement with the Fix-Informed Reference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18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34440"/>
            <a:ext cx="274320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 i="0">
                <a:solidFill>
                  <a:srgbClr val="12284C"/>
                </a:solidFill>
                <a:latin typeface="Source Sans 3"/>
              </a:rPr>
              <a:t>70.2%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1280160"/>
            <a:ext cx="4023360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0" i="0">
                <a:solidFill>
                  <a:srgbClr val="1C2128"/>
                </a:solidFill>
                <a:latin typeface="Source Sans 3"/>
              </a:rPr>
              <a:t>of pre-fix labels match the post-fix reference exactly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234440"/>
            <a:ext cx="4142232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95% CI [65.6, 74.9]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24028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ALL 410 BUGS (SCIENTIFIC-OPEN)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578608"/>
            <a:ext cx="7786353" cy="65836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578608"/>
            <a:ext cx="7786353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exact match  70.2%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34993" y="2578608"/>
            <a:ext cx="3028026" cy="65836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4993" y="2578608"/>
            <a:ext cx="3028026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near miss  27.3%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363020" y="2578608"/>
            <a:ext cx="266200" cy="658368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273552"/>
            <a:ext cx="87782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5A6270"/>
                </a:solidFill>
                <a:latin typeface="Source Sans 3"/>
              </a:rPr>
              <a:t>near miss: one label is the other's alternative, or both share a family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3273552"/>
            <a:ext cx="231343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A23B3B"/>
                </a:solidFill>
                <a:latin typeface="Source Sans 3"/>
              </a:rPr>
              <a:t>unrelated  2.4%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931920"/>
            <a:ext cx="56692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CHANCE-CORRECTED AGREEMENT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709160"/>
            <a:ext cx="1133856" cy="310896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038344"/>
            <a:ext cx="1133856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A6270"/>
                </a:solidFill>
                <a:latin typeface="Source Sans 3"/>
              </a:rPr>
              <a:t>slight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82496" y="4709160"/>
            <a:ext cx="1133856" cy="310896"/>
          </a:xfrm>
          <a:prstGeom prst="rect">
            <a:avLst/>
          </a:prstGeom>
          <a:solidFill>
            <a:srgbClr val="D3D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82496" y="5038344"/>
            <a:ext cx="1133856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A6270"/>
                </a:solidFill>
                <a:latin typeface="Source Sans 3"/>
              </a:rPr>
              <a:t>fair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16352" y="4709160"/>
            <a:ext cx="1133855" cy="310896"/>
          </a:xfrm>
          <a:prstGeom prst="rect">
            <a:avLst/>
          </a:prstGeom>
          <a:solidFill>
            <a:srgbClr val="9FB0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16352" y="5038344"/>
            <a:ext cx="1133855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A6270"/>
                </a:solidFill>
                <a:latin typeface="Source Sans 3"/>
              </a:rPr>
              <a:t>moderate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50207" y="4709160"/>
            <a:ext cx="1133856" cy="31089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50207" y="5038344"/>
            <a:ext cx="1133856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A6270"/>
                </a:solidFill>
                <a:latin typeface="Source Sans 3"/>
              </a:rPr>
              <a:t>substantial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84064" y="4709160"/>
            <a:ext cx="1133855" cy="310896"/>
          </a:xfrm>
          <a:prstGeom prst="rect">
            <a:avLst/>
          </a:prstGeom>
          <a:solidFill>
            <a:srgbClr val="2E4A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84064" y="5038344"/>
            <a:ext cx="1133855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A6270"/>
                </a:solidFill>
                <a:latin typeface="Source Sans 3"/>
              </a:rPr>
              <a:t>almost perfect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97910" y="4562856"/>
            <a:ext cx="27432" cy="603504"/>
          </a:xfrm>
          <a:prstGeom prst="rect">
            <a:avLst/>
          </a:prstGeom>
          <a:solidFill>
            <a:srgbClr val="1C212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88666" y="4197096"/>
            <a:ext cx="164592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κ = 0.505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303520"/>
            <a:ext cx="566928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few-shot reaches κ = 0.389 (fair)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3931920"/>
            <a:ext cx="487375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WHERE THE DISAGREEMENT COMES FROM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279392"/>
            <a:ext cx="4873752" cy="11430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Two fix-aware classifications agree only </a:t>
            </a:r>
            <a:r>
              <a:rPr sz="1700" b="1" i="0">
                <a:solidFill>
                  <a:srgbClr val="1C2128"/>
                </a:solidFill>
                <a:latin typeface="Source Sans 3"/>
              </a:rPr>
              <a:t>76.3%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 of the time. Pre-fix sits about 6 points below that ceiling; the rest is ODC boundary ambiguity.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66560" y="5440680"/>
            <a:ext cx="4873752" cy="65836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49440" y="5440680"/>
            <a:ext cx="1051560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2284C"/>
                </a:solidFill>
                <a:latin typeface="Source Sans 3"/>
              </a:rPr>
              <a:t>93.2%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2440" y="5440680"/>
            <a:ext cx="3364992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name the reference type as the label or as a recorded alternative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RQ3: How Labels Change When the Fix Is Visible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19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61872"/>
            <a:ext cx="694944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PRE-FIX LABEL (ROW)  →  POST-FIX LABEL (COLUMN)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1746504"/>
            <a:ext cx="11887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Checking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746504"/>
            <a:ext cx="11887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Algorithm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1746504"/>
            <a:ext cx="11887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Assignment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1746504"/>
            <a:ext cx="11887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other types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1" y="2148840"/>
            <a:ext cx="16459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Checking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21991" y="2176272"/>
            <a:ext cx="1133856" cy="65836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94560" y="2148840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148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10712" y="2176272"/>
            <a:ext cx="1133856" cy="65836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2148840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37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99432" y="2176272"/>
            <a:ext cx="1133856" cy="658368"/>
          </a:xfrm>
          <a:prstGeom prst="rect">
            <a:avLst/>
          </a:prstGeom>
          <a:solidFill>
            <a:srgbClr val="9FB0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2148840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88152" y="2176272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2148840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1" y="2862072"/>
            <a:ext cx="16459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Algorithm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21991" y="2889503"/>
            <a:ext cx="1133856" cy="65836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94560" y="2862072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38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10712" y="2889503"/>
            <a:ext cx="1133856" cy="65836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83280" y="2862072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119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9432" y="2889503"/>
            <a:ext cx="1133856" cy="658368"/>
          </a:xfrm>
          <a:prstGeom prst="rect">
            <a:avLst/>
          </a:prstGeom>
          <a:solidFill>
            <a:srgbClr val="9FB0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2862072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88152" y="2889503"/>
            <a:ext cx="1133856" cy="658368"/>
          </a:xfrm>
          <a:prstGeom prst="rect">
            <a:avLst/>
          </a:prstGeom>
          <a:solidFill>
            <a:srgbClr val="9FB0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0" y="2862072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1" y="3575304"/>
            <a:ext cx="16459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Assignment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21991" y="3602736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94560" y="3575304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10712" y="3602736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83280" y="3575304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99432" y="3602736"/>
            <a:ext cx="1133856" cy="65836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575304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18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88152" y="3602736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0" y="3575304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1" y="4288536"/>
            <a:ext cx="16459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other types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221991" y="4315968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194560" y="4288536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10712" y="4315968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83280" y="4288536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99432" y="4315968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0" y="4288536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88152" y="4315968"/>
            <a:ext cx="1133856" cy="65836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0" y="4288536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21991" y="2176272"/>
            <a:ext cx="1133856" cy="658368"/>
          </a:xfrm>
          <a:prstGeom prst="rect">
            <a:avLst/>
          </a:prstGeom>
          <a:noFill/>
          <a:ln w="22225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410712" y="2889503"/>
            <a:ext cx="1133856" cy="658368"/>
          </a:xfrm>
          <a:prstGeom prst="rect">
            <a:avLst/>
          </a:prstGeom>
          <a:noFill/>
          <a:ln w="22225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99432" y="3602736"/>
            <a:ext cx="1133856" cy="658368"/>
          </a:xfrm>
          <a:prstGeom prst="rect">
            <a:avLst/>
          </a:prstGeom>
          <a:noFill/>
          <a:ln w="22225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788152" y="4315968"/>
            <a:ext cx="1133856" cy="658368"/>
          </a:xfrm>
          <a:prstGeom prst="rect">
            <a:avLst/>
          </a:prstGeom>
          <a:noFill/>
          <a:ln w="22225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138928"/>
            <a:ext cx="6949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7D4F"/>
                </a:solidFill>
                <a:latin typeface="Source Sans 3"/>
              </a:rPr>
              <a:t>outlined</a:t>
            </a:r>
            <a:r>
              <a:rPr sz="1500" b="0" i="0">
                <a:solidFill>
                  <a:srgbClr val="5A6270"/>
                </a:solidFill>
                <a:latin typeface="Source Sans 3"/>
              </a:rPr>
              <a:t>  the label did not change        </a:t>
            </a:r>
            <a:r>
              <a:rPr sz="1500" b="1" i="0">
                <a:solidFill>
                  <a:srgbClr val="12284C"/>
                </a:solidFill>
                <a:latin typeface="Source Sans 3"/>
              </a:rPr>
              <a:t>darker</a:t>
            </a:r>
            <a:r>
              <a:rPr sz="1500" b="0" i="0">
                <a:solidFill>
                  <a:srgbClr val="5A6270"/>
                </a:solidFill>
                <a:latin typeface="Source Sans 3"/>
              </a:rPr>
              <a:t>  more bugs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5550408"/>
            <a:ext cx="73152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The two dark cells cancel out: 38 bugs move one way, 37 the other.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1508760"/>
            <a:ext cx="3776472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29.8%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63840" y="2075688"/>
            <a:ext cx="3776472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of bugs change label (122 of 410)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863840" y="2697480"/>
            <a:ext cx="37764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4" name="TextBox 63"/>
          <p:cNvSpPr txBox="1"/>
          <p:nvPr/>
        </p:nvSpPr>
        <p:spPr>
          <a:xfrm>
            <a:off x="7863840" y="2880360"/>
            <a:ext cx="3776472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80.3%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3447288"/>
            <a:ext cx="3776472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of changes stay in these three types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7863840" y="4069080"/>
            <a:ext cx="37764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7" name="TextBox 66"/>
          <p:cNvSpPr txBox="1"/>
          <p:nvPr/>
        </p:nvSpPr>
        <p:spPr>
          <a:xfrm>
            <a:off x="7863840" y="4251960"/>
            <a:ext cx="3776472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0.051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63840" y="4818888"/>
            <a:ext cx="3776472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total variation distance: the mix barely moves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5A6270"/>
                </a:solidFill>
                <a:latin typeface="Source Sans 3"/>
              </a:rPr>
              <a:t>Algorithm/Method vs Checking is also the boundary that human raters confuse [22].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RQ4a: Contribution of the ODC Taxonomy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20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34440"/>
            <a:ext cx="576072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A23B3B"/>
                </a:solidFill>
                <a:latin typeface="Source Sans 3"/>
              </a:rPr>
              <a:t>366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  different labels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737360"/>
            <a:ext cx="576072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when the model writes its own (zero-free, 410 bugs)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4709160"/>
            <a:ext cx="5760720" cy="0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40080" y="4008120"/>
            <a:ext cx="5760720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548640" y="3861816"/>
            <a:ext cx="27432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3307080"/>
            <a:ext cx="5760720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548640" y="3160776"/>
            <a:ext cx="27432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10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0080" y="2606040"/>
            <a:ext cx="5760720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548640" y="2459736"/>
            <a:ext cx="27432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2606040"/>
            <a:ext cx="105156" cy="2103120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14983" y="4148328"/>
            <a:ext cx="105156" cy="560832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61288" y="4288536"/>
            <a:ext cx="105156" cy="420623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07592" y="4288536"/>
            <a:ext cx="105156" cy="420623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53895" y="4288536"/>
            <a:ext cx="105156" cy="420623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00200" y="4288536"/>
            <a:ext cx="105156" cy="420623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46504" y="4288536"/>
            <a:ext cx="105156" cy="420623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92808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39112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85415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31720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478024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624328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770632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916936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063239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9544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502152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48456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794760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41063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87368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33672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489704" y="4568952"/>
            <a:ext cx="1865376" cy="140208"/>
          </a:xfrm>
          <a:prstGeom prst="rect">
            <a:avLst/>
          </a:prstGeom>
          <a:solidFill>
            <a:srgbClr val="E3BE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4489704" y="4873752"/>
            <a:ext cx="1865376" cy="0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49" name="TextBox 48"/>
          <p:cNvSpPr txBox="1"/>
          <p:nvPr/>
        </p:nvSpPr>
        <p:spPr>
          <a:xfrm>
            <a:off x="3941064" y="4928616"/>
            <a:ext cx="2962656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A23B3B"/>
                </a:solidFill>
                <a:latin typeface="Source Sans 3"/>
              </a:rPr>
              <a:t>342 labels used exactly once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2221992"/>
            <a:ext cx="292608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“Null Pointer Dereference”  15 bugs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230368"/>
            <a:ext cx="594360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The same bug (Chart_9), written twice: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600" b="0" i="0">
                <a:solidFill>
                  <a:srgbClr val="A23B3B"/>
                </a:solidFill>
                <a:latin typeface="Source Sans 3"/>
              </a:rPr>
              <a:t>“Improper input validation logic”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600" b="0" i="0">
                <a:solidFill>
                  <a:srgbClr val="2F7D4F"/>
                </a:solidFill>
                <a:latin typeface="Source Sans 3"/>
              </a:rPr>
              <a:t>“Incorrect boundary condition logic”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49440" y="1234440"/>
            <a:ext cx="4690872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6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  comparable labels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49440" y="1737360"/>
            <a:ext cx="469087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with the ODC taxonomy (scientific-open)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9440" y="2194560"/>
            <a:ext cx="2265347" cy="731520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949440" y="2194560"/>
            <a:ext cx="2265347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198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14787" y="2194560"/>
            <a:ext cx="2002201" cy="731520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214787" y="2194560"/>
            <a:ext cx="2002201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175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216989" y="2194560"/>
            <a:ext cx="320352" cy="731520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537341" y="2194560"/>
            <a:ext cx="57205" cy="731520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594547" y="2194560"/>
            <a:ext cx="34323" cy="731520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628870" y="2194560"/>
            <a:ext cx="27432" cy="731520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49440" y="3017520"/>
            <a:ext cx="469087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every bug lands in one of six buckets that can be counted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49440" y="3611880"/>
            <a:ext cx="2377440" cy="384048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Condition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326880" y="3611880"/>
            <a:ext cx="2313432" cy="384048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Same label, both modes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949440" y="4041648"/>
            <a:ext cx="4690872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949440" y="4087368"/>
            <a:ext cx="2377440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zero-free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26880" y="4087368"/>
            <a:ext cx="2313432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A23B3B"/>
                </a:solidFill>
                <a:latin typeface="Source Sans 3"/>
              </a:rPr>
              <a:t>15.1%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949440" y="4581144"/>
            <a:ext cx="46908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6949440" y="4581144"/>
            <a:ext cx="2377440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few-open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26880" y="4581144"/>
            <a:ext cx="2313432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66.6%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949440" y="5074920"/>
            <a:ext cx="46908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72" name="TextBox 71"/>
          <p:cNvSpPr txBox="1"/>
          <p:nvPr/>
        </p:nvSpPr>
        <p:spPr>
          <a:xfrm>
            <a:off x="6949440" y="5074920"/>
            <a:ext cx="2377440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scientific-open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26880" y="5074920"/>
            <a:ext cx="2313432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70.2%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949440" y="5568696"/>
            <a:ext cx="46908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75" name="Rectangle 74"/>
          <p:cNvSpPr/>
          <p:nvPr/>
        </p:nvSpPr>
        <p:spPr>
          <a:xfrm>
            <a:off x="6949440" y="5760720"/>
            <a:ext cx="64008" cy="50292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178040" y="5760720"/>
            <a:ext cx="4416552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A fixed taxonomy lets us count anything at all.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RQ4b: Contribution of the Scientific Loop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21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34440"/>
            <a:ext cx="457200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800" b="1" i="0">
                <a:solidFill>
                  <a:srgbClr val="12284C"/>
                </a:solidFill>
                <a:latin typeface="Source Sans 3"/>
              </a:rPr>
              <a:t>Δκ = +0.115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965960"/>
            <a:ext cx="45720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5A6270"/>
                </a:solidFill>
                <a:latin typeface="Source Sans 3"/>
              </a:rPr>
              <a:t>κ 0.389</a:t>
            </a:r>
            <a:r>
              <a:rPr sz="2000" b="0" i="0">
                <a:solidFill>
                  <a:srgbClr val="1C2128"/>
                </a:solidFill>
                <a:latin typeface="Source Sans 3"/>
              </a:rPr>
              <a:t>  →  </a:t>
            </a:r>
            <a:r>
              <a:rPr sz="2000" b="1" i="0">
                <a:solidFill>
                  <a:srgbClr val="12284C"/>
                </a:solidFill>
                <a:latin typeface="Source Sans 3"/>
              </a:rPr>
              <a:t>0.505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560320"/>
            <a:ext cx="4846320" cy="86868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560320"/>
            <a:ext cx="4480560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 i="0">
                <a:solidFill>
                  <a:srgbClr val="2F7D4F"/>
                </a:solidFill>
                <a:latin typeface="Source Sans 3"/>
              </a:rPr>
              <a:t>Statistically significant: 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95% CI [0.026, 0.208],  p ≈ 0.012  (paired bootstrap)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3703320"/>
            <a:ext cx="4846320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48640" y="3749039"/>
            <a:ext cx="1325880" cy="8046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6 of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3749039"/>
            <a:ext cx="3474720" cy="8046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projects improve; sign test p = 0.016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4572000"/>
            <a:ext cx="4846320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548640" y="4617720"/>
            <a:ext cx="1325880" cy="8046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p = 0.221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4617720"/>
            <a:ext cx="3474720" cy="8046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McNemar on raw agreement: few-shot's 265 Algorithm labels inflate chance agreement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5440680"/>
            <a:ext cx="4846320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548640" y="5486400"/>
            <a:ext cx="1325880" cy="8046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Closure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5486400"/>
            <a:ext cx="3474720" cy="8046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smallest gain (+0.065); its interval still includes 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1234440"/>
            <a:ext cx="578815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PER-PROJECT Κ  ·  EVERY PROJECT IMPROVES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355080" y="5257800"/>
            <a:ext cx="5285232" cy="0"/>
          </a:xfrm>
          <a:prstGeom prst="line">
            <a:avLst/>
          </a:prstGeom>
          <a:ln w="9525">
            <a:solidFill>
              <a:srgbClr val="8A919C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5852160" y="5093208"/>
            <a:ext cx="43891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0.00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55080" y="4190999"/>
            <a:ext cx="528523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5852160" y="4026408"/>
            <a:ext cx="43891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0.25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355080" y="3124200"/>
            <a:ext cx="528523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5852160" y="2959607"/>
            <a:ext cx="43891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0.50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355080" y="2057400"/>
            <a:ext cx="528523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35" name="TextBox 34"/>
          <p:cNvSpPr txBox="1"/>
          <p:nvPr/>
        </p:nvSpPr>
        <p:spPr>
          <a:xfrm>
            <a:off x="5852160" y="1892807"/>
            <a:ext cx="43891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0.75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01968" y="3768547"/>
            <a:ext cx="283143" cy="1489252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30831" y="2390241"/>
            <a:ext cx="283143" cy="286755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2006193"/>
            <a:ext cx="8580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+0.32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5312664"/>
            <a:ext cx="8580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Chart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59980" y="2966313"/>
            <a:ext cx="283143" cy="2291486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88843" y="2684678"/>
            <a:ext cx="283143" cy="2573121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50252" y="2300630"/>
            <a:ext cx="8580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+0.07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04532" y="5312664"/>
            <a:ext cx="8580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Math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17991" y="3137001"/>
            <a:ext cx="283143" cy="212079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646855" y="2927908"/>
            <a:ext cx="283143" cy="2329891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08264" y="2543860"/>
            <a:ext cx="8580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+0.05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62543" y="5312664"/>
            <a:ext cx="8580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Lang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76004" y="4097121"/>
            <a:ext cx="283143" cy="116067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504867" y="3128467"/>
            <a:ext cx="283143" cy="21293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66276" y="2744419"/>
            <a:ext cx="8580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+0.23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20556" y="5312664"/>
            <a:ext cx="8580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Mockito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034016" y="4353153"/>
            <a:ext cx="283143" cy="904646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362879" y="3209544"/>
            <a:ext cx="283143" cy="2048255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24288" y="2825496"/>
            <a:ext cx="8580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+0.27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78568" y="5312664"/>
            <a:ext cx="8580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Time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892028" y="4003243"/>
            <a:ext cx="283143" cy="1254556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220891" y="3725875"/>
            <a:ext cx="283143" cy="153192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782300" y="3341827"/>
            <a:ext cx="8580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+0.07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36580" y="5312664"/>
            <a:ext cx="8580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Closure</a:t>
            </a:r>
          </a:p>
        </p:txBody>
      </p:sp>
      <p:sp>
        <p:nvSpPr>
          <p:cNvPr id="60" name="Oval 59"/>
          <p:cNvSpPr/>
          <p:nvPr/>
        </p:nvSpPr>
        <p:spPr>
          <a:xfrm>
            <a:off x="7223760" y="5797296"/>
            <a:ext cx="182880" cy="182880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479792" y="5715000"/>
            <a:ext cx="10515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few-shot</a:t>
            </a:r>
          </a:p>
        </p:txBody>
      </p:sp>
      <p:sp>
        <p:nvSpPr>
          <p:cNvPr id="62" name="Oval 61"/>
          <p:cNvSpPr/>
          <p:nvPr/>
        </p:nvSpPr>
        <p:spPr>
          <a:xfrm>
            <a:off x="8595360" y="5797296"/>
            <a:ext cx="182880" cy="182880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851392" y="5715000"/>
            <a:ext cx="123444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scientific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Qualitative Analysis of Thirteen Bugs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22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80160"/>
            <a:ext cx="539496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FAILURE MODES WE FOUND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719072"/>
            <a:ext cx="54864" cy="841248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1719072"/>
            <a:ext cx="32918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Symptom-site bias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1719072"/>
            <a:ext cx="160020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2284C"/>
                </a:solidFill>
                <a:latin typeface="Source Code Pro"/>
              </a:rPr>
              <a:t>Chart_17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103120"/>
            <a:ext cx="484632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the label follows where the exception surfaced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841248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743200"/>
            <a:ext cx="32918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Bug-report anchoring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2743200"/>
            <a:ext cx="160020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2284C"/>
                </a:solidFill>
                <a:latin typeface="Source Code Pro"/>
              </a:rPr>
              <a:t>Math_90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127248"/>
            <a:ext cx="484632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a fix suggested in the report becomes the label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767328"/>
            <a:ext cx="54864" cy="841248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767328"/>
            <a:ext cx="32918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Surface syntax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3767328"/>
            <a:ext cx="160020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2284C"/>
                </a:solidFill>
                <a:latin typeface="Source Code Pro"/>
              </a:rPr>
              <a:t>Math_23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151376"/>
            <a:ext cx="484632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the post-fix label follows the patch shape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791456"/>
            <a:ext cx="54864" cy="841248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791456"/>
            <a:ext cx="32918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Underdetermined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360" y="4791456"/>
            <a:ext cx="160020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2284C"/>
                </a:solidFill>
                <a:latin typeface="Source Code Pro"/>
              </a:rPr>
              <a:t>Lang_20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175504"/>
            <a:ext cx="484632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two valid fixes imply two ODC types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1280160"/>
            <a:ext cx="528523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WHERE THE DEVELOPER HAD A CHOICE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1719072"/>
            <a:ext cx="5285232" cy="84124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1755648"/>
            <a:ext cx="137160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Code Pro"/>
              </a:rPr>
              <a:t>Math_90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1737360"/>
            <a:ext cx="350215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could have been  </a:t>
            </a:r>
            <a:r>
              <a:rPr sz="1500" b="0" i="0">
                <a:solidFill>
                  <a:srgbClr val="5A6270"/>
                </a:solidFill>
                <a:latin typeface="Source Sans 3"/>
              </a:rPr>
              <a:t>a Comparable check (CHK)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2139696"/>
            <a:ext cx="350215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developer chose  </a:t>
            </a:r>
            <a:r>
              <a:rPr sz="1500" b="1" i="0">
                <a:solidFill>
                  <a:srgbClr val="1C2128"/>
                </a:solidFill>
                <a:latin typeface="Source Sans 3"/>
              </a:rPr>
              <a:t>a typed overload (INT)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2743200"/>
            <a:ext cx="5285232" cy="84124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2779776"/>
            <a:ext cx="137160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Code Pro"/>
              </a:rPr>
              <a:t>Math_17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79" y="2761488"/>
            <a:ext cx="350215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could have been  </a:t>
            </a:r>
            <a:r>
              <a:rPr sz="1500" b="0" i="0">
                <a:solidFill>
                  <a:srgbClr val="5A6270"/>
                </a:solidFill>
                <a:latin typeface="Source Sans 3"/>
              </a:rPr>
              <a:t>a range check (CHK)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79" y="3163824"/>
            <a:ext cx="350215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developer chose  </a:t>
            </a:r>
            <a:r>
              <a:rPr sz="1500" b="1" i="0">
                <a:solidFill>
                  <a:srgbClr val="1C2128"/>
                </a:solidFill>
                <a:latin typeface="Source Sans 3"/>
              </a:rPr>
              <a:t>both: check + fallback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3767328"/>
            <a:ext cx="5285232" cy="84124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60" y="3803904"/>
            <a:ext cx="137160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Code Pro"/>
              </a:rPr>
              <a:t>Time_3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785615"/>
            <a:ext cx="350215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could have been  </a:t>
            </a:r>
            <a:r>
              <a:rPr sz="1500" b="0" i="0">
                <a:solidFill>
                  <a:srgbClr val="5A6270"/>
                </a:solidFill>
                <a:latin typeface="Source Sans 3"/>
              </a:rPr>
              <a:t>better arithmetic (ALG)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79" y="4187952"/>
            <a:ext cx="350215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developer chose  </a:t>
            </a:r>
            <a:r>
              <a:rPr sz="1500" b="1" i="0">
                <a:solidFill>
                  <a:srgbClr val="1C2128"/>
                </a:solidFill>
                <a:latin typeface="Source Sans 3"/>
              </a:rPr>
              <a:t>amount != 0 guards (CHK)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80" y="4791456"/>
            <a:ext cx="5285232" cy="84124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4828032"/>
            <a:ext cx="137160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Code Pro"/>
              </a:rPr>
              <a:t>Lang_20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4809744"/>
            <a:ext cx="350215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could have been  </a:t>
            </a:r>
            <a:r>
              <a:rPr sz="1500" b="0" i="0">
                <a:solidFill>
                  <a:srgbClr val="5A6270"/>
                </a:solidFill>
                <a:latin typeface="Source Sans 3"/>
              </a:rPr>
              <a:t>a null check (CHK)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5212080"/>
            <a:ext cx="350215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developer chose  </a:t>
            </a:r>
            <a:r>
              <a:rPr sz="1500" b="1" i="0">
                <a:solidFill>
                  <a:srgbClr val="1C2128"/>
                </a:solidFill>
                <a:latin typeface="Source Sans 3"/>
              </a:rPr>
              <a:t>a new capacity (ASN)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5852160"/>
            <a:ext cx="64008" cy="45720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7240" y="5852160"/>
            <a:ext cx="1088136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It records the repair chosen — for </a:t>
            </a:r>
            <a:r>
              <a:rPr sz="1800" b="1" i="0">
                <a:solidFill>
                  <a:srgbClr val="12284C"/>
                </a:solidFill>
                <a:latin typeface="Source Sans 3"/>
              </a:rPr>
              <a:t>77%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 of changed labels that type is already a recorded alternative.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Threats to Validity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23 /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417320"/>
            <a:ext cx="2240280" cy="69494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417320"/>
            <a:ext cx="2240280" cy="6949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Internal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1325880"/>
            <a:ext cx="8622792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non-deterministic output; evidence sanitized against fix leakage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2231136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18" name="Rectangle 17"/>
          <p:cNvSpPr/>
          <p:nvPr/>
        </p:nvSpPr>
        <p:spPr>
          <a:xfrm>
            <a:off x="548640" y="2368296"/>
            <a:ext cx="2240280" cy="69494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368296"/>
            <a:ext cx="2240280" cy="6949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Construct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276856"/>
            <a:ext cx="8622792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agreement is a proxy; the modified class is absent for 285 of 410 bugs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318211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2" name="Rectangle 21"/>
          <p:cNvSpPr/>
          <p:nvPr/>
        </p:nvSpPr>
        <p:spPr>
          <a:xfrm>
            <a:off x="548640" y="3319272"/>
            <a:ext cx="2240280" cy="69494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319272"/>
            <a:ext cx="2240280" cy="6949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External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3227832"/>
            <a:ext cx="8622792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6 of 17 projects; corpus results from one model; Java only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4133088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6" name="Rectangle 25"/>
          <p:cNvSpPr/>
          <p:nvPr/>
        </p:nvSpPr>
        <p:spPr>
          <a:xfrm>
            <a:off x="548640" y="4270248"/>
            <a:ext cx="2240280" cy="69494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270248"/>
            <a:ext cx="2240280" cy="6949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Conclusion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4178808"/>
            <a:ext cx="8622792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one run per condition; resampled values are estimates; a single rater for 13 bugs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5084064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30" name="Rectangle 29"/>
          <p:cNvSpPr/>
          <p:nvPr/>
        </p:nvSpPr>
        <p:spPr>
          <a:xfrm>
            <a:off x="548640" y="5221224"/>
            <a:ext cx="2240280" cy="69494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221224"/>
            <a:ext cx="2240280" cy="6949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Other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5129784"/>
            <a:ext cx="8622792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possible pre-training exposure; confidence fields are not a usable signal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03504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5A6270"/>
                </a:solidFill>
                <a:latin typeface="Source Sans 3"/>
              </a:rPr>
              <a:t>Each threat is stated in the book together with the mitigation applied.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Conclusion and Future Work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24 /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280160"/>
            <a:ext cx="2651760" cy="6400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444752"/>
            <a:ext cx="265176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2284C"/>
                </a:solidFill>
                <a:latin typeface="Source Sans 3"/>
              </a:rPr>
              <a:t>97.8%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176272"/>
            <a:ext cx="26517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three types (RQ1)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280160"/>
            <a:ext cx="2651760" cy="6400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0" y="1444752"/>
            <a:ext cx="265176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2284C"/>
                </a:solidFill>
                <a:latin typeface="Source Sans 3"/>
              </a:rPr>
              <a:t>0 of 1,640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2176272"/>
            <a:ext cx="26517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“Other” (RQ2)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280160"/>
            <a:ext cx="2651760" cy="6400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444752"/>
            <a:ext cx="265176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2284C"/>
                </a:solidFill>
                <a:latin typeface="Source Sans 3"/>
              </a:rPr>
              <a:t>70.2%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176272"/>
            <a:ext cx="26517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pre-fix match (RQ3)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1280160"/>
            <a:ext cx="2651760" cy="6400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0" y="1444752"/>
            <a:ext cx="265176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2284C"/>
                </a:solidFill>
                <a:latin typeface="Source Sans 3"/>
              </a:rPr>
              <a:t>+0.115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2176272"/>
            <a:ext cx="26517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Δκ from the loop (RQ4)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761488"/>
            <a:ext cx="539496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CONTRIBUTIONS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200400"/>
            <a:ext cx="5394960" cy="2743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A taxonomy × strategy condition space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An enforced loop with auditable transcripts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Evaluation without ground truth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410 bugs, analysed with two LLMs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2761488"/>
            <a:ext cx="528523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FUTURE 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200400"/>
            <a:ext cx="5285232" cy="2743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Human reference labels for a sample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Grade the reasoning, not only the label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Full corpus, more models, consensus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Impact, Trigger and Age attributes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References (1/3)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1091672" cy="4983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[1] G. Catolino et al., “Not All Bugs Are the Same: Understanding, Characterizing, and Classifying Bug Types,” Journal of Systems and Software, vol. 152, 2019.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[2] T. Hirsch and B. Hofer, “Using Textual Bug Reports to Predict the Fault Category of Software Bugs,” Array, vol. 15, 2022.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[3] R. Andrade et al., “An Empirical Study on the Classification of Bug Reports with Machine Learning,” arXiv preprint, 2025.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[4] R. Chillarege et al., “Orthogonal Defect Classification – A Concept for In-Process Measurements,” IEEE Transactions on Software Engineering, vol. 18, no. 11, 1992.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[5] R. Just, D. Jalali, and M. D. Ernst, “Defects4J: A Database of Existing Faults to Enable Controlled Testing Studies for Java Programs,” Proc. International Symposium on Software Testing and Analysis (ISSTA), 2014.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[6] M. N. Rafi et al., “Revisiting Defects4J for Fault Localization in Diverse Development Scenarios,” IEEE/ACM 22nd International Conference on Mining Software Repositories (MSR), 2025.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[7] M. Martinez et al., “Automatic Repair of Real Bugs in Java: A Large-Scale Experiment on the Defects4J Dataset,” Empirical Software Engineering, vol. 22, no. 4, 2017.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[8] A. Van der Spuy and B. Fischer, “An Anatomy of 488 Faults from Defects4J Based on the Control- and Data-Flow Graph Representations of Programs,” Proc. 29th International Conference on Evaluation and Assessment in Software Engineering (EASE), 2025.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[9] V. Sobreira et al., “Dissection of a Bug Dataset: Anatomy of 395 Patches from Defects4J,” IEEE International Conference on Software Analysis, Evolution and Reengineering (SANER), 2018.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[10] J. Jiang, Y. Xiong, and X. Xia, “A Manual Inspection of Defects4J Bugs and Its Implications for Automatic Program Repair,” Science China Information Sciences, vol. 62, no. 10, 2019.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References (2/3)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1091672" cy="4983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[11] G. Colavito et al., “Large Language Models for Issue Report Classification,” Ital-IA 2024 Thematic Workshops, CEUR Workshop Proceedings, vol. 3762,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[12] A. Koyuncu, “Exploring Fine-Grained Bug Report Categorization with Large Language Models and Prompt Engineering: An Empirical Study,” ACM Transactions on Software Engineering and Methodology, vol. 35, no. 3, 2026.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[13] Y. Nong et al., “Chain-of-Thought Prompting of Large Language Models for Discovering and Fixing Software Vulnerabilities,” arXiv preprint,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[14] C. Li et al., “KnowBug: Enhancing Large Language Models with Bug Report Knowledge for Deep Learning Framework Bug Prediction,” Knowledge-Based Systems, vol. 305,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[15] IBM, “Orthogonal Defect Classification v5.2 for Software Design and Code,” IBM Research, 2013.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[16] X. Du et al., “LLM-BRC: A Large Language Model-Based Bug Report Classification Framework,” Software Quality Journal, vol. 32, no. 3,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[17] S. Kang et al., “Explainable Automated Debugging via Large Language Model-driven Scientific Debugging,” Empirical Software Engineering, vol. 30, no. 2, 2025.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[18] S. Kang, G. An, and S. Yoo, “A Quantitative and Qualitative Evaluation of LLM-Based Explainable Fault Localization,” Proc. ACM on Software Engineering, vol. 1, no. FSE,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[19] L. Huang et al., “AutoODC: Automated Generation of Orthogonal Defect Classifications,” Automated Software Engineering, vol. 22, no. 1, 2015.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References (3/3)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1091672" cy="4983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[20] F. Thung, D. Lo, and L. Jiang, “Automatic Defect Categorization,” Proc. 19th Working Conference on Reverse Engineering (WCRE), 2012.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[21] A. M. Esfahani, N. Kahani, and S. A. Ajila, “Understanding Defects in Generated Codes by Language Models,” 34th International Conference on Collaborative Advances in Software and Computing (CASCON),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[22] K. Henningsson and C. Wohlin, “Assuring Fault Classification Agreement – An Empirical Evaluation,” Proc. 2004 International Symposium on Empirical Software Engineering (ISESE), 2004.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[23] J. Hernández-González et al., “Learning to Classify Software Defects from Crowds: A Novel Approach,” Applied Soft Computing, vol. 62, 2018.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[24] K. El Emam and I. Wieczorek, “The Repeatability of Code Defect Classifications,” Proc. Ninth International Symposium on Software Reliability Engineering (ISSRE), 1998.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[25] A. Rahman and E. Farhana, “An Exploratory Characterization of Bugs in COVID-19 Software Projects,” arXiv preprint, 2020.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[26] J. Agnelo, N. Laranjeiro, and J. Bernardino, “Using Orthogonal Defect Classification to Characterize NoSQL Database Defects,” Journal of Systems and Software, vol. 159, 2020.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[27] J. R. Landis and G. G. Koch, “The Measurement of Observer Agreement for Categorical Data,” Biometrics, vol. 33, no. 1, 1977.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[28] S. Baltes et al., “Guidelines for Empirical Studies in Software Engineering involving Large Language Models,” Empirical Software Engineering, 2026.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278189" cy="2103120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2377440" y="1828800"/>
            <a:ext cx="0" cy="1920239"/>
          </a:xfrm>
          <a:prstGeom prst="line">
            <a:avLst/>
          </a:prstGeom>
          <a:ln w="12700">
            <a:solidFill>
              <a:srgbClr val="D5D9DF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2697480" y="1783080"/>
            <a:ext cx="8686800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800" b="1" i="0">
                <a:solidFill>
                  <a:srgbClr val="12284C"/>
                </a:solidFill>
                <a:latin typeface="Source Sans 3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2697480"/>
            <a:ext cx="8686800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0" i="0">
                <a:solidFill>
                  <a:srgbClr val="1C2128"/>
                </a:solidFill>
                <a:latin typeface="Source Sans 3"/>
              </a:rPr>
              <a:t>Questions and discussion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3337560"/>
            <a:ext cx="86868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Orthogonal Defect Classification on Defects4J Using an LLM-Driven Scientific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4297680"/>
            <a:ext cx="86868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Md. Sakib Hossain  ·  Mohammad Nahiyan Kabir  ·  Hasin Mahtab Alvee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