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</p:sldIdLst>
  <p:sldSz cy="6858000" cx="12191675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2160">
          <p15:clr>
            <a:srgbClr val="000000"/>
          </p15:clr>
        </p15:guide>
        <p15:guide id="2" pos="2880">
          <p15:clr>
            <a:srgbClr val="000000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2160" orient="horz"/>
        <p:guide pos="2880"/>
      </p:guideLst>
    </p:cSldViewPr>
  </p:slideViewPr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theme" Target="theme/theme2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9" Type="http://schemas.openxmlformats.org/officeDocument/2006/relationships/slide" Target="slides/slide4.xml"/><Relationship Id="rId10" Type="http://schemas.openxmlformats.org/officeDocument/2006/relationships/slide" Target="slides/slide5.xml"/><Relationship Id="rId11" Type="http://schemas.openxmlformats.org/officeDocument/2006/relationships/slide" Target="slides/slide6.xml"/><Relationship Id="rId12" Type="http://schemas.openxmlformats.org/officeDocument/2006/relationships/slide" Target="slides/slide7.xml"/><Relationship Id="rId13" Type="http://schemas.openxmlformats.org/officeDocument/2006/relationships/slide" Target="slides/slide8.xml"/><Relationship Id="rId14" Type="http://schemas.openxmlformats.org/officeDocument/2006/relationships/slide" Target="slides/slide9.xml"/><Relationship Id="rId15" Type="http://schemas.openxmlformats.org/officeDocument/2006/relationships/slide" Target="slides/slide10.xml"/><Relationship Id="rId16" Type="http://schemas.openxmlformats.org/officeDocument/2006/relationships/slide" Target="slides/slide11.xml"/><Relationship Id="rId17" Type="http://schemas.openxmlformats.org/officeDocument/2006/relationships/slide" Target="slides/slide12.xml"/><Relationship Id="rId18" Type="http://schemas.openxmlformats.org/officeDocument/2006/relationships/slide" Target="slides/slide13.xml"/><Relationship Id="rId19" Type="http://schemas.openxmlformats.org/officeDocument/2006/relationships/slide" Target="slides/slide14.xml"/><Relationship Id="rId20" Type="http://schemas.openxmlformats.org/officeDocument/2006/relationships/slide" Target="slides/slide15.xml"/><Relationship Id="rId21" Type="http://schemas.openxmlformats.org/officeDocument/2006/relationships/slide" Target="slides/slide16.xml"/><Relationship Id="rId22" Type="http://schemas.openxmlformats.org/officeDocument/2006/relationships/slide" Target="slides/slide17.xml"/><Relationship Id="rId23" Type="http://schemas.openxmlformats.org/officeDocument/2006/relationships/slide" Target="slides/slide18.xml"/><Relationship Id="rId24" Type="http://schemas.openxmlformats.org/officeDocument/2006/relationships/slide" Target="slides/slide19.xml"/><Relationship Id="rId25" Type="http://schemas.openxmlformats.org/officeDocument/2006/relationships/slide" Target="slides/slide20.xml"/><Relationship Id="rId26" Type="http://schemas.openxmlformats.org/officeDocument/2006/relationships/slide" Target="slides/slide21.xml"/><Relationship Id="rId27" Type="http://schemas.openxmlformats.org/officeDocument/2006/relationships/slide" Target="slides/slide22.xml"/><Relationship Id="rId28" Type="http://schemas.openxmlformats.org/officeDocument/2006/relationships/slide" Target="slides/slide23.xml"/><Relationship Id="rId29" Type="http://schemas.openxmlformats.org/officeDocument/2006/relationships/slide" Target="slides/slide24.xml"/><Relationship Id="rId30" Type="http://schemas.openxmlformats.org/officeDocument/2006/relationships/slide" Target="slides/slide25.xml"/><Relationship Id="rId31" Type="http://schemas.openxmlformats.org/officeDocument/2006/relationships/slide" Target="slides/slide26.xml"/><Relationship Id="rId32" Type="http://schemas.openxmlformats.org/officeDocument/2006/relationships/slide" Target="slides/slide27.xml"/><Relationship Id="rId33" Type="http://schemas.openxmlformats.org/officeDocument/2006/relationships/slide" Target="slides/slide28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1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2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3" name="Google Shape;13;p2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4" name="Google Shape;14;p2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15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3"/>
          <p:cNvSpPr txBox="1"/>
          <p:nvPr>
            <p:ph type="ctrTitle"/>
          </p:nvPr>
        </p:nvSpPr>
        <p:spPr>
          <a:xfrm>
            <a:off x="685800" y="2130425"/>
            <a:ext cx="7772400" cy="14700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7" name="Google Shape;17;p3"/>
          <p:cNvSpPr txBox="1"/>
          <p:nvPr>
            <p:ph idx="1" type="subTitle"/>
          </p:nvPr>
        </p:nvSpPr>
        <p:spPr>
          <a:xfrm>
            <a:off x="1371600" y="3886200"/>
            <a:ext cx="6400800" cy="1752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lvl="0" algn="ctr">
              <a:spcBef>
                <a:spcPts val="640"/>
              </a:spcBef>
              <a:spcAft>
                <a:spcPts val="0"/>
              </a:spcAft>
              <a:buClr>
                <a:srgbClr val="888888"/>
              </a:buClr>
              <a:buSzPts val="3200"/>
              <a:buNone/>
              <a:defRPr>
                <a:solidFill>
                  <a:srgbClr val="888888"/>
                </a:solidFill>
              </a:defRPr>
            </a:lvl1pPr>
            <a:lvl2pPr lvl="1" algn="ctr">
              <a:spcBef>
                <a:spcPts val="560"/>
              </a:spcBef>
              <a:spcAft>
                <a:spcPts val="0"/>
              </a:spcAft>
              <a:buClr>
                <a:srgbClr val="888888"/>
              </a:buClr>
              <a:buSzPts val="2800"/>
              <a:buNone/>
              <a:defRPr>
                <a:solidFill>
                  <a:srgbClr val="888888"/>
                </a:solidFill>
              </a:defRPr>
            </a:lvl2pPr>
            <a:lvl3pPr lvl="2" algn="ctr">
              <a:spcBef>
                <a:spcPts val="480"/>
              </a:spcBef>
              <a:spcAft>
                <a:spcPts val="0"/>
              </a:spcAft>
              <a:buClr>
                <a:srgbClr val="888888"/>
              </a:buClr>
              <a:buSzPts val="2400"/>
              <a:buNone/>
              <a:defRPr>
                <a:solidFill>
                  <a:srgbClr val="888888"/>
                </a:solidFill>
              </a:defRPr>
            </a:lvl3pPr>
            <a:lvl4pPr lvl="3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4pPr>
            <a:lvl5pPr lvl="4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5pPr>
            <a:lvl6pPr lvl="5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6pPr>
            <a:lvl7pPr lvl="6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7pPr>
            <a:lvl8pPr lvl="7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8pPr>
            <a:lvl9pPr lvl="8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18" name="Google Shape;18;p3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9" name="Google Shape;19;p3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3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Google Shape;22;p4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3" name="Google Shape;23;p4"/>
          <p:cNvSpPr txBox="1"/>
          <p:nvPr>
            <p:ph idx="1" type="body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24" name="Google Shape;24;p4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5" name="Google Shape;25;p4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4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27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p5"/>
          <p:cNvSpPr txBox="1"/>
          <p:nvPr>
            <p:ph type="title"/>
          </p:nvPr>
        </p:nvSpPr>
        <p:spPr>
          <a:xfrm>
            <a:off x="722313" y="4406900"/>
            <a:ext cx="7772400" cy="136207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000"/>
              <a:buFont typeface="Calibri"/>
              <a:buNone/>
              <a:defRPr b="1" sz="4000" cap="none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5"/>
          <p:cNvSpPr txBox="1"/>
          <p:nvPr>
            <p:ph idx="1" type="body"/>
          </p:nvPr>
        </p:nvSpPr>
        <p:spPr>
          <a:xfrm>
            <a:off x="722313" y="2906713"/>
            <a:ext cx="7772400" cy="15001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 sz="2000">
                <a:solidFill>
                  <a:srgbClr val="888888"/>
                </a:solidFill>
              </a:defRPr>
            </a:lvl1pPr>
            <a:lvl2pPr indent="-228600" lvl="1" marL="914400" algn="l">
              <a:spcBef>
                <a:spcPts val="36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0" name="Google Shape;30;p5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1" name="Google Shape;31;p5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5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33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6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6"/>
          <p:cNvSpPr txBox="1"/>
          <p:nvPr>
            <p:ph idx="1" type="body"/>
          </p:nvPr>
        </p:nvSpPr>
        <p:spPr>
          <a:xfrm>
            <a:off x="457200" y="1600200"/>
            <a:ext cx="4038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indent="-381000" lvl="1" marL="9144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indent="-355600" lvl="2" marL="1371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/>
        </p:txBody>
      </p:sp>
      <p:sp>
        <p:nvSpPr>
          <p:cNvPr id="36" name="Google Shape;36;p6"/>
          <p:cNvSpPr txBox="1"/>
          <p:nvPr>
            <p:ph idx="2" type="body"/>
          </p:nvPr>
        </p:nvSpPr>
        <p:spPr>
          <a:xfrm>
            <a:off x="4648200" y="1600200"/>
            <a:ext cx="4038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indent="-381000" lvl="1" marL="9144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indent="-355600" lvl="2" marL="1371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/>
        </p:txBody>
      </p:sp>
      <p:sp>
        <p:nvSpPr>
          <p:cNvPr id="37" name="Google Shape;37;p6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6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6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40" name="Shape 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Google Shape;41;p7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7"/>
          <p:cNvSpPr txBox="1"/>
          <p:nvPr>
            <p:ph idx="1" type="body"/>
          </p:nvPr>
        </p:nvSpPr>
        <p:spPr>
          <a:xfrm>
            <a:off x="457200" y="1535113"/>
            <a:ext cx="4040188" cy="63976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b="1" sz="2400"/>
            </a:lvl1pPr>
            <a:lvl2pPr indent="-228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1" sz="2000"/>
            </a:lvl2pPr>
            <a:lvl3pPr indent="-2286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3pPr>
            <a:lvl4pPr indent="-2286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4pPr>
            <a:lvl5pPr indent="-2286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5pPr>
            <a:lvl6pPr indent="-2286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6pPr>
            <a:lvl7pPr indent="-2286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7pPr>
            <a:lvl8pPr indent="-2286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8pPr>
            <a:lvl9pPr indent="-2286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9pPr>
          </a:lstStyle>
          <a:p/>
        </p:txBody>
      </p:sp>
      <p:sp>
        <p:nvSpPr>
          <p:cNvPr id="43" name="Google Shape;43;p7"/>
          <p:cNvSpPr txBox="1"/>
          <p:nvPr>
            <p:ph idx="2" type="body"/>
          </p:nvPr>
        </p:nvSpPr>
        <p:spPr>
          <a:xfrm>
            <a:off x="457200" y="2174875"/>
            <a:ext cx="4040188" cy="39512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810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indent="-355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indent="-3302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indent="-3302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indent="-3302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indent="-3302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indent="-3302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indent="-3302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/>
        </p:txBody>
      </p:sp>
      <p:sp>
        <p:nvSpPr>
          <p:cNvPr id="44" name="Google Shape;44;p7"/>
          <p:cNvSpPr txBox="1"/>
          <p:nvPr>
            <p:ph idx="3" type="body"/>
          </p:nvPr>
        </p:nvSpPr>
        <p:spPr>
          <a:xfrm>
            <a:off x="4645025" y="1535113"/>
            <a:ext cx="4041775" cy="63976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b="1" sz="2400"/>
            </a:lvl1pPr>
            <a:lvl2pPr indent="-228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1" sz="2000"/>
            </a:lvl2pPr>
            <a:lvl3pPr indent="-2286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3pPr>
            <a:lvl4pPr indent="-2286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4pPr>
            <a:lvl5pPr indent="-2286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5pPr>
            <a:lvl6pPr indent="-2286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6pPr>
            <a:lvl7pPr indent="-2286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7pPr>
            <a:lvl8pPr indent="-2286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8pPr>
            <a:lvl9pPr indent="-2286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9pPr>
          </a:lstStyle>
          <a:p/>
        </p:txBody>
      </p:sp>
      <p:sp>
        <p:nvSpPr>
          <p:cNvPr id="45" name="Google Shape;45;p7"/>
          <p:cNvSpPr txBox="1"/>
          <p:nvPr>
            <p:ph idx="4" type="body"/>
          </p:nvPr>
        </p:nvSpPr>
        <p:spPr>
          <a:xfrm>
            <a:off x="4645025" y="2174875"/>
            <a:ext cx="4041775" cy="39512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810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indent="-355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indent="-3302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indent="-3302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indent="-3302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indent="-3302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indent="-3302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indent="-3302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/>
        </p:txBody>
      </p:sp>
      <p:sp>
        <p:nvSpPr>
          <p:cNvPr id="46" name="Google Shape;46;p7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7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7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8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8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8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8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9"/>
          <p:cNvSpPr txBox="1"/>
          <p:nvPr>
            <p:ph type="title"/>
          </p:nvPr>
        </p:nvSpPr>
        <p:spPr>
          <a:xfrm>
            <a:off x="457200" y="273050"/>
            <a:ext cx="3008313" cy="116205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None/>
              <a:defRPr b="1" sz="2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9"/>
          <p:cNvSpPr txBox="1"/>
          <p:nvPr>
            <p:ph idx="1" type="body"/>
          </p:nvPr>
        </p:nvSpPr>
        <p:spPr>
          <a:xfrm>
            <a:off x="3575050" y="273050"/>
            <a:ext cx="5111750" cy="5853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31800" lvl="0" marL="457200" algn="l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  <a:defRPr sz="3200"/>
            </a:lvl1pPr>
            <a:lvl2pPr indent="-406400" lvl="1" marL="9144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–"/>
              <a:defRPr sz="2800"/>
            </a:lvl2pPr>
            <a:lvl3pPr indent="-381000" lvl="2" marL="13716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3pPr>
            <a:lvl4pPr indent="-355600" lvl="3" marL="18288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4pPr>
            <a:lvl5pPr indent="-355600" lvl="4" marL="22860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»"/>
              <a:defRPr sz="2000"/>
            </a:lvl5pPr>
            <a:lvl6pPr indent="-355600" lvl="5" marL="27432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indent="-355600" lvl="6" marL="3200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indent="-355600" lvl="7" marL="3657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indent="-355600" lvl="8" marL="41148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/>
        </p:txBody>
      </p:sp>
      <p:sp>
        <p:nvSpPr>
          <p:cNvPr id="57" name="Google Shape;57;p9"/>
          <p:cNvSpPr txBox="1"/>
          <p:nvPr>
            <p:ph idx="2" type="body"/>
          </p:nvPr>
        </p:nvSpPr>
        <p:spPr>
          <a:xfrm>
            <a:off x="457200" y="1435100"/>
            <a:ext cx="3008313" cy="46910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indent="-228600" lvl="1" marL="9144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indent="-228600" lvl="2" marL="1371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indent="-228600" lvl="3" marL="1828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indent="-228600" lvl="4" marL="22860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indent="-228600" lvl="5" marL="27432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indent="-228600" lvl="6" marL="32004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indent="-228600" lvl="7" marL="3657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indent="-228600" lvl="8" marL="4114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/>
        </p:txBody>
      </p:sp>
      <p:sp>
        <p:nvSpPr>
          <p:cNvPr id="58" name="Google Shape;58;p9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9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9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type="picTx">
  <p:cSld name="PICTURE_WITH_CAPTION_TEXT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10"/>
          <p:cNvSpPr txBox="1"/>
          <p:nvPr>
            <p:ph type="title"/>
          </p:nvPr>
        </p:nvSpPr>
        <p:spPr>
          <a:xfrm>
            <a:off x="1792288" y="4800600"/>
            <a:ext cx="5486400" cy="566738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None/>
              <a:defRPr b="1" sz="2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10"/>
          <p:cNvSpPr/>
          <p:nvPr>
            <p:ph idx="2" type="pic"/>
          </p:nvPr>
        </p:nvSpPr>
        <p:spPr>
          <a:xfrm>
            <a:off x="1792288" y="612775"/>
            <a:ext cx="5486400" cy="4114800"/>
          </a:xfrm>
          <a:prstGeom prst="rect">
            <a:avLst/>
          </a:prstGeom>
          <a:noFill/>
          <a:ln>
            <a:noFill/>
          </a:ln>
        </p:spPr>
      </p:sp>
      <p:sp>
        <p:nvSpPr>
          <p:cNvPr id="64" name="Google Shape;64;p10"/>
          <p:cNvSpPr txBox="1"/>
          <p:nvPr>
            <p:ph idx="1" type="body"/>
          </p:nvPr>
        </p:nvSpPr>
        <p:spPr>
          <a:xfrm>
            <a:off x="1792288" y="5367338"/>
            <a:ext cx="5486400" cy="80486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indent="-228600" lvl="1" marL="9144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indent="-228600" lvl="2" marL="1371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indent="-228600" lvl="3" marL="1828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indent="-228600" lvl="4" marL="22860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indent="-228600" lvl="5" marL="27432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indent="-228600" lvl="6" marL="32004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indent="-228600" lvl="7" marL="3657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indent="-228600" lvl="8" marL="4114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/>
        </p:txBody>
      </p:sp>
      <p:sp>
        <p:nvSpPr>
          <p:cNvPr id="65" name="Google Shape;65;p10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6" name="Google Shape;66;p10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7" name="Google Shape;67;p10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68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Google Shape;69;p11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0" name="Google Shape;70;p11"/>
          <p:cNvSpPr txBox="1"/>
          <p:nvPr>
            <p:ph idx="1" type="body"/>
          </p:nvPr>
        </p:nvSpPr>
        <p:spPr>
          <a:xfrm rot="5400000">
            <a:off x="2309019" y="-251618"/>
            <a:ext cx="4525963" cy="8229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71" name="Google Shape;71;p11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1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3" name="Google Shape;73;p11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type="vertTitleAndTx">
  <p:cSld name="VERTICAL_TITLE_AND_VERTICAL_TEXT"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2"/>
          <p:cNvSpPr txBox="1"/>
          <p:nvPr>
            <p:ph type="title"/>
          </p:nvPr>
        </p:nvSpPr>
        <p:spPr>
          <a:xfrm rot="5400000">
            <a:off x="4732338" y="2171701"/>
            <a:ext cx="5851525" cy="2057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2"/>
          <p:cNvSpPr txBox="1"/>
          <p:nvPr>
            <p:ph idx="1" type="body"/>
          </p:nvPr>
        </p:nvSpPr>
        <p:spPr>
          <a:xfrm rot="5400000">
            <a:off x="541338" y="190500"/>
            <a:ext cx="5851525" cy="6019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77" name="Google Shape;77;p12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8" name="Google Shape;78;p12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2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2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 b="0" i="0" sz="4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31800" lvl="0" marL="457200" marR="0" rtl="0" algn="l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•"/>
              <a:defRPr b="0" i="0" sz="3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406400" lvl="1" marL="914400" marR="0" rtl="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–"/>
              <a:defRPr b="0" i="0" sz="2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81000" lvl="2" marL="1371600" marR="0" rtl="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b="0" i="0" sz="2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55600" lvl="3" marL="18288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–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55600" lvl="4" marL="22860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»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55600" lvl="5" marL="27432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55600" lvl="6" marL="32004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55600" lvl="7" marL="36576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55600" lvl="8" marL="41148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9" name="Google Shape;9;p1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0" name="Google Shape;10;p1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2284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4" name="Picture 3" descr="iut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502920"/>
            <a:ext cx="750241" cy="123444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645920" y="658368"/>
            <a:ext cx="6400800" cy="384048"/>
          </a:xfrm>
          <a:prstGeom prst="rect">
            <a:avLst/>
          </a:prstGeom>
          <a:noFill/>
        </p:spPr>
        <p:txBody>
          <a:bodyPr wrap="square" lIns="27432" rIns="27432" tIns="27432" bIns="27432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000" b="1" i="0">
                <a:solidFill>
                  <a:srgbClr val="12284C"/>
                </a:solidFill>
                <a:latin typeface="Source Sans 3"/>
              </a:rPr>
              <a:t>Islamic University of Technology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645920" y="1024128"/>
            <a:ext cx="6400800" cy="365760"/>
          </a:xfrm>
          <a:prstGeom prst="rect">
            <a:avLst/>
          </a:prstGeom>
          <a:noFill/>
        </p:spPr>
        <p:txBody>
          <a:bodyPr wrap="square" lIns="27432" rIns="27432" tIns="27432" bIns="27432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600" b="0" i="0">
                <a:solidFill>
                  <a:srgbClr val="5A6270"/>
                </a:solidFill>
                <a:latin typeface="Source Sans 3"/>
              </a:rPr>
              <a:t>Department of Computer Science and Engineering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057400"/>
            <a:ext cx="9692640" cy="1554480"/>
          </a:xfrm>
          <a:prstGeom prst="rect">
            <a:avLst/>
          </a:prstGeom>
          <a:noFill/>
        </p:spPr>
        <p:txBody>
          <a:bodyPr wrap="square" lIns="27432" rIns="27432" tIns="27432" bIns="27432" anchor="t">
            <a:noAutofit/>
          </a:bodyPr>
          <a:lstStyle/>
          <a:p>
            <a:pPr algn="l">
              <a:lnSpc>
                <a:spcPct val="95000"/>
              </a:lnSpc>
              <a:spcAft>
                <a:spcPts val="0"/>
              </a:spcAft>
            </a:pPr>
            <a:r>
              <a:rPr sz="4400" b="1" i="0">
                <a:solidFill>
                  <a:srgbClr val="12284C"/>
                </a:solidFill>
                <a:latin typeface="Source Sans 3"/>
              </a:rPr>
              <a:t>Orthogonal Defect Classification</a:t>
            </a:r>
          </a:p>
          <a:p>
            <a:pPr algn="l">
              <a:lnSpc>
                <a:spcPct val="95000"/>
              </a:lnSpc>
              <a:spcAft>
                <a:spcPts val="0"/>
              </a:spcAft>
            </a:pPr>
            <a:r>
              <a:rPr sz="4400" b="1" i="0">
                <a:solidFill>
                  <a:srgbClr val="12284C"/>
                </a:solidFill>
                <a:latin typeface="Source Sans 3"/>
              </a:rPr>
              <a:t>on Defects4J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3611880"/>
            <a:ext cx="9692640" cy="548640"/>
          </a:xfrm>
          <a:prstGeom prst="rect">
            <a:avLst/>
          </a:prstGeom>
          <a:noFill/>
        </p:spPr>
        <p:txBody>
          <a:bodyPr wrap="square" lIns="27432" rIns="27432" tIns="27432" bIns="27432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700" b="0" i="0">
                <a:solidFill>
                  <a:srgbClr val="1C2128"/>
                </a:solidFill>
                <a:latin typeface="Source Sans 3"/>
              </a:rPr>
              <a:t>Using an LLM-Driven Scientific Approach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31520" y="4343400"/>
            <a:ext cx="2377440" cy="0"/>
          </a:xfrm>
          <a:prstGeom prst="line">
            <a:avLst/>
          </a:prstGeom>
          <a:ln w="19050">
            <a:solidFill>
              <a:srgbClr val="12284C"/>
            </a:solidFill>
          </a:ln>
        </p:spPr>
      </p:cxnSp>
      <p:sp>
        <p:nvSpPr>
          <p:cNvPr id="10" name="TextBox 9"/>
          <p:cNvSpPr txBox="1"/>
          <p:nvPr/>
        </p:nvSpPr>
        <p:spPr>
          <a:xfrm>
            <a:off x="731520" y="4453128"/>
            <a:ext cx="7680960" cy="384048"/>
          </a:xfrm>
          <a:prstGeom prst="rect">
            <a:avLst/>
          </a:prstGeom>
          <a:noFill/>
        </p:spPr>
        <p:txBody>
          <a:bodyPr wrap="square" lIns="27432" rIns="27432" tIns="27432" bIns="27432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700" b="0" i="0">
                <a:solidFill>
                  <a:srgbClr val="5A6270"/>
                </a:solidFill>
                <a:latin typeface="Source Sans 3"/>
              </a:rPr>
              <a:t>Thesis Defence  ·  B.Sc. in Computer Science and Engineering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5074920"/>
            <a:ext cx="4206240" cy="1463040"/>
          </a:xfrm>
          <a:prstGeom prst="rect">
            <a:avLst/>
          </a:prstGeom>
          <a:noFill/>
        </p:spPr>
        <p:txBody>
          <a:bodyPr wrap="square" lIns="27432" rIns="27432" tIns="27432" bIns="27432" anchor="t">
            <a:no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500" b="1" i="0">
                <a:solidFill>
                  <a:srgbClr val="12284C"/>
                </a:solidFill>
                <a:latin typeface="Source Sans 3"/>
              </a:rPr>
              <a:t>Presented by</a:t>
            </a:r>
          </a:p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600" b="0" i="0">
                <a:solidFill>
                  <a:srgbClr val="1C2128"/>
                </a:solidFill>
                <a:latin typeface="Source Sans 3"/>
              </a:rPr>
              <a:t>Md. Sakib Hossain  (210042133)</a:t>
            </a:r>
          </a:p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600" b="0" i="0">
                <a:solidFill>
                  <a:srgbClr val="1C2128"/>
                </a:solidFill>
                <a:latin typeface="Source Sans 3"/>
              </a:rPr>
              <a:t>Mohammad Nahiyan Kabir  (210042168)</a:t>
            </a:r>
          </a:p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600" b="0" i="0">
                <a:solidFill>
                  <a:srgbClr val="1C2128"/>
                </a:solidFill>
                <a:latin typeface="Source Sans 3"/>
              </a:rPr>
              <a:t>Hasin Mahtab Alvee  (210042174)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349240" y="5074920"/>
            <a:ext cx="4206240" cy="1463040"/>
          </a:xfrm>
          <a:prstGeom prst="rect">
            <a:avLst/>
          </a:prstGeom>
          <a:noFill/>
        </p:spPr>
        <p:txBody>
          <a:bodyPr wrap="square" lIns="27432" rIns="27432" tIns="27432" bIns="27432" anchor="t">
            <a:no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500" b="1" i="0">
                <a:solidFill>
                  <a:srgbClr val="12284C"/>
                </a:solidFill>
                <a:latin typeface="Source Sans 3"/>
              </a:rPr>
              <a:t>Supervisor</a:t>
            </a:r>
          </a:p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600" b="0" i="0">
                <a:solidFill>
                  <a:srgbClr val="1C2128"/>
                </a:solidFill>
                <a:latin typeface="Source Sans 3"/>
              </a:rPr>
              <a:t>Lutfun Nahar Lota, Assistant Professor</a:t>
            </a:r>
          </a:p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500" b="1" i="0">
                <a:solidFill>
                  <a:srgbClr val="12284C"/>
                </a:solidFill>
                <a:latin typeface="Source Sans 3"/>
              </a:rPr>
              <a:t>Co-supervisor</a:t>
            </a:r>
          </a:p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600" b="0" i="0">
                <a:solidFill>
                  <a:srgbClr val="1C2128"/>
                </a:solidFill>
                <a:latin typeface="Source Sans 3"/>
              </a:rPr>
              <a:t>Ishmam Tashdeed, Lecturer</a:t>
            </a:r>
          </a:p>
        </p:txBody>
      </p:sp>
      <p:sp>
        <p:nvSpPr>
          <p:cNvPr id="13" name="Rectangle 12"/>
          <p:cNvSpPr/>
          <p:nvPr/>
        </p:nvSpPr>
        <p:spPr>
          <a:xfrm>
            <a:off x="0" y="6748272"/>
            <a:ext cx="12191695" cy="109728"/>
          </a:xfrm>
          <a:prstGeom prst="rect">
            <a:avLst/>
          </a:prstGeom>
          <a:solidFill>
            <a:srgbClr val="12284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74320"/>
            <a:ext cx="10332720" cy="731520"/>
          </a:xfrm>
          <a:prstGeom prst="rect">
            <a:avLst/>
          </a:prstGeom>
          <a:noFill/>
        </p:spPr>
        <p:txBody>
          <a:bodyPr wrap="square" lIns="27432" rIns="27432" tIns="27432" bIns="27432" anchor="b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000" b="1" i="0">
                <a:solidFill>
                  <a:srgbClr val="12284C"/>
                </a:solidFill>
                <a:latin typeface="Source Sans 3"/>
              </a:rPr>
              <a:t>Motivation: Classifying Defects in Defects4J</a:t>
            </a:r>
          </a:p>
        </p:txBody>
      </p:sp>
      <p:pic>
        <p:nvPicPr>
          <p:cNvPr id="4" name="Picture 3" descr="iut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228832" y="292608"/>
            <a:ext cx="433472" cy="713232"/>
          </a:xfrm>
          <a:prstGeom prst="rect">
            <a:avLst/>
          </a:prstGeom>
        </p:spPr>
      </p:pic>
      <p:cxnSp>
        <p:nvCxnSpPr>
          <p:cNvPr id="5" name="Connector 4"/>
          <p:cNvCxnSpPr/>
          <p:nvPr/>
        </p:nvCxnSpPr>
        <p:spPr>
          <a:xfrm>
            <a:off x="548640" y="1078992"/>
            <a:ext cx="11091672" cy="0"/>
          </a:xfrm>
          <a:prstGeom prst="line">
            <a:avLst/>
          </a:prstGeom>
          <a:ln w="9525">
            <a:solidFill>
              <a:srgbClr val="D5D9DF"/>
            </a:solidFill>
          </a:ln>
        </p:spPr>
      </p:cxnSp>
      <p:sp>
        <p:nvSpPr>
          <p:cNvPr id="6" name="Rectangle 5"/>
          <p:cNvSpPr/>
          <p:nvPr/>
        </p:nvSpPr>
        <p:spPr>
          <a:xfrm>
            <a:off x="548640" y="1060704"/>
            <a:ext cx="914400" cy="41148"/>
          </a:xfrm>
          <a:prstGeom prst="rect">
            <a:avLst/>
          </a:prstGeom>
          <a:solidFill>
            <a:srgbClr val="12284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>
            <a:off x="548640" y="6400800"/>
            <a:ext cx="11091672" cy="0"/>
          </a:xfrm>
          <a:prstGeom prst="line">
            <a:avLst/>
          </a:prstGeom>
          <a:ln w="9525">
            <a:solidFill>
              <a:srgbClr val="D5D9DF"/>
            </a:solidFill>
          </a:ln>
        </p:spPr>
      </p:cxnSp>
      <p:sp>
        <p:nvSpPr>
          <p:cNvPr id="8" name="TextBox 7"/>
          <p:cNvSpPr txBox="1"/>
          <p:nvPr/>
        </p:nvSpPr>
        <p:spPr>
          <a:xfrm>
            <a:off x="548640" y="6437376"/>
            <a:ext cx="3931920" cy="365760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00" b="0" i="0">
                <a:solidFill>
                  <a:srgbClr val="8A919C"/>
                </a:solidFill>
                <a:latin typeface="Source Sans 3"/>
              </a:rPr>
              <a:t>ODC on Defects4J  ·  Thesis Defence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0" y="6437376"/>
            <a:ext cx="854964" cy="365760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400" b="1" i="0">
                <a:solidFill>
                  <a:srgbClr val="12284C"/>
                </a:solidFill>
                <a:latin typeface="Source Sans 3"/>
              </a:rPr>
              <a:t>Context</a:t>
            </a:r>
          </a:p>
        </p:txBody>
      </p:sp>
      <p:sp>
        <p:nvSpPr>
          <p:cNvPr id="10" name="Rectangle 9"/>
          <p:cNvSpPr/>
          <p:nvPr/>
        </p:nvSpPr>
        <p:spPr>
          <a:xfrm>
            <a:off x="4663440" y="6757416"/>
            <a:ext cx="672084" cy="32004"/>
          </a:xfrm>
          <a:prstGeom prst="rect">
            <a:avLst/>
          </a:prstGeom>
          <a:solidFill>
            <a:srgbClr val="12284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655564" y="6437376"/>
            <a:ext cx="1239012" cy="365760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400" b="0" i="0">
                <a:solidFill>
                  <a:srgbClr val="8A919C"/>
                </a:solidFill>
                <a:latin typeface="Source Sans 3"/>
              </a:rPr>
              <a:t>Methodology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123176" y="6437376"/>
            <a:ext cx="854964" cy="365760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400" b="0" i="0">
                <a:solidFill>
                  <a:srgbClr val="8A919C"/>
                </a:solidFill>
                <a:latin typeface="Source Sans 3"/>
              </a:rPr>
              <a:t>Results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966960" y="6419088"/>
            <a:ext cx="1673352" cy="402336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800" b="1" i="0">
                <a:solidFill>
                  <a:srgbClr val="12284C"/>
                </a:solidFill>
                <a:latin typeface="Source Sans 3"/>
              </a:rPr>
              <a:t>2 / 24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1325880"/>
            <a:ext cx="2468880" cy="841248"/>
          </a:xfrm>
          <a:prstGeom prst="rect">
            <a:avLst/>
          </a:prstGeom>
          <a:noFill/>
        </p:spPr>
        <p:txBody>
          <a:bodyPr wrap="square" lIns="27432" rIns="27432" tIns="27432" bIns="27432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4600" b="1" i="0">
                <a:solidFill>
                  <a:srgbClr val="12284C"/>
                </a:solidFill>
                <a:latin typeface="Source Sans 3"/>
              </a:rPr>
              <a:t>836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2185416"/>
            <a:ext cx="2468880" cy="384048"/>
          </a:xfrm>
          <a:prstGeom prst="rect">
            <a:avLst/>
          </a:prstGeom>
          <a:noFill/>
        </p:spPr>
        <p:txBody>
          <a:bodyPr wrap="square" lIns="27432" rIns="27432" tIns="27432" bIns="27432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600" b="0" i="0">
                <a:solidFill>
                  <a:srgbClr val="5A6270"/>
                </a:solidFill>
                <a:latin typeface="Source Sans 3"/>
              </a:rPr>
              <a:t>reproducible real bugs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0" y="1325880"/>
            <a:ext cx="2468880" cy="841248"/>
          </a:xfrm>
          <a:prstGeom prst="rect">
            <a:avLst/>
          </a:prstGeom>
          <a:noFill/>
        </p:spPr>
        <p:txBody>
          <a:bodyPr wrap="square" lIns="27432" rIns="27432" tIns="27432" bIns="27432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4600" b="1" i="0">
                <a:solidFill>
                  <a:srgbClr val="12284C"/>
                </a:solidFill>
                <a:latin typeface="Source Sans 3"/>
              </a:rPr>
              <a:t>17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200400" y="2185416"/>
            <a:ext cx="2468880" cy="384048"/>
          </a:xfrm>
          <a:prstGeom prst="rect">
            <a:avLst/>
          </a:prstGeom>
          <a:noFill/>
        </p:spPr>
        <p:txBody>
          <a:bodyPr wrap="square" lIns="27432" rIns="27432" tIns="27432" bIns="27432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600" b="0" i="0">
                <a:solidFill>
                  <a:srgbClr val="5A6270"/>
                </a:solidFill>
                <a:latin typeface="Source Sans 3"/>
              </a:rPr>
              <a:t>Java projects [5]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548640" y="2514600"/>
            <a:ext cx="5212080" cy="0"/>
          </a:xfrm>
          <a:prstGeom prst="line">
            <a:avLst/>
          </a:prstGeom>
          <a:ln w="9525">
            <a:solidFill>
              <a:srgbClr val="D5D9DF"/>
            </a:solidFill>
          </a:ln>
        </p:spPr>
      </p:cxnSp>
      <p:sp>
        <p:nvSpPr>
          <p:cNvPr id="19" name="TextBox 18"/>
          <p:cNvSpPr txBox="1"/>
          <p:nvPr/>
        </p:nvSpPr>
        <p:spPr>
          <a:xfrm>
            <a:off x="548640" y="2651760"/>
            <a:ext cx="5486400" cy="2651760"/>
          </a:xfrm>
          <a:prstGeom prst="rect">
            <a:avLst/>
          </a:prstGeom>
          <a:noFill/>
        </p:spPr>
        <p:txBody>
          <a:bodyPr wrap="square" lIns="27432" rIns="27432" tIns="27432" bIns="27432" anchor="t">
            <a:noAutofit/>
          </a:bodyPr>
          <a:lstStyle/>
          <a:p>
            <a:pPr algn="l">
              <a:lnSpc>
                <a:spcPct val="105000"/>
              </a:lnSpc>
              <a:spcAft>
                <a:spcPts val="1200"/>
              </a:spcAft>
            </a:pPr>
            <a:r>
              <a:rPr sz="1300" b="0" i="0">
                <a:solidFill>
                  <a:srgbClr val="12284C"/>
                </a:solidFill>
                <a:latin typeface="Source Sans 3"/>
              </a:rPr>
              <a:t>▪  </a:t>
            </a:r>
            <a:r>
              <a:rPr sz="1700" b="0" i="0">
                <a:solidFill>
                  <a:srgbClr val="1C2128"/>
                </a:solidFill>
                <a:latin typeface="Source Sans 3"/>
              </a:rPr>
              <a:t>A standard benchmark for debugging research [6, 7]</a:t>
            </a:r>
          </a:p>
          <a:p>
            <a:pPr algn="l">
              <a:lnSpc>
                <a:spcPct val="105000"/>
              </a:lnSpc>
              <a:spcAft>
                <a:spcPts val="1200"/>
              </a:spcAft>
            </a:pPr>
            <a:r>
              <a:rPr sz="1300" b="0" i="0">
                <a:solidFill>
                  <a:srgbClr val="12284C"/>
                </a:solidFill>
                <a:latin typeface="Source Sans 3"/>
              </a:rPr>
              <a:t>▪  </a:t>
            </a:r>
            <a:r>
              <a:rPr sz="1700" b="0" i="0">
                <a:solidFill>
                  <a:srgbClr val="1C2128"/>
                </a:solidFill>
                <a:latin typeface="Source Sans 3"/>
              </a:rPr>
              <a:t>Defect types need different debugging strategies [1]</a:t>
            </a:r>
          </a:p>
          <a:p>
            <a:pPr algn="l">
              <a:lnSpc>
                <a:spcPct val="105000"/>
              </a:lnSpc>
              <a:spcAft>
                <a:spcPts val="1200"/>
              </a:spcAft>
            </a:pPr>
            <a:r>
              <a:rPr sz="1300" b="0" i="0">
                <a:solidFill>
                  <a:srgbClr val="12284C"/>
                </a:solidFill>
                <a:latin typeface="Source Sans 3"/>
              </a:rPr>
              <a:t>▪  </a:t>
            </a:r>
            <a:r>
              <a:rPr sz="1700" b="0" i="0">
                <a:solidFill>
                  <a:srgbClr val="1C2128"/>
                </a:solidFill>
                <a:latin typeface="Source Sans 3"/>
              </a:rPr>
              <a:t>Manual triage is accurate, but does not scale [3]</a:t>
            </a:r>
          </a:p>
          <a:p>
            <a:pPr algn="l">
              <a:lnSpc>
                <a:spcPct val="105000"/>
              </a:lnSpc>
              <a:spcAft>
                <a:spcPts val="1200"/>
              </a:spcAft>
            </a:pPr>
            <a:r>
              <a:rPr sz="1300" b="0" i="0">
                <a:solidFill>
                  <a:srgbClr val="12284C"/>
                </a:solidFill>
                <a:latin typeface="Source Sans 3"/>
              </a:rPr>
              <a:t>▪  </a:t>
            </a:r>
            <a:r>
              <a:rPr sz="1700" b="0" i="0">
                <a:solidFill>
                  <a:srgbClr val="1C2128"/>
                </a:solidFill>
                <a:latin typeface="Source Sans 3"/>
              </a:rPr>
              <a:t>LLMs can read all this evidence — </a:t>
            </a:r>
            <a:r>
              <a:rPr sz="1700" b="1" i="0">
                <a:solidFill>
                  <a:srgbClr val="12284C"/>
                </a:solidFill>
                <a:latin typeface="Source Sans 3"/>
              </a:rPr>
              <a:t>but should they answer at once, or investigate?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09360" y="1325880"/>
            <a:ext cx="5330952" cy="329184"/>
          </a:xfrm>
          <a:prstGeom prst="rect">
            <a:avLst/>
          </a:prstGeom>
          <a:noFill/>
        </p:spPr>
        <p:txBody>
          <a:bodyPr wrap="square" lIns="27432" rIns="27432" tIns="27432" bIns="27432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00" b="1" i="0">
                <a:solidFill>
                  <a:srgbClr val="5A6270"/>
                </a:solidFill>
                <a:latin typeface="Source Sans 3"/>
              </a:rPr>
              <a:t>WHAT EVERY DEFECTS4J BUG SHIPS WITH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309360" y="1719072"/>
            <a:ext cx="5330952" cy="603504"/>
          </a:xfrm>
          <a:prstGeom prst="rect">
            <a:avLst/>
          </a:prstGeom>
          <a:solidFill>
            <a:srgbClr val="F4F5F7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309360" y="1719072"/>
            <a:ext cx="64008" cy="603504"/>
          </a:xfrm>
          <a:prstGeom prst="rect">
            <a:avLst/>
          </a:prstGeom>
          <a:solidFill>
            <a:srgbClr val="5A62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583680" y="1719072"/>
            <a:ext cx="4873752" cy="603504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800" b="1" i="0">
                <a:solidFill>
                  <a:srgbClr val="1C2128"/>
                </a:solidFill>
                <a:latin typeface="Source Sans 3"/>
              </a:rPr>
              <a:t>Bug report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309360" y="2432304"/>
            <a:ext cx="5330952" cy="603504"/>
          </a:xfrm>
          <a:prstGeom prst="rect">
            <a:avLst/>
          </a:prstGeom>
          <a:solidFill>
            <a:srgbClr val="F4F5F7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309360" y="2432304"/>
            <a:ext cx="64008" cy="603504"/>
          </a:xfrm>
          <a:prstGeom prst="rect">
            <a:avLst/>
          </a:prstGeom>
          <a:solidFill>
            <a:srgbClr val="5A62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583680" y="2432304"/>
            <a:ext cx="4873752" cy="603504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800" b="1" i="0">
                <a:solidFill>
                  <a:srgbClr val="1C2128"/>
                </a:solidFill>
                <a:latin typeface="Source Sans 3"/>
              </a:rPr>
              <a:t>Failing tests + stack traces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309360" y="3145536"/>
            <a:ext cx="5330952" cy="603504"/>
          </a:xfrm>
          <a:prstGeom prst="rect">
            <a:avLst/>
          </a:prstGeom>
          <a:solidFill>
            <a:srgbClr val="F7E6E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6309360" y="3145536"/>
            <a:ext cx="64008" cy="603504"/>
          </a:xfrm>
          <a:prstGeom prst="rect">
            <a:avLst/>
          </a:prstGeom>
          <a:solidFill>
            <a:srgbClr val="A23B3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583680" y="3145536"/>
            <a:ext cx="4873752" cy="603504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800" b="1" i="0">
                <a:solidFill>
                  <a:srgbClr val="A23B3B"/>
                </a:solidFill>
                <a:latin typeface="Source Sans 3"/>
              </a:rPr>
              <a:t>Buggy source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309360" y="3858768"/>
            <a:ext cx="5330952" cy="603504"/>
          </a:xfrm>
          <a:prstGeom prst="rect">
            <a:avLst/>
          </a:prstGeom>
          <a:solidFill>
            <a:srgbClr val="E3F1E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6309360" y="3858768"/>
            <a:ext cx="64008" cy="603504"/>
          </a:xfrm>
          <a:prstGeom prst="rect">
            <a:avLst/>
          </a:prstGeom>
          <a:solidFill>
            <a:srgbClr val="2F7D4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583680" y="3858768"/>
            <a:ext cx="4873752" cy="603504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800" b="1" i="0">
                <a:solidFill>
                  <a:srgbClr val="2F7D4F"/>
                </a:solidFill>
                <a:latin typeface="Source Sans 3"/>
              </a:rPr>
              <a:t>Fixed source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309360" y="4572000"/>
            <a:ext cx="5330952" cy="603504"/>
          </a:xfrm>
          <a:prstGeom prst="rect">
            <a:avLst/>
          </a:prstGeom>
          <a:solidFill>
            <a:srgbClr val="E3F1E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6309360" y="4572000"/>
            <a:ext cx="64008" cy="603504"/>
          </a:xfrm>
          <a:prstGeom prst="rect">
            <a:avLst/>
          </a:prstGeom>
          <a:solidFill>
            <a:srgbClr val="2F7D4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583680" y="4572000"/>
            <a:ext cx="4873752" cy="603504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800" b="1" i="0">
                <a:solidFill>
                  <a:srgbClr val="2F7D4F"/>
                </a:solidFill>
                <a:latin typeface="Source Sans 3"/>
              </a:rPr>
              <a:t>Fix diff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48640" y="5440680"/>
            <a:ext cx="64008" cy="640080"/>
          </a:xfrm>
          <a:prstGeom prst="rect">
            <a:avLst/>
          </a:prstGeom>
          <a:solidFill>
            <a:srgbClr val="12284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777240" y="5440680"/>
            <a:ext cx="10881360" cy="640080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800" b="0" i="0">
                <a:solidFill>
                  <a:srgbClr val="1C2128"/>
                </a:solidFill>
                <a:latin typeface="Source Sans 3"/>
              </a:rPr>
              <a:t>Every bug ships with its fix, so one bug can be classified </a:t>
            </a:r>
            <a:r>
              <a:rPr sz="1800" b="1" i="0">
                <a:solidFill>
                  <a:srgbClr val="A23B3B"/>
                </a:solidFill>
                <a:latin typeface="Source Sans 3"/>
              </a:rPr>
              <a:t>before</a:t>
            </a:r>
            <a:r>
              <a:rPr sz="1800" b="0" i="0">
                <a:solidFill>
                  <a:srgbClr val="1C2128"/>
                </a:solidFill>
                <a:latin typeface="Source Sans 3"/>
              </a:rPr>
              <a:t> and </a:t>
            </a:r>
            <a:r>
              <a:rPr sz="1800" b="1" i="0">
                <a:solidFill>
                  <a:srgbClr val="2F7D4F"/>
                </a:solidFill>
                <a:latin typeface="Source Sans 3"/>
              </a:rPr>
              <a:t>after</a:t>
            </a:r>
            <a:r>
              <a:rPr sz="1800" b="0" i="0">
                <a:solidFill>
                  <a:srgbClr val="1C2128"/>
                </a:solidFill>
                <a:latin typeface="Source Sans 3"/>
              </a:rPr>
              <a:t> it.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74320"/>
            <a:ext cx="10332720" cy="731520"/>
          </a:xfrm>
          <a:prstGeom prst="rect">
            <a:avLst/>
          </a:prstGeom>
          <a:noFill/>
        </p:spPr>
        <p:txBody>
          <a:bodyPr wrap="square" lIns="27432" rIns="27432" tIns="27432" bIns="27432" anchor="b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000" b="1" i="0">
                <a:solidFill>
                  <a:srgbClr val="12284C"/>
                </a:solidFill>
                <a:latin typeface="Source Sans 3"/>
              </a:rPr>
              <a:t>Orthogonal Defect Classification (ODC)</a:t>
            </a:r>
          </a:p>
        </p:txBody>
      </p:sp>
      <p:pic>
        <p:nvPicPr>
          <p:cNvPr id="4" name="Picture 3" descr="iut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228832" y="292608"/>
            <a:ext cx="433472" cy="713232"/>
          </a:xfrm>
          <a:prstGeom prst="rect">
            <a:avLst/>
          </a:prstGeom>
        </p:spPr>
      </p:pic>
      <p:cxnSp>
        <p:nvCxnSpPr>
          <p:cNvPr id="5" name="Connector 4"/>
          <p:cNvCxnSpPr/>
          <p:nvPr/>
        </p:nvCxnSpPr>
        <p:spPr>
          <a:xfrm>
            <a:off x="548640" y="1078992"/>
            <a:ext cx="11091672" cy="0"/>
          </a:xfrm>
          <a:prstGeom prst="line">
            <a:avLst/>
          </a:prstGeom>
          <a:ln w="9525">
            <a:solidFill>
              <a:srgbClr val="D5D9DF"/>
            </a:solidFill>
          </a:ln>
        </p:spPr>
      </p:cxnSp>
      <p:sp>
        <p:nvSpPr>
          <p:cNvPr id="6" name="Rectangle 5"/>
          <p:cNvSpPr/>
          <p:nvPr/>
        </p:nvSpPr>
        <p:spPr>
          <a:xfrm>
            <a:off x="548640" y="1060704"/>
            <a:ext cx="914400" cy="41148"/>
          </a:xfrm>
          <a:prstGeom prst="rect">
            <a:avLst/>
          </a:prstGeom>
          <a:solidFill>
            <a:srgbClr val="12284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>
            <a:off x="548640" y="6400800"/>
            <a:ext cx="11091672" cy="0"/>
          </a:xfrm>
          <a:prstGeom prst="line">
            <a:avLst/>
          </a:prstGeom>
          <a:ln w="9525">
            <a:solidFill>
              <a:srgbClr val="D5D9DF"/>
            </a:solidFill>
          </a:ln>
        </p:spPr>
      </p:cxnSp>
      <p:sp>
        <p:nvSpPr>
          <p:cNvPr id="8" name="TextBox 7"/>
          <p:cNvSpPr txBox="1"/>
          <p:nvPr/>
        </p:nvSpPr>
        <p:spPr>
          <a:xfrm>
            <a:off x="548640" y="6437376"/>
            <a:ext cx="3931920" cy="365760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00" b="0" i="0">
                <a:solidFill>
                  <a:srgbClr val="8A919C"/>
                </a:solidFill>
                <a:latin typeface="Source Sans 3"/>
              </a:rPr>
              <a:t>ODC on Defects4J  ·  Thesis Defence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0" y="6437376"/>
            <a:ext cx="854964" cy="365760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400" b="1" i="0">
                <a:solidFill>
                  <a:srgbClr val="12284C"/>
                </a:solidFill>
                <a:latin typeface="Source Sans 3"/>
              </a:rPr>
              <a:t>Context</a:t>
            </a:r>
          </a:p>
        </p:txBody>
      </p:sp>
      <p:sp>
        <p:nvSpPr>
          <p:cNvPr id="10" name="Rectangle 9"/>
          <p:cNvSpPr/>
          <p:nvPr/>
        </p:nvSpPr>
        <p:spPr>
          <a:xfrm>
            <a:off x="4663440" y="6757416"/>
            <a:ext cx="672084" cy="32004"/>
          </a:xfrm>
          <a:prstGeom prst="rect">
            <a:avLst/>
          </a:prstGeom>
          <a:solidFill>
            <a:srgbClr val="12284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655564" y="6437376"/>
            <a:ext cx="1239012" cy="365760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400" b="0" i="0">
                <a:solidFill>
                  <a:srgbClr val="8A919C"/>
                </a:solidFill>
                <a:latin typeface="Source Sans 3"/>
              </a:rPr>
              <a:t>Methodology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123176" y="6437376"/>
            <a:ext cx="854964" cy="365760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400" b="0" i="0">
                <a:solidFill>
                  <a:srgbClr val="8A919C"/>
                </a:solidFill>
                <a:latin typeface="Source Sans 3"/>
              </a:rPr>
              <a:t>Results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966960" y="6419088"/>
            <a:ext cx="1673352" cy="402336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800" b="1" i="0">
                <a:solidFill>
                  <a:srgbClr val="12284C"/>
                </a:solidFill>
                <a:latin typeface="Source Sans 3"/>
              </a:rPr>
              <a:t>3 / 24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1207008"/>
            <a:ext cx="11091672" cy="411480"/>
          </a:xfrm>
          <a:prstGeom prst="rect">
            <a:avLst/>
          </a:prstGeom>
          <a:noFill/>
        </p:spPr>
        <p:txBody>
          <a:bodyPr wrap="square" lIns="27432" rIns="27432" tIns="27432" bIns="27432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800" b="0" i="0">
                <a:solidFill>
                  <a:srgbClr val="1C2128"/>
                </a:solidFill>
                <a:latin typeface="Source Sans 3"/>
              </a:rPr>
              <a:t>ODC [4, 15] describes a defect when it is found (</a:t>
            </a:r>
            <a:r>
              <a:rPr sz="1800" b="0" i="1">
                <a:solidFill>
                  <a:srgbClr val="1C2128"/>
                </a:solidFill>
                <a:latin typeface="Source Sans 3"/>
              </a:rPr>
              <a:t>opener</a:t>
            </a:r>
            <a:r>
              <a:rPr sz="1800" b="0" i="0">
                <a:solidFill>
                  <a:srgbClr val="1C2128"/>
                </a:solidFill>
                <a:latin typeface="Source Sans 3"/>
              </a:rPr>
              <a:t>) and when it is fixed (</a:t>
            </a:r>
            <a:r>
              <a:rPr sz="1800" b="0" i="1">
                <a:solidFill>
                  <a:srgbClr val="1C2128"/>
                </a:solidFill>
                <a:latin typeface="Source Sans 3"/>
              </a:rPr>
              <a:t>closer</a:t>
            </a:r>
            <a:r>
              <a:rPr sz="1800" b="0" i="0">
                <a:solidFill>
                  <a:srgbClr val="1C2128"/>
                </a:solidFill>
                <a:latin typeface="Source Sans 3"/>
              </a:rPr>
              <a:t>). We classify one closer attribute: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114800" y="1783080"/>
            <a:ext cx="2377440" cy="548640"/>
          </a:xfrm>
          <a:prstGeom prst="rect">
            <a:avLst/>
          </a:prstGeom>
          <a:solidFill>
            <a:srgbClr val="12284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114800" y="1783080"/>
            <a:ext cx="2377440" cy="548640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900" b="1" i="0">
                <a:solidFill>
                  <a:srgbClr val="FFFFFF"/>
                </a:solidFill>
                <a:latin typeface="Source Sans 3"/>
              </a:rPr>
              <a:t>Defect Type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75120" y="1783080"/>
            <a:ext cx="3657600" cy="548640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700" b="0" i="0">
                <a:solidFill>
                  <a:srgbClr val="5A6270"/>
                </a:solidFill>
                <a:latin typeface="Source Sans 3"/>
              </a:rPr>
              <a:t>the nature of the correction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5303520" y="2331720"/>
            <a:ext cx="0" cy="274320"/>
          </a:xfrm>
          <a:prstGeom prst="line">
            <a:avLst/>
          </a:prstGeom>
          <a:ln w="15875">
            <a:solidFill>
              <a:srgbClr val="8A919C"/>
            </a:solidFill>
          </a:ln>
        </p:spPr>
      </p:cxnSp>
      <p:cxnSp>
        <p:nvCxnSpPr>
          <p:cNvPr id="19" name="Connector 18"/>
          <p:cNvCxnSpPr/>
          <p:nvPr/>
        </p:nvCxnSpPr>
        <p:spPr>
          <a:xfrm>
            <a:off x="3406140" y="2606040"/>
            <a:ext cx="5660136" cy="0"/>
          </a:xfrm>
          <a:prstGeom prst="line">
            <a:avLst/>
          </a:prstGeom>
          <a:ln w="15875">
            <a:solidFill>
              <a:srgbClr val="8A919C"/>
            </a:solidFill>
          </a:ln>
        </p:spPr>
      </p:cxnSp>
      <p:cxnSp>
        <p:nvCxnSpPr>
          <p:cNvPr id="20" name="Connector 19"/>
          <p:cNvCxnSpPr/>
          <p:nvPr/>
        </p:nvCxnSpPr>
        <p:spPr>
          <a:xfrm>
            <a:off x="3406140" y="2606040"/>
            <a:ext cx="0" cy="182880"/>
          </a:xfrm>
          <a:prstGeom prst="line">
            <a:avLst/>
          </a:prstGeom>
          <a:ln w="15875">
            <a:solidFill>
              <a:srgbClr val="8A919C"/>
            </a:solidFill>
          </a:ln>
        </p:spPr>
      </p:cxnSp>
      <p:sp>
        <p:nvSpPr>
          <p:cNvPr id="21" name="Rectangle 20"/>
          <p:cNvSpPr/>
          <p:nvPr/>
        </p:nvSpPr>
        <p:spPr>
          <a:xfrm>
            <a:off x="548640" y="2788920"/>
            <a:ext cx="5715000" cy="457200"/>
          </a:xfrm>
          <a:prstGeom prst="rect">
            <a:avLst/>
          </a:prstGeom>
          <a:solidFill>
            <a:srgbClr val="E6EAF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48640" y="2788920"/>
            <a:ext cx="5715000" cy="457200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700" b="1" i="0">
                <a:solidFill>
                  <a:srgbClr val="12284C"/>
                </a:solidFill>
                <a:latin typeface="Source Sans 3"/>
              </a:rPr>
              <a:t>Control and Data Flow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1221867" y="3246120"/>
            <a:ext cx="0" cy="164592"/>
          </a:xfrm>
          <a:prstGeom prst="line">
            <a:avLst/>
          </a:prstGeom>
          <a:ln w="12700">
            <a:solidFill>
              <a:srgbClr val="8A919C"/>
            </a:solidFill>
          </a:ln>
        </p:spPr>
      </p:cxnSp>
      <p:sp>
        <p:nvSpPr>
          <p:cNvPr id="24" name="Rectangle 23"/>
          <p:cNvSpPr/>
          <p:nvPr/>
        </p:nvSpPr>
        <p:spPr>
          <a:xfrm>
            <a:off x="548640" y="3410712"/>
            <a:ext cx="1346454" cy="1874519"/>
          </a:xfrm>
          <a:prstGeom prst="rect">
            <a:avLst/>
          </a:prstGeom>
          <a:solidFill>
            <a:srgbClr val="FFFFFF"/>
          </a:solidFill>
          <a:ln w="9525">
            <a:solidFill>
              <a:srgbClr val="D5D9D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548640" y="3410712"/>
            <a:ext cx="1346454" cy="64008"/>
          </a:xfrm>
          <a:prstGeom prst="rect">
            <a:avLst/>
          </a:prstGeom>
          <a:solidFill>
            <a:srgbClr val="C07A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03503" y="3538728"/>
            <a:ext cx="1236726" cy="822960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ctr">
              <a:lnSpc>
                <a:spcPct val="95000"/>
              </a:lnSpc>
              <a:spcAft>
                <a:spcPts val="0"/>
              </a:spcAft>
            </a:pPr>
            <a:r>
              <a:rPr sz="1600" b="1" i="0">
                <a:solidFill>
                  <a:srgbClr val="1C2128"/>
                </a:solidFill>
                <a:latin typeface="Source Sans 3"/>
              </a:rPr>
              <a:t>Checking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21792" y="4389120"/>
            <a:ext cx="1200150" cy="822960"/>
          </a:xfrm>
          <a:prstGeom prst="rect">
            <a:avLst/>
          </a:prstGeom>
          <a:noFill/>
        </p:spPr>
        <p:txBody>
          <a:bodyPr wrap="square" lIns="27432" rIns="27432" tIns="27432" bIns="27432" anchor="t">
            <a:noAutofit/>
          </a:bodyPr>
          <a:lstStyle/>
          <a:p>
            <a:pPr algn="ctr">
              <a:lnSpc>
                <a:spcPct val="98000"/>
              </a:lnSpc>
              <a:spcAft>
                <a:spcPts val="0"/>
              </a:spcAft>
            </a:pPr>
            <a:r>
              <a:rPr sz="1500" b="0" i="0">
                <a:solidFill>
                  <a:srgbClr val="5A6270"/>
                </a:solidFill>
                <a:latin typeface="Source Sans 3"/>
              </a:rPr>
              <a:t>missing or wrong condition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2678049" y="3246120"/>
            <a:ext cx="0" cy="164592"/>
          </a:xfrm>
          <a:prstGeom prst="line">
            <a:avLst/>
          </a:prstGeom>
          <a:ln w="12700">
            <a:solidFill>
              <a:srgbClr val="8A919C"/>
            </a:solidFill>
          </a:ln>
        </p:spPr>
      </p:cxnSp>
      <p:sp>
        <p:nvSpPr>
          <p:cNvPr id="29" name="Rectangle 28"/>
          <p:cNvSpPr/>
          <p:nvPr/>
        </p:nvSpPr>
        <p:spPr>
          <a:xfrm>
            <a:off x="2004822" y="3410712"/>
            <a:ext cx="1346454" cy="1874519"/>
          </a:xfrm>
          <a:prstGeom prst="rect">
            <a:avLst/>
          </a:prstGeom>
          <a:solidFill>
            <a:srgbClr val="FFFFFF"/>
          </a:solidFill>
          <a:ln w="9525">
            <a:solidFill>
              <a:srgbClr val="D5D9D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2004822" y="3410712"/>
            <a:ext cx="1346454" cy="64008"/>
          </a:xfrm>
          <a:prstGeom prst="rect">
            <a:avLst/>
          </a:prstGeom>
          <a:solidFill>
            <a:srgbClr val="2F5D9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2059686" y="3538728"/>
            <a:ext cx="1236726" cy="822960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ctr">
              <a:lnSpc>
                <a:spcPct val="95000"/>
              </a:lnSpc>
              <a:spcAft>
                <a:spcPts val="0"/>
              </a:spcAft>
            </a:pPr>
            <a:r>
              <a:rPr sz="1600" b="1" i="0">
                <a:solidFill>
                  <a:srgbClr val="1C2128"/>
                </a:solidFill>
                <a:latin typeface="Source Sans 3"/>
              </a:rPr>
              <a:t>Algorithm/</a:t>
            </a:r>
          </a:p>
          <a:p>
            <a:pPr algn="ctr">
              <a:lnSpc>
                <a:spcPct val="95000"/>
              </a:lnSpc>
              <a:spcAft>
                <a:spcPts val="0"/>
              </a:spcAft>
            </a:pPr>
            <a:r>
              <a:rPr sz="1600" b="1" i="0">
                <a:solidFill>
                  <a:srgbClr val="1C2128"/>
                </a:solidFill>
                <a:latin typeface="Source Sans 3"/>
              </a:rPr>
              <a:t>Method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077974" y="4389120"/>
            <a:ext cx="1200150" cy="822960"/>
          </a:xfrm>
          <a:prstGeom prst="rect">
            <a:avLst/>
          </a:prstGeom>
          <a:noFill/>
        </p:spPr>
        <p:txBody>
          <a:bodyPr wrap="square" lIns="27432" rIns="27432" tIns="27432" bIns="27432" anchor="t">
            <a:noAutofit/>
          </a:bodyPr>
          <a:lstStyle/>
          <a:p>
            <a:pPr algn="ctr">
              <a:lnSpc>
                <a:spcPct val="98000"/>
              </a:lnSpc>
              <a:spcAft>
                <a:spcPts val="0"/>
              </a:spcAft>
            </a:pPr>
            <a:r>
              <a:rPr sz="1500" b="0" i="0">
                <a:solidFill>
                  <a:srgbClr val="5A6270"/>
                </a:solidFill>
                <a:latin typeface="Source Sans 3"/>
              </a:rPr>
              <a:t>wrong computation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4134230" y="3246120"/>
            <a:ext cx="0" cy="164592"/>
          </a:xfrm>
          <a:prstGeom prst="line">
            <a:avLst/>
          </a:prstGeom>
          <a:ln w="12700">
            <a:solidFill>
              <a:srgbClr val="8A919C"/>
            </a:solidFill>
          </a:ln>
        </p:spPr>
      </p:cxnSp>
      <p:sp>
        <p:nvSpPr>
          <p:cNvPr id="34" name="Rectangle 33"/>
          <p:cNvSpPr/>
          <p:nvPr/>
        </p:nvSpPr>
        <p:spPr>
          <a:xfrm>
            <a:off x="3461003" y="3410712"/>
            <a:ext cx="1346454" cy="1874519"/>
          </a:xfrm>
          <a:prstGeom prst="rect">
            <a:avLst/>
          </a:prstGeom>
          <a:solidFill>
            <a:srgbClr val="FFFFFF"/>
          </a:solidFill>
          <a:ln w="9525">
            <a:solidFill>
              <a:srgbClr val="D5D9D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3461003" y="3410712"/>
            <a:ext cx="1346454" cy="64008"/>
          </a:xfrm>
          <a:prstGeom prst="rect">
            <a:avLst/>
          </a:prstGeom>
          <a:solidFill>
            <a:srgbClr val="6D4C9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3515868" y="3538728"/>
            <a:ext cx="1236726" cy="822960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ctr">
              <a:lnSpc>
                <a:spcPct val="95000"/>
              </a:lnSpc>
              <a:spcAft>
                <a:spcPts val="0"/>
              </a:spcAft>
            </a:pPr>
            <a:r>
              <a:rPr sz="1600" b="1" i="0">
                <a:solidFill>
                  <a:srgbClr val="1C2128"/>
                </a:solidFill>
                <a:latin typeface="Source Sans 3"/>
              </a:rPr>
              <a:t>Assignment/</a:t>
            </a:r>
          </a:p>
          <a:p>
            <a:pPr algn="ctr">
              <a:lnSpc>
                <a:spcPct val="95000"/>
              </a:lnSpc>
              <a:spcAft>
                <a:spcPts val="0"/>
              </a:spcAft>
            </a:pPr>
            <a:r>
              <a:rPr sz="1600" b="1" i="0">
                <a:solidFill>
                  <a:srgbClr val="1C2128"/>
                </a:solidFill>
                <a:latin typeface="Source Sans 3"/>
              </a:rPr>
              <a:t>Initialization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534156" y="4389120"/>
            <a:ext cx="1200150" cy="822960"/>
          </a:xfrm>
          <a:prstGeom prst="rect">
            <a:avLst/>
          </a:prstGeom>
          <a:noFill/>
        </p:spPr>
        <p:txBody>
          <a:bodyPr wrap="square" lIns="27432" rIns="27432" tIns="27432" bIns="27432" anchor="t">
            <a:noAutofit/>
          </a:bodyPr>
          <a:lstStyle/>
          <a:p>
            <a:pPr algn="ctr">
              <a:lnSpc>
                <a:spcPct val="98000"/>
              </a:lnSpc>
              <a:spcAft>
                <a:spcPts val="0"/>
              </a:spcAft>
            </a:pPr>
            <a:r>
              <a:rPr sz="1500" b="0" i="0">
                <a:solidFill>
                  <a:srgbClr val="5A6270"/>
                </a:solidFill>
                <a:latin typeface="Source Sans 3"/>
              </a:rPr>
              <a:t>wrong value or initialization</a:t>
            </a:r>
          </a:p>
        </p:txBody>
      </p:sp>
      <p:cxnSp>
        <p:nvCxnSpPr>
          <p:cNvPr id="38" name="Connector 37"/>
          <p:cNvCxnSpPr/>
          <p:nvPr/>
        </p:nvCxnSpPr>
        <p:spPr>
          <a:xfrm>
            <a:off x="5590413" y="3246120"/>
            <a:ext cx="0" cy="164592"/>
          </a:xfrm>
          <a:prstGeom prst="line">
            <a:avLst/>
          </a:prstGeom>
          <a:ln w="12700">
            <a:solidFill>
              <a:srgbClr val="8A919C"/>
            </a:solidFill>
          </a:ln>
        </p:spPr>
      </p:cxnSp>
      <p:sp>
        <p:nvSpPr>
          <p:cNvPr id="39" name="Rectangle 38"/>
          <p:cNvSpPr/>
          <p:nvPr/>
        </p:nvSpPr>
        <p:spPr>
          <a:xfrm>
            <a:off x="4917186" y="3410712"/>
            <a:ext cx="1346454" cy="1874519"/>
          </a:xfrm>
          <a:prstGeom prst="rect">
            <a:avLst/>
          </a:prstGeom>
          <a:solidFill>
            <a:srgbClr val="FFFFFF"/>
          </a:solidFill>
          <a:ln w="9525">
            <a:solidFill>
              <a:srgbClr val="D5D9D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4917186" y="3410712"/>
            <a:ext cx="1346454" cy="64008"/>
          </a:xfrm>
          <a:prstGeom prst="rect">
            <a:avLst/>
          </a:prstGeom>
          <a:solidFill>
            <a:srgbClr val="8A919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972049" y="3538728"/>
            <a:ext cx="1236726" cy="822960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ctr">
              <a:lnSpc>
                <a:spcPct val="95000"/>
              </a:lnSpc>
              <a:spcAft>
                <a:spcPts val="0"/>
              </a:spcAft>
            </a:pPr>
            <a:r>
              <a:rPr sz="1600" b="1" i="0">
                <a:solidFill>
                  <a:srgbClr val="1C2128"/>
                </a:solidFill>
                <a:latin typeface="Source Sans 3"/>
              </a:rPr>
              <a:t>Timing/</a:t>
            </a:r>
          </a:p>
          <a:p>
            <a:pPr algn="ctr">
              <a:lnSpc>
                <a:spcPct val="95000"/>
              </a:lnSpc>
              <a:spcAft>
                <a:spcPts val="0"/>
              </a:spcAft>
            </a:pPr>
            <a:r>
              <a:rPr sz="1600" b="1" i="0">
                <a:solidFill>
                  <a:srgbClr val="1C2128"/>
                </a:solidFill>
                <a:latin typeface="Source Sans 3"/>
              </a:rPr>
              <a:t>Serialization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990338" y="4389120"/>
            <a:ext cx="1200150" cy="822960"/>
          </a:xfrm>
          <a:prstGeom prst="rect">
            <a:avLst/>
          </a:prstGeom>
          <a:noFill/>
        </p:spPr>
        <p:txBody>
          <a:bodyPr wrap="square" lIns="27432" rIns="27432" tIns="27432" bIns="27432" anchor="t">
            <a:noAutofit/>
          </a:bodyPr>
          <a:lstStyle/>
          <a:p>
            <a:pPr algn="ctr">
              <a:lnSpc>
                <a:spcPct val="98000"/>
              </a:lnSpc>
              <a:spcAft>
                <a:spcPts val="0"/>
              </a:spcAft>
            </a:pPr>
            <a:r>
              <a:rPr sz="1500" b="0" i="0">
                <a:solidFill>
                  <a:srgbClr val="5A6270"/>
                </a:solidFill>
                <a:latin typeface="Source Sans 3"/>
              </a:rPr>
              <a:t>wrong ordering or concurrency</a:t>
            </a:r>
          </a:p>
        </p:txBody>
      </p:sp>
      <p:cxnSp>
        <p:nvCxnSpPr>
          <p:cNvPr id="43" name="Connector 42"/>
          <p:cNvCxnSpPr/>
          <p:nvPr/>
        </p:nvCxnSpPr>
        <p:spPr>
          <a:xfrm>
            <a:off x="9066276" y="2606040"/>
            <a:ext cx="0" cy="182880"/>
          </a:xfrm>
          <a:prstGeom prst="line">
            <a:avLst/>
          </a:prstGeom>
          <a:ln w="15875">
            <a:solidFill>
              <a:srgbClr val="8A919C"/>
            </a:solidFill>
          </a:ln>
        </p:spPr>
      </p:cxnSp>
      <p:sp>
        <p:nvSpPr>
          <p:cNvPr id="44" name="Rectangle 43"/>
          <p:cNvSpPr/>
          <p:nvPr/>
        </p:nvSpPr>
        <p:spPr>
          <a:xfrm>
            <a:off x="6492240" y="2788920"/>
            <a:ext cx="5148072" cy="457200"/>
          </a:xfrm>
          <a:prstGeom prst="rect">
            <a:avLst/>
          </a:prstGeom>
          <a:solidFill>
            <a:srgbClr val="E6EAF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6492240" y="2788920"/>
            <a:ext cx="5148072" cy="457200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700" b="1" i="0">
                <a:solidFill>
                  <a:srgbClr val="12284C"/>
                </a:solidFill>
                <a:latin typeface="Source Sans 3"/>
              </a:rPr>
              <a:t>Structural</a:t>
            </a:r>
          </a:p>
        </p:txBody>
      </p:sp>
      <p:cxnSp>
        <p:nvCxnSpPr>
          <p:cNvPr id="46" name="Connector 45"/>
          <p:cNvCxnSpPr/>
          <p:nvPr/>
        </p:nvCxnSpPr>
        <p:spPr>
          <a:xfrm>
            <a:off x="7313676" y="3246120"/>
            <a:ext cx="0" cy="164592"/>
          </a:xfrm>
          <a:prstGeom prst="line">
            <a:avLst/>
          </a:prstGeom>
          <a:ln w="12700">
            <a:solidFill>
              <a:srgbClr val="8A919C"/>
            </a:solidFill>
          </a:ln>
        </p:spPr>
      </p:cxnSp>
      <p:sp>
        <p:nvSpPr>
          <p:cNvPr id="47" name="Rectangle 46"/>
          <p:cNvSpPr/>
          <p:nvPr/>
        </p:nvSpPr>
        <p:spPr>
          <a:xfrm>
            <a:off x="6492240" y="3410712"/>
            <a:ext cx="1642872" cy="1874519"/>
          </a:xfrm>
          <a:prstGeom prst="rect">
            <a:avLst/>
          </a:prstGeom>
          <a:solidFill>
            <a:srgbClr val="FFFFFF"/>
          </a:solidFill>
          <a:ln w="9525">
            <a:solidFill>
              <a:srgbClr val="D5D9D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6492240" y="3410712"/>
            <a:ext cx="1642872" cy="64008"/>
          </a:xfrm>
          <a:prstGeom prst="rect">
            <a:avLst/>
          </a:prstGeom>
          <a:solidFill>
            <a:srgbClr val="9B3D4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6547103" y="3538728"/>
            <a:ext cx="1533144" cy="822960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ctr">
              <a:lnSpc>
                <a:spcPct val="95000"/>
              </a:lnSpc>
              <a:spcAft>
                <a:spcPts val="0"/>
              </a:spcAft>
            </a:pPr>
            <a:r>
              <a:rPr sz="1600" b="1" i="0">
                <a:solidFill>
                  <a:srgbClr val="1C2128"/>
                </a:solidFill>
                <a:latin typeface="Source Sans 3"/>
              </a:rPr>
              <a:t>Function/</a:t>
            </a:r>
          </a:p>
          <a:p>
            <a:pPr algn="ctr">
              <a:lnSpc>
                <a:spcPct val="95000"/>
              </a:lnSpc>
              <a:spcAft>
                <a:spcPts val="0"/>
              </a:spcAft>
            </a:pPr>
            <a:r>
              <a:rPr sz="1600" b="1" i="0">
                <a:solidFill>
                  <a:srgbClr val="1C2128"/>
                </a:solidFill>
                <a:latin typeface="Source Sans 3"/>
              </a:rPr>
              <a:t>Class/</a:t>
            </a:r>
          </a:p>
          <a:p>
            <a:pPr algn="ctr">
              <a:lnSpc>
                <a:spcPct val="95000"/>
              </a:lnSpc>
              <a:spcAft>
                <a:spcPts val="0"/>
              </a:spcAft>
            </a:pPr>
            <a:r>
              <a:rPr sz="1600" b="1" i="0">
                <a:solidFill>
                  <a:srgbClr val="1C2128"/>
                </a:solidFill>
                <a:latin typeface="Source Sans 3"/>
              </a:rPr>
              <a:t>Object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6565392" y="4389120"/>
            <a:ext cx="1496568" cy="822960"/>
          </a:xfrm>
          <a:prstGeom prst="rect">
            <a:avLst/>
          </a:prstGeom>
          <a:noFill/>
        </p:spPr>
        <p:txBody>
          <a:bodyPr wrap="square" lIns="27432" rIns="27432" tIns="27432" bIns="27432" anchor="t">
            <a:noAutofit/>
          </a:bodyPr>
          <a:lstStyle/>
          <a:p>
            <a:pPr algn="ctr">
              <a:lnSpc>
                <a:spcPct val="98000"/>
              </a:lnSpc>
              <a:spcAft>
                <a:spcPts val="0"/>
              </a:spcAft>
            </a:pPr>
            <a:r>
              <a:rPr sz="1500" b="0" i="0">
                <a:solidFill>
                  <a:srgbClr val="5A6270"/>
                </a:solidFill>
                <a:latin typeface="Source Sans 3"/>
              </a:rPr>
              <a:t>missing capability</a:t>
            </a:r>
          </a:p>
        </p:txBody>
      </p:sp>
      <p:cxnSp>
        <p:nvCxnSpPr>
          <p:cNvPr id="51" name="Connector 50"/>
          <p:cNvCxnSpPr/>
          <p:nvPr/>
        </p:nvCxnSpPr>
        <p:spPr>
          <a:xfrm>
            <a:off x="9066276" y="3246120"/>
            <a:ext cx="0" cy="164592"/>
          </a:xfrm>
          <a:prstGeom prst="line">
            <a:avLst/>
          </a:prstGeom>
          <a:ln w="12700">
            <a:solidFill>
              <a:srgbClr val="8A919C"/>
            </a:solidFill>
          </a:ln>
        </p:spPr>
      </p:cxnSp>
      <p:sp>
        <p:nvSpPr>
          <p:cNvPr id="52" name="Rectangle 51"/>
          <p:cNvSpPr/>
          <p:nvPr/>
        </p:nvSpPr>
        <p:spPr>
          <a:xfrm>
            <a:off x="8244839" y="3410712"/>
            <a:ext cx="1642872" cy="1874519"/>
          </a:xfrm>
          <a:prstGeom prst="rect">
            <a:avLst/>
          </a:prstGeom>
          <a:solidFill>
            <a:srgbClr val="FFFFFF"/>
          </a:solidFill>
          <a:ln w="9525">
            <a:solidFill>
              <a:srgbClr val="D5D9D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8244839" y="3410712"/>
            <a:ext cx="1642872" cy="64008"/>
          </a:xfrm>
          <a:prstGeom prst="rect">
            <a:avLst/>
          </a:prstGeom>
          <a:solidFill>
            <a:srgbClr val="2B7F7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8299704" y="3538728"/>
            <a:ext cx="1533144" cy="822960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ctr">
              <a:lnSpc>
                <a:spcPct val="95000"/>
              </a:lnSpc>
              <a:spcAft>
                <a:spcPts val="0"/>
              </a:spcAft>
            </a:pPr>
            <a:r>
              <a:rPr sz="1600" b="1" i="0">
                <a:solidFill>
                  <a:srgbClr val="1C2128"/>
                </a:solidFill>
                <a:latin typeface="Source Sans 3"/>
              </a:rPr>
              <a:t>Interface/</a:t>
            </a:r>
          </a:p>
          <a:p>
            <a:pPr algn="ctr">
              <a:lnSpc>
                <a:spcPct val="95000"/>
              </a:lnSpc>
              <a:spcAft>
                <a:spcPts val="0"/>
              </a:spcAft>
            </a:pPr>
            <a:r>
              <a:rPr sz="1600" b="1" i="0">
                <a:solidFill>
                  <a:srgbClr val="1C2128"/>
                </a:solidFill>
                <a:latin typeface="Source Sans 3"/>
              </a:rPr>
              <a:t>O-O Messages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8317991" y="4389120"/>
            <a:ext cx="1496568" cy="822960"/>
          </a:xfrm>
          <a:prstGeom prst="rect">
            <a:avLst/>
          </a:prstGeom>
          <a:noFill/>
        </p:spPr>
        <p:txBody>
          <a:bodyPr wrap="square" lIns="27432" rIns="27432" tIns="27432" bIns="27432" anchor="t">
            <a:noAutofit/>
          </a:bodyPr>
          <a:lstStyle/>
          <a:p>
            <a:pPr algn="ctr">
              <a:lnSpc>
                <a:spcPct val="98000"/>
              </a:lnSpc>
              <a:spcAft>
                <a:spcPts val="0"/>
              </a:spcAft>
            </a:pPr>
            <a:r>
              <a:rPr sz="1500" b="0" i="0">
                <a:solidFill>
                  <a:srgbClr val="5A6270"/>
                </a:solidFill>
                <a:latin typeface="Source Sans 3"/>
              </a:rPr>
              <a:t>wrong interaction across a boundary</a:t>
            </a:r>
          </a:p>
        </p:txBody>
      </p:sp>
      <p:cxnSp>
        <p:nvCxnSpPr>
          <p:cNvPr id="56" name="Connector 55"/>
          <p:cNvCxnSpPr/>
          <p:nvPr/>
        </p:nvCxnSpPr>
        <p:spPr>
          <a:xfrm>
            <a:off x="10818876" y="3246120"/>
            <a:ext cx="0" cy="164592"/>
          </a:xfrm>
          <a:prstGeom prst="line">
            <a:avLst/>
          </a:prstGeom>
          <a:ln w="12700">
            <a:solidFill>
              <a:srgbClr val="8A919C"/>
            </a:solidFill>
          </a:ln>
        </p:spPr>
      </p:cxnSp>
      <p:sp>
        <p:nvSpPr>
          <p:cNvPr id="57" name="Rectangle 56"/>
          <p:cNvSpPr/>
          <p:nvPr/>
        </p:nvSpPr>
        <p:spPr>
          <a:xfrm>
            <a:off x="9997440" y="3410712"/>
            <a:ext cx="1642872" cy="1874519"/>
          </a:xfrm>
          <a:prstGeom prst="rect">
            <a:avLst/>
          </a:prstGeom>
          <a:solidFill>
            <a:srgbClr val="FFFFFF"/>
          </a:solidFill>
          <a:ln w="9525">
            <a:solidFill>
              <a:srgbClr val="D5D9D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8" name="Rectangle 57"/>
          <p:cNvSpPr/>
          <p:nvPr/>
        </p:nvSpPr>
        <p:spPr>
          <a:xfrm>
            <a:off x="9997440" y="3410712"/>
            <a:ext cx="1642872" cy="64008"/>
          </a:xfrm>
          <a:prstGeom prst="rect">
            <a:avLst/>
          </a:prstGeom>
          <a:solidFill>
            <a:srgbClr val="8A6E5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10052304" y="3538728"/>
            <a:ext cx="1533144" cy="822960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ctr">
              <a:lnSpc>
                <a:spcPct val="95000"/>
              </a:lnSpc>
              <a:spcAft>
                <a:spcPts val="0"/>
              </a:spcAft>
            </a:pPr>
            <a:r>
              <a:rPr sz="1600" b="1" i="0">
                <a:solidFill>
                  <a:srgbClr val="1C2128"/>
                </a:solidFill>
                <a:latin typeface="Source Sans 3"/>
              </a:rPr>
              <a:t>Relationship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10070592" y="4389120"/>
            <a:ext cx="1496568" cy="822960"/>
          </a:xfrm>
          <a:prstGeom prst="rect">
            <a:avLst/>
          </a:prstGeom>
          <a:noFill/>
        </p:spPr>
        <p:txBody>
          <a:bodyPr wrap="square" lIns="27432" rIns="27432" tIns="27432" bIns="27432" anchor="t">
            <a:noAutofit/>
          </a:bodyPr>
          <a:lstStyle/>
          <a:p>
            <a:pPr algn="ctr">
              <a:lnSpc>
                <a:spcPct val="98000"/>
              </a:lnSpc>
              <a:spcAft>
                <a:spcPts val="0"/>
              </a:spcAft>
            </a:pPr>
            <a:r>
              <a:rPr sz="1500" b="0" i="0">
                <a:solidFill>
                  <a:srgbClr val="5A6270"/>
                </a:solidFill>
                <a:latin typeface="Source Sans 3"/>
              </a:rPr>
              <a:t>broken association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548640" y="5532120"/>
            <a:ext cx="11091672" cy="411480"/>
          </a:xfrm>
          <a:prstGeom prst="rect">
            <a:avLst/>
          </a:prstGeom>
          <a:noFill/>
        </p:spPr>
        <p:txBody>
          <a:bodyPr wrap="square" lIns="27432" rIns="27432" tIns="27432" bIns="27432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700" b="1" i="0">
                <a:solidFill>
                  <a:srgbClr val="1C2128"/>
                </a:solidFill>
                <a:latin typeface="Source Sans 3"/>
              </a:rPr>
              <a:t>+ Other</a:t>
            </a:r>
            <a:r>
              <a:rPr sz="1700" b="0" i="0">
                <a:solidFill>
                  <a:srgbClr val="5A6270"/>
                </a:solidFill>
                <a:latin typeface="Source Sans 3"/>
              </a:rPr>
              <a:t>  —  escape category added in this study, allowed only with a written justification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74320"/>
            <a:ext cx="10332720" cy="731520"/>
          </a:xfrm>
          <a:prstGeom prst="rect">
            <a:avLst/>
          </a:prstGeom>
          <a:noFill/>
        </p:spPr>
        <p:txBody>
          <a:bodyPr wrap="square" lIns="27432" rIns="27432" tIns="27432" bIns="27432" anchor="b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000" b="1" i="0">
                <a:solidFill>
                  <a:srgbClr val="12284C"/>
                </a:solidFill>
                <a:latin typeface="Source Sans 3"/>
              </a:rPr>
              <a:t>Related Work and the Research Gap</a:t>
            </a:r>
          </a:p>
        </p:txBody>
      </p:sp>
      <p:pic>
        <p:nvPicPr>
          <p:cNvPr id="4" name="Picture 3" descr="iut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228832" y="292608"/>
            <a:ext cx="433472" cy="713232"/>
          </a:xfrm>
          <a:prstGeom prst="rect">
            <a:avLst/>
          </a:prstGeom>
        </p:spPr>
      </p:pic>
      <p:cxnSp>
        <p:nvCxnSpPr>
          <p:cNvPr id="5" name="Connector 4"/>
          <p:cNvCxnSpPr/>
          <p:nvPr/>
        </p:nvCxnSpPr>
        <p:spPr>
          <a:xfrm>
            <a:off x="548640" y="1078992"/>
            <a:ext cx="11091672" cy="0"/>
          </a:xfrm>
          <a:prstGeom prst="line">
            <a:avLst/>
          </a:prstGeom>
          <a:ln w="9525">
            <a:solidFill>
              <a:srgbClr val="D5D9DF"/>
            </a:solidFill>
          </a:ln>
        </p:spPr>
      </p:cxnSp>
      <p:sp>
        <p:nvSpPr>
          <p:cNvPr id="6" name="Rectangle 5"/>
          <p:cNvSpPr/>
          <p:nvPr/>
        </p:nvSpPr>
        <p:spPr>
          <a:xfrm>
            <a:off x="548640" y="1060704"/>
            <a:ext cx="914400" cy="41148"/>
          </a:xfrm>
          <a:prstGeom prst="rect">
            <a:avLst/>
          </a:prstGeom>
          <a:solidFill>
            <a:srgbClr val="12284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>
            <a:off x="548640" y="6400800"/>
            <a:ext cx="11091672" cy="0"/>
          </a:xfrm>
          <a:prstGeom prst="line">
            <a:avLst/>
          </a:prstGeom>
          <a:ln w="9525">
            <a:solidFill>
              <a:srgbClr val="D5D9DF"/>
            </a:solidFill>
          </a:ln>
        </p:spPr>
      </p:cxnSp>
      <p:sp>
        <p:nvSpPr>
          <p:cNvPr id="8" name="TextBox 7"/>
          <p:cNvSpPr txBox="1"/>
          <p:nvPr/>
        </p:nvSpPr>
        <p:spPr>
          <a:xfrm>
            <a:off x="548640" y="6437376"/>
            <a:ext cx="3931920" cy="365760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00" b="0" i="0">
                <a:solidFill>
                  <a:srgbClr val="8A919C"/>
                </a:solidFill>
                <a:latin typeface="Source Sans 3"/>
              </a:rPr>
              <a:t>ODC on Defects4J  ·  Thesis Defence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0" y="6437376"/>
            <a:ext cx="854964" cy="365760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400" b="1" i="0">
                <a:solidFill>
                  <a:srgbClr val="12284C"/>
                </a:solidFill>
                <a:latin typeface="Source Sans 3"/>
              </a:rPr>
              <a:t>Context</a:t>
            </a:r>
          </a:p>
        </p:txBody>
      </p:sp>
      <p:sp>
        <p:nvSpPr>
          <p:cNvPr id="10" name="Rectangle 9"/>
          <p:cNvSpPr/>
          <p:nvPr/>
        </p:nvSpPr>
        <p:spPr>
          <a:xfrm>
            <a:off x="4663440" y="6757416"/>
            <a:ext cx="672084" cy="32004"/>
          </a:xfrm>
          <a:prstGeom prst="rect">
            <a:avLst/>
          </a:prstGeom>
          <a:solidFill>
            <a:srgbClr val="12284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655564" y="6437376"/>
            <a:ext cx="1239012" cy="365760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400" b="0" i="0">
                <a:solidFill>
                  <a:srgbClr val="8A919C"/>
                </a:solidFill>
                <a:latin typeface="Source Sans 3"/>
              </a:rPr>
              <a:t>Methodology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123176" y="6437376"/>
            <a:ext cx="854964" cy="365760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400" b="0" i="0">
                <a:solidFill>
                  <a:srgbClr val="8A919C"/>
                </a:solidFill>
                <a:latin typeface="Source Sans 3"/>
              </a:rPr>
              <a:t>Results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966960" y="6419088"/>
            <a:ext cx="1673352" cy="402336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800" b="1" i="0">
                <a:solidFill>
                  <a:srgbClr val="12284C"/>
                </a:solidFill>
                <a:latin typeface="Source Sans 3"/>
              </a:rPr>
              <a:t>4 / 24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1280160"/>
            <a:ext cx="11091672" cy="329184"/>
          </a:xfrm>
          <a:prstGeom prst="rect">
            <a:avLst/>
          </a:prstGeom>
          <a:noFill/>
        </p:spPr>
        <p:txBody>
          <a:bodyPr wrap="square" lIns="27432" rIns="27432" tIns="27432" bIns="27432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00" b="1" i="0">
                <a:solidFill>
                  <a:srgbClr val="5A6270"/>
                </a:solidFill>
                <a:latin typeface="Source Sans 3"/>
              </a:rPr>
              <a:t>WHAT PRIOR WORK ON DEFECTS4J ACTUALLY LABELS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914400" y="2880360"/>
            <a:ext cx="10058400" cy="0"/>
          </a:xfrm>
          <a:prstGeom prst="line">
            <a:avLst/>
          </a:prstGeom>
          <a:ln w="15875">
            <a:solidFill>
              <a:srgbClr val="8A919C"/>
            </a:solidFill>
            <a:tailEnd type="triangle" w="med" len="med"/>
          </a:ln>
        </p:spPr>
      </p:cxnSp>
      <p:sp>
        <p:nvSpPr>
          <p:cNvPr id="16" name="Oval 15"/>
          <p:cNvSpPr/>
          <p:nvPr/>
        </p:nvSpPr>
        <p:spPr>
          <a:xfrm>
            <a:off x="1536192" y="2798064"/>
            <a:ext cx="164592" cy="164592"/>
          </a:xfrm>
          <a:prstGeom prst="ellipse">
            <a:avLst/>
          </a:prstGeom>
          <a:solidFill>
            <a:srgbClr val="12284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66928" y="1645919"/>
            <a:ext cx="2103120" cy="822960"/>
          </a:xfrm>
          <a:prstGeom prst="rect">
            <a:avLst/>
          </a:prstGeom>
          <a:noFill/>
        </p:spPr>
        <p:txBody>
          <a:bodyPr wrap="square" lIns="27432" rIns="27432" tIns="27432" bIns="27432" anchor="b">
            <a:noAutofit/>
          </a:bodyPr>
          <a:lstStyle/>
          <a:p>
            <a:pPr algn="ctr">
              <a:lnSpc>
                <a:spcPct val="95000"/>
              </a:lnSpc>
              <a:spcAft>
                <a:spcPts val="0"/>
              </a:spcAft>
            </a:pPr>
            <a:r>
              <a:rPr sz="1700" b="1" i="0">
                <a:solidFill>
                  <a:srgbClr val="1C2128"/>
                </a:solidFill>
                <a:latin typeface="Source Sans 3"/>
              </a:rPr>
              <a:t>how a bug</a:t>
            </a:r>
          </a:p>
          <a:p>
            <a:pPr algn="ctr">
              <a:lnSpc>
                <a:spcPct val="95000"/>
              </a:lnSpc>
              <a:spcAft>
                <a:spcPts val="0"/>
              </a:spcAft>
            </a:pPr>
            <a:r>
              <a:rPr sz="1700" b="1" i="0">
                <a:solidFill>
                  <a:srgbClr val="1C2128"/>
                </a:solidFill>
                <a:latin typeface="Source Sans 3"/>
              </a:rPr>
              <a:t>manifests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66928" y="3044952"/>
            <a:ext cx="2103120" cy="685800"/>
          </a:xfrm>
          <a:prstGeom prst="rect">
            <a:avLst/>
          </a:prstGeom>
          <a:noFill/>
        </p:spPr>
        <p:txBody>
          <a:bodyPr wrap="square" lIns="27432" rIns="27432" tIns="27432" bIns="27432" anchor="t">
            <a:noAutofit/>
          </a:bodyPr>
          <a:lstStyle/>
          <a:p>
            <a:pPr algn="ctr">
              <a:lnSpc>
                <a:spcPct val="95000"/>
              </a:lnSpc>
              <a:spcAft>
                <a:spcPts val="0"/>
              </a:spcAft>
            </a:pPr>
            <a:r>
              <a:rPr sz="1500" b="0" i="0">
                <a:solidFill>
                  <a:srgbClr val="5A6270"/>
                </a:solidFill>
                <a:latin typeface="Source Sans 3"/>
              </a:rPr>
              <a:t>Van der Spuy &amp;</a:t>
            </a:r>
          </a:p>
          <a:p>
            <a:pPr algn="ctr">
              <a:lnSpc>
                <a:spcPct val="95000"/>
              </a:lnSpc>
              <a:spcAft>
                <a:spcPts val="0"/>
              </a:spcAft>
            </a:pPr>
            <a:r>
              <a:rPr sz="1500" b="0" i="0">
                <a:solidFill>
                  <a:srgbClr val="5A6270"/>
                </a:solidFill>
                <a:latin typeface="Source Sans 3"/>
              </a:rPr>
              <a:t>Fischer 2025 [8]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66928" y="3749039"/>
            <a:ext cx="2103120" cy="329184"/>
          </a:xfrm>
          <a:prstGeom prst="rect">
            <a:avLst/>
          </a:prstGeom>
          <a:noFill/>
        </p:spPr>
        <p:txBody>
          <a:bodyPr wrap="square" lIns="27432" rIns="27432" tIns="27432" bIns="27432" anchor="t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500" b="1" i="0">
                <a:solidFill>
                  <a:srgbClr val="12284C"/>
                </a:solidFill>
                <a:latin typeface="Source Sans 3"/>
              </a:rPr>
              <a:t>488 faults</a:t>
            </a:r>
          </a:p>
        </p:txBody>
      </p:sp>
      <p:sp>
        <p:nvSpPr>
          <p:cNvPr id="20" name="Oval 19"/>
          <p:cNvSpPr/>
          <p:nvPr/>
        </p:nvSpPr>
        <p:spPr>
          <a:xfrm>
            <a:off x="4453128" y="2798064"/>
            <a:ext cx="164592" cy="164592"/>
          </a:xfrm>
          <a:prstGeom prst="ellipse">
            <a:avLst/>
          </a:prstGeom>
          <a:solidFill>
            <a:srgbClr val="12284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483864" y="1645919"/>
            <a:ext cx="2103120" cy="822960"/>
          </a:xfrm>
          <a:prstGeom prst="rect">
            <a:avLst/>
          </a:prstGeom>
          <a:noFill/>
        </p:spPr>
        <p:txBody>
          <a:bodyPr wrap="square" lIns="27432" rIns="27432" tIns="27432" bIns="27432" anchor="b">
            <a:noAutofit/>
          </a:bodyPr>
          <a:lstStyle/>
          <a:p>
            <a:pPr algn="ctr">
              <a:lnSpc>
                <a:spcPct val="95000"/>
              </a:lnSpc>
              <a:spcAft>
                <a:spcPts val="0"/>
              </a:spcAft>
            </a:pPr>
            <a:r>
              <a:rPr sz="1700" b="1" i="0">
                <a:solidFill>
                  <a:srgbClr val="1C2128"/>
                </a:solidFill>
                <a:latin typeface="Source Sans 3"/>
              </a:rPr>
              <a:t>what the patch</a:t>
            </a:r>
          </a:p>
          <a:p>
            <a:pPr algn="ctr">
              <a:lnSpc>
                <a:spcPct val="95000"/>
              </a:lnSpc>
              <a:spcAft>
                <a:spcPts val="0"/>
              </a:spcAft>
            </a:pPr>
            <a:r>
              <a:rPr sz="1700" b="1" i="0">
                <a:solidFill>
                  <a:srgbClr val="1C2128"/>
                </a:solidFill>
                <a:latin typeface="Source Sans 3"/>
              </a:rPr>
              <a:t>changed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483864" y="3044952"/>
            <a:ext cx="2103120" cy="685800"/>
          </a:xfrm>
          <a:prstGeom prst="rect">
            <a:avLst/>
          </a:prstGeom>
          <a:noFill/>
        </p:spPr>
        <p:txBody>
          <a:bodyPr wrap="square" lIns="27432" rIns="27432" tIns="27432" bIns="27432" anchor="t">
            <a:noAutofit/>
          </a:bodyPr>
          <a:lstStyle/>
          <a:p>
            <a:pPr algn="ctr">
              <a:lnSpc>
                <a:spcPct val="95000"/>
              </a:lnSpc>
              <a:spcAft>
                <a:spcPts val="0"/>
              </a:spcAft>
            </a:pPr>
            <a:r>
              <a:rPr sz="1500" b="0" i="0">
                <a:solidFill>
                  <a:srgbClr val="5A6270"/>
                </a:solidFill>
                <a:latin typeface="Source Sans 3"/>
              </a:rPr>
              <a:t>Sobreira et al.</a:t>
            </a:r>
          </a:p>
          <a:p>
            <a:pPr algn="ctr">
              <a:lnSpc>
                <a:spcPct val="95000"/>
              </a:lnSpc>
              <a:spcAft>
                <a:spcPts val="0"/>
              </a:spcAft>
            </a:pPr>
            <a:r>
              <a:rPr sz="1500" b="0" i="0">
                <a:solidFill>
                  <a:srgbClr val="5A6270"/>
                </a:solidFill>
                <a:latin typeface="Source Sans 3"/>
              </a:rPr>
              <a:t>2018 [9]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483864" y="3749039"/>
            <a:ext cx="2103120" cy="329184"/>
          </a:xfrm>
          <a:prstGeom prst="rect">
            <a:avLst/>
          </a:prstGeom>
          <a:noFill/>
        </p:spPr>
        <p:txBody>
          <a:bodyPr wrap="square" lIns="27432" rIns="27432" tIns="27432" bIns="27432" anchor="t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500" b="1" i="0">
                <a:solidFill>
                  <a:srgbClr val="12284C"/>
                </a:solidFill>
                <a:latin typeface="Source Sans 3"/>
              </a:rPr>
              <a:t>395 patches</a:t>
            </a:r>
          </a:p>
        </p:txBody>
      </p:sp>
      <p:sp>
        <p:nvSpPr>
          <p:cNvPr id="24" name="Oval 23"/>
          <p:cNvSpPr/>
          <p:nvPr/>
        </p:nvSpPr>
        <p:spPr>
          <a:xfrm>
            <a:off x="7068312" y="2798064"/>
            <a:ext cx="164592" cy="164592"/>
          </a:xfrm>
          <a:prstGeom prst="ellipse">
            <a:avLst/>
          </a:prstGeom>
          <a:solidFill>
            <a:srgbClr val="12284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099048" y="1645919"/>
            <a:ext cx="2103120" cy="822960"/>
          </a:xfrm>
          <a:prstGeom prst="rect">
            <a:avLst/>
          </a:prstGeom>
          <a:noFill/>
        </p:spPr>
        <p:txBody>
          <a:bodyPr wrap="square" lIns="27432" rIns="27432" tIns="27432" bIns="27432" anchor="b">
            <a:noAutofit/>
          </a:bodyPr>
          <a:lstStyle/>
          <a:p>
            <a:pPr algn="ctr">
              <a:lnSpc>
                <a:spcPct val="95000"/>
              </a:lnSpc>
              <a:spcAft>
                <a:spcPts val="0"/>
              </a:spcAft>
            </a:pPr>
            <a:r>
              <a:rPr sz="1700" b="1" i="0">
                <a:solidFill>
                  <a:srgbClr val="1C2128"/>
                </a:solidFill>
                <a:latin typeface="Source Sans 3"/>
              </a:rPr>
              <a:t>one-off manual</a:t>
            </a:r>
          </a:p>
          <a:p>
            <a:pPr algn="ctr">
              <a:lnSpc>
                <a:spcPct val="95000"/>
              </a:lnSpc>
              <a:spcAft>
                <a:spcPts val="0"/>
              </a:spcAft>
            </a:pPr>
            <a:r>
              <a:rPr sz="1700" b="1" i="0">
                <a:solidFill>
                  <a:srgbClr val="1C2128"/>
                </a:solidFill>
                <a:latin typeface="Source Sans 3"/>
              </a:rPr>
              <a:t>inspection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099048" y="3044952"/>
            <a:ext cx="2103120" cy="685800"/>
          </a:xfrm>
          <a:prstGeom prst="rect">
            <a:avLst/>
          </a:prstGeom>
          <a:noFill/>
        </p:spPr>
        <p:txBody>
          <a:bodyPr wrap="square" lIns="27432" rIns="27432" tIns="27432" bIns="27432" anchor="t">
            <a:noAutofit/>
          </a:bodyPr>
          <a:lstStyle/>
          <a:p>
            <a:pPr algn="ctr">
              <a:lnSpc>
                <a:spcPct val="95000"/>
              </a:lnSpc>
              <a:spcAft>
                <a:spcPts val="0"/>
              </a:spcAft>
            </a:pPr>
            <a:r>
              <a:rPr sz="1500" b="0" i="0">
                <a:solidFill>
                  <a:srgbClr val="5A6270"/>
                </a:solidFill>
                <a:latin typeface="Source Sans 3"/>
              </a:rPr>
              <a:t>Jiang et al.</a:t>
            </a:r>
          </a:p>
          <a:p>
            <a:pPr algn="ctr">
              <a:lnSpc>
                <a:spcPct val="95000"/>
              </a:lnSpc>
              <a:spcAft>
                <a:spcPts val="0"/>
              </a:spcAft>
            </a:pPr>
            <a:r>
              <a:rPr sz="1500" b="0" i="0">
                <a:solidFill>
                  <a:srgbClr val="5A6270"/>
                </a:solidFill>
                <a:latin typeface="Source Sans 3"/>
              </a:rPr>
              <a:t>2019 [10]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099048" y="3749039"/>
            <a:ext cx="2103120" cy="329184"/>
          </a:xfrm>
          <a:prstGeom prst="rect">
            <a:avLst/>
          </a:prstGeom>
          <a:noFill/>
        </p:spPr>
        <p:txBody>
          <a:bodyPr wrap="square" lIns="27432" rIns="27432" tIns="27432" bIns="27432" anchor="t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500" b="1" i="0">
                <a:solidFill>
                  <a:srgbClr val="12284C"/>
                </a:solidFill>
                <a:latin typeface="Source Sans 3"/>
              </a:rPr>
              <a:t>50 bugs</a:t>
            </a:r>
          </a:p>
        </p:txBody>
      </p:sp>
      <p:sp>
        <p:nvSpPr>
          <p:cNvPr id="28" name="Rectangle 27"/>
          <p:cNvSpPr/>
          <p:nvPr/>
        </p:nvSpPr>
        <p:spPr>
          <a:xfrm>
            <a:off x="8961120" y="1554480"/>
            <a:ext cx="2011679" cy="2468880"/>
          </a:xfrm>
          <a:prstGeom prst="rect">
            <a:avLst/>
          </a:prstGeom>
          <a:solidFill>
            <a:srgbClr val="E6EAF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961120" y="1645919"/>
            <a:ext cx="2011679" cy="822960"/>
          </a:xfrm>
          <a:prstGeom prst="rect">
            <a:avLst/>
          </a:prstGeom>
          <a:noFill/>
        </p:spPr>
        <p:txBody>
          <a:bodyPr wrap="square" lIns="27432" rIns="27432" tIns="27432" bIns="27432" anchor="t">
            <a:noAutofit/>
          </a:bodyPr>
          <a:lstStyle/>
          <a:p>
            <a:pPr algn="ctr">
              <a:lnSpc>
                <a:spcPct val="95000"/>
              </a:lnSpc>
              <a:spcAft>
                <a:spcPts val="0"/>
              </a:spcAft>
            </a:pPr>
            <a:r>
              <a:rPr sz="1900" b="1" i="0">
                <a:solidFill>
                  <a:srgbClr val="12284C"/>
                </a:solidFill>
                <a:latin typeface="Source Sans 3"/>
              </a:rPr>
              <a:t>semantic</a:t>
            </a:r>
          </a:p>
          <a:p>
            <a:pPr algn="ctr">
              <a:lnSpc>
                <a:spcPct val="95000"/>
              </a:lnSpc>
              <a:spcAft>
                <a:spcPts val="0"/>
              </a:spcAft>
            </a:pPr>
            <a:r>
              <a:rPr sz="1900" b="1" i="0">
                <a:solidFill>
                  <a:srgbClr val="12284C"/>
                </a:solidFill>
                <a:latin typeface="Source Sans 3"/>
              </a:rPr>
              <a:t>defect type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961120" y="3108960"/>
            <a:ext cx="2011679" cy="731520"/>
          </a:xfrm>
          <a:prstGeom prst="rect">
            <a:avLst/>
          </a:prstGeom>
          <a:noFill/>
        </p:spPr>
        <p:txBody>
          <a:bodyPr wrap="square" lIns="27432" rIns="27432" tIns="27432" bIns="27432" anchor="t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600" b="0" i="0">
                <a:solidFill>
                  <a:srgbClr val="A23B3B"/>
                </a:solidFill>
                <a:latin typeface="Source Sans 3"/>
              </a:rPr>
              <a:t>not labelled</a:t>
            </a:r>
          </a:p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600" b="0" i="0">
                <a:solidFill>
                  <a:srgbClr val="A23B3B"/>
                </a:solidFill>
                <a:latin typeface="Source Sans 3"/>
              </a:rPr>
              <a:t>at scale</a:t>
            </a:r>
          </a:p>
        </p:txBody>
      </p:sp>
      <p:sp>
        <p:nvSpPr>
          <p:cNvPr id="31" name="Rectangle 30"/>
          <p:cNvSpPr/>
          <p:nvPr/>
        </p:nvSpPr>
        <p:spPr>
          <a:xfrm>
            <a:off x="548640" y="4206240"/>
            <a:ext cx="3566160" cy="54864"/>
          </a:xfrm>
          <a:prstGeom prst="rect">
            <a:avLst/>
          </a:prstGeom>
          <a:solidFill>
            <a:srgbClr val="2F5D9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48640" y="4315968"/>
            <a:ext cx="3566160" cy="1051560"/>
          </a:xfrm>
          <a:prstGeom prst="rect">
            <a:avLst/>
          </a:prstGeom>
          <a:noFill/>
        </p:spPr>
        <p:txBody>
          <a:bodyPr wrap="square" lIns="27432" rIns="27432" tIns="27432" bIns="27432" anchor="t">
            <a:noAutofit/>
          </a:bodyPr>
          <a:lstStyle/>
          <a:p>
            <a:pPr algn="l">
              <a:lnSpc>
                <a:spcPct val="103000"/>
              </a:lnSpc>
              <a:spcAft>
                <a:spcPts val="300"/>
              </a:spcAft>
            </a:pPr>
            <a:r>
              <a:rPr sz="1700" b="1" i="0">
                <a:solidFill>
                  <a:srgbClr val="2F5D9B"/>
                </a:solidFill>
                <a:latin typeface="Source Sans 3"/>
              </a:rPr>
              <a:t>LLM classifiers [11–14, 16]</a:t>
            </a:r>
          </a:p>
          <a:p>
            <a:pPr algn="l">
              <a:lnSpc>
                <a:spcPct val="103000"/>
              </a:lnSpc>
              <a:spcAft>
                <a:spcPts val="300"/>
              </a:spcAft>
            </a:pPr>
            <a:r>
              <a:rPr sz="1500" b="0" i="0">
                <a:solidFill>
                  <a:srgbClr val="5A6270"/>
                </a:solidFill>
                <a:latin typeface="Source Sans 3"/>
              </a:rPr>
              <a:t>read report text only; without a fixed taxonomy, labels drift</a:t>
            </a:r>
          </a:p>
        </p:txBody>
      </p:sp>
      <p:sp>
        <p:nvSpPr>
          <p:cNvPr id="33" name="Rectangle 32"/>
          <p:cNvSpPr/>
          <p:nvPr/>
        </p:nvSpPr>
        <p:spPr>
          <a:xfrm>
            <a:off x="4297679" y="4206240"/>
            <a:ext cx="3566160" cy="54864"/>
          </a:xfrm>
          <a:prstGeom prst="rect">
            <a:avLst/>
          </a:prstGeom>
          <a:solidFill>
            <a:srgbClr val="2B7F7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297679" y="4315968"/>
            <a:ext cx="3566160" cy="1051560"/>
          </a:xfrm>
          <a:prstGeom prst="rect">
            <a:avLst/>
          </a:prstGeom>
          <a:noFill/>
        </p:spPr>
        <p:txBody>
          <a:bodyPr wrap="square" lIns="27432" rIns="27432" tIns="27432" bIns="27432" anchor="t">
            <a:noAutofit/>
          </a:bodyPr>
          <a:lstStyle/>
          <a:p>
            <a:pPr algn="l">
              <a:lnSpc>
                <a:spcPct val="103000"/>
              </a:lnSpc>
              <a:spcAft>
                <a:spcPts val="300"/>
              </a:spcAft>
            </a:pPr>
            <a:r>
              <a:rPr sz="1700" b="1" i="0">
                <a:solidFill>
                  <a:srgbClr val="2B7F72"/>
                </a:solidFill>
                <a:latin typeface="Source Sans 3"/>
              </a:rPr>
              <a:t>ODC studies [19–21]</a:t>
            </a:r>
          </a:p>
          <a:p>
            <a:pPr algn="l">
              <a:lnSpc>
                <a:spcPct val="103000"/>
              </a:lnSpc>
              <a:spcAft>
                <a:spcPts val="300"/>
              </a:spcAft>
            </a:pPr>
            <a:r>
              <a:rPr sz="1500" b="0" i="0">
                <a:solidFill>
                  <a:srgbClr val="5A6270"/>
                </a:solidFill>
                <a:latin typeface="Source Sans 3"/>
              </a:rPr>
              <a:t>classify other corpora, never Defects4J at scale</a:t>
            </a:r>
          </a:p>
        </p:txBody>
      </p:sp>
      <p:sp>
        <p:nvSpPr>
          <p:cNvPr id="35" name="Rectangle 34"/>
          <p:cNvSpPr/>
          <p:nvPr/>
        </p:nvSpPr>
        <p:spPr>
          <a:xfrm>
            <a:off x="8046719" y="4206240"/>
            <a:ext cx="3566160" cy="54864"/>
          </a:xfrm>
          <a:prstGeom prst="rect">
            <a:avLst/>
          </a:prstGeom>
          <a:solidFill>
            <a:srgbClr val="5B4B9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8046719" y="4315968"/>
            <a:ext cx="3566160" cy="1051560"/>
          </a:xfrm>
          <a:prstGeom prst="rect">
            <a:avLst/>
          </a:prstGeom>
          <a:noFill/>
        </p:spPr>
        <p:txBody>
          <a:bodyPr wrap="square" lIns="27432" rIns="27432" tIns="27432" bIns="27432" anchor="t">
            <a:noAutofit/>
          </a:bodyPr>
          <a:lstStyle/>
          <a:p>
            <a:pPr algn="l">
              <a:lnSpc>
                <a:spcPct val="103000"/>
              </a:lnSpc>
              <a:spcAft>
                <a:spcPts val="300"/>
              </a:spcAft>
            </a:pPr>
            <a:r>
              <a:rPr sz="1700" b="1" i="0">
                <a:solidFill>
                  <a:srgbClr val="5B4B9A"/>
                </a:solidFill>
                <a:latin typeface="Source Sans 3"/>
              </a:rPr>
              <a:t>Scientific debugging [17, 18]</a:t>
            </a:r>
          </a:p>
          <a:p>
            <a:pPr algn="l">
              <a:lnSpc>
                <a:spcPct val="103000"/>
              </a:lnSpc>
              <a:spcAft>
                <a:spcPts val="300"/>
              </a:spcAft>
            </a:pPr>
            <a:r>
              <a:rPr sz="1500" b="0" i="0">
                <a:solidFill>
                  <a:srgbClr val="5A6270"/>
                </a:solidFill>
                <a:latin typeface="Source Sans 3"/>
              </a:rPr>
              <a:t>hypothesis → experiment loops, used to find faults, not to type them</a:t>
            </a:r>
          </a:p>
        </p:txBody>
      </p:sp>
      <p:sp>
        <p:nvSpPr>
          <p:cNvPr id="37" name="Rectangle 36"/>
          <p:cNvSpPr/>
          <p:nvPr/>
        </p:nvSpPr>
        <p:spPr>
          <a:xfrm>
            <a:off x="548640" y="5468112"/>
            <a:ext cx="64008" cy="548640"/>
          </a:xfrm>
          <a:prstGeom prst="rect">
            <a:avLst/>
          </a:prstGeom>
          <a:solidFill>
            <a:srgbClr val="12284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777240" y="5468112"/>
            <a:ext cx="10881360" cy="548640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800" b="0" i="0">
                <a:solidFill>
                  <a:srgbClr val="1C2128"/>
                </a:solidFill>
                <a:latin typeface="Source Sans 3"/>
              </a:rPr>
              <a:t>Gap: no semantic defect types for Defects4J, no way to evaluate them, and no test of whether investigating helps.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74320"/>
            <a:ext cx="10332720" cy="731520"/>
          </a:xfrm>
          <a:prstGeom prst="rect">
            <a:avLst/>
          </a:prstGeom>
          <a:noFill/>
        </p:spPr>
        <p:txBody>
          <a:bodyPr wrap="square" lIns="27432" rIns="27432" tIns="27432" bIns="27432" anchor="b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000" b="1" i="0">
                <a:solidFill>
                  <a:srgbClr val="12284C"/>
                </a:solidFill>
                <a:latin typeface="Source Sans 3"/>
              </a:rPr>
              <a:t>Problem Statement</a:t>
            </a:r>
          </a:p>
        </p:txBody>
      </p:sp>
      <p:pic>
        <p:nvPicPr>
          <p:cNvPr id="4" name="Picture 3" descr="iut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228832" y="292608"/>
            <a:ext cx="433472" cy="713232"/>
          </a:xfrm>
          <a:prstGeom prst="rect">
            <a:avLst/>
          </a:prstGeom>
        </p:spPr>
      </p:pic>
      <p:cxnSp>
        <p:nvCxnSpPr>
          <p:cNvPr id="5" name="Connector 4"/>
          <p:cNvCxnSpPr/>
          <p:nvPr/>
        </p:nvCxnSpPr>
        <p:spPr>
          <a:xfrm>
            <a:off x="548640" y="1078992"/>
            <a:ext cx="11091672" cy="0"/>
          </a:xfrm>
          <a:prstGeom prst="line">
            <a:avLst/>
          </a:prstGeom>
          <a:ln w="9525">
            <a:solidFill>
              <a:srgbClr val="D5D9DF"/>
            </a:solidFill>
          </a:ln>
        </p:spPr>
      </p:cxnSp>
      <p:sp>
        <p:nvSpPr>
          <p:cNvPr id="6" name="Rectangle 5"/>
          <p:cNvSpPr/>
          <p:nvPr/>
        </p:nvSpPr>
        <p:spPr>
          <a:xfrm>
            <a:off x="548640" y="1060704"/>
            <a:ext cx="914400" cy="41148"/>
          </a:xfrm>
          <a:prstGeom prst="rect">
            <a:avLst/>
          </a:prstGeom>
          <a:solidFill>
            <a:srgbClr val="12284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>
            <a:off x="548640" y="6400800"/>
            <a:ext cx="11091672" cy="0"/>
          </a:xfrm>
          <a:prstGeom prst="line">
            <a:avLst/>
          </a:prstGeom>
          <a:ln w="9525">
            <a:solidFill>
              <a:srgbClr val="D5D9DF"/>
            </a:solidFill>
          </a:ln>
        </p:spPr>
      </p:cxnSp>
      <p:sp>
        <p:nvSpPr>
          <p:cNvPr id="8" name="TextBox 7"/>
          <p:cNvSpPr txBox="1"/>
          <p:nvPr/>
        </p:nvSpPr>
        <p:spPr>
          <a:xfrm>
            <a:off x="548640" y="6437376"/>
            <a:ext cx="3931920" cy="365760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00" b="0" i="0">
                <a:solidFill>
                  <a:srgbClr val="8A919C"/>
                </a:solidFill>
                <a:latin typeface="Source Sans 3"/>
              </a:rPr>
              <a:t>ODC on Defects4J  ·  Thesis Defence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0" y="6437376"/>
            <a:ext cx="854964" cy="365760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400" b="1" i="0">
                <a:solidFill>
                  <a:srgbClr val="12284C"/>
                </a:solidFill>
                <a:latin typeface="Source Sans 3"/>
              </a:rPr>
              <a:t>Context</a:t>
            </a:r>
          </a:p>
        </p:txBody>
      </p:sp>
      <p:sp>
        <p:nvSpPr>
          <p:cNvPr id="10" name="Rectangle 9"/>
          <p:cNvSpPr/>
          <p:nvPr/>
        </p:nvSpPr>
        <p:spPr>
          <a:xfrm>
            <a:off x="4663440" y="6757416"/>
            <a:ext cx="672084" cy="32004"/>
          </a:xfrm>
          <a:prstGeom prst="rect">
            <a:avLst/>
          </a:prstGeom>
          <a:solidFill>
            <a:srgbClr val="12284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655564" y="6437376"/>
            <a:ext cx="1239012" cy="365760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400" b="0" i="0">
                <a:solidFill>
                  <a:srgbClr val="8A919C"/>
                </a:solidFill>
                <a:latin typeface="Source Sans 3"/>
              </a:rPr>
              <a:t>Methodology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123176" y="6437376"/>
            <a:ext cx="854964" cy="365760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400" b="0" i="0">
                <a:solidFill>
                  <a:srgbClr val="8A919C"/>
                </a:solidFill>
                <a:latin typeface="Source Sans 3"/>
              </a:rPr>
              <a:t>Results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966960" y="6419088"/>
            <a:ext cx="1673352" cy="402336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800" b="1" i="0">
                <a:solidFill>
                  <a:srgbClr val="12284C"/>
                </a:solidFill>
                <a:latin typeface="Source Sans 3"/>
              </a:rPr>
              <a:t>5 / 24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48640" y="1325880"/>
            <a:ext cx="64008" cy="1097280"/>
          </a:xfrm>
          <a:prstGeom prst="rect">
            <a:avLst/>
          </a:prstGeom>
          <a:solidFill>
            <a:srgbClr val="12284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68680" y="1280160"/>
            <a:ext cx="10698480" cy="1188720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2400" b="0" i="0">
                <a:solidFill>
                  <a:srgbClr val="1C2128"/>
                </a:solidFill>
                <a:latin typeface="Source Sans 3"/>
              </a:rPr>
              <a:t>Classify Defects4J bugs into ODC defect types </a:t>
            </a:r>
            <a:r>
              <a:rPr sz="2400" b="1" i="0">
                <a:solidFill>
                  <a:srgbClr val="12284C"/>
                </a:solidFill>
                <a:latin typeface="Source Sans 3"/>
              </a:rPr>
              <a:t>from pre-fix evidence alone</a:t>
            </a:r>
            <a:r>
              <a:rPr sz="2400" b="0" i="0">
                <a:solidFill>
                  <a:srgbClr val="1C2128"/>
                </a:solidFill>
                <a:latin typeface="Source Sans 3"/>
              </a:rPr>
              <a:t> — and evaluate that classification </a:t>
            </a:r>
            <a:r>
              <a:rPr sz="2400" b="1" i="0">
                <a:solidFill>
                  <a:srgbClr val="12284C"/>
                </a:solidFill>
                <a:latin typeface="Source Sans 3"/>
              </a:rPr>
              <a:t>without ground-truth labels.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" y="2651760"/>
            <a:ext cx="11091672" cy="329184"/>
          </a:xfrm>
          <a:prstGeom prst="rect">
            <a:avLst/>
          </a:prstGeom>
          <a:noFill/>
        </p:spPr>
        <p:txBody>
          <a:bodyPr wrap="square" lIns="27432" rIns="27432" tIns="27432" bIns="27432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00" b="1" i="0">
                <a:solidFill>
                  <a:srgbClr val="5A6270"/>
                </a:solidFill>
                <a:latin typeface="Source Sans 3"/>
              </a:rPr>
              <a:t>A SOLUTION HAS TO BE …   →   HOW WE MEET IT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48640" y="3017520"/>
            <a:ext cx="5422392" cy="914400"/>
          </a:xfrm>
          <a:prstGeom prst="rect">
            <a:avLst/>
          </a:prstGeom>
          <a:solidFill>
            <a:srgbClr val="F4F5F7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31520" y="3072384"/>
            <a:ext cx="3017520" cy="411480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900" b="1" i="0">
                <a:solidFill>
                  <a:srgbClr val="12284C"/>
                </a:solidFill>
                <a:latin typeface="Source Sans 3"/>
              </a:rPr>
              <a:t>Context-aware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31520" y="3474720"/>
            <a:ext cx="3017520" cy="384048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500" b="0" i="0">
                <a:solidFill>
                  <a:srgbClr val="5A6270"/>
                </a:solidFill>
                <a:latin typeface="Source Sans 3"/>
              </a:rPr>
              <a:t>code, tests, traces, report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11880" y="3017520"/>
            <a:ext cx="320040" cy="914400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2000" b="0" i="0">
                <a:solidFill>
                  <a:srgbClr val="8A919C"/>
                </a:solidFill>
                <a:latin typeface="Source Sans 3"/>
              </a:rPr>
              <a:t>→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950208" y="3236976"/>
            <a:ext cx="1874519" cy="475488"/>
          </a:xfrm>
          <a:prstGeom prst="rect">
            <a:avLst/>
          </a:prstGeom>
          <a:solidFill>
            <a:srgbClr val="2F5D9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950208" y="3236976"/>
            <a:ext cx="1874519" cy="475488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400" b="1" i="0">
                <a:solidFill>
                  <a:srgbClr val="FFFFFF"/>
                </a:solidFill>
                <a:latin typeface="Source Sans 3"/>
              </a:rPr>
              <a:t>one case file per bug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217920" y="3017520"/>
            <a:ext cx="5422392" cy="914400"/>
          </a:xfrm>
          <a:prstGeom prst="rect">
            <a:avLst/>
          </a:prstGeom>
          <a:solidFill>
            <a:srgbClr val="F4F5F7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00800" y="3072384"/>
            <a:ext cx="3017520" cy="411480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900" b="1" i="0">
                <a:solidFill>
                  <a:srgbClr val="12284C"/>
                </a:solidFill>
                <a:latin typeface="Source Sans 3"/>
              </a:rPr>
              <a:t>Semantic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00800" y="3474720"/>
            <a:ext cx="3017520" cy="384048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500" b="0" i="0">
                <a:solidFill>
                  <a:srgbClr val="5A6270"/>
                </a:solidFill>
                <a:latin typeface="Source Sans 3"/>
              </a:rPr>
              <a:t>mechanism, not syntax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281160" y="3017520"/>
            <a:ext cx="320040" cy="914400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2000" b="0" i="0">
                <a:solidFill>
                  <a:srgbClr val="8A919C"/>
                </a:solidFill>
                <a:latin typeface="Source Sans 3"/>
              </a:rPr>
              <a:t>→</a:t>
            </a:r>
          </a:p>
        </p:txBody>
      </p:sp>
      <p:sp>
        <p:nvSpPr>
          <p:cNvPr id="27" name="Rectangle 26"/>
          <p:cNvSpPr/>
          <p:nvPr/>
        </p:nvSpPr>
        <p:spPr>
          <a:xfrm>
            <a:off x="9619488" y="3236976"/>
            <a:ext cx="1874519" cy="475488"/>
          </a:xfrm>
          <a:prstGeom prst="rect">
            <a:avLst/>
          </a:prstGeom>
          <a:solidFill>
            <a:srgbClr val="2F5D9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619488" y="3236976"/>
            <a:ext cx="1874519" cy="475488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400" b="1" i="0">
                <a:solidFill>
                  <a:srgbClr val="FFFFFF"/>
                </a:solidFill>
                <a:latin typeface="Source Sans 3"/>
              </a:rPr>
              <a:t>ODC defect type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48640" y="4069079"/>
            <a:ext cx="5422392" cy="914400"/>
          </a:xfrm>
          <a:prstGeom prst="rect">
            <a:avLst/>
          </a:prstGeom>
          <a:solidFill>
            <a:srgbClr val="F4F5F7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31520" y="4123943"/>
            <a:ext cx="3017520" cy="411480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900" b="1" i="0">
                <a:solidFill>
                  <a:srgbClr val="12284C"/>
                </a:solidFill>
                <a:latin typeface="Source Sans 3"/>
              </a:rPr>
              <a:t>Taxonomy-constrained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31520" y="4526279"/>
            <a:ext cx="3017520" cy="384048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500" b="0" i="0">
                <a:solidFill>
                  <a:srgbClr val="5A6270"/>
                </a:solidFill>
                <a:latin typeface="Source Sans 3"/>
              </a:rPr>
              <a:t>a fixed, comparable label space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611880" y="4069079"/>
            <a:ext cx="320040" cy="914400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2000" b="0" i="0">
                <a:solidFill>
                  <a:srgbClr val="8A919C"/>
                </a:solidFill>
                <a:latin typeface="Source Sans 3"/>
              </a:rPr>
              <a:t>→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950208" y="4288536"/>
            <a:ext cx="1874519" cy="475488"/>
          </a:xfrm>
          <a:prstGeom prst="rect">
            <a:avLst/>
          </a:prstGeom>
          <a:solidFill>
            <a:srgbClr val="5B4B9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950208" y="4288536"/>
            <a:ext cx="1874519" cy="475488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400" b="1" i="0">
                <a:solidFill>
                  <a:srgbClr val="FFFFFF"/>
                </a:solidFill>
                <a:latin typeface="Source Sans 3"/>
              </a:rPr>
              <a:t>7 ODC types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217920" y="4069079"/>
            <a:ext cx="5422392" cy="914400"/>
          </a:xfrm>
          <a:prstGeom prst="rect">
            <a:avLst/>
          </a:prstGeom>
          <a:solidFill>
            <a:srgbClr val="F4F5F7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400800" y="4123943"/>
            <a:ext cx="3017520" cy="411480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900" b="1" i="0">
                <a:solidFill>
                  <a:srgbClr val="12284C"/>
                </a:solidFill>
                <a:latin typeface="Source Sans 3"/>
              </a:rPr>
              <a:t>Open to its own limits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400800" y="4526279"/>
            <a:ext cx="3017520" cy="384048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500" b="0" i="0">
                <a:solidFill>
                  <a:srgbClr val="5A6270"/>
                </a:solidFill>
                <a:latin typeface="Source Sans 3"/>
              </a:rPr>
              <a:t>can say a bug does not fit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281160" y="4069079"/>
            <a:ext cx="320040" cy="914400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2000" b="0" i="0">
                <a:solidFill>
                  <a:srgbClr val="8A919C"/>
                </a:solidFill>
                <a:latin typeface="Source Sans 3"/>
              </a:rPr>
              <a:t>→</a:t>
            </a:r>
          </a:p>
        </p:txBody>
      </p:sp>
      <p:sp>
        <p:nvSpPr>
          <p:cNvPr id="39" name="Rectangle 38"/>
          <p:cNvSpPr/>
          <p:nvPr/>
        </p:nvSpPr>
        <p:spPr>
          <a:xfrm>
            <a:off x="9619488" y="4288536"/>
            <a:ext cx="1874519" cy="475488"/>
          </a:xfrm>
          <a:prstGeom prst="rect">
            <a:avLst/>
          </a:prstGeom>
          <a:solidFill>
            <a:srgbClr val="5B4B9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9619488" y="4288536"/>
            <a:ext cx="1874519" cy="475488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400" b="1" i="0">
                <a:solidFill>
                  <a:srgbClr val="FFFFFF"/>
                </a:solidFill>
                <a:latin typeface="Source Sans 3"/>
              </a:rPr>
              <a:t>“Other” + justification</a:t>
            </a:r>
          </a:p>
        </p:txBody>
      </p:sp>
      <p:sp>
        <p:nvSpPr>
          <p:cNvPr id="41" name="Rectangle 40"/>
          <p:cNvSpPr/>
          <p:nvPr/>
        </p:nvSpPr>
        <p:spPr>
          <a:xfrm>
            <a:off x="548640" y="5120640"/>
            <a:ext cx="5422392" cy="914400"/>
          </a:xfrm>
          <a:prstGeom prst="rect">
            <a:avLst/>
          </a:prstGeom>
          <a:solidFill>
            <a:srgbClr val="F4F5F7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731520" y="5175503"/>
            <a:ext cx="3017520" cy="411480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900" b="1" i="0">
                <a:solidFill>
                  <a:srgbClr val="12284C"/>
                </a:solidFill>
                <a:latin typeface="Source Sans 3"/>
              </a:rPr>
              <a:t>Scalable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731520" y="5577840"/>
            <a:ext cx="3017520" cy="384048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500" b="0" i="0">
                <a:solidFill>
                  <a:srgbClr val="5A6270"/>
                </a:solidFill>
                <a:latin typeface="Source Sans 3"/>
              </a:rPr>
              <a:t>no manual labelling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611880" y="5120640"/>
            <a:ext cx="320040" cy="914400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2000" b="0" i="0">
                <a:solidFill>
                  <a:srgbClr val="8A919C"/>
                </a:solidFill>
                <a:latin typeface="Source Sans 3"/>
              </a:rPr>
              <a:t>→</a:t>
            </a:r>
          </a:p>
        </p:txBody>
      </p:sp>
      <p:sp>
        <p:nvSpPr>
          <p:cNvPr id="45" name="Rectangle 44"/>
          <p:cNvSpPr/>
          <p:nvPr/>
        </p:nvSpPr>
        <p:spPr>
          <a:xfrm>
            <a:off x="3950208" y="5340096"/>
            <a:ext cx="1874519" cy="475488"/>
          </a:xfrm>
          <a:prstGeom prst="rect">
            <a:avLst/>
          </a:prstGeom>
          <a:solidFill>
            <a:srgbClr val="5B4B9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3950208" y="5340096"/>
            <a:ext cx="1874519" cy="475488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400" b="1" i="0">
                <a:solidFill>
                  <a:srgbClr val="FFFFFF"/>
                </a:solidFill>
                <a:latin typeface="Source Sans 3"/>
              </a:rPr>
              <a:t>LLM strategies</a:t>
            </a:r>
          </a:p>
        </p:txBody>
      </p:sp>
      <p:sp>
        <p:nvSpPr>
          <p:cNvPr id="47" name="Rectangle 46"/>
          <p:cNvSpPr/>
          <p:nvPr/>
        </p:nvSpPr>
        <p:spPr>
          <a:xfrm>
            <a:off x="6217920" y="5120640"/>
            <a:ext cx="5422392" cy="914400"/>
          </a:xfrm>
          <a:prstGeom prst="rect">
            <a:avLst/>
          </a:prstGeom>
          <a:solidFill>
            <a:srgbClr val="F4F5F7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6400800" y="5175503"/>
            <a:ext cx="3017520" cy="411480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900" b="1" i="0">
                <a:solidFill>
                  <a:srgbClr val="12284C"/>
                </a:solidFill>
                <a:latin typeface="Source Sans 3"/>
              </a:rPr>
              <a:t>Evaluable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400800" y="5577840"/>
            <a:ext cx="3017520" cy="384048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500" b="0" i="0">
                <a:solidFill>
                  <a:srgbClr val="5A6270"/>
                </a:solidFill>
                <a:latin typeface="Source Sans 3"/>
              </a:rPr>
              <a:t>brings its own reference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9281160" y="5120640"/>
            <a:ext cx="320040" cy="914400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2000" b="0" i="0">
                <a:solidFill>
                  <a:srgbClr val="8A919C"/>
                </a:solidFill>
                <a:latin typeface="Source Sans 3"/>
              </a:rPr>
              <a:t>→</a:t>
            </a:r>
          </a:p>
        </p:txBody>
      </p:sp>
      <p:sp>
        <p:nvSpPr>
          <p:cNvPr id="51" name="Rectangle 50"/>
          <p:cNvSpPr/>
          <p:nvPr/>
        </p:nvSpPr>
        <p:spPr>
          <a:xfrm>
            <a:off x="9619488" y="5340096"/>
            <a:ext cx="1874519" cy="475488"/>
          </a:xfrm>
          <a:prstGeom prst="rect">
            <a:avLst/>
          </a:prstGeom>
          <a:solidFill>
            <a:srgbClr val="2B7F7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9619488" y="5340096"/>
            <a:ext cx="1874519" cy="475488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400" b="1" i="0">
                <a:solidFill>
                  <a:srgbClr val="FFFFFF"/>
                </a:solidFill>
                <a:latin typeface="Source Sans 3"/>
              </a:rPr>
              <a:t>post-fix reference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74320"/>
            <a:ext cx="10332720" cy="731520"/>
          </a:xfrm>
          <a:prstGeom prst="rect">
            <a:avLst/>
          </a:prstGeom>
          <a:noFill/>
        </p:spPr>
        <p:txBody>
          <a:bodyPr wrap="square" lIns="27432" rIns="27432" tIns="27432" bIns="27432" anchor="b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000" b="1" i="0">
                <a:solidFill>
                  <a:srgbClr val="12284C"/>
                </a:solidFill>
                <a:latin typeface="Source Sans 3"/>
              </a:rPr>
              <a:t>Core Idea: One Bug, Two Classifications</a:t>
            </a:r>
          </a:p>
        </p:txBody>
      </p:sp>
      <p:pic>
        <p:nvPicPr>
          <p:cNvPr id="4" name="Picture 3" descr="iut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228832" y="292608"/>
            <a:ext cx="433472" cy="713232"/>
          </a:xfrm>
          <a:prstGeom prst="rect">
            <a:avLst/>
          </a:prstGeom>
        </p:spPr>
      </p:pic>
      <p:cxnSp>
        <p:nvCxnSpPr>
          <p:cNvPr id="5" name="Connector 4"/>
          <p:cNvCxnSpPr/>
          <p:nvPr/>
        </p:nvCxnSpPr>
        <p:spPr>
          <a:xfrm>
            <a:off x="548640" y="1078992"/>
            <a:ext cx="11091672" cy="0"/>
          </a:xfrm>
          <a:prstGeom prst="line">
            <a:avLst/>
          </a:prstGeom>
          <a:ln w="9525">
            <a:solidFill>
              <a:srgbClr val="D5D9DF"/>
            </a:solidFill>
          </a:ln>
        </p:spPr>
      </p:cxnSp>
      <p:sp>
        <p:nvSpPr>
          <p:cNvPr id="6" name="Rectangle 5"/>
          <p:cNvSpPr/>
          <p:nvPr/>
        </p:nvSpPr>
        <p:spPr>
          <a:xfrm>
            <a:off x="548640" y="1060704"/>
            <a:ext cx="914400" cy="41148"/>
          </a:xfrm>
          <a:prstGeom prst="rect">
            <a:avLst/>
          </a:prstGeom>
          <a:solidFill>
            <a:srgbClr val="12284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>
            <a:off x="548640" y="6400800"/>
            <a:ext cx="11091672" cy="0"/>
          </a:xfrm>
          <a:prstGeom prst="line">
            <a:avLst/>
          </a:prstGeom>
          <a:ln w="9525">
            <a:solidFill>
              <a:srgbClr val="D5D9DF"/>
            </a:solidFill>
          </a:ln>
        </p:spPr>
      </p:cxnSp>
      <p:sp>
        <p:nvSpPr>
          <p:cNvPr id="8" name="TextBox 7"/>
          <p:cNvSpPr txBox="1"/>
          <p:nvPr/>
        </p:nvSpPr>
        <p:spPr>
          <a:xfrm>
            <a:off x="548640" y="6437376"/>
            <a:ext cx="3931920" cy="365760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00" b="0" i="0">
                <a:solidFill>
                  <a:srgbClr val="8A919C"/>
                </a:solidFill>
                <a:latin typeface="Source Sans 3"/>
              </a:rPr>
              <a:t>ODC on Defects4J  ·  Thesis Defence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0" y="6437376"/>
            <a:ext cx="854964" cy="365760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400" b="1" i="0">
                <a:solidFill>
                  <a:srgbClr val="12284C"/>
                </a:solidFill>
                <a:latin typeface="Source Sans 3"/>
              </a:rPr>
              <a:t>Context</a:t>
            </a:r>
          </a:p>
        </p:txBody>
      </p:sp>
      <p:sp>
        <p:nvSpPr>
          <p:cNvPr id="10" name="Rectangle 9"/>
          <p:cNvSpPr/>
          <p:nvPr/>
        </p:nvSpPr>
        <p:spPr>
          <a:xfrm>
            <a:off x="4663440" y="6757416"/>
            <a:ext cx="672084" cy="32004"/>
          </a:xfrm>
          <a:prstGeom prst="rect">
            <a:avLst/>
          </a:prstGeom>
          <a:solidFill>
            <a:srgbClr val="12284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655564" y="6437376"/>
            <a:ext cx="1239012" cy="365760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400" b="0" i="0">
                <a:solidFill>
                  <a:srgbClr val="8A919C"/>
                </a:solidFill>
                <a:latin typeface="Source Sans 3"/>
              </a:rPr>
              <a:t>Methodology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123176" y="6437376"/>
            <a:ext cx="854964" cy="365760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400" b="0" i="0">
                <a:solidFill>
                  <a:srgbClr val="8A919C"/>
                </a:solidFill>
                <a:latin typeface="Source Sans 3"/>
              </a:rPr>
              <a:t>Results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966960" y="6419088"/>
            <a:ext cx="1673352" cy="402336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800" b="1" i="0">
                <a:solidFill>
                  <a:srgbClr val="12284C"/>
                </a:solidFill>
                <a:latin typeface="Source Sans 3"/>
              </a:rPr>
              <a:t>6 / 24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1280160"/>
            <a:ext cx="5897880" cy="329184"/>
          </a:xfrm>
          <a:prstGeom prst="rect">
            <a:avLst/>
          </a:prstGeom>
          <a:noFill/>
        </p:spPr>
        <p:txBody>
          <a:bodyPr wrap="square" lIns="27432" rIns="27432" tIns="27432" bIns="27432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00" b="1" i="0">
                <a:solidFill>
                  <a:srgbClr val="5A6270"/>
                </a:solidFill>
                <a:latin typeface="Source Sans 3"/>
              </a:rPr>
              <a:t>DEFECTS4J CHART_9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48640" y="1645920"/>
            <a:ext cx="5897880" cy="402336"/>
          </a:xfrm>
          <a:prstGeom prst="rect">
            <a:avLst/>
          </a:prstGeom>
          <a:solidFill>
            <a:srgbClr val="E6EAF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85800" y="1645920"/>
            <a:ext cx="5623560" cy="402336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00" b="0" i="0">
                <a:solidFill>
                  <a:srgbClr val="5A6270"/>
                </a:solidFill>
                <a:latin typeface="Source Code Pro"/>
              </a:rPr>
              <a:t>org.jfree.data.time.TimeSeries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48640" y="2048256"/>
            <a:ext cx="5897880" cy="1883664"/>
          </a:xfrm>
          <a:prstGeom prst="rect">
            <a:avLst/>
          </a:prstGeom>
          <a:solidFill>
            <a:srgbClr val="F4F5F7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85800" y="2121408"/>
            <a:ext cx="5623560" cy="347472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00" b="0" i="0">
                <a:solidFill>
                  <a:srgbClr val="1C2128"/>
                </a:solidFill>
                <a:latin typeface="Source Code Pro"/>
              </a:rPr>
              <a:t>      endIndex = endIndex - 1;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48640" y="2468880"/>
            <a:ext cx="5897880" cy="347472"/>
          </a:xfrm>
          <a:prstGeom prst="rect">
            <a:avLst/>
          </a:prstGeom>
          <a:solidFill>
            <a:srgbClr val="F7E6E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48640" y="2468880"/>
            <a:ext cx="45720" cy="347472"/>
          </a:xfrm>
          <a:prstGeom prst="rect">
            <a:avLst/>
          </a:prstGeom>
          <a:solidFill>
            <a:srgbClr val="A23B3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85800" y="2468880"/>
            <a:ext cx="5623560" cy="347472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00" b="0" i="0">
                <a:solidFill>
                  <a:srgbClr val="A23B3B"/>
                </a:solidFill>
                <a:latin typeface="Source Code Pro"/>
              </a:rPr>
              <a:t>- if (endIndex &lt; 0) {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48640" y="2816352"/>
            <a:ext cx="5897880" cy="347472"/>
          </a:xfrm>
          <a:prstGeom prst="rect">
            <a:avLst/>
          </a:prstGeom>
          <a:solidFill>
            <a:srgbClr val="E3F1E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548640" y="2816352"/>
            <a:ext cx="45720" cy="347472"/>
          </a:xfrm>
          <a:prstGeom prst="rect">
            <a:avLst/>
          </a:prstGeom>
          <a:solidFill>
            <a:srgbClr val="2F7D4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85800" y="2816352"/>
            <a:ext cx="5623560" cy="347472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00" b="0" i="0">
                <a:solidFill>
                  <a:srgbClr val="2F7D4F"/>
                </a:solidFill>
                <a:latin typeface="Source Code Pro"/>
              </a:rPr>
              <a:t>+ if ((endIndex &lt; 0) || (endIndex &lt; startIndex)) {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85800" y="3163824"/>
            <a:ext cx="5623560" cy="347472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00" b="0" i="0">
                <a:solidFill>
                  <a:srgbClr val="1C2128"/>
                </a:solidFill>
                <a:latin typeface="Source Code Pro"/>
              </a:rPr>
              <a:t>      emptyRange = true;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85800" y="3511296"/>
            <a:ext cx="5623560" cy="347472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00" b="0" i="0">
                <a:solidFill>
                  <a:srgbClr val="1C2128"/>
                </a:solidFill>
                <a:latin typeface="Source Code Pro"/>
              </a:rPr>
              <a:t>  }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48640" y="4023360"/>
            <a:ext cx="5897880" cy="384048"/>
          </a:xfrm>
          <a:prstGeom prst="rect">
            <a:avLst/>
          </a:prstGeom>
          <a:noFill/>
        </p:spPr>
        <p:txBody>
          <a:bodyPr wrap="square" lIns="27432" rIns="27432" tIns="27432" bIns="27432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600" b="0" i="0">
                <a:solidFill>
                  <a:srgbClr val="5A6270"/>
                </a:solidFill>
                <a:latin typeface="Source Sans 3"/>
              </a:rPr>
              <a:t>The fix widens a guard to catch an empty range.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766560" y="1280160"/>
            <a:ext cx="4873752" cy="1371600"/>
          </a:xfrm>
          <a:prstGeom prst="rect">
            <a:avLst/>
          </a:prstGeom>
          <a:solidFill>
            <a:srgbClr val="FFFFFF"/>
          </a:solidFill>
          <a:ln w="9525">
            <a:solidFill>
              <a:srgbClr val="D5D9D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6766560" y="1280160"/>
            <a:ext cx="64008" cy="1371600"/>
          </a:xfrm>
          <a:prstGeom prst="rect">
            <a:avLst/>
          </a:prstGeom>
          <a:solidFill>
            <a:srgbClr val="A23B3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995160" y="1353312"/>
            <a:ext cx="4507992" cy="411480"/>
          </a:xfrm>
          <a:prstGeom prst="rect">
            <a:avLst/>
          </a:prstGeom>
          <a:noFill/>
        </p:spPr>
        <p:txBody>
          <a:bodyPr wrap="square" lIns="27432" rIns="27432" tIns="27432" bIns="27432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900" b="1" i="0">
                <a:solidFill>
                  <a:srgbClr val="A23B3B"/>
                </a:solidFill>
                <a:latin typeface="Source Sans 3"/>
              </a:rPr>
              <a:t>Pre-fix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995160" y="1764792"/>
            <a:ext cx="4507992" cy="384048"/>
          </a:xfrm>
          <a:prstGeom prst="rect">
            <a:avLst/>
          </a:prstGeom>
          <a:noFill/>
        </p:spPr>
        <p:txBody>
          <a:bodyPr wrap="square" lIns="27432" rIns="27432" tIns="27432" bIns="27432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600" b="0" i="0">
                <a:solidFill>
                  <a:srgbClr val="1C2128"/>
                </a:solidFill>
                <a:latin typeface="Source Code Pro"/>
              </a:rPr>
              <a:t>report · tests · trace · code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995160" y="2176272"/>
            <a:ext cx="4507992" cy="411480"/>
          </a:xfrm>
          <a:prstGeom prst="rect">
            <a:avLst/>
          </a:prstGeom>
          <a:noFill/>
        </p:spPr>
        <p:txBody>
          <a:bodyPr wrap="square" lIns="27432" rIns="27432" tIns="27432" bIns="27432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600" b="0" i="0">
                <a:solidFill>
                  <a:srgbClr val="5A6270"/>
                </a:solidFill>
                <a:latin typeface="Source Sans 3"/>
              </a:rPr>
              <a:t>Triage: no fix exists yet.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766560" y="2834639"/>
            <a:ext cx="4873752" cy="1371600"/>
          </a:xfrm>
          <a:prstGeom prst="rect">
            <a:avLst/>
          </a:prstGeom>
          <a:solidFill>
            <a:srgbClr val="FFFFFF"/>
          </a:solidFill>
          <a:ln w="9525">
            <a:solidFill>
              <a:srgbClr val="D5D9D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6766560" y="2834639"/>
            <a:ext cx="64008" cy="1371600"/>
          </a:xfrm>
          <a:prstGeom prst="rect">
            <a:avLst/>
          </a:prstGeom>
          <a:solidFill>
            <a:srgbClr val="2F7D4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995160" y="2907791"/>
            <a:ext cx="4507992" cy="411480"/>
          </a:xfrm>
          <a:prstGeom prst="rect">
            <a:avLst/>
          </a:prstGeom>
          <a:noFill/>
        </p:spPr>
        <p:txBody>
          <a:bodyPr wrap="square" lIns="27432" rIns="27432" tIns="27432" bIns="27432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900" b="1" i="0">
                <a:solidFill>
                  <a:srgbClr val="2F7D4F"/>
                </a:solidFill>
                <a:latin typeface="Source Sans 3"/>
              </a:rPr>
              <a:t>Post-fix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995160" y="3319272"/>
            <a:ext cx="4507992" cy="384048"/>
          </a:xfrm>
          <a:prstGeom prst="rect">
            <a:avLst/>
          </a:prstGeom>
          <a:noFill/>
        </p:spPr>
        <p:txBody>
          <a:bodyPr wrap="square" lIns="27432" rIns="27432" tIns="27432" bIns="27432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600" b="0" i="0">
                <a:solidFill>
                  <a:srgbClr val="1C2128"/>
                </a:solidFill>
                <a:latin typeface="Source Code Pro"/>
              </a:rPr>
              <a:t>the same evidence + the fix diff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995160" y="3730752"/>
            <a:ext cx="4507992" cy="411480"/>
          </a:xfrm>
          <a:prstGeom prst="rect">
            <a:avLst/>
          </a:prstGeom>
          <a:noFill/>
        </p:spPr>
        <p:txBody>
          <a:bodyPr wrap="square" lIns="27432" rIns="27432" tIns="27432" bIns="27432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600" b="0" i="0">
                <a:solidFill>
                  <a:srgbClr val="5A6270"/>
                </a:solidFill>
                <a:latin typeface="Source Sans 3"/>
              </a:rPr>
              <a:t>Informed by the correction.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48640" y="4526280"/>
            <a:ext cx="11091672" cy="329184"/>
          </a:xfrm>
          <a:prstGeom prst="rect">
            <a:avLst/>
          </a:prstGeom>
          <a:noFill/>
        </p:spPr>
        <p:txBody>
          <a:bodyPr wrap="square" lIns="27432" rIns="27432" tIns="27432" bIns="27432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00" b="1" i="0">
                <a:solidFill>
                  <a:srgbClr val="5A6270"/>
                </a:solidFill>
                <a:latin typeface="Source Sans 3"/>
              </a:rPr>
              <a:t>DEFECTS4J HAS NO ODC LABELS, SO WE DEFINE</a:t>
            </a:r>
          </a:p>
        </p:txBody>
      </p:sp>
      <p:cxnSp>
        <p:nvCxnSpPr>
          <p:cNvPr id="39" name="Connector 38"/>
          <p:cNvCxnSpPr/>
          <p:nvPr/>
        </p:nvCxnSpPr>
        <p:spPr>
          <a:xfrm>
            <a:off x="548640" y="4892040"/>
            <a:ext cx="3520440" cy="0"/>
          </a:xfrm>
          <a:prstGeom prst="line">
            <a:avLst/>
          </a:prstGeom>
          <a:ln w="15875">
            <a:solidFill>
              <a:srgbClr val="12284C"/>
            </a:solidFill>
          </a:ln>
        </p:spPr>
      </p:cxnSp>
      <p:sp>
        <p:nvSpPr>
          <p:cNvPr id="40" name="TextBox 39"/>
          <p:cNvSpPr txBox="1"/>
          <p:nvPr/>
        </p:nvSpPr>
        <p:spPr>
          <a:xfrm>
            <a:off x="548640" y="4956048"/>
            <a:ext cx="3520440" cy="384048"/>
          </a:xfrm>
          <a:prstGeom prst="rect">
            <a:avLst/>
          </a:prstGeom>
          <a:noFill/>
        </p:spPr>
        <p:txBody>
          <a:bodyPr wrap="square" lIns="27432" rIns="27432" tIns="27432" bIns="27432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900" b="1" i="0">
                <a:solidFill>
                  <a:srgbClr val="12284C"/>
                </a:solidFill>
                <a:latin typeface="Source Sans 3"/>
              </a:rPr>
              <a:t>Post-fix label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48640" y="5349240"/>
            <a:ext cx="3520440" cy="384048"/>
          </a:xfrm>
          <a:prstGeom prst="rect">
            <a:avLst/>
          </a:prstGeom>
          <a:noFill/>
        </p:spPr>
        <p:txBody>
          <a:bodyPr wrap="square" lIns="27432" rIns="27432" tIns="27432" bIns="27432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700" b="0" i="0">
                <a:solidFill>
                  <a:srgbClr val="8A919C"/>
                </a:solidFill>
                <a:latin typeface="Source Sans 3"/>
              </a:rPr>
              <a:t>= </a:t>
            </a:r>
            <a:r>
              <a:rPr sz="1700" b="0" i="0">
                <a:solidFill>
                  <a:srgbClr val="1C2128"/>
                </a:solidFill>
                <a:latin typeface="Source Sans 3"/>
              </a:rPr>
              <a:t>the reference answer</a:t>
            </a:r>
          </a:p>
        </p:txBody>
      </p:sp>
      <p:cxnSp>
        <p:nvCxnSpPr>
          <p:cNvPr id="42" name="Connector 41"/>
          <p:cNvCxnSpPr/>
          <p:nvPr/>
        </p:nvCxnSpPr>
        <p:spPr>
          <a:xfrm>
            <a:off x="4343400" y="4892040"/>
            <a:ext cx="3520440" cy="0"/>
          </a:xfrm>
          <a:prstGeom prst="line">
            <a:avLst/>
          </a:prstGeom>
          <a:ln w="15875">
            <a:solidFill>
              <a:srgbClr val="12284C"/>
            </a:solidFill>
          </a:ln>
        </p:spPr>
      </p:cxnSp>
      <p:sp>
        <p:nvSpPr>
          <p:cNvPr id="43" name="TextBox 42"/>
          <p:cNvSpPr txBox="1"/>
          <p:nvPr/>
        </p:nvSpPr>
        <p:spPr>
          <a:xfrm>
            <a:off x="4343400" y="4956048"/>
            <a:ext cx="3520440" cy="384048"/>
          </a:xfrm>
          <a:prstGeom prst="rect">
            <a:avLst/>
          </a:prstGeom>
          <a:noFill/>
        </p:spPr>
        <p:txBody>
          <a:bodyPr wrap="square" lIns="27432" rIns="27432" tIns="27432" bIns="27432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900" b="1" i="0">
                <a:solidFill>
                  <a:srgbClr val="12284C"/>
                </a:solidFill>
                <a:latin typeface="Source Sans 3"/>
              </a:rPr>
              <a:t>Pre-fix vs post-fix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343400" y="5349240"/>
            <a:ext cx="3520440" cy="384048"/>
          </a:xfrm>
          <a:prstGeom prst="rect">
            <a:avLst/>
          </a:prstGeom>
          <a:noFill/>
        </p:spPr>
        <p:txBody>
          <a:bodyPr wrap="square" lIns="27432" rIns="27432" tIns="27432" bIns="27432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700" b="0" i="0">
                <a:solidFill>
                  <a:srgbClr val="8A919C"/>
                </a:solidFill>
                <a:latin typeface="Source Sans 3"/>
              </a:rPr>
              <a:t>= </a:t>
            </a:r>
            <a:r>
              <a:rPr sz="1700" b="0" i="0">
                <a:solidFill>
                  <a:srgbClr val="1C2128"/>
                </a:solidFill>
                <a:latin typeface="Source Sans 3"/>
              </a:rPr>
              <a:t>does the triage label hold?</a:t>
            </a:r>
          </a:p>
        </p:txBody>
      </p:sp>
      <p:cxnSp>
        <p:nvCxnSpPr>
          <p:cNvPr id="45" name="Connector 44"/>
          <p:cNvCxnSpPr/>
          <p:nvPr/>
        </p:nvCxnSpPr>
        <p:spPr>
          <a:xfrm>
            <a:off x="8138160" y="4892040"/>
            <a:ext cx="3520440" cy="0"/>
          </a:xfrm>
          <a:prstGeom prst="line">
            <a:avLst/>
          </a:prstGeom>
          <a:ln w="15875">
            <a:solidFill>
              <a:srgbClr val="12284C"/>
            </a:solidFill>
          </a:ln>
        </p:spPr>
      </p:cxnSp>
      <p:sp>
        <p:nvSpPr>
          <p:cNvPr id="46" name="TextBox 45"/>
          <p:cNvSpPr txBox="1"/>
          <p:nvPr/>
        </p:nvSpPr>
        <p:spPr>
          <a:xfrm>
            <a:off x="8138160" y="4956048"/>
            <a:ext cx="3520440" cy="384048"/>
          </a:xfrm>
          <a:prstGeom prst="rect">
            <a:avLst/>
          </a:prstGeom>
          <a:noFill/>
        </p:spPr>
        <p:txBody>
          <a:bodyPr wrap="square" lIns="27432" rIns="27432" tIns="27432" bIns="27432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900" b="1" i="0">
                <a:solidFill>
                  <a:srgbClr val="12284C"/>
                </a:solidFill>
                <a:latin typeface="Source Sans 3"/>
              </a:rPr>
              <a:t>Labels differ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138160" y="5349240"/>
            <a:ext cx="3520440" cy="384048"/>
          </a:xfrm>
          <a:prstGeom prst="rect">
            <a:avLst/>
          </a:prstGeom>
          <a:noFill/>
        </p:spPr>
        <p:txBody>
          <a:bodyPr wrap="square" lIns="27432" rIns="27432" tIns="27432" bIns="27432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700" b="0" i="0">
                <a:solidFill>
                  <a:srgbClr val="8A919C"/>
                </a:solidFill>
                <a:latin typeface="Source Sans 3"/>
              </a:rPr>
              <a:t>= </a:t>
            </a:r>
            <a:r>
              <a:rPr sz="1700" b="0" i="0">
                <a:solidFill>
                  <a:srgbClr val="1C2128"/>
                </a:solidFill>
                <a:latin typeface="Source Sans 3"/>
              </a:rPr>
              <a:t>drift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548640" y="5989320"/>
            <a:ext cx="11091672" cy="365760"/>
          </a:xfrm>
          <a:prstGeom prst="rect">
            <a:avLst/>
          </a:prstGeom>
          <a:noFill/>
        </p:spPr>
        <p:txBody>
          <a:bodyPr wrap="square" lIns="27432" rIns="27432" tIns="27432" bIns="27432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500" b="0" i="1">
                <a:solidFill>
                  <a:srgbClr val="5A6270"/>
                </a:solidFill>
                <a:latin typeface="Source Sans 3"/>
              </a:rPr>
              <a:t>Agreement is not correctness: we measure how closely a pre-fix label reproduces a better-informed reference.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74320"/>
            <a:ext cx="10332720" cy="731520"/>
          </a:xfrm>
          <a:prstGeom prst="rect">
            <a:avLst/>
          </a:prstGeom>
          <a:noFill/>
        </p:spPr>
        <p:txBody>
          <a:bodyPr wrap="square" lIns="27432" rIns="27432" tIns="27432" bIns="27432" anchor="b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000" b="1" i="0">
                <a:solidFill>
                  <a:srgbClr val="12284C"/>
                </a:solidFill>
                <a:latin typeface="Source Sans 3"/>
              </a:rPr>
              <a:t>Research Questions</a:t>
            </a:r>
          </a:p>
        </p:txBody>
      </p:sp>
      <p:pic>
        <p:nvPicPr>
          <p:cNvPr id="4" name="Picture 3" descr="iut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228832" y="292608"/>
            <a:ext cx="433472" cy="713232"/>
          </a:xfrm>
          <a:prstGeom prst="rect">
            <a:avLst/>
          </a:prstGeom>
        </p:spPr>
      </p:pic>
      <p:cxnSp>
        <p:nvCxnSpPr>
          <p:cNvPr id="5" name="Connector 4"/>
          <p:cNvCxnSpPr/>
          <p:nvPr/>
        </p:nvCxnSpPr>
        <p:spPr>
          <a:xfrm>
            <a:off x="548640" y="1078992"/>
            <a:ext cx="11091672" cy="0"/>
          </a:xfrm>
          <a:prstGeom prst="line">
            <a:avLst/>
          </a:prstGeom>
          <a:ln w="9525">
            <a:solidFill>
              <a:srgbClr val="D5D9DF"/>
            </a:solidFill>
          </a:ln>
        </p:spPr>
      </p:cxnSp>
      <p:sp>
        <p:nvSpPr>
          <p:cNvPr id="6" name="Rectangle 5"/>
          <p:cNvSpPr/>
          <p:nvPr/>
        </p:nvSpPr>
        <p:spPr>
          <a:xfrm>
            <a:off x="548640" y="1060704"/>
            <a:ext cx="914400" cy="41148"/>
          </a:xfrm>
          <a:prstGeom prst="rect">
            <a:avLst/>
          </a:prstGeom>
          <a:solidFill>
            <a:srgbClr val="12284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>
            <a:off x="548640" y="6400800"/>
            <a:ext cx="11091672" cy="0"/>
          </a:xfrm>
          <a:prstGeom prst="line">
            <a:avLst/>
          </a:prstGeom>
          <a:ln w="9525">
            <a:solidFill>
              <a:srgbClr val="D5D9DF"/>
            </a:solidFill>
          </a:ln>
        </p:spPr>
      </p:cxnSp>
      <p:sp>
        <p:nvSpPr>
          <p:cNvPr id="8" name="TextBox 7"/>
          <p:cNvSpPr txBox="1"/>
          <p:nvPr/>
        </p:nvSpPr>
        <p:spPr>
          <a:xfrm>
            <a:off x="548640" y="6437376"/>
            <a:ext cx="3931920" cy="365760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00" b="0" i="0">
                <a:solidFill>
                  <a:srgbClr val="8A919C"/>
                </a:solidFill>
                <a:latin typeface="Source Sans 3"/>
              </a:rPr>
              <a:t>ODC on Defects4J  ·  Thesis Defence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0" y="6437376"/>
            <a:ext cx="854964" cy="365760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400" b="1" i="0">
                <a:solidFill>
                  <a:srgbClr val="12284C"/>
                </a:solidFill>
                <a:latin typeface="Source Sans 3"/>
              </a:rPr>
              <a:t>Context</a:t>
            </a:r>
          </a:p>
        </p:txBody>
      </p:sp>
      <p:sp>
        <p:nvSpPr>
          <p:cNvPr id="10" name="Rectangle 9"/>
          <p:cNvSpPr/>
          <p:nvPr/>
        </p:nvSpPr>
        <p:spPr>
          <a:xfrm>
            <a:off x="4663440" y="6757416"/>
            <a:ext cx="672084" cy="32004"/>
          </a:xfrm>
          <a:prstGeom prst="rect">
            <a:avLst/>
          </a:prstGeom>
          <a:solidFill>
            <a:srgbClr val="12284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655564" y="6437376"/>
            <a:ext cx="1239012" cy="365760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400" b="0" i="0">
                <a:solidFill>
                  <a:srgbClr val="8A919C"/>
                </a:solidFill>
                <a:latin typeface="Source Sans 3"/>
              </a:rPr>
              <a:t>Methodology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123176" y="6437376"/>
            <a:ext cx="854964" cy="365760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400" b="0" i="0">
                <a:solidFill>
                  <a:srgbClr val="8A919C"/>
                </a:solidFill>
                <a:latin typeface="Source Sans 3"/>
              </a:rPr>
              <a:t>Results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966960" y="6419088"/>
            <a:ext cx="1673352" cy="402336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800" b="1" i="0">
                <a:solidFill>
                  <a:srgbClr val="12284C"/>
                </a:solidFill>
                <a:latin typeface="Source Sans 3"/>
              </a:rPr>
              <a:t>7 / 24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48640" y="1389888"/>
            <a:ext cx="1143000" cy="731520"/>
          </a:xfrm>
          <a:prstGeom prst="rect">
            <a:avLst/>
          </a:prstGeom>
          <a:solidFill>
            <a:srgbClr val="2F5D9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48640" y="1389888"/>
            <a:ext cx="1143000" cy="731520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2100" b="1" i="0">
                <a:solidFill>
                  <a:srgbClr val="FFFFFF"/>
                </a:solidFill>
                <a:latin typeface="Source Sans 3"/>
              </a:rPr>
              <a:t>RQ1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920240" y="1371600"/>
            <a:ext cx="8229600" cy="402336"/>
          </a:xfrm>
          <a:prstGeom prst="rect">
            <a:avLst/>
          </a:prstGeom>
          <a:noFill/>
        </p:spPr>
        <p:txBody>
          <a:bodyPr wrap="square" lIns="27432" rIns="27432" tIns="27432" bIns="27432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100" b="1" i="0">
                <a:solidFill>
                  <a:srgbClr val="12284C"/>
                </a:solidFill>
                <a:latin typeface="Source Sans 3"/>
              </a:rPr>
              <a:t>Distribution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920240" y="1773936"/>
            <a:ext cx="8229600" cy="402336"/>
          </a:xfrm>
          <a:prstGeom prst="rect">
            <a:avLst/>
          </a:prstGeom>
          <a:noFill/>
        </p:spPr>
        <p:txBody>
          <a:bodyPr wrap="square" lIns="27432" rIns="27432" tIns="27432" bIns="27432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700" b="0" i="0">
                <a:solidFill>
                  <a:srgbClr val="5A6270"/>
                </a:solidFill>
                <a:latin typeface="Source Sans 3"/>
              </a:rPr>
              <a:t>Which ODC types dominate, and does the mix differ by project?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241280" y="1389888"/>
            <a:ext cx="1399032" cy="731520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500" b="1" i="0">
                <a:solidFill>
                  <a:srgbClr val="2F5D9B"/>
                </a:solidFill>
                <a:latin typeface="Source Sans 3"/>
              </a:rPr>
              <a:t>p. 16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548640" y="2240280"/>
            <a:ext cx="11091672" cy="0"/>
          </a:xfrm>
          <a:prstGeom prst="line">
            <a:avLst/>
          </a:prstGeom>
          <a:ln w="9525">
            <a:solidFill>
              <a:srgbClr val="D5D9DF"/>
            </a:solidFill>
          </a:ln>
        </p:spPr>
      </p:cxnSp>
      <p:sp>
        <p:nvSpPr>
          <p:cNvPr id="20" name="Rectangle 19"/>
          <p:cNvSpPr/>
          <p:nvPr/>
        </p:nvSpPr>
        <p:spPr>
          <a:xfrm>
            <a:off x="548640" y="2377440"/>
            <a:ext cx="1143000" cy="731520"/>
          </a:xfrm>
          <a:prstGeom prst="rect">
            <a:avLst/>
          </a:prstGeom>
          <a:solidFill>
            <a:srgbClr val="2B7F7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48640" y="2377440"/>
            <a:ext cx="1143000" cy="731520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2100" b="1" i="0">
                <a:solidFill>
                  <a:srgbClr val="FFFFFF"/>
                </a:solidFill>
                <a:latin typeface="Source Sans 3"/>
              </a:rPr>
              <a:t>RQ2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920240" y="2359152"/>
            <a:ext cx="8229600" cy="402336"/>
          </a:xfrm>
          <a:prstGeom prst="rect">
            <a:avLst/>
          </a:prstGeom>
          <a:noFill/>
        </p:spPr>
        <p:txBody>
          <a:bodyPr wrap="square" lIns="27432" rIns="27432" tIns="27432" bIns="27432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100" b="1" i="0">
                <a:solidFill>
                  <a:srgbClr val="12284C"/>
                </a:solidFill>
                <a:latin typeface="Source Sans 3"/>
              </a:rPr>
              <a:t>Coverage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920240" y="2761488"/>
            <a:ext cx="8229600" cy="402336"/>
          </a:xfrm>
          <a:prstGeom prst="rect">
            <a:avLst/>
          </a:prstGeom>
          <a:noFill/>
        </p:spPr>
        <p:txBody>
          <a:bodyPr wrap="square" lIns="27432" rIns="27432" tIns="27432" bIns="27432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700" b="0" i="0">
                <a:solidFill>
                  <a:srgbClr val="5A6270"/>
                </a:solidFill>
                <a:latin typeface="Source Sans 3"/>
              </a:rPr>
              <a:t>Do the seven types cover every bug, or is “Other” needed?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241280" y="2377440"/>
            <a:ext cx="1399032" cy="731520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500" b="1" i="0">
                <a:solidFill>
                  <a:srgbClr val="2B7F72"/>
                </a:solidFill>
                <a:latin typeface="Source Sans 3"/>
              </a:rPr>
              <a:t>p. 16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548640" y="3227832"/>
            <a:ext cx="11091672" cy="0"/>
          </a:xfrm>
          <a:prstGeom prst="line">
            <a:avLst/>
          </a:prstGeom>
          <a:ln w="9525">
            <a:solidFill>
              <a:srgbClr val="D5D9DF"/>
            </a:solidFill>
          </a:ln>
        </p:spPr>
      </p:cxnSp>
      <p:sp>
        <p:nvSpPr>
          <p:cNvPr id="26" name="Rectangle 25"/>
          <p:cNvSpPr/>
          <p:nvPr/>
        </p:nvSpPr>
        <p:spPr>
          <a:xfrm>
            <a:off x="548640" y="3364992"/>
            <a:ext cx="1143000" cy="731520"/>
          </a:xfrm>
          <a:prstGeom prst="rect">
            <a:avLst/>
          </a:prstGeom>
          <a:solidFill>
            <a:srgbClr val="B7791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48640" y="3364992"/>
            <a:ext cx="1143000" cy="731520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2100" b="1" i="0">
                <a:solidFill>
                  <a:srgbClr val="FFFFFF"/>
                </a:solidFill>
                <a:latin typeface="Source Sans 3"/>
              </a:rPr>
              <a:t>RQ3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920240" y="3346704"/>
            <a:ext cx="8229600" cy="402336"/>
          </a:xfrm>
          <a:prstGeom prst="rect">
            <a:avLst/>
          </a:prstGeom>
          <a:noFill/>
        </p:spPr>
        <p:txBody>
          <a:bodyPr wrap="square" lIns="27432" rIns="27432" tIns="27432" bIns="27432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100" b="1" i="0">
                <a:solidFill>
                  <a:srgbClr val="12284C"/>
                </a:solidFill>
                <a:latin typeface="Source Sans 3"/>
              </a:rPr>
              <a:t>Accuracy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920240" y="3749039"/>
            <a:ext cx="8229600" cy="402336"/>
          </a:xfrm>
          <a:prstGeom prst="rect">
            <a:avLst/>
          </a:prstGeom>
          <a:noFill/>
        </p:spPr>
        <p:txBody>
          <a:bodyPr wrap="square" lIns="27432" rIns="27432" tIns="27432" bIns="27432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700" b="0" i="0">
                <a:solidFill>
                  <a:srgbClr val="5A6270"/>
                </a:solidFill>
                <a:latin typeface="Source Sans 3"/>
              </a:rPr>
              <a:t>How often does the pre-fix label match the post-fix reference?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241280" y="3364992"/>
            <a:ext cx="1399032" cy="731520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500" b="1" i="0">
                <a:solidFill>
                  <a:srgbClr val="B7791F"/>
                </a:solidFill>
                <a:latin typeface="Source Sans 3"/>
              </a:rPr>
              <a:t>pp. 17–18</a:t>
            </a:r>
          </a:p>
        </p:txBody>
      </p:sp>
      <p:cxnSp>
        <p:nvCxnSpPr>
          <p:cNvPr id="31" name="Connector 30"/>
          <p:cNvCxnSpPr/>
          <p:nvPr/>
        </p:nvCxnSpPr>
        <p:spPr>
          <a:xfrm>
            <a:off x="548640" y="4215384"/>
            <a:ext cx="11091672" cy="0"/>
          </a:xfrm>
          <a:prstGeom prst="line">
            <a:avLst/>
          </a:prstGeom>
          <a:ln w="9525">
            <a:solidFill>
              <a:srgbClr val="D5D9DF"/>
            </a:solidFill>
          </a:ln>
        </p:spPr>
      </p:cxnSp>
      <p:sp>
        <p:nvSpPr>
          <p:cNvPr id="32" name="Rectangle 31"/>
          <p:cNvSpPr/>
          <p:nvPr/>
        </p:nvSpPr>
        <p:spPr>
          <a:xfrm>
            <a:off x="548640" y="4352544"/>
            <a:ext cx="1143000" cy="731520"/>
          </a:xfrm>
          <a:prstGeom prst="rect">
            <a:avLst/>
          </a:prstGeom>
          <a:solidFill>
            <a:srgbClr val="5B4B9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48640" y="4352544"/>
            <a:ext cx="1143000" cy="731520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2100" b="1" i="0">
                <a:solidFill>
                  <a:srgbClr val="FFFFFF"/>
                </a:solidFill>
                <a:latin typeface="Source Sans 3"/>
              </a:rPr>
              <a:t>RQ4a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920240" y="4334256"/>
            <a:ext cx="8229600" cy="402336"/>
          </a:xfrm>
          <a:prstGeom prst="rect">
            <a:avLst/>
          </a:prstGeom>
          <a:noFill/>
        </p:spPr>
        <p:txBody>
          <a:bodyPr wrap="square" lIns="27432" rIns="27432" tIns="27432" bIns="27432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100" b="1" i="0">
                <a:solidFill>
                  <a:srgbClr val="12284C"/>
                </a:solidFill>
                <a:latin typeface="Source Sans 3"/>
              </a:rPr>
              <a:t>Taxonomy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920240" y="4736592"/>
            <a:ext cx="8229600" cy="402336"/>
          </a:xfrm>
          <a:prstGeom prst="rect">
            <a:avLst/>
          </a:prstGeom>
          <a:noFill/>
        </p:spPr>
        <p:txBody>
          <a:bodyPr wrap="square" lIns="27432" rIns="27432" tIns="27432" bIns="27432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700" b="0" i="0">
                <a:solidFill>
                  <a:srgbClr val="5A6270"/>
                </a:solidFill>
                <a:latin typeface="Source Sans 3"/>
              </a:rPr>
              <a:t>What does the ODC taxonomy add over the model’s own words?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241280" y="4352544"/>
            <a:ext cx="1399032" cy="731520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500" b="1" i="0">
                <a:solidFill>
                  <a:srgbClr val="5B4B9A"/>
                </a:solidFill>
                <a:latin typeface="Source Sans 3"/>
              </a:rPr>
              <a:t>p. 19</a:t>
            </a:r>
          </a:p>
        </p:txBody>
      </p:sp>
      <p:cxnSp>
        <p:nvCxnSpPr>
          <p:cNvPr id="37" name="Connector 36"/>
          <p:cNvCxnSpPr/>
          <p:nvPr/>
        </p:nvCxnSpPr>
        <p:spPr>
          <a:xfrm>
            <a:off x="548640" y="5202936"/>
            <a:ext cx="11091672" cy="0"/>
          </a:xfrm>
          <a:prstGeom prst="line">
            <a:avLst/>
          </a:prstGeom>
          <a:ln w="9525">
            <a:solidFill>
              <a:srgbClr val="D5D9DF"/>
            </a:solidFill>
          </a:ln>
        </p:spPr>
      </p:cxnSp>
      <p:sp>
        <p:nvSpPr>
          <p:cNvPr id="38" name="Rectangle 37"/>
          <p:cNvSpPr/>
          <p:nvPr/>
        </p:nvSpPr>
        <p:spPr>
          <a:xfrm>
            <a:off x="548640" y="5340096"/>
            <a:ext cx="1143000" cy="731520"/>
          </a:xfrm>
          <a:prstGeom prst="rect">
            <a:avLst/>
          </a:prstGeom>
          <a:solidFill>
            <a:srgbClr val="2F7D4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548640" y="5340096"/>
            <a:ext cx="1143000" cy="731520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2100" b="1" i="0">
                <a:solidFill>
                  <a:srgbClr val="FFFFFF"/>
                </a:solidFill>
                <a:latin typeface="Source Sans 3"/>
              </a:rPr>
              <a:t>RQ4b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920240" y="5321808"/>
            <a:ext cx="8229600" cy="402336"/>
          </a:xfrm>
          <a:prstGeom prst="rect">
            <a:avLst/>
          </a:prstGeom>
          <a:noFill/>
        </p:spPr>
        <p:txBody>
          <a:bodyPr wrap="square" lIns="27432" rIns="27432" tIns="27432" bIns="27432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100" b="1" i="0">
                <a:solidFill>
                  <a:srgbClr val="12284C"/>
                </a:solidFill>
                <a:latin typeface="Source Sans 3"/>
              </a:rPr>
              <a:t>Scientific strategy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920240" y="5724144"/>
            <a:ext cx="8229600" cy="402336"/>
          </a:xfrm>
          <a:prstGeom prst="rect">
            <a:avLst/>
          </a:prstGeom>
          <a:noFill/>
        </p:spPr>
        <p:txBody>
          <a:bodyPr wrap="square" lIns="27432" rIns="27432" tIns="27432" bIns="27432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700" b="0" i="0">
                <a:solidFill>
                  <a:srgbClr val="5A6270"/>
                </a:solidFill>
                <a:latin typeface="Source Sans 3"/>
              </a:rPr>
              <a:t>What does the scientific strategy add over a strong few-shot prompt?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0241280" y="5340096"/>
            <a:ext cx="1399032" cy="731520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500" b="1" i="0">
                <a:solidFill>
                  <a:srgbClr val="2F7D4F"/>
                </a:solidFill>
                <a:latin typeface="Source Sans 3"/>
              </a:rPr>
              <a:t>pp. 20–22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74320"/>
            <a:ext cx="10332720" cy="731520"/>
          </a:xfrm>
          <a:prstGeom prst="rect">
            <a:avLst/>
          </a:prstGeom>
          <a:noFill/>
        </p:spPr>
        <p:txBody>
          <a:bodyPr wrap="square" lIns="27432" rIns="27432" tIns="27432" bIns="27432" anchor="b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000" b="1" i="0">
                <a:solidFill>
                  <a:srgbClr val="12284C"/>
                </a:solidFill>
                <a:latin typeface="Source Sans 3"/>
              </a:rPr>
              <a:t>Pipeline Overview</a:t>
            </a:r>
          </a:p>
        </p:txBody>
      </p:sp>
      <p:pic>
        <p:nvPicPr>
          <p:cNvPr id="4" name="Picture 3" descr="iut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228832" y="292608"/>
            <a:ext cx="433472" cy="713232"/>
          </a:xfrm>
          <a:prstGeom prst="rect">
            <a:avLst/>
          </a:prstGeom>
        </p:spPr>
      </p:pic>
      <p:cxnSp>
        <p:nvCxnSpPr>
          <p:cNvPr id="5" name="Connector 4"/>
          <p:cNvCxnSpPr/>
          <p:nvPr/>
        </p:nvCxnSpPr>
        <p:spPr>
          <a:xfrm>
            <a:off x="548640" y="1078992"/>
            <a:ext cx="11091672" cy="0"/>
          </a:xfrm>
          <a:prstGeom prst="line">
            <a:avLst/>
          </a:prstGeom>
          <a:ln w="9525">
            <a:solidFill>
              <a:srgbClr val="D5D9DF"/>
            </a:solidFill>
          </a:ln>
        </p:spPr>
      </p:cxnSp>
      <p:sp>
        <p:nvSpPr>
          <p:cNvPr id="6" name="Rectangle 5"/>
          <p:cNvSpPr/>
          <p:nvPr/>
        </p:nvSpPr>
        <p:spPr>
          <a:xfrm>
            <a:off x="548640" y="1060704"/>
            <a:ext cx="914400" cy="41148"/>
          </a:xfrm>
          <a:prstGeom prst="rect">
            <a:avLst/>
          </a:prstGeom>
          <a:solidFill>
            <a:srgbClr val="12284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>
            <a:off x="548640" y="6400800"/>
            <a:ext cx="11091672" cy="0"/>
          </a:xfrm>
          <a:prstGeom prst="line">
            <a:avLst/>
          </a:prstGeom>
          <a:ln w="9525">
            <a:solidFill>
              <a:srgbClr val="D5D9DF"/>
            </a:solidFill>
          </a:ln>
        </p:spPr>
      </p:cxnSp>
      <p:sp>
        <p:nvSpPr>
          <p:cNvPr id="8" name="TextBox 7"/>
          <p:cNvSpPr txBox="1"/>
          <p:nvPr/>
        </p:nvSpPr>
        <p:spPr>
          <a:xfrm>
            <a:off x="548640" y="6437376"/>
            <a:ext cx="3931920" cy="365760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00" b="0" i="0">
                <a:solidFill>
                  <a:srgbClr val="8A919C"/>
                </a:solidFill>
                <a:latin typeface="Source Sans 3"/>
              </a:rPr>
              <a:t>ODC on Defects4J  ·  Thesis Defence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0" y="6437376"/>
            <a:ext cx="854964" cy="365760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400" b="0" i="0">
                <a:solidFill>
                  <a:srgbClr val="8A919C"/>
                </a:solidFill>
                <a:latin typeface="Source Sans 3"/>
              </a:rPr>
              <a:t>Context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55564" y="6437376"/>
            <a:ext cx="1239012" cy="365760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400" b="1" i="0">
                <a:solidFill>
                  <a:srgbClr val="12284C"/>
                </a:solidFill>
                <a:latin typeface="Source Sans 3"/>
              </a:rPr>
              <a:t>Methodology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747004" y="6757416"/>
            <a:ext cx="1056132" cy="32004"/>
          </a:xfrm>
          <a:prstGeom prst="rect">
            <a:avLst/>
          </a:prstGeom>
          <a:solidFill>
            <a:srgbClr val="12284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123176" y="6437376"/>
            <a:ext cx="854964" cy="365760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400" b="0" i="0">
                <a:solidFill>
                  <a:srgbClr val="8A919C"/>
                </a:solidFill>
                <a:latin typeface="Source Sans 3"/>
              </a:rPr>
              <a:t>Results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966960" y="6419088"/>
            <a:ext cx="1673352" cy="402336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800" b="1" i="0">
                <a:solidFill>
                  <a:srgbClr val="12284C"/>
                </a:solidFill>
                <a:latin typeface="Source Sans 3"/>
              </a:rPr>
              <a:t>8 / 24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1234440"/>
            <a:ext cx="3154680" cy="384048"/>
          </a:xfrm>
          <a:prstGeom prst="roundRect">
            <a:avLst>
              <a:gd name="adj" fmla="val 12000"/>
            </a:avLst>
          </a:prstGeom>
          <a:solidFill>
            <a:srgbClr val="2F5D9B"/>
          </a:solidFill>
          <a:ln w="15875">
            <a:solidFill>
              <a:srgbClr val="2F5D9B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48640" y="1234440"/>
            <a:ext cx="3154680" cy="384048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700" b="1" i="0">
                <a:solidFill>
                  <a:srgbClr val="FFFFFF"/>
                </a:solidFill>
                <a:latin typeface="Source Sans 3"/>
              </a:rPr>
              <a:t>1  Preprocessing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023360" y="1234440"/>
            <a:ext cx="4617720" cy="384048"/>
          </a:xfrm>
          <a:prstGeom prst="roundRect">
            <a:avLst>
              <a:gd name="adj" fmla="val 12000"/>
            </a:avLst>
          </a:prstGeom>
          <a:solidFill>
            <a:srgbClr val="5B4B9A"/>
          </a:solidFill>
          <a:ln w="15875">
            <a:solidFill>
              <a:srgbClr val="5B4B9A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023360" y="1234440"/>
            <a:ext cx="4617720" cy="384048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700" b="1" i="0">
                <a:solidFill>
                  <a:srgbClr val="FFFFFF"/>
                </a:solidFill>
                <a:latin typeface="Source Sans 3"/>
              </a:rPr>
              <a:t>2  Classification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961120" y="1234440"/>
            <a:ext cx="2679192" cy="384048"/>
          </a:xfrm>
          <a:prstGeom prst="roundRect">
            <a:avLst>
              <a:gd name="adj" fmla="val 12000"/>
            </a:avLst>
          </a:prstGeom>
          <a:solidFill>
            <a:srgbClr val="2B7F72"/>
          </a:solidFill>
          <a:ln w="15875">
            <a:solidFill>
              <a:srgbClr val="2B7F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961120" y="1234440"/>
            <a:ext cx="2679192" cy="384048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700" b="1" i="0">
                <a:solidFill>
                  <a:srgbClr val="FFFFFF"/>
                </a:solidFill>
                <a:latin typeface="Source Sans 3"/>
              </a:rPr>
              <a:t>3  Evaluation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48640" y="1783080"/>
            <a:ext cx="3154680" cy="658368"/>
          </a:xfrm>
          <a:prstGeom prst="roundRect">
            <a:avLst>
              <a:gd name="adj" fmla="val 11111"/>
            </a:avLst>
          </a:prstGeom>
          <a:solidFill>
            <a:srgbClr val="E4ECF7"/>
          </a:solidFill>
          <a:ln w="12700">
            <a:solidFill>
              <a:srgbClr val="2F5D9B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94360" y="1783080"/>
            <a:ext cx="3063240" cy="658368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ctr">
              <a:lnSpc>
                <a:spcPct val="95000"/>
              </a:lnSpc>
              <a:spcAft>
                <a:spcPts val="0"/>
              </a:spcAft>
            </a:pPr>
            <a:r>
              <a:rPr sz="1600" b="1" i="0">
                <a:solidFill>
                  <a:srgbClr val="2F5D9B"/>
                </a:solidFill>
                <a:latin typeface="Source Sans 3"/>
              </a:rPr>
              <a:t>Defects4J v3.0.1</a:t>
            </a:r>
          </a:p>
          <a:p>
            <a:pPr algn="ctr">
              <a:lnSpc>
                <a:spcPct val="95000"/>
              </a:lnSpc>
              <a:spcAft>
                <a:spcPts val="0"/>
              </a:spcAft>
            </a:pPr>
            <a:r>
              <a:rPr sz="1400" b="0" i="0">
                <a:solidFill>
                  <a:srgbClr val="5A6270"/>
                </a:solidFill>
                <a:latin typeface="Source Sans 3"/>
              </a:rPr>
              <a:t>17 Java projects  ·  836 bugs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2125980" y="2441448"/>
            <a:ext cx="0" cy="182880"/>
          </a:xfrm>
          <a:prstGeom prst="line">
            <a:avLst/>
          </a:prstGeom>
          <a:ln w="19050">
            <a:solidFill>
              <a:srgbClr val="2F5D9B"/>
            </a:solidFill>
            <a:tailEnd type="triangle" w="med" len="med"/>
          </a:ln>
        </p:spPr>
      </p:cxnSp>
      <p:sp>
        <p:nvSpPr>
          <p:cNvPr id="23" name="Rounded Rectangle 22"/>
          <p:cNvSpPr/>
          <p:nvPr/>
        </p:nvSpPr>
        <p:spPr>
          <a:xfrm>
            <a:off x="548640" y="2651760"/>
            <a:ext cx="3154680" cy="1755648"/>
          </a:xfrm>
          <a:prstGeom prst="roundRect">
            <a:avLst>
              <a:gd name="adj" fmla="val 4166"/>
            </a:avLst>
          </a:prstGeom>
          <a:solidFill>
            <a:srgbClr val="FFFFFF"/>
          </a:solidFill>
          <a:ln w="15875">
            <a:solidFill>
              <a:srgbClr val="2F5D9B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48640" y="2697480"/>
            <a:ext cx="3154680" cy="329184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500" b="1" i="0">
                <a:solidFill>
                  <a:srgbClr val="2F5D9B"/>
                </a:solidFill>
                <a:latin typeface="Source Sans 3"/>
              </a:rPr>
              <a:t>Collect, per bug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31520" y="3108960"/>
            <a:ext cx="137160" cy="137160"/>
          </a:xfrm>
          <a:prstGeom prst="rect">
            <a:avLst/>
          </a:prstGeom>
          <a:solidFill>
            <a:srgbClr val="2F5D9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60120" y="3044952"/>
            <a:ext cx="2697480" cy="265176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00" b="0" i="0">
                <a:solidFill>
                  <a:srgbClr val="1C2128"/>
                </a:solidFill>
                <a:latin typeface="Source Sans 3"/>
              </a:rPr>
              <a:t>Bug report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31520" y="3374136"/>
            <a:ext cx="137160" cy="137160"/>
          </a:xfrm>
          <a:prstGeom prst="rect">
            <a:avLst/>
          </a:prstGeom>
          <a:solidFill>
            <a:srgbClr val="A23B3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60120" y="3310128"/>
            <a:ext cx="2697480" cy="265176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00" b="0" i="0">
                <a:solidFill>
                  <a:srgbClr val="1C2128"/>
                </a:solidFill>
                <a:latin typeface="Source Sans 3"/>
              </a:rPr>
              <a:t>Failing tests + stack traces</a:t>
            </a:r>
          </a:p>
        </p:txBody>
      </p:sp>
      <p:sp>
        <p:nvSpPr>
          <p:cNvPr id="29" name="Rectangle 28"/>
          <p:cNvSpPr/>
          <p:nvPr/>
        </p:nvSpPr>
        <p:spPr>
          <a:xfrm>
            <a:off x="731520" y="3639312"/>
            <a:ext cx="137160" cy="137160"/>
          </a:xfrm>
          <a:prstGeom prst="rect">
            <a:avLst/>
          </a:prstGeom>
          <a:solidFill>
            <a:srgbClr val="B7791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60120" y="3575304"/>
            <a:ext cx="2697480" cy="265176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00" b="0" i="0">
                <a:solidFill>
                  <a:srgbClr val="1C2128"/>
                </a:solidFill>
                <a:latin typeface="Source Sans 3"/>
              </a:rPr>
              <a:t>Suspicious frames + code snippets</a:t>
            </a:r>
          </a:p>
        </p:txBody>
      </p:sp>
      <p:sp>
        <p:nvSpPr>
          <p:cNvPr id="31" name="Rectangle 30"/>
          <p:cNvSpPr/>
          <p:nvPr/>
        </p:nvSpPr>
        <p:spPr>
          <a:xfrm>
            <a:off x="731520" y="3904488"/>
            <a:ext cx="137160" cy="137160"/>
          </a:xfrm>
          <a:prstGeom prst="rect">
            <a:avLst/>
          </a:prstGeom>
          <a:solidFill>
            <a:srgbClr val="2B7F7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60120" y="3840480"/>
            <a:ext cx="2697480" cy="265176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00" b="0" i="0">
                <a:solidFill>
                  <a:srgbClr val="1C2128"/>
                </a:solidFill>
                <a:latin typeface="Source Sans 3"/>
              </a:rPr>
              <a:t>Coverage (optional)</a:t>
            </a:r>
          </a:p>
        </p:txBody>
      </p:sp>
      <p:sp>
        <p:nvSpPr>
          <p:cNvPr id="33" name="Rectangle 32"/>
          <p:cNvSpPr/>
          <p:nvPr/>
        </p:nvSpPr>
        <p:spPr>
          <a:xfrm>
            <a:off x="731520" y="4169664"/>
            <a:ext cx="137160" cy="137160"/>
          </a:xfrm>
          <a:prstGeom prst="rect">
            <a:avLst/>
          </a:prstGeom>
          <a:solidFill>
            <a:srgbClr val="2F7D4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960120" y="4105656"/>
            <a:ext cx="2697480" cy="265176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00" b="0" i="0">
                <a:solidFill>
                  <a:srgbClr val="1C2128"/>
                </a:solidFill>
                <a:latin typeface="Source Sans 3"/>
              </a:rPr>
              <a:t>Fix diff: buggy → fixed</a:t>
            </a:r>
          </a:p>
        </p:txBody>
      </p:sp>
      <p:cxnSp>
        <p:nvCxnSpPr>
          <p:cNvPr id="35" name="Connector 34"/>
          <p:cNvCxnSpPr/>
          <p:nvPr/>
        </p:nvCxnSpPr>
        <p:spPr>
          <a:xfrm>
            <a:off x="2125980" y="4407408"/>
            <a:ext cx="0" cy="182880"/>
          </a:xfrm>
          <a:prstGeom prst="line">
            <a:avLst/>
          </a:prstGeom>
          <a:ln w="19050">
            <a:solidFill>
              <a:srgbClr val="2F5D9B"/>
            </a:solidFill>
            <a:tailEnd type="triangle" w="med" len="med"/>
          </a:ln>
        </p:spPr>
      </p:cxnSp>
      <p:sp>
        <p:nvSpPr>
          <p:cNvPr id="36" name="Rounded Rectangle 35"/>
          <p:cNvSpPr/>
          <p:nvPr/>
        </p:nvSpPr>
        <p:spPr>
          <a:xfrm>
            <a:off x="548640" y="4617720"/>
            <a:ext cx="3154680" cy="1600200"/>
          </a:xfrm>
          <a:prstGeom prst="roundRect">
            <a:avLst>
              <a:gd name="adj" fmla="val 4571"/>
            </a:avLst>
          </a:prstGeom>
          <a:solidFill>
            <a:srgbClr val="F4F5F7"/>
          </a:solidFill>
          <a:ln w="15875">
            <a:solidFill>
              <a:srgbClr val="2F5D9B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48640" y="4663440"/>
            <a:ext cx="3154680" cy="329184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500" b="1" i="0">
                <a:solidFill>
                  <a:srgbClr val="2F5D9B"/>
                </a:solidFill>
                <a:latin typeface="Source Code Pro"/>
              </a:rPr>
              <a:t>context.json</a:t>
            </a:r>
            <a:r>
              <a:rPr sz="1400" b="0" i="0">
                <a:solidFill>
                  <a:srgbClr val="5A6270"/>
                </a:solidFill>
                <a:latin typeface="Source Sans 3"/>
              </a:rPr>
              <a:t>  one case file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685800" y="5029200"/>
            <a:ext cx="2880360" cy="347472"/>
          </a:xfrm>
          <a:prstGeom prst="roundRect">
            <a:avLst>
              <a:gd name="adj" fmla="val 12000"/>
            </a:avLst>
          </a:prstGeom>
          <a:solidFill>
            <a:srgbClr val="F7E6E6"/>
          </a:solidFill>
          <a:ln w="12700">
            <a:solidFill>
              <a:srgbClr val="A23B3B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731520" y="5029200"/>
            <a:ext cx="2788920" cy="347472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ctr">
              <a:lnSpc>
                <a:spcPct val="95000"/>
              </a:lnSpc>
              <a:spcAft>
                <a:spcPts val="0"/>
              </a:spcAft>
            </a:pPr>
            <a:r>
              <a:rPr sz="1400" b="1" i="0">
                <a:solidFill>
                  <a:srgbClr val="A23B3B"/>
                </a:solidFill>
                <a:latin typeface="Source Sans 3"/>
              </a:rPr>
              <a:t>Pre-fix  </a:t>
            </a:r>
            <a:r>
              <a:rPr sz="1400" b="0" i="0">
                <a:solidFill>
                  <a:srgbClr val="1C2128"/>
                </a:solidFill>
                <a:latin typeface="Source Sans 3"/>
              </a:rPr>
              <a:t>symptoms, sanitised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685800" y="5440680"/>
            <a:ext cx="2880360" cy="347472"/>
          </a:xfrm>
          <a:prstGeom prst="roundRect">
            <a:avLst>
              <a:gd name="adj" fmla="val 12000"/>
            </a:avLst>
          </a:prstGeom>
          <a:solidFill>
            <a:srgbClr val="E3F1E8"/>
          </a:solidFill>
          <a:ln w="12700">
            <a:solidFill>
              <a:srgbClr val="2F7D4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731520" y="5440680"/>
            <a:ext cx="2788920" cy="347472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ctr">
              <a:lnSpc>
                <a:spcPct val="95000"/>
              </a:lnSpc>
              <a:spcAft>
                <a:spcPts val="0"/>
              </a:spcAft>
            </a:pPr>
            <a:r>
              <a:rPr sz="1400" b="1" i="0">
                <a:solidFill>
                  <a:srgbClr val="2F7D4F"/>
                </a:solidFill>
                <a:latin typeface="Source Sans 3"/>
              </a:rPr>
              <a:t>Post-fix  </a:t>
            </a:r>
            <a:r>
              <a:rPr sz="1400" b="0" i="0">
                <a:solidFill>
                  <a:srgbClr val="1C2128"/>
                </a:solidFill>
                <a:latin typeface="Source Sans 3"/>
              </a:rPr>
              <a:t>symptoms + fix diff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48640" y="5824728"/>
            <a:ext cx="3154680" cy="329184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400" b="1" i="0">
                <a:solidFill>
                  <a:srgbClr val="B7791F"/>
                </a:solidFill>
                <a:latin typeface="Source Sans 3"/>
              </a:rPr>
              <a:t>modified classes = hidden oracle</a:t>
            </a:r>
          </a:p>
        </p:txBody>
      </p:sp>
      <p:cxnSp>
        <p:nvCxnSpPr>
          <p:cNvPr id="43" name="Connector 42"/>
          <p:cNvCxnSpPr/>
          <p:nvPr/>
        </p:nvCxnSpPr>
        <p:spPr>
          <a:xfrm>
            <a:off x="3703320" y="5394960"/>
            <a:ext cx="301752" cy="0"/>
          </a:xfrm>
          <a:prstGeom prst="line">
            <a:avLst/>
          </a:prstGeom>
          <a:ln w="22225">
            <a:solidFill>
              <a:srgbClr val="12284C"/>
            </a:solidFill>
            <a:tailEnd type="triangle" w="med" len="med"/>
          </a:ln>
        </p:spPr>
      </p:cxnSp>
      <p:sp>
        <p:nvSpPr>
          <p:cNvPr id="44" name="Rounded Rectangle 43"/>
          <p:cNvSpPr/>
          <p:nvPr/>
        </p:nvSpPr>
        <p:spPr>
          <a:xfrm>
            <a:off x="4023360" y="1783080"/>
            <a:ext cx="2240280" cy="457200"/>
          </a:xfrm>
          <a:prstGeom prst="roundRect">
            <a:avLst>
              <a:gd name="adj" fmla="val 12000"/>
            </a:avLst>
          </a:prstGeom>
          <a:solidFill>
            <a:srgbClr val="ECE8F6"/>
          </a:solidFill>
          <a:ln w="12700">
            <a:solidFill>
              <a:srgbClr val="5B4B9A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4069080" y="1783080"/>
            <a:ext cx="2148840" cy="457200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ctr">
              <a:lnSpc>
                <a:spcPct val="95000"/>
              </a:lnSpc>
              <a:spcAft>
                <a:spcPts val="0"/>
              </a:spcAft>
            </a:pPr>
            <a:r>
              <a:rPr sz="1400" b="1" i="0">
                <a:solidFill>
                  <a:srgbClr val="5B4B9A"/>
                </a:solidFill>
                <a:latin typeface="Source Sans 3"/>
              </a:rPr>
              <a:t>LLM  </a:t>
            </a:r>
            <a:r>
              <a:rPr sz="1400" b="0" i="0">
                <a:solidFill>
                  <a:srgbClr val="1C2128"/>
                </a:solidFill>
                <a:latin typeface="Source Sans 3"/>
              </a:rPr>
              <a:t>Gemini · gpt-5-mini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6400800" y="1783080"/>
            <a:ext cx="2240280" cy="457200"/>
          </a:xfrm>
          <a:prstGeom prst="roundRect">
            <a:avLst>
              <a:gd name="adj" fmla="val 12000"/>
            </a:avLst>
          </a:prstGeom>
          <a:solidFill>
            <a:srgbClr val="ECE8F6"/>
          </a:solidFill>
          <a:ln w="12700">
            <a:solidFill>
              <a:srgbClr val="5B4B9A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6446520" y="1783080"/>
            <a:ext cx="2148840" cy="457200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ctr">
              <a:lnSpc>
                <a:spcPct val="95000"/>
              </a:lnSpc>
              <a:spcAft>
                <a:spcPts val="0"/>
              </a:spcAft>
            </a:pPr>
            <a:r>
              <a:rPr sz="1400" b="1" i="0">
                <a:solidFill>
                  <a:srgbClr val="5B4B9A"/>
                </a:solidFill>
                <a:latin typeface="Source Sans 3"/>
              </a:rPr>
              <a:t>ODC  </a:t>
            </a:r>
            <a:r>
              <a:rPr sz="1400" b="0" i="0">
                <a:solidFill>
                  <a:srgbClr val="1C2128"/>
                </a:solidFill>
                <a:latin typeface="Source Sans 3"/>
              </a:rPr>
              <a:t>7 types + “Other”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4023360" y="2377440"/>
            <a:ext cx="1417320" cy="306324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15875">
            <a:solidFill>
              <a:srgbClr val="D5D9D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4023360" y="2414016"/>
            <a:ext cx="1417320" cy="310896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500" b="1" i="0">
                <a:solidFill>
                  <a:srgbClr val="2F5D9B"/>
                </a:solidFill>
                <a:latin typeface="Source Sans 3"/>
              </a:rPr>
              <a:t>single call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4114800" y="2743200"/>
            <a:ext cx="1234440" cy="41148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12284C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4160520" y="2743200"/>
            <a:ext cx="1143000" cy="411480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ctr">
              <a:lnSpc>
                <a:spcPct val="95000"/>
              </a:lnSpc>
              <a:spcAft>
                <a:spcPts val="0"/>
              </a:spcAft>
            </a:pPr>
            <a:r>
              <a:rPr sz="1300" b="0" i="0">
                <a:solidFill>
                  <a:srgbClr val="1C2128"/>
                </a:solidFill>
                <a:latin typeface="Source Sans 3"/>
              </a:rPr>
              <a:t>Evidence summary</a:t>
            </a:r>
          </a:p>
        </p:txBody>
      </p:sp>
      <p:cxnSp>
        <p:nvCxnSpPr>
          <p:cNvPr id="52" name="Connector 51"/>
          <p:cNvCxnSpPr/>
          <p:nvPr/>
        </p:nvCxnSpPr>
        <p:spPr>
          <a:xfrm>
            <a:off x="4732020" y="3154680"/>
            <a:ext cx="0" cy="109728"/>
          </a:xfrm>
          <a:prstGeom prst="line">
            <a:avLst/>
          </a:prstGeom>
          <a:ln w="15875">
            <a:solidFill>
              <a:srgbClr val="12284C"/>
            </a:solidFill>
            <a:tailEnd type="triangle" w="med" len="med"/>
          </a:ln>
        </p:spPr>
      </p:cxnSp>
      <p:sp>
        <p:nvSpPr>
          <p:cNvPr id="53" name="Rounded Rectangle 52"/>
          <p:cNvSpPr/>
          <p:nvPr/>
        </p:nvSpPr>
        <p:spPr>
          <a:xfrm>
            <a:off x="4114800" y="3291840"/>
            <a:ext cx="1234440" cy="50292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8A919C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4160520" y="3291840"/>
            <a:ext cx="1143000" cy="502920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ctr">
              <a:lnSpc>
                <a:spcPct val="95000"/>
              </a:lnSpc>
              <a:spcAft>
                <a:spcPts val="0"/>
              </a:spcAft>
            </a:pPr>
            <a:r>
              <a:rPr sz="1300" b="1" i="0">
                <a:solidFill>
                  <a:srgbClr val="8A919C"/>
                </a:solidFill>
                <a:latin typeface="Source Sans 3"/>
              </a:rPr>
              <a:t>zero-shot</a:t>
            </a:r>
          </a:p>
          <a:p>
            <a:pPr algn="ctr">
              <a:lnSpc>
                <a:spcPct val="95000"/>
              </a:lnSpc>
              <a:spcAft>
                <a:spcPts val="0"/>
              </a:spcAft>
            </a:pPr>
            <a:r>
              <a:rPr sz="1300" b="0" i="0">
                <a:solidFill>
                  <a:srgbClr val="1C2128"/>
                </a:solidFill>
                <a:latin typeface="Source Sans 3"/>
              </a:rPr>
              <a:t>own words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4023360" y="3794760"/>
            <a:ext cx="1417320" cy="201168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200" b="0" i="1">
                <a:solidFill>
                  <a:srgbClr val="5A6270"/>
                </a:solidFill>
                <a:latin typeface="Source Sans 3"/>
              </a:rPr>
              <a:t>or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4114800" y="3995928"/>
            <a:ext cx="1234440" cy="502920"/>
          </a:xfrm>
          <a:prstGeom prst="roundRect">
            <a:avLst>
              <a:gd name="adj" fmla="val 12000"/>
            </a:avLst>
          </a:prstGeom>
          <a:solidFill>
            <a:srgbClr val="E4ECF7"/>
          </a:solidFill>
          <a:ln w="12700">
            <a:solidFill>
              <a:srgbClr val="2F5D9B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4160520" y="3995928"/>
            <a:ext cx="1143000" cy="502920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ctr">
              <a:lnSpc>
                <a:spcPct val="95000"/>
              </a:lnSpc>
              <a:spcAft>
                <a:spcPts val="0"/>
              </a:spcAft>
            </a:pPr>
            <a:r>
              <a:rPr sz="1300" b="1" i="0">
                <a:solidFill>
                  <a:srgbClr val="2F5D9B"/>
                </a:solidFill>
                <a:latin typeface="Source Sans 3"/>
              </a:rPr>
              <a:t>few-shot</a:t>
            </a:r>
          </a:p>
          <a:p>
            <a:pPr algn="ctr">
              <a:lnSpc>
                <a:spcPct val="95000"/>
              </a:lnSpc>
              <a:spcAft>
                <a:spcPts val="0"/>
              </a:spcAft>
            </a:pPr>
            <a:r>
              <a:rPr sz="1300" b="0" i="0">
                <a:solidFill>
                  <a:srgbClr val="1C2128"/>
                </a:solidFill>
                <a:latin typeface="Source Sans 3"/>
              </a:rPr>
              <a:t>+ 5 examples</a:t>
            </a:r>
          </a:p>
        </p:txBody>
      </p:sp>
      <p:cxnSp>
        <p:nvCxnSpPr>
          <p:cNvPr id="58" name="Connector 57"/>
          <p:cNvCxnSpPr/>
          <p:nvPr/>
        </p:nvCxnSpPr>
        <p:spPr>
          <a:xfrm>
            <a:off x="4732020" y="4498848"/>
            <a:ext cx="0" cy="365760"/>
          </a:xfrm>
          <a:prstGeom prst="line">
            <a:avLst/>
          </a:prstGeom>
          <a:ln w="15875">
            <a:solidFill>
              <a:srgbClr val="12284C"/>
            </a:solidFill>
            <a:tailEnd type="triangle" w="med" len="med"/>
          </a:ln>
        </p:spPr>
      </p:cxnSp>
      <p:sp>
        <p:nvSpPr>
          <p:cNvPr id="59" name="TextBox 58"/>
          <p:cNvSpPr txBox="1"/>
          <p:nvPr/>
        </p:nvSpPr>
        <p:spPr>
          <a:xfrm>
            <a:off x="4777740" y="4553712"/>
            <a:ext cx="640080" cy="274320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0" i="1">
                <a:solidFill>
                  <a:srgbClr val="5A6270"/>
                </a:solidFill>
                <a:latin typeface="Source Sans 3"/>
              </a:rPr>
              <a:t>1 call</a:t>
            </a:r>
          </a:p>
        </p:txBody>
      </p:sp>
      <p:sp>
        <p:nvSpPr>
          <p:cNvPr id="60" name="Rounded Rectangle 59"/>
          <p:cNvSpPr/>
          <p:nvPr/>
        </p:nvSpPr>
        <p:spPr>
          <a:xfrm>
            <a:off x="4114800" y="4892040"/>
            <a:ext cx="1234440" cy="411480"/>
          </a:xfrm>
          <a:prstGeom prst="roundRect">
            <a:avLst>
              <a:gd name="adj" fmla="val 12000"/>
            </a:avLst>
          </a:prstGeom>
          <a:solidFill>
            <a:srgbClr val="E3F1E8"/>
          </a:solidFill>
          <a:ln w="12700">
            <a:solidFill>
              <a:srgbClr val="2F7D4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4160520" y="4892040"/>
            <a:ext cx="1143000" cy="411480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ctr">
              <a:lnSpc>
                <a:spcPct val="95000"/>
              </a:lnSpc>
              <a:spcAft>
                <a:spcPts val="0"/>
              </a:spcAft>
            </a:pPr>
            <a:r>
              <a:rPr sz="1400" b="1" i="0">
                <a:solidFill>
                  <a:srgbClr val="2F7D4F"/>
                </a:solidFill>
                <a:latin typeface="Source Sans 3"/>
              </a:rPr>
              <a:t>Label</a:t>
            </a:r>
          </a:p>
        </p:txBody>
      </p:sp>
      <p:sp>
        <p:nvSpPr>
          <p:cNvPr id="62" name="Rounded Rectangle 61"/>
          <p:cNvSpPr/>
          <p:nvPr/>
        </p:nvSpPr>
        <p:spPr>
          <a:xfrm>
            <a:off x="5532120" y="2377440"/>
            <a:ext cx="3108960" cy="3063240"/>
          </a:xfrm>
          <a:prstGeom prst="roundRect">
            <a:avLst>
              <a:gd name="adj" fmla="val 2388"/>
            </a:avLst>
          </a:prstGeom>
          <a:solidFill>
            <a:srgbClr val="FFFFFF"/>
          </a:solidFill>
          <a:ln w="19050">
            <a:solidFill>
              <a:srgbClr val="5B4B9A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5532120" y="2414016"/>
            <a:ext cx="3108960" cy="310896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500" b="1" i="0">
                <a:solidFill>
                  <a:srgbClr val="5B4B9A"/>
                </a:solidFill>
                <a:latin typeface="Source Sans 3"/>
              </a:rPr>
              <a:t>scientific: enforced loop</a:t>
            </a:r>
          </a:p>
        </p:txBody>
      </p:sp>
      <p:sp>
        <p:nvSpPr>
          <p:cNvPr id="64" name="Rounded Rectangle 63"/>
          <p:cNvSpPr/>
          <p:nvPr/>
        </p:nvSpPr>
        <p:spPr>
          <a:xfrm>
            <a:off x="5641848" y="2743200"/>
            <a:ext cx="1691640" cy="384048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12284C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5687568" y="2743200"/>
            <a:ext cx="1600200" cy="384048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ctr">
              <a:lnSpc>
                <a:spcPct val="95000"/>
              </a:lnSpc>
              <a:spcAft>
                <a:spcPts val="0"/>
              </a:spcAft>
            </a:pPr>
            <a:r>
              <a:rPr sz="1400" b="0" i="0">
                <a:solidFill>
                  <a:srgbClr val="1C2128"/>
                </a:solidFill>
                <a:latin typeface="Source Sans 3"/>
              </a:rPr>
              <a:t>Evidence summary</a:t>
            </a:r>
          </a:p>
        </p:txBody>
      </p:sp>
      <p:cxnSp>
        <p:nvCxnSpPr>
          <p:cNvPr id="66" name="Connector 65"/>
          <p:cNvCxnSpPr/>
          <p:nvPr/>
        </p:nvCxnSpPr>
        <p:spPr>
          <a:xfrm>
            <a:off x="6487668" y="3127248"/>
            <a:ext cx="0" cy="118872"/>
          </a:xfrm>
          <a:prstGeom prst="line">
            <a:avLst/>
          </a:prstGeom>
          <a:ln w="15875">
            <a:solidFill>
              <a:srgbClr val="12284C"/>
            </a:solidFill>
            <a:tailEnd type="triangle" w="med" len="med"/>
          </a:ln>
        </p:spPr>
      </p:cxnSp>
      <p:sp>
        <p:nvSpPr>
          <p:cNvPr id="67" name="Rounded Rectangle 66"/>
          <p:cNvSpPr/>
          <p:nvPr/>
        </p:nvSpPr>
        <p:spPr>
          <a:xfrm>
            <a:off x="5641848" y="3273552"/>
            <a:ext cx="1691640" cy="502920"/>
          </a:xfrm>
          <a:prstGeom prst="roundRect">
            <a:avLst>
              <a:gd name="adj" fmla="val 12000"/>
            </a:avLst>
          </a:prstGeom>
          <a:solidFill>
            <a:srgbClr val="ECE8F6"/>
          </a:solidFill>
          <a:ln w="12700">
            <a:solidFill>
              <a:srgbClr val="5B4B9A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5687568" y="3273552"/>
            <a:ext cx="1600200" cy="502920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ctr">
              <a:lnSpc>
                <a:spcPct val="95000"/>
              </a:lnSpc>
              <a:spcAft>
                <a:spcPts val="0"/>
              </a:spcAft>
            </a:pPr>
            <a:r>
              <a:rPr sz="1400" b="1" i="0">
                <a:solidFill>
                  <a:srgbClr val="5B4B9A"/>
                </a:solidFill>
                <a:latin typeface="Source Sans 3"/>
              </a:rPr>
              <a:t>Hypothesis</a:t>
            </a:r>
          </a:p>
          <a:p>
            <a:pPr algn="ctr">
              <a:lnSpc>
                <a:spcPct val="95000"/>
              </a:lnSpc>
              <a:spcAft>
                <a:spcPts val="0"/>
              </a:spcAft>
            </a:pPr>
            <a:r>
              <a:rPr sz="1400" b="1" i="0">
                <a:solidFill>
                  <a:srgbClr val="5B4B9A"/>
                </a:solidFill>
                <a:latin typeface="Source Sans 3"/>
              </a:rPr>
              <a:t>+ prediction</a:t>
            </a:r>
          </a:p>
        </p:txBody>
      </p:sp>
      <p:cxnSp>
        <p:nvCxnSpPr>
          <p:cNvPr id="69" name="Connector 68"/>
          <p:cNvCxnSpPr/>
          <p:nvPr/>
        </p:nvCxnSpPr>
        <p:spPr>
          <a:xfrm>
            <a:off x="6487668" y="3776472"/>
            <a:ext cx="0" cy="155448"/>
          </a:xfrm>
          <a:prstGeom prst="line">
            <a:avLst/>
          </a:prstGeom>
          <a:ln w="15875">
            <a:solidFill>
              <a:srgbClr val="12284C"/>
            </a:solidFill>
            <a:tailEnd type="triangle" w="med" len="med"/>
          </a:ln>
        </p:spPr>
      </p:cxnSp>
      <p:sp>
        <p:nvSpPr>
          <p:cNvPr id="70" name="Rounded Rectangle 69"/>
          <p:cNvSpPr/>
          <p:nvPr/>
        </p:nvSpPr>
        <p:spPr>
          <a:xfrm>
            <a:off x="5641848" y="3959352"/>
            <a:ext cx="1691640" cy="411480"/>
          </a:xfrm>
          <a:prstGeom prst="roundRect">
            <a:avLst>
              <a:gd name="adj" fmla="val 12000"/>
            </a:avLst>
          </a:prstGeom>
          <a:solidFill>
            <a:srgbClr val="FBF1DF"/>
          </a:solidFill>
          <a:ln w="12700">
            <a:solidFill>
              <a:srgbClr val="B7791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5687568" y="3959352"/>
            <a:ext cx="1600200" cy="411480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ctr">
              <a:lnSpc>
                <a:spcPct val="95000"/>
              </a:lnSpc>
              <a:spcAft>
                <a:spcPts val="0"/>
              </a:spcAft>
            </a:pPr>
            <a:r>
              <a:rPr sz="1400" b="1" i="0">
                <a:solidFill>
                  <a:srgbClr val="B7791F"/>
                </a:solidFill>
                <a:latin typeface="Source Sans 3"/>
              </a:rPr>
              <a:t>Enough evidence?</a:t>
            </a:r>
          </a:p>
        </p:txBody>
      </p:sp>
      <p:cxnSp>
        <p:nvCxnSpPr>
          <p:cNvPr id="72" name="Connector 71"/>
          <p:cNvCxnSpPr/>
          <p:nvPr/>
        </p:nvCxnSpPr>
        <p:spPr>
          <a:xfrm>
            <a:off x="6487668" y="4370832"/>
            <a:ext cx="0" cy="493776"/>
          </a:xfrm>
          <a:prstGeom prst="line">
            <a:avLst/>
          </a:prstGeom>
          <a:ln w="15875">
            <a:solidFill>
              <a:srgbClr val="2F7D4F"/>
            </a:solidFill>
            <a:tailEnd type="triangle" w="med" len="med"/>
          </a:ln>
        </p:spPr>
      </p:cxnSp>
      <p:sp>
        <p:nvSpPr>
          <p:cNvPr id="73" name="TextBox 72"/>
          <p:cNvSpPr txBox="1"/>
          <p:nvPr/>
        </p:nvSpPr>
        <p:spPr>
          <a:xfrm>
            <a:off x="6533388" y="4443984"/>
            <a:ext cx="548640" cy="274320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00" b="1" i="0">
                <a:solidFill>
                  <a:srgbClr val="2F7D4F"/>
                </a:solidFill>
                <a:latin typeface="Source Sans 3"/>
              </a:rPr>
              <a:t>yes</a:t>
            </a:r>
          </a:p>
        </p:txBody>
      </p:sp>
      <p:sp>
        <p:nvSpPr>
          <p:cNvPr id="74" name="Rounded Rectangle 73"/>
          <p:cNvSpPr/>
          <p:nvPr/>
        </p:nvSpPr>
        <p:spPr>
          <a:xfrm>
            <a:off x="5641848" y="4892040"/>
            <a:ext cx="1691640" cy="411480"/>
          </a:xfrm>
          <a:prstGeom prst="roundRect">
            <a:avLst>
              <a:gd name="adj" fmla="val 12000"/>
            </a:avLst>
          </a:prstGeom>
          <a:solidFill>
            <a:srgbClr val="E3F1E8"/>
          </a:solidFill>
          <a:ln w="12700">
            <a:solidFill>
              <a:srgbClr val="2F7D4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5687568" y="4892040"/>
            <a:ext cx="1600200" cy="411480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ctr">
              <a:lnSpc>
                <a:spcPct val="95000"/>
              </a:lnSpc>
              <a:spcAft>
                <a:spcPts val="0"/>
              </a:spcAft>
            </a:pPr>
            <a:r>
              <a:rPr sz="1400" b="1" i="0">
                <a:solidFill>
                  <a:srgbClr val="2F7D4F"/>
                </a:solidFill>
                <a:latin typeface="Source Sans 3"/>
              </a:rPr>
              <a:t>Conclude</a:t>
            </a:r>
          </a:p>
        </p:txBody>
      </p:sp>
      <p:sp>
        <p:nvSpPr>
          <p:cNvPr id="76" name="Rounded Rectangle 75"/>
          <p:cNvSpPr/>
          <p:nvPr/>
        </p:nvSpPr>
        <p:spPr>
          <a:xfrm>
            <a:off x="7626096" y="3959352"/>
            <a:ext cx="905255" cy="411480"/>
          </a:xfrm>
          <a:prstGeom prst="roundRect">
            <a:avLst>
              <a:gd name="adj" fmla="val 12000"/>
            </a:avLst>
          </a:prstGeom>
          <a:solidFill>
            <a:srgbClr val="E4ECF7"/>
          </a:solidFill>
          <a:ln w="12700">
            <a:solidFill>
              <a:srgbClr val="2F5D9B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7671816" y="3959352"/>
            <a:ext cx="813815" cy="411480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ctr">
              <a:lnSpc>
                <a:spcPct val="95000"/>
              </a:lnSpc>
              <a:spcAft>
                <a:spcPts val="0"/>
              </a:spcAft>
            </a:pPr>
            <a:r>
              <a:rPr sz="1400" b="1" i="0">
                <a:solidFill>
                  <a:srgbClr val="2F5D9B"/>
                </a:solidFill>
                <a:latin typeface="Source Sans 3"/>
              </a:rPr>
              <a:t>Probe</a:t>
            </a:r>
          </a:p>
        </p:txBody>
      </p:sp>
      <p:cxnSp>
        <p:nvCxnSpPr>
          <p:cNvPr id="78" name="Connector 77"/>
          <p:cNvCxnSpPr/>
          <p:nvPr/>
        </p:nvCxnSpPr>
        <p:spPr>
          <a:xfrm>
            <a:off x="7333488" y="4165091"/>
            <a:ext cx="292608" cy="0"/>
          </a:xfrm>
          <a:prstGeom prst="line">
            <a:avLst/>
          </a:prstGeom>
          <a:ln w="15875">
            <a:solidFill>
              <a:srgbClr val="12284C"/>
            </a:solidFill>
            <a:tailEnd type="triangle" w="med" len="med"/>
          </a:ln>
        </p:spPr>
      </p:cxnSp>
      <p:sp>
        <p:nvSpPr>
          <p:cNvPr id="79" name="TextBox 78"/>
          <p:cNvSpPr txBox="1"/>
          <p:nvPr/>
        </p:nvSpPr>
        <p:spPr>
          <a:xfrm>
            <a:off x="7315200" y="3931920"/>
            <a:ext cx="329184" cy="201168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300" b="1" i="0">
                <a:solidFill>
                  <a:srgbClr val="5A6270"/>
                </a:solidFill>
                <a:latin typeface="Source Sans 3"/>
              </a:rPr>
              <a:t>no</a:t>
            </a:r>
          </a:p>
        </p:txBody>
      </p:sp>
      <p:cxnSp>
        <p:nvCxnSpPr>
          <p:cNvPr id="80" name="Connector 79"/>
          <p:cNvCxnSpPr/>
          <p:nvPr/>
        </p:nvCxnSpPr>
        <p:spPr>
          <a:xfrm flipV="1">
            <a:off x="8078724" y="3803904"/>
            <a:ext cx="0" cy="155448"/>
          </a:xfrm>
          <a:prstGeom prst="line">
            <a:avLst/>
          </a:prstGeom>
          <a:ln w="15875">
            <a:solidFill>
              <a:srgbClr val="12284C"/>
            </a:solidFill>
            <a:tailEnd type="triangle" w="med" len="med"/>
          </a:ln>
        </p:spPr>
      </p:cxnSp>
      <p:sp>
        <p:nvSpPr>
          <p:cNvPr id="81" name="Rounded Rectangle 80"/>
          <p:cNvSpPr/>
          <p:nvPr/>
        </p:nvSpPr>
        <p:spPr>
          <a:xfrm>
            <a:off x="7626096" y="3273552"/>
            <a:ext cx="905255" cy="502920"/>
          </a:xfrm>
          <a:prstGeom prst="roundRect">
            <a:avLst>
              <a:gd name="adj" fmla="val 12000"/>
            </a:avLst>
          </a:prstGeom>
          <a:solidFill>
            <a:srgbClr val="E4ECF7"/>
          </a:solidFill>
          <a:ln w="12700">
            <a:solidFill>
              <a:srgbClr val="2F5D9B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2" name="TextBox 81"/>
          <p:cNvSpPr txBox="1"/>
          <p:nvPr/>
        </p:nvSpPr>
        <p:spPr>
          <a:xfrm>
            <a:off x="7671816" y="3273552"/>
            <a:ext cx="813815" cy="502920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ctr">
              <a:lnSpc>
                <a:spcPct val="95000"/>
              </a:lnSpc>
              <a:spcAft>
                <a:spcPts val="0"/>
              </a:spcAft>
            </a:pPr>
            <a:r>
              <a:rPr sz="1400" b="0" i="0">
                <a:solidFill>
                  <a:srgbClr val="2F5D9B"/>
                </a:solidFill>
                <a:latin typeface="Source Sans 3"/>
              </a:rPr>
              <a:t>Observe</a:t>
            </a:r>
          </a:p>
        </p:txBody>
      </p:sp>
      <p:cxnSp>
        <p:nvCxnSpPr>
          <p:cNvPr id="83" name="Connector 82"/>
          <p:cNvCxnSpPr/>
          <p:nvPr/>
        </p:nvCxnSpPr>
        <p:spPr>
          <a:xfrm flipH="1">
            <a:off x="7333488" y="3525012"/>
            <a:ext cx="292608" cy="0"/>
          </a:xfrm>
          <a:prstGeom prst="line">
            <a:avLst/>
          </a:prstGeom>
          <a:ln w="15875">
            <a:solidFill>
              <a:srgbClr val="12284C"/>
            </a:solidFill>
            <a:tailEnd type="triangle" w="med" len="med"/>
          </a:ln>
        </p:spPr>
      </p:cxnSp>
      <p:sp>
        <p:nvSpPr>
          <p:cNvPr id="84" name="TextBox 83"/>
          <p:cNvSpPr txBox="1"/>
          <p:nvPr/>
        </p:nvSpPr>
        <p:spPr>
          <a:xfrm>
            <a:off x="7580376" y="4498848"/>
            <a:ext cx="996695" cy="731520"/>
          </a:xfrm>
          <a:prstGeom prst="rect">
            <a:avLst/>
          </a:prstGeom>
          <a:noFill/>
        </p:spPr>
        <p:txBody>
          <a:bodyPr wrap="square" lIns="27432" rIns="27432" tIns="27432" bIns="27432" anchor="t">
            <a:noAutofit/>
          </a:bodyPr>
          <a:lstStyle/>
          <a:p>
            <a:pPr algn="ctr">
              <a:lnSpc>
                <a:spcPct val="95000"/>
              </a:lnSpc>
              <a:spcAft>
                <a:spcPts val="0"/>
              </a:spcAft>
            </a:pPr>
            <a:r>
              <a:rPr sz="1300" b="0" i="1">
                <a:solidFill>
                  <a:srgbClr val="5A6270"/>
                </a:solidFill>
                <a:latin typeface="Source Sans 3"/>
              </a:rPr>
              <a:t>max 6 turns,</a:t>
            </a:r>
          </a:p>
          <a:p>
            <a:pPr algn="ctr">
              <a:lnSpc>
                <a:spcPct val="95000"/>
              </a:lnSpc>
              <a:spcAft>
                <a:spcPts val="0"/>
              </a:spcAft>
            </a:pPr>
            <a:r>
              <a:rPr sz="1300" b="0" i="1">
                <a:solidFill>
                  <a:srgbClr val="5A6270"/>
                </a:solidFill>
                <a:latin typeface="Source Sans 3"/>
              </a:rPr>
              <a:t>then forced</a:t>
            </a:r>
          </a:p>
          <a:p>
            <a:pPr algn="ctr">
              <a:lnSpc>
                <a:spcPct val="95000"/>
              </a:lnSpc>
              <a:spcAft>
                <a:spcPts val="0"/>
              </a:spcAft>
            </a:pPr>
            <a:r>
              <a:rPr sz="1300" b="0" i="1">
                <a:solidFill>
                  <a:srgbClr val="5A6270"/>
                </a:solidFill>
                <a:latin typeface="Source Sans 3"/>
              </a:rPr>
              <a:t>conclusion</a:t>
            </a:r>
          </a:p>
        </p:txBody>
      </p:sp>
      <p:cxnSp>
        <p:nvCxnSpPr>
          <p:cNvPr id="85" name="Connector 84"/>
          <p:cNvCxnSpPr/>
          <p:nvPr/>
        </p:nvCxnSpPr>
        <p:spPr>
          <a:xfrm>
            <a:off x="4732020" y="5303520"/>
            <a:ext cx="0" cy="274320"/>
          </a:xfrm>
          <a:prstGeom prst="line">
            <a:avLst/>
          </a:prstGeom>
          <a:ln w="15875">
            <a:solidFill>
              <a:srgbClr val="12284C"/>
            </a:solidFill>
            <a:tailEnd type="triangle" w="med" len="med"/>
          </a:ln>
        </p:spPr>
      </p:cxnSp>
      <p:cxnSp>
        <p:nvCxnSpPr>
          <p:cNvPr id="86" name="Connector 85"/>
          <p:cNvCxnSpPr/>
          <p:nvPr/>
        </p:nvCxnSpPr>
        <p:spPr>
          <a:xfrm>
            <a:off x="6487668" y="5303520"/>
            <a:ext cx="0" cy="274320"/>
          </a:xfrm>
          <a:prstGeom prst="line">
            <a:avLst/>
          </a:prstGeom>
          <a:ln w="15875">
            <a:solidFill>
              <a:srgbClr val="12284C"/>
            </a:solidFill>
            <a:tailEnd type="triangle" w="med" len="med"/>
          </a:ln>
        </p:spPr>
      </p:cxnSp>
      <p:sp>
        <p:nvSpPr>
          <p:cNvPr id="87" name="Rounded Rectangle 86"/>
          <p:cNvSpPr/>
          <p:nvPr/>
        </p:nvSpPr>
        <p:spPr>
          <a:xfrm>
            <a:off x="4023360" y="5596128"/>
            <a:ext cx="4617720" cy="621792"/>
          </a:xfrm>
          <a:prstGeom prst="roundRect">
            <a:avLst>
              <a:gd name="adj" fmla="val 11764"/>
            </a:avLst>
          </a:prstGeom>
          <a:solidFill>
            <a:srgbClr val="F4F5F7"/>
          </a:solidFill>
          <a:ln w="12700">
            <a:solidFill>
              <a:srgbClr val="5B4B9A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8" name="TextBox 87"/>
          <p:cNvSpPr txBox="1"/>
          <p:nvPr/>
        </p:nvSpPr>
        <p:spPr>
          <a:xfrm>
            <a:off x="4069080" y="5596128"/>
            <a:ext cx="4526280" cy="621792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ctr">
              <a:lnSpc>
                <a:spcPct val="95000"/>
              </a:lnSpc>
              <a:spcAft>
                <a:spcPts val="0"/>
              </a:spcAft>
            </a:pPr>
            <a:r>
              <a:rPr sz="1400" b="1" i="0">
                <a:solidFill>
                  <a:srgbClr val="5B4B9A"/>
                </a:solidFill>
                <a:latin typeface="Source Code Pro"/>
              </a:rPr>
              <a:t>classification.json</a:t>
            </a:r>
          </a:p>
          <a:p>
            <a:pPr algn="ctr">
              <a:lnSpc>
                <a:spcPct val="95000"/>
              </a:lnSpc>
              <a:spcAft>
                <a:spcPts val="0"/>
              </a:spcAft>
            </a:pPr>
            <a:r>
              <a:rPr sz="1400" b="0" i="0">
                <a:solidFill>
                  <a:srgbClr val="5A6270"/>
                </a:solidFill>
                <a:latin typeface="Source Sans 3"/>
              </a:rPr>
              <a:t>ODC label  ·  alternative types  ·  reasoning transcript</a:t>
            </a:r>
          </a:p>
        </p:txBody>
      </p:sp>
      <p:cxnSp>
        <p:nvCxnSpPr>
          <p:cNvPr id="89" name="Connector 88"/>
          <p:cNvCxnSpPr/>
          <p:nvPr/>
        </p:nvCxnSpPr>
        <p:spPr>
          <a:xfrm>
            <a:off x="8641080" y="5907024"/>
            <a:ext cx="155448" cy="0"/>
          </a:xfrm>
          <a:prstGeom prst="line">
            <a:avLst/>
          </a:prstGeom>
          <a:ln w="22225">
            <a:solidFill>
              <a:srgbClr val="12284C"/>
            </a:solidFill>
          </a:ln>
        </p:spPr>
      </p:cxnSp>
      <p:cxnSp>
        <p:nvCxnSpPr>
          <p:cNvPr id="90" name="Connector 89"/>
          <p:cNvCxnSpPr/>
          <p:nvPr/>
        </p:nvCxnSpPr>
        <p:spPr>
          <a:xfrm flipV="1">
            <a:off x="8796528" y="2240280"/>
            <a:ext cx="0" cy="3666744"/>
          </a:xfrm>
          <a:prstGeom prst="line">
            <a:avLst/>
          </a:prstGeom>
          <a:ln w="22225">
            <a:solidFill>
              <a:srgbClr val="12284C"/>
            </a:solidFill>
          </a:ln>
        </p:spPr>
      </p:cxnSp>
      <p:cxnSp>
        <p:nvCxnSpPr>
          <p:cNvPr id="91" name="Connector 90"/>
          <p:cNvCxnSpPr/>
          <p:nvPr/>
        </p:nvCxnSpPr>
        <p:spPr>
          <a:xfrm>
            <a:off x="8796528" y="2240280"/>
            <a:ext cx="146304" cy="0"/>
          </a:xfrm>
          <a:prstGeom prst="line">
            <a:avLst/>
          </a:prstGeom>
          <a:ln w="22225">
            <a:solidFill>
              <a:srgbClr val="12284C"/>
            </a:solidFill>
            <a:tailEnd type="triangle" w="med" len="med"/>
          </a:ln>
        </p:spPr>
      </p:cxnSp>
      <p:sp>
        <p:nvSpPr>
          <p:cNvPr id="92" name="Rounded Rectangle 91"/>
          <p:cNvSpPr/>
          <p:nvPr/>
        </p:nvSpPr>
        <p:spPr>
          <a:xfrm>
            <a:off x="8961120" y="1783080"/>
            <a:ext cx="2679192" cy="1024128"/>
          </a:xfrm>
          <a:prstGeom prst="roundRect">
            <a:avLst>
              <a:gd name="adj" fmla="val 7142"/>
            </a:avLst>
          </a:prstGeom>
          <a:solidFill>
            <a:srgbClr val="E0F0ED"/>
          </a:solidFill>
          <a:ln w="15875">
            <a:solidFill>
              <a:srgbClr val="2B7F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8961120" y="1801368"/>
            <a:ext cx="2679192" cy="310896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500" b="1" i="0">
                <a:solidFill>
                  <a:srgbClr val="2B7F72"/>
                </a:solidFill>
                <a:latin typeface="Source Sans 3"/>
              </a:rPr>
              <a:t>Compare labels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9052560" y="2103120"/>
            <a:ext cx="2496312" cy="228600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400" b="0" i="0">
                <a:solidFill>
                  <a:srgbClr val="1C2128"/>
                </a:solidFill>
                <a:latin typeface="Source Sans 3"/>
              </a:rPr>
              <a:t>pre-fix vs post-fix: 4 tiers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052560" y="2331720"/>
            <a:ext cx="2496312" cy="228600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400" b="0" i="0">
                <a:solidFill>
                  <a:srgbClr val="1C2128"/>
                </a:solidFill>
                <a:latin typeface="Source Sans 3"/>
              </a:rPr>
              <a:t>scientific vs few-shot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9052560" y="2560320"/>
            <a:ext cx="2496312" cy="228600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400" b="0" i="0">
                <a:solidFill>
                  <a:srgbClr val="1C2128"/>
                </a:solidFill>
                <a:latin typeface="Source Sans 3"/>
              </a:rPr>
              <a:t>manual reading: 13 bugs</a:t>
            </a:r>
          </a:p>
        </p:txBody>
      </p:sp>
      <p:cxnSp>
        <p:nvCxnSpPr>
          <p:cNvPr id="97" name="Connector 96"/>
          <p:cNvCxnSpPr/>
          <p:nvPr/>
        </p:nvCxnSpPr>
        <p:spPr>
          <a:xfrm>
            <a:off x="10300716" y="2807208"/>
            <a:ext cx="0" cy="118872"/>
          </a:xfrm>
          <a:prstGeom prst="line">
            <a:avLst/>
          </a:prstGeom>
          <a:ln w="19050">
            <a:solidFill>
              <a:srgbClr val="2B7F72"/>
            </a:solidFill>
            <a:tailEnd type="triangle" w="med" len="med"/>
          </a:ln>
        </p:spPr>
      </p:cxnSp>
      <p:sp>
        <p:nvSpPr>
          <p:cNvPr id="98" name="Rounded Rectangle 97"/>
          <p:cNvSpPr/>
          <p:nvPr/>
        </p:nvSpPr>
        <p:spPr>
          <a:xfrm>
            <a:off x="8961120" y="2944368"/>
            <a:ext cx="2679192" cy="1856231"/>
          </a:xfrm>
          <a:prstGeom prst="roundRect">
            <a:avLst>
              <a:gd name="adj" fmla="val 3940"/>
            </a:avLst>
          </a:prstGeom>
          <a:solidFill>
            <a:srgbClr val="FFFFFF"/>
          </a:solidFill>
          <a:ln w="15875">
            <a:solidFill>
              <a:srgbClr val="2B7F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9" name="TextBox 98"/>
          <p:cNvSpPr txBox="1"/>
          <p:nvPr/>
        </p:nvSpPr>
        <p:spPr>
          <a:xfrm>
            <a:off x="8961120" y="2971800"/>
            <a:ext cx="2679192" cy="310896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500" b="1" i="0">
                <a:solidFill>
                  <a:srgbClr val="2B7F72"/>
                </a:solidFill>
                <a:latin typeface="Source Sans 3"/>
              </a:rPr>
              <a:t>Research questions</a:t>
            </a:r>
          </a:p>
        </p:txBody>
      </p:sp>
      <p:sp>
        <p:nvSpPr>
          <p:cNvPr id="100" name="Rectangle 99"/>
          <p:cNvSpPr/>
          <p:nvPr/>
        </p:nvSpPr>
        <p:spPr>
          <a:xfrm>
            <a:off x="9098280" y="3319272"/>
            <a:ext cx="566928" cy="237744"/>
          </a:xfrm>
          <a:prstGeom prst="rect">
            <a:avLst/>
          </a:prstGeom>
          <a:solidFill>
            <a:srgbClr val="2F5D9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1" name="TextBox 100"/>
          <p:cNvSpPr txBox="1"/>
          <p:nvPr/>
        </p:nvSpPr>
        <p:spPr>
          <a:xfrm>
            <a:off x="9098280" y="3319272"/>
            <a:ext cx="566928" cy="237744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  <a:latin typeface="Source Sans 3"/>
              </a:rPr>
              <a:t>RQ1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38360" y="3291840"/>
            <a:ext cx="1856232" cy="292608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00" b="0" i="0">
                <a:solidFill>
                  <a:srgbClr val="1C2128"/>
                </a:solidFill>
                <a:latin typeface="Source Sans 3"/>
              </a:rPr>
              <a:t>type distribution</a:t>
            </a:r>
          </a:p>
        </p:txBody>
      </p:sp>
      <p:sp>
        <p:nvSpPr>
          <p:cNvPr id="103" name="Rectangle 102"/>
          <p:cNvSpPr/>
          <p:nvPr/>
        </p:nvSpPr>
        <p:spPr>
          <a:xfrm>
            <a:off x="9098280" y="3611879"/>
            <a:ext cx="566928" cy="237744"/>
          </a:xfrm>
          <a:prstGeom prst="rect">
            <a:avLst/>
          </a:prstGeom>
          <a:solidFill>
            <a:srgbClr val="2B7F7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4" name="TextBox 103"/>
          <p:cNvSpPr txBox="1"/>
          <p:nvPr/>
        </p:nvSpPr>
        <p:spPr>
          <a:xfrm>
            <a:off x="9098280" y="3611879"/>
            <a:ext cx="566928" cy="237744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  <a:latin typeface="Source Sans 3"/>
              </a:rPr>
              <a:t>RQ2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9738360" y="3584448"/>
            <a:ext cx="1856232" cy="292608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00" b="0" i="0">
                <a:solidFill>
                  <a:srgbClr val="1C2128"/>
                </a:solidFill>
                <a:latin typeface="Source Sans 3"/>
              </a:rPr>
              <a:t>taxonomy coverage</a:t>
            </a:r>
          </a:p>
        </p:txBody>
      </p:sp>
      <p:sp>
        <p:nvSpPr>
          <p:cNvPr id="106" name="Rectangle 105"/>
          <p:cNvSpPr/>
          <p:nvPr/>
        </p:nvSpPr>
        <p:spPr>
          <a:xfrm>
            <a:off x="9098280" y="3904488"/>
            <a:ext cx="566928" cy="237744"/>
          </a:xfrm>
          <a:prstGeom prst="rect">
            <a:avLst/>
          </a:prstGeom>
          <a:solidFill>
            <a:srgbClr val="B7791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7" name="TextBox 106"/>
          <p:cNvSpPr txBox="1"/>
          <p:nvPr/>
        </p:nvSpPr>
        <p:spPr>
          <a:xfrm>
            <a:off x="9098280" y="3904488"/>
            <a:ext cx="566928" cy="237744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  <a:latin typeface="Source Sans 3"/>
              </a:rPr>
              <a:t>RQ3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9738360" y="3877056"/>
            <a:ext cx="1856232" cy="292608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00" b="0" i="0">
                <a:solidFill>
                  <a:srgbClr val="1C2128"/>
                </a:solidFill>
                <a:latin typeface="Source Sans 3"/>
              </a:rPr>
              <a:t>pre-fix accuracy</a:t>
            </a:r>
          </a:p>
        </p:txBody>
      </p:sp>
      <p:sp>
        <p:nvSpPr>
          <p:cNvPr id="109" name="Rectangle 108"/>
          <p:cNvSpPr/>
          <p:nvPr/>
        </p:nvSpPr>
        <p:spPr>
          <a:xfrm>
            <a:off x="9098280" y="4197096"/>
            <a:ext cx="566928" cy="237744"/>
          </a:xfrm>
          <a:prstGeom prst="rect">
            <a:avLst/>
          </a:prstGeom>
          <a:solidFill>
            <a:srgbClr val="5B4B9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0" name="TextBox 109"/>
          <p:cNvSpPr txBox="1"/>
          <p:nvPr/>
        </p:nvSpPr>
        <p:spPr>
          <a:xfrm>
            <a:off x="9098280" y="4197096"/>
            <a:ext cx="566928" cy="237744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  <a:latin typeface="Source Sans 3"/>
              </a:rPr>
              <a:t>RQ4a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9738360" y="4169664"/>
            <a:ext cx="1856232" cy="292608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00" b="0" i="0">
                <a:solidFill>
                  <a:srgbClr val="1C2128"/>
                </a:solidFill>
                <a:latin typeface="Source Sans 3"/>
              </a:rPr>
              <a:t>taxonomy's value</a:t>
            </a:r>
          </a:p>
        </p:txBody>
      </p:sp>
      <p:sp>
        <p:nvSpPr>
          <p:cNvPr id="112" name="Rectangle 111"/>
          <p:cNvSpPr/>
          <p:nvPr/>
        </p:nvSpPr>
        <p:spPr>
          <a:xfrm>
            <a:off x="9098280" y="4489704"/>
            <a:ext cx="566928" cy="237744"/>
          </a:xfrm>
          <a:prstGeom prst="rect">
            <a:avLst/>
          </a:prstGeom>
          <a:solidFill>
            <a:srgbClr val="2F7D4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3" name="TextBox 112"/>
          <p:cNvSpPr txBox="1"/>
          <p:nvPr/>
        </p:nvSpPr>
        <p:spPr>
          <a:xfrm>
            <a:off x="9098280" y="4489704"/>
            <a:ext cx="566928" cy="237744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  <a:latin typeface="Source Sans 3"/>
              </a:rPr>
              <a:t>RQ4b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9738360" y="4462272"/>
            <a:ext cx="1856232" cy="292608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00" b="0" i="0">
                <a:solidFill>
                  <a:srgbClr val="1C2128"/>
                </a:solidFill>
                <a:latin typeface="Source Sans 3"/>
              </a:rPr>
              <a:t>scientific vs few-shot</a:t>
            </a:r>
          </a:p>
        </p:txBody>
      </p:sp>
      <p:cxnSp>
        <p:nvCxnSpPr>
          <p:cNvPr id="115" name="Connector 114"/>
          <p:cNvCxnSpPr/>
          <p:nvPr/>
        </p:nvCxnSpPr>
        <p:spPr>
          <a:xfrm>
            <a:off x="10300716" y="4800600"/>
            <a:ext cx="0" cy="137160"/>
          </a:xfrm>
          <a:prstGeom prst="line">
            <a:avLst/>
          </a:prstGeom>
          <a:ln w="19050">
            <a:solidFill>
              <a:srgbClr val="2B7F72"/>
            </a:solidFill>
            <a:tailEnd type="triangle" w="med" len="med"/>
          </a:ln>
        </p:spPr>
      </p:cxnSp>
      <p:sp>
        <p:nvSpPr>
          <p:cNvPr id="116" name="Rounded Rectangle 115"/>
          <p:cNvSpPr/>
          <p:nvPr/>
        </p:nvSpPr>
        <p:spPr>
          <a:xfrm>
            <a:off x="8961120" y="4956048"/>
            <a:ext cx="2679192" cy="1261872"/>
          </a:xfrm>
          <a:prstGeom prst="roundRect">
            <a:avLst>
              <a:gd name="adj" fmla="val 5797"/>
            </a:avLst>
          </a:prstGeom>
          <a:solidFill>
            <a:srgbClr val="F4F5F7"/>
          </a:solidFill>
          <a:ln w="15875">
            <a:solidFill>
              <a:srgbClr val="2B7F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7" name="TextBox 116"/>
          <p:cNvSpPr txBox="1"/>
          <p:nvPr/>
        </p:nvSpPr>
        <p:spPr>
          <a:xfrm>
            <a:off x="8961120" y="4983480"/>
            <a:ext cx="2679192" cy="310896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500" b="1" i="0">
                <a:solidFill>
                  <a:srgbClr val="2B7F72"/>
                </a:solidFill>
                <a:latin typeface="Source Sans 3"/>
              </a:rPr>
              <a:t>Outputs</a:t>
            </a:r>
          </a:p>
        </p:txBody>
      </p:sp>
      <p:sp>
        <p:nvSpPr>
          <p:cNvPr id="118" name="Oval 117"/>
          <p:cNvSpPr/>
          <p:nvPr/>
        </p:nvSpPr>
        <p:spPr>
          <a:xfrm>
            <a:off x="9144000" y="5404104"/>
            <a:ext cx="91440" cy="91440"/>
          </a:xfrm>
          <a:prstGeom prst="ellipse">
            <a:avLst/>
          </a:prstGeom>
          <a:solidFill>
            <a:srgbClr val="2B7F7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9308592" y="5303520"/>
            <a:ext cx="2267712" cy="292608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00" b="0" i="0">
                <a:solidFill>
                  <a:srgbClr val="1C2128"/>
                </a:solidFill>
                <a:latin typeface="Source Sans 3"/>
              </a:rPr>
              <a:t>ODC labels with transcripts</a:t>
            </a:r>
          </a:p>
        </p:txBody>
      </p:sp>
      <p:sp>
        <p:nvSpPr>
          <p:cNvPr id="120" name="Oval 119"/>
          <p:cNvSpPr/>
          <p:nvPr/>
        </p:nvSpPr>
        <p:spPr>
          <a:xfrm>
            <a:off x="9144000" y="5696712"/>
            <a:ext cx="91440" cy="91440"/>
          </a:xfrm>
          <a:prstGeom prst="ellipse">
            <a:avLst/>
          </a:prstGeom>
          <a:solidFill>
            <a:srgbClr val="2B7F7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1" name="TextBox 120"/>
          <p:cNvSpPr txBox="1"/>
          <p:nvPr/>
        </p:nvSpPr>
        <p:spPr>
          <a:xfrm>
            <a:off x="9308592" y="5596128"/>
            <a:ext cx="2267712" cy="292608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00" b="0" i="0">
                <a:solidFill>
                  <a:srgbClr val="1C2128"/>
                </a:solidFill>
                <a:latin typeface="Source Sans 3"/>
              </a:rPr>
              <a:t>Statistics and result tables</a:t>
            </a:r>
          </a:p>
        </p:txBody>
      </p:sp>
      <p:sp>
        <p:nvSpPr>
          <p:cNvPr id="122" name="Oval 121"/>
          <p:cNvSpPr/>
          <p:nvPr/>
        </p:nvSpPr>
        <p:spPr>
          <a:xfrm>
            <a:off x="9144000" y="5989320"/>
            <a:ext cx="91440" cy="91440"/>
          </a:xfrm>
          <a:prstGeom prst="ellipse">
            <a:avLst/>
          </a:prstGeom>
          <a:solidFill>
            <a:srgbClr val="2B7F7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3" name="TextBox 122"/>
          <p:cNvSpPr txBox="1"/>
          <p:nvPr/>
        </p:nvSpPr>
        <p:spPr>
          <a:xfrm>
            <a:off x="9308592" y="5888736"/>
            <a:ext cx="2267712" cy="292608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00" b="0" i="0">
                <a:solidFill>
                  <a:srgbClr val="1C2128"/>
                </a:solidFill>
                <a:latin typeface="Source Sans 3"/>
              </a:rPr>
              <a:t>Code, prompts and data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74320"/>
            <a:ext cx="10332720" cy="731520"/>
          </a:xfrm>
          <a:prstGeom prst="rect">
            <a:avLst/>
          </a:prstGeom>
          <a:noFill/>
        </p:spPr>
        <p:txBody>
          <a:bodyPr wrap="square" lIns="27432" rIns="27432" tIns="27432" bIns="27432" anchor="b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000" b="1" i="0">
                <a:solidFill>
                  <a:srgbClr val="12284C"/>
                </a:solidFill>
                <a:latin typeface="Source Sans 3"/>
              </a:rPr>
              <a:t>Evidence Collection: One Case File per Bug</a:t>
            </a:r>
          </a:p>
        </p:txBody>
      </p:sp>
      <p:pic>
        <p:nvPicPr>
          <p:cNvPr id="4" name="Picture 3" descr="iut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228832" y="292608"/>
            <a:ext cx="433472" cy="713232"/>
          </a:xfrm>
          <a:prstGeom prst="rect">
            <a:avLst/>
          </a:prstGeom>
        </p:spPr>
      </p:pic>
      <p:cxnSp>
        <p:nvCxnSpPr>
          <p:cNvPr id="5" name="Connector 4"/>
          <p:cNvCxnSpPr/>
          <p:nvPr/>
        </p:nvCxnSpPr>
        <p:spPr>
          <a:xfrm>
            <a:off x="548640" y="1078992"/>
            <a:ext cx="11091672" cy="0"/>
          </a:xfrm>
          <a:prstGeom prst="line">
            <a:avLst/>
          </a:prstGeom>
          <a:ln w="9525">
            <a:solidFill>
              <a:srgbClr val="D5D9DF"/>
            </a:solidFill>
          </a:ln>
        </p:spPr>
      </p:cxnSp>
      <p:sp>
        <p:nvSpPr>
          <p:cNvPr id="6" name="Rectangle 5"/>
          <p:cNvSpPr/>
          <p:nvPr/>
        </p:nvSpPr>
        <p:spPr>
          <a:xfrm>
            <a:off x="548640" y="1060704"/>
            <a:ext cx="914400" cy="41148"/>
          </a:xfrm>
          <a:prstGeom prst="rect">
            <a:avLst/>
          </a:prstGeom>
          <a:solidFill>
            <a:srgbClr val="12284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>
            <a:off x="548640" y="6400800"/>
            <a:ext cx="11091672" cy="0"/>
          </a:xfrm>
          <a:prstGeom prst="line">
            <a:avLst/>
          </a:prstGeom>
          <a:ln w="9525">
            <a:solidFill>
              <a:srgbClr val="D5D9DF"/>
            </a:solidFill>
          </a:ln>
        </p:spPr>
      </p:cxnSp>
      <p:sp>
        <p:nvSpPr>
          <p:cNvPr id="8" name="TextBox 7"/>
          <p:cNvSpPr txBox="1"/>
          <p:nvPr/>
        </p:nvSpPr>
        <p:spPr>
          <a:xfrm>
            <a:off x="548640" y="6437376"/>
            <a:ext cx="3931920" cy="365760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00" b="0" i="0">
                <a:solidFill>
                  <a:srgbClr val="8A919C"/>
                </a:solidFill>
                <a:latin typeface="Source Sans 3"/>
              </a:rPr>
              <a:t>ODC on Defects4J  ·  Thesis Defence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0" y="6437376"/>
            <a:ext cx="854964" cy="365760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400" b="0" i="0">
                <a:solidFill>
                  <a:srgbClr val="8A919C"/>
                </a:solidFill>
                <a:latin typeface="Source Sans 3"/>
              </a:rPr>
              <a:t>Context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55564" y="6437376"/>
            <a:ext cx="1239012" cy="365760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400" b="1" i="0">
                <a:solidFill>
                  <a:srgbClr val="12284C"/>
                </a:solidFill>
                <a:latin typeface="Source Sans 3"/>
              </a:rPr>
              <a:t>Methodology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747004" y="6757416"/>
            <a:ext cx="1056132" cy="32004"/>
          </a:xfrm>
          <a:prstGeom prst="rect">
            <a:avLst/>
          </a:prstGeom>
          <a:solidFill>
            <a:srgbClr val="12284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123176" y="6437376"/>
            <a:ext cx="854964" cy="365760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400" b="0" i="0">
                <a:solidFill>
                  <a:srgbClr val="8A919C"/>
                </a:solidFill>
                <a:latin typeface="Source Sans 3"/>
              </a:rPr>
              <a:t>Results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966960" y="6419088"/>
            <a:ext cx="1673352" cy="402336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800" b="1" i="0">
                <a:solidFill>
                  <a:srgbClr val="12284C"/>
                </a:solidFill>
                <a:latin typeface="Source Sans 3"/>
              </a:rPr>
              <a:t>9 / 24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48640" y="1645920"/>
            <a:ext cx="1508760" cy="2240280"/>
          </a:xfrm>
          <a:prstGeom prst="rect">
            <a:avLst/>
          </a:prstGeom>
          <a:solidFill>
            <a:srgbClr val="12284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48640" y="1645920"/>
            <a:ext cx="1508760" cy="2240280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500" b="0" i="0">
                <a:solidFill>
                  <a:srgbClr val="FFFFFF"/>
                </a:solidFill>
                <a:latin typeface="Source Sans 3"/>
              </a:rPr>
              <a:t>Defects4J</a:t>
            </a:r>
          </a:p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2100" b="1" i="0">
                <a:solidFill>
                  <a:srgbClr val="FFFFFF"/>
                </a:solidFill>
                <a:latin typeface="Source Sans 3"/>
              </a:rPr>
              <a:t>bug</a:t>
            </a:r>
          </a:p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Source Sans 3"/>
              </a:rPr>
              <a:t/>
            </a:r>
          </a:p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400" b="0" i="0">
                <a:solidFill>
                  <a:srgbClr val="FFFFFF"/>
                </a:solidFill>
                <a:latin typeface="Source Sans 3"/>
              </a:rPr>
              <a:t>buggy version</a:t>
            </a:r>
          </a:p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400" b="0" i="0">
                <a:solidFill>
                  <a:srgbClr val="FFFFFF"/>
                </a:solidFill>
                <a:latin typeface="Source Sans 3"/>
              </a:rPr>
              <a:t>fixed version</a:t>
            </a:r>
          </a:p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400" b="0" i="0">
                <a:solidFill>
                  <a:srgbClr val="FFFFFF"/>
                </a:solidFill>
                <a:latin typeface="Source Sans 3"/>
              </a:rPr>
              <a:t>issue link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2103120" y="2761488"/>
            <a:ext cx="365760" cy="0"/>
          </a:xfrm>
          <a:prstGeom prst="line">
            <a:avLst/>
          </a:prstGeom>
          <a:ln w="22225">
            <a:solidFill>
              <a:srgbClr val="12284C"/>
            </a:solidFill>
            <a:tailEnd type="triangle" w="med" len="med"/>
          </a:ln>
        </p:spPr>
      </p:cxnSp>
      <p:sp>
        <p:nvSpPr>
          <p:cNvPr id="17" name="TextBox 16"/>
          <p:cNvSpPr txBox="1"/>
          <p:nvPr/>
        </p:nvSpPr>
        <p:spPr>
          <a:xfrm>
            <a:off x="2514600" y="1280160"/>
            <a:ext cx="4617720" cy="329184"/>
          </a:xfrm>
          <a:prstGeom prst="rect">
            <a:avLst/>
          </a:prstGeom>
          <a:noFill/>
        </p:spPr>
        <p:txBody>
          <a:bodyPr wrap="square" lIns="27432" rIns="27432" tIns="27432" bIns="27432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00" b="1" i="0">
                <a:solidFill>
                  <a:srgbClr val="5A6270"/>
                </a:solidFill>
                <a:latin typeface="Source Sans 3"/>
              </a:rPr>
              <a:t>1 · COLLECT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514600" y="1645920"/>
            <a:ext cx="4617720" cy="393192"/>
          </a:xfrm>
          <a:prstGeom prst="rect">
            <a:avLst/>
          </a:prstGeom>
          <a:solidFill>
            <a:srgbClr val="F4F5F7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651760" y="1645920"/>
            <a:ext cx="1645920" cy="393192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500" b="1" i="0">
                <a:solidFill>
                  <a:srgbClr val="12284C"/>
                </a:solidFill>
                <a:latin typeface="Source Sans 3"/>
              </a:rPr>
              <a:t>Bug report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297680" y="1645920"/>
            <a:ext cx="2816352" cy="393192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l">
              <a:lnSpc>
                <a:spcPct val="95000"/>
              </a:lnSpc>
              <a:spcAft>
                <a:spcPts val="0"/>
              </a:spcAft>
            </a:pPr>
            <a:r>
              <a:rPr sz="1400" b="0" i="0">
                <a:solidFill>
                  <a:srgbClr val="5A6270"/>
                </a:solidFill>
                <a:latin typeface="Source Sans 3"/>
              </a:rPr>
              <a:t>fetched from the issue tracker</a:t>
            </a:r>
          </a:p>
        </p:txBody>
      </p:sp>
      <p:sp>
        <p:nvSpPr>
          <p:cNvPr id="21" name="Rectangle 20"/>
          <p:cNvSpPr/>
          <p:nvPr/>
        </p:nvSpPr>
        <p:spPr>
          <a:xfrm>
            <a:off x="2514600" y="2103120"/>
            <a:ext cx="4617720" cy="393192"/>
          </a:xfrm>
          <a:prstGeom prst="rect">
            <a:avLst/>
          </a:prstGeom>
          <a:solidFill>
            <a:srgbClr val="F4F5F7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2651760" y="2103120"/>
            <a:ext cx="1645920" cy="393192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500" b="1" i="0">
                <a:solidFill>
                  <a:srgbClr val="12284C"/>
                </a:solidFill>
                <a:latin typeface="Source Sans 3"/>
              </a:rPr>
              <a:t>Failing tests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297680" y="2103120"/>
            <a:ext cx="2816352" cy="393192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l">
              <a:lnSpc>
                <a:spcPct val="95000"/>
              </a:lnSpc>
              <a:spcAft>
                <a:spcPts val="0"/>
              </a:spcAft>
            </a:pPr>
            <a:r>
              <a:rPr sz="1400" b="0" i="0">
                <a:solidFill>
                  <a:srgbClr val="5A6270"/>
                </a:solidFill>
                <a:latin typeface="Source Sans 3"/>
              </a:rPr>
              <a:t>buggy version run: error + trace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514600" y="2560320"/>
            <a:ext cx="4617720" cy="393192"/>
          </a:xfrm>
          <a:prstGeom prst="rect">
            <a:avLst/>
          </a:prstGeom>
          <a:solidFill>
            <a:srgbClr val="F4F5F7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2651760" y="2560320"/>
            <a:ext cx="1645920" cy="393192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500" b="1" i="0">
                <a:solidFill>
                  <a:srgbClr val="12284C"/>
                </a:solidFill>
                <a:latin typeface="Source Sans 3"/>
              </a:rPr>
              <a:t>Suspicious frames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297680" y="2560320"/>
            <a:ext cx="2816352" cy="393192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l">
              <a:lnSpc>
                <a:spcPct val="95000"/>
              </a:lnSpc>
              <a:spcAft>
                <a:spcPts val="0"/>
              </a:spcAft>
            </a:pPr>
            <a:r>
              <a:rPr sz="1400" b="0" i="0">
                <a:solidFill>
                  <a:srgbClr val="5A6270"/>
                </a:solidFill>
                <a:latin typeface="Source Sans 3"/>
              </a:rPr>
              <a:t>trace lines in the project’s own code</a:t>
            </a:r>
          </a:p>
        </p:txBody>
      </p:sp>
      <p:sp>
        <p:nvSpPr>
          <p:cNvPr id="27" name="Rectangle 26"/>
          <p:cNvSpPr/>
          <p:nvPr/>
        </p:nvSpPr>
        <p:spPr>
          <a:xfrm>
            <a:off x="2514600" y="3017520"/>
            <a:ext cx="4617720" cy="393192"/>
          </a:xfrm>
          <a:prstGeom prst="rect">
            <a:avLst/>
          </a:prstGeom>
          <a:solidFill>
            <a:srgbClr val="F4F5F7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2651760" y="3017520"/>
            <a:ext cx="1645920" cy="393192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500" b="1" i="0">
                <a:solidFill>
                  <a:srgbClr val="12284C"/>
                </a:solidFill>
                <a:latin typeface="Source Sans 3"/>
              </a:rPr>
              <a:t>Code snippets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297680" y="3017520"/>
            <a:ext cx="2816352" cy="393192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l">
              <a:lnSpc>
                <a:spcPct val="95000"/>
              </a:lnSpc>
              <a:spcAft>
                <a:spcPts val="0"/>
              </a:spcAft>
            </a:pPr>
            <a:r>
              <a:rPr sz="1400" b="0" i="0">
                <a:solidFill>
                  <a:srgbClr val="5A6270"/>
                </a:solidFill>
                <a:latin typeface="Source Sans 3"/>
              </a:rPr>
              <a:t>±12 lines of code, ±18 of tests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514600" y="3474720"/>
            <a:ext cx="4617720" cy="393192"/>
          </a:xfrm>
          <a:prstGeom prst="rect">
            <a:avLst/>
          </a:prstGeom>
          <a:solidFill>
            <a:srgbClr val="F4F5F7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2651760" y="3474720"/>
            <a:ext cx="1645920" cy="393192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500" b="1" i="0">
                <a:solidFill>
                  <a:srgbClr val="12284C"/>
                </a:solidFill>
                <a:latin typeface="Source Sans 3"/>
              </a:rPr>
              <a:t>Coverage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297680" y="3474720"/>
            <a:ext cx="2816352" cy="393192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l">
              <a:lnSpc>
                <a:spcPct val="95000"/>
              </a:lnSpc>
              <a:spcAft>
                <a:spcPts val="0"/>
              </a:spcAft>
            </a:pPr>
            <a:r>
              <a:rPr sz="1400" b="0" i="0">
                <a:solidFill>
                  <a:srgbClr val="5A6270"/>
                </a:solidFill>
                <a:latin typeface="Source Sans 3"/>
              </a:rPr>
              <a:t>line and branch data (optional)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7178040" y="2761488"/>
            <a:ext cx="320039" cy="0"/>
          </a:xfrm>
          <a:prstGeom prst="line">
            <a:avLst/>
          </a:prstGeom>
          <a:ln w="22225">
            <a:solidFill>
              <a:srgbClr val="12284C"/>
            </a:solidFill>
            <a:tailEnd type="triangle" w="med" len="med"/>
          </a:ln>
        </p:spPr>
      </p:cxnSp>
      <p:sp>
        <p:nvSpPr>
          <p:cNvPr id="34" name="TextBox 33"/>
          <p:cNvSpPr txBox="1"/>
          <p:nvPr/>
        </p:nvSpPr>
        <p:spPr>
          <a:xfrm>
            <a:off x="7543800" y="1280160"/>
            <a:ext cx="4096512" cy="329184"/>
          </a:xfrm>
          <a:prstGeom prst="rect">
            <a:avLst/>
          </a:prstGeom>
          <a:noFill/>
        </p:spPr>
        <p:txBody>
          <a:bodyPr wrap="square" lIns="27432" rIns="27432" tIns="27432" bIns="27432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00" b="1" i="0">
                <a:solidFill>
                  <a:srgbClr val="5A6270"/>
                </a:solidFill>
                <a:latin typeface="Source Sans 3"/>
              </a:rPr>
              <a:t>2 · STORE: CONTEXT.JSON</a:t>
            </a:r>
          </a:p>
        </p:txBody>
      </p:sp>
      <p:sp>
        <p:nvSpPr>
          <p:cNvPr id="35" name="Rectangle 34"/>
          <p:cNvSpPr/>
          <p:nvPr/>
        </p:nvSpPr>
        <p:spPr>
          <a:xfrm>
            <a:off x="7543800" y="1645920"/>
            <a:ext cx="4096512" cy="694944"/>
          </a:xfrm>
          <a:prstGeom prst="rect">
            <a:avLst/>
          </a:prstGeom>
          <a:solidFill>
            <a:srgbClr val="E6EAF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7543800" y="1645920"/>
            <a:ext cx="64008" cy="694944"/>
          </a:xfrm>
          <a:prstGeom prst="rect">
            <a:avLst/>
          </a:prstGeom>
          <a:solidFill>
            <a:srgbClr val="12284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7772400" y="1664208"/>
            <a:ext cx="3776472" cy="329184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600" b="1" i="0">
                <a:solidFill>
                  <a:srgbClr val="12284C"/>
                </a:solidFill>
                <a:latin typeface="Source Sans 3"/>
              </a:rPr>
              <a:t>Evidence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772400" y="1984248"/>
            <a:ext cx="3776472" cy="329184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00" b="0" i="0">
                <a:solidFill>
                  <a:srgbClr val="1C2128"/>
                </a:solidFill>
                <a:latin typeface="Source Sans 3"/>
              </a:rPr>
              <a:t>cleaned and deduplicated; shown to the model</a:t>
            </a:r>
          </a:p>
        </p:txBody>
      </p:sp>
      <p:sp>
        <p:nvSpPr>
          <p:cNvPr id="39" name="Rectangle 38"/>
          <p:cNvSpPr/>
          <p:nvPr/>
        </p:nvSpPr>
        <p:spPr>
          <a:xfrm>
            <a:off x="7543800" y="2404872"/>
            <a:ext cx="4096512" cy="694944"/>
          </a:xfrm>
          <a:prstGeom prst="rect">
            <a:avLst/>
          </a:prstGeom>
          <a:solidFill>
            <a:srgbClr val="FBF1D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7543800" y="2404872"/>
            <a:ext cx="64008" cy="694944"/>
          </a:xfrm>
          <a:prstGeom prst="rect">
            <a:avLst/>
          </a:prstGeom>
          <a:solidFill>
            <a:srgbClr val="B7791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7772400" y="2423160"/>
            <a:ext cx="3776472" cy="329184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600" b="1" i="0">
                <a:solidFill>
                  <a:srgbClr val="B7791F"/>
                </a:solidFill>
                <a:latin typeface="Source Sans 3"/>
              </a:rPr>
              <a:t>Hidden oracle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772400" y="2743200"/>
            <a:ext cx="3776472" cy="329184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00" b="0" i="0">
                <a:solidFill>
                  <a:srgbClr val="1C2128"/>
                </a:solidFill>
                <a:latin typeface="Source Sans 3"/>
              </a:rPr>
              <a:t>modified classes; for evaluation only</a:t>
            </a:r>
          </a:p>
        </p:txBody>
      </p:sp>
      <p:sp>
        <p:nvSpPr>
          <p:cNvPr id="43" name="Rectangle 42"/>
          <p:cNvSpPr/>
          <p:nvPr/>
        </p:nvSpPr>
        <p:spPr>
          <a:xfrm>
            <a:off x="7543800" y="3163824"/>
            <a:ext cx="4096512" cy="694944"/>
          </a:xfrm>
          <a:prstGeom prst="rect">
            <a:avLst/>
          </a:prstGeom>
          <a:solidFill>
            <a:srgbClr val="E3F1E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7543800" y="3163824"/>
            <a:ext cx="64008" cy="694944"/>
          </a:xfrm>
          <a:prstGeom prst="rect">
            <a:avLst/>
          </a:prstGeom>
          <a:solidFill>
            <a:srgbClr val="2F7D4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7772400" y="3182112"/>
            <a:ext cx="3776472" cy="329184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600" b="1" i="0">
                <a:solidFill>
                  <a:srgbClr val="2F7D4F"/>
                </a:solidFill>
                <a:latin typeface="Source Sans 3"/>
              </a:rPr>
              <a:t>Fix diff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7772400" y="3502152"/>
            <a:ext cx="3776472" cy="329184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00" b="0" i="0">
                <a:solidFill>
                  <a:srgbClr val="1C2128"/>
                </a:solidFill>
                <a:latin typeface="Source Sans 3"/>
              </a:rPr>
              <a:t>buggy → fixed code; post-fix only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548640" y="4114800"/>
            <a:ext cx="11091672" cy="329184"/>
          </a:xfrm>
          <a:prstGeom prst="rect">
            <a:avLst/>
          </a:prstGeom>
          <a:noFill/>
        </p:spPr>
        <p:txBody>
          <a:bodyPr wrap="square" lIns="27432" rIns="27432" tIns="27432" bIns="27432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00" b="1" i="0">
                <a:solidFill>
                  <a:srgbClr val="5A6270"/>
                </a:solidFill>
                <a:latin typeface="Source Sans 3"/>
              </a:rPr>
              <a:t>3 · BUILD TWO CASE FILES  ·  THE ONLY DIFFERENCE IS THE FIX DIFF</a:t>
            </a:r>
          </a:p>
        </p:txBody>
      </p:sp>
      <p:sp>
        <p:nvSpPr>
          <p:cNvPr id="48" name="Rectangle 47"/>
          <p:cNvSpPr/>
          <p:nvPr/>
        </p:nvSpPr>
        <p:spPr>
          <a:xfrm>
            <a:off x="548640" y="4462272"/>
            <a:ext cx="5422392" cy="932688"/>
          </a:xfrm>
          <a:prstGeom prst="rect">
            <a:avLst/>
          </a:prstGeom>
          <a:solidFill>
            <a:srgbClr val="F7E6E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548640" y="4462272"/>
            <a:ext cx="64008" cy="932688"/>
          </a:xfrm>
          <a:prstGeom prst="rect">
            <a:avLst/>
          </a:prstGeom>
          <a:solidFill>
            <a:srgbClr val="A23B3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777240" y="4498848"/>
            <a:ext cx="2926080" cy="384048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800" b="1" i="0">
                <a:solidFill>
                  <a:srgbClr val="A23B3B"/>
                </a:solidFill>
                <a:latin typeface="Source Sans 3"/>
              </a:rPr>
              <a:t>Pre-fix case file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474720" y="4498848"/>
            <a:ext cx="2377440" cy="384048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600" b="1" i="0">
                <a:solidFill>
                  <a:srgbClr val="A23B3B"/>
                </a:solidFill>
                <a:latin typeface="Source Sans 3"/>
              </a:rPr>
              <a:t>→ the label we evaluate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777240" y="4901184"/>
            <a:ext cx="5074920" cy="438912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500" b="0" i="0">
                <a:solidFill>
                  <a:srgbClr val="1C2128"/>
                </a:solidFill>
                <a:latin typeface="Source Sans 3"/>
              </a:rPr>
              <a:t>evidence only; fix hints removed from the report and metadata</a:t>
            </a:r>
          </a:p>
        </p:txBody>
      </p:sp>
      <p:sp>
        <p:nvSpPr>
          <p:cNvPr id="53" name="Rectangle 52"/>
          <p:cNvSpPr/>
          <p:nvPr/>
        </p:nvSpPr>
        <p:spPr>
          <a:xfrm>
            <a:off x="6217920" y="4462272"/>
            <a:ext cx="5422392" cy="932688"/>
          </a:xfrm>
          <a:prstGeom prst="rect">
            <a:avLst/>
          </a:prstGeom>
          <a:solidFill>
            <a:srgbClr val="E3F1E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6217920" y="4462272"/>
            <a:ext cx="64008" cy="932688"/>
          </a:xfrm>
          <a:prstGeom prst="rect">
            <a:avLst/>
          </a:prstGeom>
          <a:solidFill>
            <a:srgbClr val="2F7D4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6446520" y="4498848"/>
            <a:ext cx="2926080" cy="384048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800" b="1" i="0">
                <a:solidFill>
                  <a:srgbClr val="2F7D4F"/>
                </a:solidFill>
                <a:latin typeface="Source Sans 3"/>
              </a:rPr>
              <a:t>Post-fix case file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9144000" y="4498848"/>
            <a:ext cx="2377440" cy="384048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600" b="1" i="0">
                <a:solidFill>
                  <a:srgbClr val="2F7D4F"/>
                </a:solidFill>
                <a:latin typeface="Source Sans 3"/>
              </a:rPr>
              <a:t>→ the reference label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6446520" y="4901184"/>
            <a:ext cx="5074920" cy="438912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500" b="0" i="0">
                <a:solidFill>
                  <a:srgbClr val="1C2128"/>
                </a:solidFill>
                <a:latin typeface="Source Sans 3"/>
              </a:rPr>
              <a:t>the same evidence + the fix diff</a:t>
            </a:r>
          </a:p>
        </p:txBody>
      </p:sp>
      <p:sp>
        <p:nvSpPr>
          <p:cNvPr id="58" name="Rectangle 57"/>
          <p:cNvSpPr/>
          <p:nvPr/>
        </p:nvSpPr>
        <p:spPr>
          <a:xfrm>
            <a:off x="548640" y="5559552"/>
            <a:ext cx="11091672" cy="676656"/>
          </a:xfrm>
          <a:prstGeom prst="rect">
            <a:avLst/>
          </a:prstGeom>
          <a:solidFill>
            <a:srgbClr val="F4F5F7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731520" y="5559552"/>
            <a:ext cx="10789920" cy="676656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500" b="1" i="0">
                <a:solidFill>
                  <a:srgbClr val="12284C"/>
                </a:solidFill>
                <a:latin typeface="Source Sans 3"/>
              </a:rPr>
              <a:t>Every strategy and both LLMs read the same file.  </a:t>
            </a:r>
            <a:r>
              <a:rPr sz="1500" b="1" i="0">
                <a:solidFill>
                  <a:srgbClr val="1C2128"/>
                </a:solidFill>
                <a:latin typeface="Source Sans 3"/>
              </a:rPr>
              <a:t>few-shot</a:t>
            </a:r>
            <a:r>
              <a:rPr sz="1500" b="0" i="0">
                <a:solidFill>
                  <a:srgbClr val="5A6270"/>
                </a:solidFill>
                <a:latin typeface="Source Sans 3"/>
              </a:rPr>
              <a:t> reads the evidence summary once;  </a:t>
            </a:r>
            <a:r>
              <a:rPr sz="1500" b="1" i="0">
                <a:solidFill>
                  <a:srgbClr val="1C2128"/>
                </a:solidFill>
                <a:latin typeface="Source Sans 3"/>
              </a:rPr>
              <a:t>scientific</a:t>
            </a:r>
            <a:r>
              <a:rPr sz="1500" b="0" i="0">
                <a:solidFill>
                  <a:srgbClr val="5A6270"/>
                </a:solidFill>
                <a:latin typeface="Source Sans 3"/>
              </a:rPr>
              <a:t> reads the same summary, then probes for the held-back rest.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74320"/>
            <a:ext cx="10332720" cy="731520"/>
          </a:xfrm>
          <a:prstGeom prst="rect">
            <a:avLst/>
          </a:prstGeom>
          <a:noFill/>
        </p:spPr>
        <p:txBody>
          <a:bodyPr wrap="square" lIns="27432" rIns="27432" tIns="27432" bIns="27432" anchor="b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000" b="1" i="0">
                <a:solidFill>
                  <a:srgbClr val="12284C"/>
                </a:solidFill>
                <a:latin typeface="Source Sans 3"/>
              </a:rPr>
              <a:t>Classification Conditions and Models</a:t>
            </a:r>
          </a:p>
        </p:txBody>
      </p:sp>
      <p:pic>
        <p:nvPicPr>
          <p:cNvPr id="4" name="Picture 3" descr="iut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228832" y="292608"/>
            <a:ext cx="433472" cy="713232"/>
          </a:xfrm>
          <a:prstGeom prst="rect">
            <a:avLst/>
          </a:prstGeom>
        </p:spPr>
      </p:pic>
      <p:cxnSp>
        <p:nvCxnSpPr>
          <p:cNvPr id="5" name="Connector 4"/>
          <p:cNvCxnSpPr/>
          <p:nvPr/>
        </p:nvCxnSpPr>
        <p:spPr>
          <a:xfrm>
            <a:off x="548640" y="1078992"/>
            <a:ext cx="11091672" cy="0"/>
          </a:xfrm>
          <a:prstGeom prst="line">
            <a:avLst/>
          </a:prstGeom>
          <a:ln w="9525">
            <a:solidFill>
              <a:srgbClr val="D5D9DF"/>
            </a:solidFill>
          </a:ln>
        </p:spPr>
      </p:cxnSp>
      <p:sp>
        <p:nvSpPr>
          <p:cNvPr id="6" name="Rectangle 5"/>
          <p:cNvSpPr/>
          <p:nvPr/>
        </p:nvSpPr>
        <p:spPr>
          <a:xfrm>
            <a:off x="548640" y="1060704"/>
            <a:ext cx="914400" cy="41148"/>
          </a:xfrm>
          <a:prstGeom prst="rect">
            <a:avLst/>
          </a:prstGeom>
          <a:solidFill>
            <a:srgbClr val="12284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>
            <a:off x="548640" y="6400800"/>
            <a:ext cx="11091672" cy="0"/>
          </a:xfrm>
          <a:prstGeom prst="line">
            <a:avLst/>
          </a:prstGeom>
          <a:ln w="9525">
            <a:solidFill>
              <a:srgbClr val="D5D9DF"/>
            </a:solidFill>
          </a:ln>
        </p:spPr>
      </p:cxnSp>
      <p:sp>
        <p:nvSpPr>
          <p:cNvPr id="8" name="TextBox 7"/>
          <p:cNvSpPr txBox="1"/>
          <p:nvPr/>
        </p:nvSpPr>
        <p:spPr>
          <a:xfrm>
            <a:off x="548640" y="6437376"/>
            <a:ext cx="3931920" cy="365760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00" b="0" i="0">
                <a:solidFill>
                  <a:srgbClr val="8A919C"/>
                </a:solidFill>
                <a:latin typeface="Source Sans 3"/>
              </a:rPr>
              <a:t>ODC on Defects4J  ·  Thesis Defence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0" y="6437376"/>
            <a:ext cx="854964" cy="365760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400" b="0" i="0">
                <a:solidFill>
                  <a:srgbClr val="8A919C"/>
                </a:solidFill>
                <a:latin typeface="Source Sans 3"/>
              </a:rPr>
              <a:t>Context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55564" y="6437376"/>
            <a:ext cx="1239012" cy="365760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400" b="1" i="0">
                <a:solidFill>
                  <a:srgbClr val="12284C"/>
                </a:solidFill>
                <a:latin typeface="Source Sans 3"/>
              </a:rPr>
              <a:t>Methodology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747004" y="6757416"/>
            <a:ext cx="1056132" cy="32004"/>
          </a:xfrm>
          <a:prstGeom prst="rect">
            <a:avLst/>
          </a:prstGeom>
          <a:solidFill>
            <a:srgbClr val="12284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123176" y="6437376"/>
            <a:ext cx="854964" cy="365760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400" b="0" i="0">
                <a:solidFill>
                  <a:srgbClr val="8A919C"/>
                </a:solidFill>
                <a:latin typeface="Source Sans 3"/>
              </a:rPr>
              <a:t>Results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966960" y="6419088"/>
            <a:ext cx="1673352" cy="402336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800" b="1" i="0">
                <a:solidFill>
                  <a:srgbClr val="12284C"/>
                </a:solidFill>
                <a:latin typeface="Source Sans 3"/>
              </a:rPr>
              <a:t>10 / 24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1188720"/>
            <a:ext cx="11091672" cy="384048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700" b="0" i="0">
                <a:solidFill>
                  <a:srgbClr val="5A6270"/>
                </a:solidFill>
                <a:latin typeface="Source Sans 3"/>
              </a:rPr>
              <a:t>A condition = </a:t>
            </a:r>
            <a:r>
              <a:rPr sz="1700" b="1" i="0">
                <a:solidFill>
                  <a:srgbClr val="1C2128"/>
                </a:solidFill>
                <a:latin typeface="Source Sans 3"/>
              </a:rPr>
              <a:t>taxonomy</a:t>
            </a:r>
            <a:r>
              <a:rPr sz="1700" b="0" i="0">
                <a:solidFill>
                  <a:srgbClr val="5A6270"/>
                </a:solidFill>
                <a:latin typeface="Source Sans 3"/>
              </a:rPr>
              <a:t> (which labels)  ×  </a:t>
            </a:r>
            <a:r>
              <a:rPr sz="1700" b="1" i="0">
                <a:solidFill>
                  <a:srgbClr val="1C2128"/>
                </a:solidFill>
                <a:latin typeface="Source Sans 3"/>
              </a:rPr>
              <a:t>strategy</a:t>
            </a:r>
            <a:r>
              <a:rPr sz="1700" b="0" i="0">
                <a:solidFill>
                  <a:srgbClr val="5A6270"/>
                </a:solidFill>
                <a:latin typeface="Source Sans 3"/>
              </a:rPr>
              <a:t> (how it reasons),  run by an </a:t>
            </a:r>
            <a:r>
              <a:rPr sz="1700" b="1" i="0">
                <a:solidFill>
                  <a:srgbClr val="1C2128"/>
                </a:solidFill>
                <a:latin typeface="Source Sans 3"/>
              </a:rPr>
              <a:t>LLM</a:t>
            </a:r>
            <a:r>
              <a:rPr sz="1700" b="0" i="0">
                <a:solidFill>
                  <a:srgbClr val="5A6270"/>
                </a:solidFill>
                <a:latin typeface="Source Sans 3"/>
              </a:rPr>
              <a:t>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148840" y="1783080"/>
            <a:ext cx="4443984" cy="329184"/>
          </a:xfrm>
          <a:prstGeom prst="rect">
            <a:avLst/>
          </a:prstGeom>
          <a:noFill/>
        </p:spPr>
        <p:txBody>
          <a:bodyPr wrap="square" lIns="27432" rIns="27432" tIns="27432" bIns="27432" anchor="t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400" b="1" i="0">
                <a:solidFill>
                  <a:srgbClr val="5A6270"/>
                </a:solidFill>
                <a:latin typeface="Source Sans 3"/>
              </a:rPr>
              <a:t>TAXONOMY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148840" y="2103120"/>
            <a:ext cx="1481328" cy="566928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ctr">
              <a:lnSpc>
                <a:spcPct val="95000"/>
              </a:lnSpc>
              <a:spcAft>
                <a:spcPts val="0"/>
              </a:spcAft>
            </a:pPr>
            <a:r>
              <a:rPr sz="1700" b="1" i="0">
                <a:solidFill>
                  <a:srgbClr val="1C2128"/>
                </a:solidFill>
                <a:latin typeface="Source Sans 3"/>
              </a:rPr>
              <a:t>free</a:t>
            </a:r>
          </a:p>
          <a:p>
            <a:pPr algn="ctr">
              <a:lnSpc>
                <a:spcPct val="95000"/>
              </a:lnSpc>
              <a:spcAft>
                <a:spcPts val="0"/>
              </a:spcAft>
            </a:pPr>
            <a:r>
              <a:rPr sz="1400" b="0" i="0">
                <a:solidFill>
                  <a:srgbClr val="5A6270"/>
                </a:solidFill>
                <a:latin typeface="Source Sans 3"/>
              </a:rPr>
              <a:t>own words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630168" y="2103120"/>
            <a:ext cx="1481328" cy="566928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ctr">
              <a:lnSpc>
                <a:spcPct val="95000"/>
              </a:lnSpc>
              <a:spcAft>
                <a:spcPts val="0"/>
              </a:spcAft>
            </a:pPr>
            <a:r>
              <a:rPr sz="1700" b="1" i="0">
                <a:solidFill>
                  <a:srgbClr val="1C2128"/>
                </a:solidFill>
                <a:latin typeface="Source Sans 3"/>
              </a:rPr>
              <a:t>closed</a:t>
            </a:r>
          </a:p>
          <a:p>
            <a:pPr algn="ctr">
              <a:lnSpc>
                <a:spcPct val="95000"/>
              </a:lnSpc>
              <a:spcAft>
                <a:spcPts val="0"/>
              </a:spcAft>
            </a:pPr>
            <a:r>
              <a:rPr sz="1400" b="0" i="0">
                <a:solidFill>
                  <a:srgbClr val="5A6270"/>
                </a:solidFill>
                <a:latin typeface="Source Sans 3"/>
              </a:rPr>
              <a:t>7 ODC types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111496" y="2103120"/>
            <a:ext cx="1481328" cy="566928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ctr">
              <a:lnSpc>
                <a:spcPct val="95000"/>
              </a:lnSpc>
              <a:spcAft>
                <a:spcPts val="0"/>
              </a:spcAft>
            </a:pPr>
            <a:r>
              <a:rPr sz="1700" b="1" i="0">
                <a:solidFill>
                  <a:srgbClr val="1C2128"/>
                </a:solidFill>
                <a:latin typeface="Source Sans 3"/>
              </a:rPr>
              <a:t>open</a:t>
            </a:r>
          </a:p>
          <a:p>
            <a:pPr algn="ctr">
              <a:lnSpc>
                <a:spcPct val="95000"/>
              </a:lnSpc>
              <a:spcAft>
                <a:spcPts val="0"/>
              </a:spcAft>
            </a:pPr>
            <a:r>
              <a:rPr sz="1400" b="0" i="0">
                <a:solidFill>
                  <a:srgbClr val="5A6270"/>
                </a:solidFill>
                <a:latin typeface="Source Sans 3"/>
              </a:rPr>
              <a:t>7 types + “Other”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48640" y="2103120"/>
            <a:ext cx="1554480" cy="566928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00" b="1" i="0">
                <a:solidFill>
                  <a:srgbClr val="5A6270"/>
                </a:solidFill>
                <a:latin typeface="Source Sans 3"/>
              </a:rPr>
              <a:t>STRATEGY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548640" y="2715768"/>
            <a:ext cx="6044184" cy="0"/>
          </a:xfrm>
          <a:prstGeom prst="line">
            <a:avLst/>
          </a:prstGeom>
          <a:ln w="15875">
            <a:solidFill>
              <a:srgbClr val="12284C"/>
            </a:solidFill>
          </a:ln>
        </p:spPr>
      </p:cxnSp>
      <p:sp>
        <p:nvSpPr>
          <p:cNvPr id="21" name="TextBox 20"/>
          <p:cNvSpPr txBox="1"/>
          <p:nvPr/>
        </p:nvSpPr>
        <p:spPr>
          <a:xfrm>
            <a:off x="548640" y="2761488"/>
            <a:ext cx="1600200" cy="868680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l">
              <a:lnSpc>
                <a:spcPct val="95000"/>
              </a:lnSpc>
              <a:spcAft>
                <a:spcPts val="0"/>
              </a:spcAft>
            </a:pPr>
            <a:r>
              <a:rPr sz="1700" b="1" i="0">
                <a:solidFill>
                  <a:srgbClr val="1C2128"/>
                </a:solidFill>
                <a:latin typeface="Source Sans 3"/>
              </a:rPr>
              <a:t>zero</a:t>
            </a:r>
          </a:p>
          <a:p>
            <a:pPr algn="l">
              <a:lnSpc>
                <a:spcPct val="95000"/>
              </a:lnSpc>
              <a:spcAft>
                <a:spcPts val="0"/>
              </a:spcAft>
            </a:pPr>
            <a:r>
              <a:rPr sz="1400" b="0" i="0">
                <a:solidFill>
                  <a:srgbClr val="5A6270"/>
                </a:solidFill>
                <a:latin typeface="Source Sans 3"/>
              </a:rPr>
              <a:t>plain prompt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212848" y="2834640"/>
            <a:ext cx="1353312" cy="722375"/>
          </a:xfrm>
          <a:prstGeom prst="rect">
            <a:avLst/>
          </a:prstGeom>
          <a:solidFill>
            <a:srgbClr val="E6EAF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2212848" y="2834640"/>
            <a:ext cx="1353312" cy="722375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ctr">
              <a:lnSpc>
                <a:spcPct val="95000"/>
              </a:lnSpc>
              <a:spcAft>
                <a:spcPts val="0"/>
              </a:spcAft>
            </a:pPr>
            <a:r>
              <a:rPr sz="1500" b="1" i="0">
                <a:solidFill>
                  <a:srgbClr val="12284C"/>
                </a:solidFill>
                <a:latin typeface="Source Sans 3"/>
              </a:rPr>
              <a:t>zero-free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630168" y="2761488"/>
            <a:ext cx="1481328" cy="868680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600" b="0" i="0">
                <a:solidFill>
                  <a:srgbClr val="8A919C"/>
                </a:solidFill>
                <a:latin typeface="Source Sans 3"/>
              </a:rPr>
              <a:t>—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111496" y="2761488"/>
            <a:ext cx="1481328" cy="868680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600" b="0" i="0">
                <a:solidFill>
                  <a:srgbClr val="8A919C"/>
                </a:solidFill>
                <a:latin typeface="Source Sans 3"/>
              </a:rPr>
              <a:t>—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548640" y="3630168"/>
            <a:ext cx="6044184" cy="0"/>
          </a:xfrm>
          <a:prstGeom prst="line">
            <a:avLst/>
          </a:prstGeom>
          <a:ln w="9525">
            <a:solidFill>
              <a:srgbClr val="D5D9DF"/>
            </a:solidFill>
          </a:ln>
        </p:spPr>
      </p:cxnSp>
      <p:sp>
        <p:nvSpPr>
          <p:cNvPr id="27" name="TextBox 26"/>
          <p:cNvSpPr txBox="1"/>
          <p:nvPr/>
        </p:nvSpPr>
        <p:spPr>
          <a:xfrm>
            <a:off x="548640" y="3630168"/>
            <a:ext cx="1600200" cy="868680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l">
              <a:lnSpc>
                <a:spcPct val="95000"/>
              </a:lnSpc>
              <a:spcAft>
                <a:spcPts val="0"/>
              </a:spcAft>
            </a:pPr>
            <a:r>
              <a:rPr sz="1700" b="1" i="0">
                <a:solidFill>
                  <a:srgbClr val="1C2128"/>
                </a:solidFill>
                <a:latin typeface="Source Sans 3"/>
              </a:rPr>
              <a:t>few</a:t>
            </a:r>
          </a:p>
          <a:p>
            <a:pPr algn="l">
              <a:lnSpc>
                <a:spcPct val="95000"/>
              </a:lnSpc>
              <a:spcAft>
                <a:spcPts val="0"/>
              </a:spcAft>
            </a:pPr>
            <a:r>
              <a:rPr sz="1400" b="0" i="0">
                <a:solidFill>
                  <a:srgbClr val="5A6270"/>
                </a:solidFill>
                <a:latin typeface="Source Sans 3"/>
              </a:rPr>
              <a:t>worked examples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148840" y="3630168"/>
            <a:ext cx="1481328" cy="868680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600" b="0" i="0">
                <a:solidFill>
                  <a:srgbClr val="8A919C"/>
                </a:solidFill>
                <a:latin typeface="Source Sans 3"/>
              </a:rPr>
              <a:t>—</a:t>
            </a:r>
          </a:p>
        </p:txBody>
      </p:sp>
      <p:sp>
        <p:nvSpPr>
          <p:cNvPr id="29" name="Rectangle 28"/>
          <p:cNvSpPr/>
          <p:nvPr/>
        </p:nvSpPr>
        <p:spPr>
          <a:xfrm>
            <a:off x="3694176" y="3703320"/>
            <a:ext cx="1353312" cy="722375"/>
          </a:xfrm>
          <a:prstGeom prst="rect">
            <a:avLst/>
          </a:prstGeom>
          <a:solidFill>
            <a:srgbClr val="E6EAF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3694176" y="3703320"/>
            <a:ext cx="1353312" cy="722375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ctr">
              <a:lnSpc>
                <a:spcPct val="95000"/>
              </a:lnSpc>
              <a:spcAft>
                <a:spcPts val="0"/>
              </a:spcAft>
            </a:pPr>
            <a:r>
              <a:rPr sz="1500" b="1" i="0">
                <a:solidFill>
                  <a:srgbClr val="12284C"/>
                </a:solidFill>
                <a:latin typeface="Source Sans 3"/>
              </a:rPr>
              <a:t>few-closed</a:t>
            </a:r>
          </a:p>
        </p:txBody>
      </p:sp>
      <p:sp>
        <p:nvSpPr>
          <p:cNvPr id="31" name="Rectangle 30"/>
          <p:cNvSpPr/>
          <p:nvPr/>
        </p:nvSpPr>
        <p:spPr>
          <a:xfrm>
            <a:off x="5175504" y="3703320"/>
            <a:ext cx="1353312" cy="722375"/>
          </a:xfrm>
          <a:prstGeom prst="rect">
            <a:avLst/>
          </a:prstGeom>
          <a:solidFill>
            <a:srgbClr val="E6EAF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175504" y="3703320"/>
            <a:ext cx="1353312" cy="722375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ctr">
              <a:lnSpc>
                <a:spcPct val="95000"/>
              </a:lnSpc>
              <a:spcAft>
                <a:spcPts val="0"/>
              </a:spcAft>
            </a:pPr>
            <a:r>
              <a:rPr sz="1500" b="1" i="0">
                <a:solidFill>
                  <a:srgbClr val="12284C"/>
                </a:solidFill>
                <a:latin typeface="Source Sans 3"/>
              </a:rPr>
              <a:t>few-open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548640" y="4498848"/>
            <a:ext cx="6044184" cy="0"/>
          </a:xfrm>
          <a:prstGeom prst="line">
            <a:avLst/>
          </a:prstGeom>
          <a:ln w="9525">
            <a:solidFill>
              <a:srgbClr val="D5D9DF"/>
            </a:solidFill>
          </a:ln>
        </p:spPr>
      </p:cxnSp>
      <p:sp>
        <p:nvSpPr>
          <p:cNvPr id="34" name="TextBox 33"/>
          <p:cNvSpPr txBox="1"/>
          <p:nvPr/>
        </p:nvSpPr>
        <p:spPr>
          <a:xfrm>
            <a:off x="548640" y="4498848"/>
            <a:ext cx="1600200" cy="868680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l">
              <a:lnSpc>
                <a:spcPct val="95000"/>
              </a:lnSpc>
              <a:spcAft>
                <a:spcPts val="0"/>
              </a:spcAft>
            </a:pPr>
            <a:r>
              <a:rPr sz="1700" b="1" i="0">
                <a:solidFill>
                  <a:srgbClr val="1C2128"/>
                </a:solidFill>
                <a:latin typeface="Source Sans 3"/>
              </a:rPr>
              <a:t>scientific</a:t>
            </a:r>
          </a:p>
          <a:p>
            <a:pPr algn="l">
              <a:lnSpc>
                <a:spcPct val="95000"/>
              </a:lnSpc>
              <a:spcAft>
                <a:spcPts val="0"/>
              </a:spcAft>
            </a:pPr>
            <a:r>
              <a:rPr sz="1400" b="0" i="0">
                <a:solidFill>
                  <a:srgbClr val="5A6270"/>
                </a:solidFill>
                <a:latin typeface="Source Sans 3"/>
              </a:rPr>
              <a:t>hypothesis → probe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2148840" y="4498848"/>
            <a:ext cx="1481328" cy="868680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600" b="0" i="0">
                <a:solidFill>
                  <a:srgbClr val="8A919C"/>
                </a:solidFill>
                <a:latin typeface="Source Sans 3"/>
              </a:rPr>
              <a:t>—</a:t>
            </a:r>
          </a:p>
        </p:txBody>
      </p:sp>
      <p:sp>
        <p:nvSpPr>
          <p:cNvPr id="36" name="Rectangle 35"/>
          <p:cNvSpPr/>
          <p:nvPr/>
        </p:nvSpPr>
        <p:spPr>
          <a:xfrm>
            <a:off x="3694176" y="4572000"/>
            <a:ext cx="1353312" cy="722375"/>
          </a:xfrm>
          <a:prstGeom prst="rect">
            <a:avLst/>
          </a:prstGeom>
          <a:solidFill>
            <a:srgbClr val="E6EAF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3694176" y="4572000"/>
            <a:ext cx="1353312" cy="722375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ctr">
              <a:lnSpc>
                <a:spcPct val="95000"/>
              </a:lnSpc>
              <a:spcAft>
                <a:spcPts val="0"/>
              </a:spcAft>
            </a:pPr>
            <a:r>
              <a:rPr sz="1500" b="1" i="0">
                <a:solidFill>
                  <a:srgbClr val="12284C"/>
                </a:solidFill>
                <a:latin typeface="Source Sans 3"/>
              </a:rPr>
              <a:t>scientific-closed</a:t>
            </a:r>
          </a:p>
        </p:txBody>
      </p:sp>
      <p:sp>
        <p:nvSpPr>
          <p:cNvPr id="38" name="Rectangle 37"/>
          <p:cNvSpPr/>
          <p:nvPr/>
        </p:nvSpPr>
        <p:spPr>
          <a:xfrm>
            <a:off x="5175504" y="4572000"/>
            <a:ext cx="1353312" cy="722375"/>
          </a:xfrm>
          <a:prstGeom prst="rect">
            <a:avLst/>
          </a:prstGeom>
          <a:solidFill>
            <a:srgbClr val="12284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5175504" y="4572000"/>
            <a:ext cx="1353312" cy="722375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ctr">
              <a:lnSpc>
                <a:spcPct val="95000"/>
              </a:lnSpc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Source Sans 3"/>
              </a:rPr>
              <a:t>scientific-open</a:t>
            </a:r>
          </a:p>
          <a:p>
            <a:pPr algn="ctr">
              <a:lnSpc>
                <a:spcPct val="95000"/>
              </a:lnSpc>
              <a:spcAft>
                <a:spcPts val="0"/>
              </a:spcAft>
            </a:pPr>
            <a:r>
              <a:rPr sz="1300" b="0" i="0">
                <a:solidFill>
                  <a:srgbClr val="FFFFFF"/>
                </a:solidFill>
                <a:latin typeface="Source Sans 3"/>
              </a:rPr>
              <a:t>default</a:t>
            </a:r>
          </a:p>
        </p:txBody>
      </p:sp>
      <p:cxnSp>
        <p:nvCxnSpPr>
          <p:cNvPr id="40" name="Connector 39"/>
          <p:cNvCxnSpPr/>
          <p:nvPr/>
        </p:nvCxnSpPr>
        <p:spPr>
          <a:xfrm>
            <a:off x="548640" y="5367528"/>
            <a:ext cx="6044184" cy="0"/>
          </a:xfrm>
          <a:prstGeom prst="line">
            <a:avLst/>
          </a:prstGeom>
          <a:ln w="9525">
            <a:solidFill>
              <a:srgbClr val="D5D9DF"/>
            </a:solidFill>
          </a:ln>
        </p:spPr>
      </p:cxnSp>
      <p:sp>
        <p:nvSpPr>
          <p:cNvPr id="41" name="TextBox 40"/>
          <p:cNvSpPr txBox="1"/>
          <p:nvPr/>
        </p:nvSpPr>
        <p:spPr>
          <a:xfrm>
            <a:off x="548640" y="5440680"/>
            <a:ext cx="6583680" cy="457200"/>
          </a:xfrm>
          <a:prstGeom prst="rect">
            <a:avLst/>
          </a:prstGeom>
          <a:noFill/>
        </p:spPr>
        <p:txBody>
          <a:bodyPr wrap="square" lIns="27432" rIns="27432" tIns="27432" bIns="27432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500" b="0" i="1">
                <a:solidFill>
                  <a:srgbClr val="5A6270"/>
                </a:solidFill>
                <a:latin typeface="Source Sans 3"/>
              </a:rPr>
              <a:t>Five of nine combinations are valid: zero-shot uses no taxonomy, so it pairs only with free.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315200" y="1783080"/>
            <a:ext cx="4325112" cy="329184"/>
          </a:xfrm>
          <a:prstGeom prst="rect">
            <a:avLst/>
          </a:prstGeom>
          <a:noFill/>
        </p:spPr>
        <p:txBody>
          <a:bodyPr wrap="square" lIns="27432" rIns="27432" tIns="27432" bIns="27432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00" b="1" i="0">
                <a:solidFill>
                  <a:srgbClr val="5A6270"/>
                </a:solidFill>
                <a:latin typeface="Source Sans 3"/>
              </a:rPr>
              <a:t>THIRD AXIS: THE LLM</a:t>
            </a:r>
          </a:p>
        </p:txBody>
      </p:sp>
      <p:sp>
        <p:nvSpPr>
          <p:cNvPr id="43" name="Rectangle 42"/>
          <p:cNvSpPr/>
          <p:nvPr/>
        </p:nvSpPr>
        <p:spPr>
          <a:xfrm>
            <a:off x="7315200" y="2167128"/>
            <a:ext cx="4325112" cy="1170432"/>
          </a:xfrm>
          <a:prstGeom prst="rect">
            <a:avLst/>
          </a:prstGeom>
          <a:solidFill>
            <a:srgbClr val="F4F5F7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7315200" y="2167128"/>
            <a:ext cx="64008" cy="1170432"/>
          </a:xfrm>
          <a:prstGeom prst="rect">
            <a:avLst/>
          </a:prstGeom>
          <a:solidFill>
            <a:srgbClr val="12284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7543800" y="2240280"/>
            <a:ext cx="4005072" cy="384048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800" b="1" i="0">
                <a:solidFill>
                  <a:srgbClr val="12284C"/>
                </a:solidFill>
                <a:latin typeface="Source Sans 3"/>
              </a:rPr>
              <a:t>Gemini 3.1 Flash-Lite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7543800" y="2606040"/>
            <a:ext cx="4005072" cy="329184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500" b="0" i="0">
                <a:solidFill>
                  <a:srgbClr val="1C2128"/>
                </a:solidFill>
                <a:latin typeface="Source Sans 3"/>
              </a:rPr>
              <a:t>Google  ·  main model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7543800" y="2935224"/>
            <a:ext cx="4005072" cy="329184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00" b="0" i="0">
                <a:solidFill>
                  <a:srgbClr val="5A6270"/>
                </a:solidFill>
                <a:latin typeface="Source Sans 3"/>
              </a:rPr>
              <a:t>structured output enforced by the API</a:t>
            </a:r>
          </a:p>
        </p:txBody>
      </p:sp>
      <p:sp>
        <p:nvSpPr>
          <p:cNvPr id="48" name="Rectangle 47"/>
          <p:cNvSpPr/>
          <p:nvPr/>
        </p:nvSpPr>
        <p:spPr>
          <a:xfrm>
            <a:off x="7315200" y="3493008"/>
            <a:ext cx="4325112" cy="1170432"/>
          </a:xfrm>
          <a:prstGeom prst="rect">
            <a:avLst/>
          </a:prstGeom>
          <a:solidFill>
            <a:srgbClr val="F4F5F7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7315200" y="3493008"/>
            <a:ext cx="64008" cy="1170432"/>
          </a:xfrm>
          <a:prstGeom prst="rect">
            <a:avLst/>
          </a:prstGeom>
          <a:solidFill>
            <a:srgbClr val="12284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7543800" y="3566160"/>
            <a:ext cx="4005072" cy="384048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800" b="1" i="0">
                <a:solidFill>
                  <a:srgbClr val="12284C"/>
                </a:solidFill>
                <a:latin typeface="Source Sans 3"/>
              </a:rPr>
              <a:t>gpt-5-mini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7543800" y="3931920"/>
            <a:ext cx="4005072" cy="329184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500" b="0" i="0">
                <a:solidFill>
                  <a:srgbClr val="1C2128"/>
                </a:solidFill>
                <a:latin typeface="Source Sans 3"/>
              </a:rPr>
              <a:t>OpenAI  ·  second model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7543800" y="4261104"/>
            <a:ext cx="4005072" cy="329184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00" b="0" i="0">
                <a:solidFill>
                  <a:srgbClr val="5A6270"/>
                </a:solidFill>
                <a:latin typeface="Source Sans 3"/>
              </a:rPr>
              <a:t>a reasoning model, used to cross-check</a:t>
            </a:r>
          </a:p>
        </p:txBody>
      </p:sp>
      <p:sp>
        <p:nvSpPr>
          <p:cNvPr id="53" name="Rectangle 52"/>
          <p:cNvSpPr/>
          <p:nvPr/>
        </p:nvSpPr>
        <p:spPr>
          <a:xfrm>
            <a:off x="7315200" y="4846320"/>
            <a:ext cx="4325112" cy="868680"/>
          </a:xfrm>
          <a:prstGeom prst="rect">
            <a:avLst/>
          </a:prstGeom>
          <a:solidFill>
            <a:srgbClr val="E6EAF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7498079" y="4846320"/>
            <a:ext cx="3959352" cy="868680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1600" b="1" i="0">
                <a:solidFill>
                  <a:srgbClr val="12284C"/>
                </a:solidFill>
                <a:latin typeface="Source Sans 3"/>
              </a:rPr>
              <a:t>Only the model changes: </a:t>
            </a:r>
            <a:r>
              <a:rPr sz="1600" b="0" i="0">
                <a:solidFill>
                  <a:srgbClr val="1C2128"/>
                </a:solidFill>
                <a:latin typeface="Source Sans 3"/>
              </a:rPr>
              <a:t>same case files, prompts, taxonomy and validation.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74320"/>
            <a:ext cx="10332720" cy="731520"/>
          </a:xfrm>
          <a:prstGeom prst="rect">
            <a:avLst/>
          </a:prstGeom>
          <a:noFill/>
        </p:spPr>
        <p:txBody>
          <a:bodyPr wrap="square" lIns="27432" rIns="27432" tIns="27432" bIns="27432" anchor="b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000" b="1" i="0">
                <a:solidFill>
                  <a:srgbClr val="12284C"/>
                </a:solidFill>
                <a:latin typeface="Source Sans 3"/>
              </a:rPr>
              <a:t>Prompt Design: What Each Strategy Sends</a:t>
            </a:r>
          </a:p>
        </p:txBody>
      </p:sp>
      <p:pic>
        <p:nvPicPr>
          <p:cNvPr id="4" name="Picture 3" descr="iut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228832" y="292608"/>
            <a:ext cx="433472" cy="713232"/>
          </a:xfrm>
          <a:prstGeom prst="rect">
            <a:avLst/>
          </a:prstGeom>
        </p:spPr>
      </p:pic>
      <p:cxnSp>
        <p:nvCxnSpPr>
          <p:cNvPr id="5" name="Connector 4"/>
          <p:cNvCxnSpPr/>
          <p:nvPr/>
        </p:nvCxnSpPr>
        <p:spPr>
          <a:xfrm>
            <a:off x="548640" y="1078992"/>
            <a:ext cx="11091672" cy="0"/>
          </a:xfrm>
          <a:prstGeom prst="line">
            <a:avLst/>
          </a:prstGeom>
          <a:ln w="9525">
            <a:solidFill>
              <a:srgbClr val="D5D9DF"/>
            </a:solidFill>
          </a:ln>
        </p:spPr>
      </p:cxnSp>
      <p:sp>
        <p:nvSpPr>
          <p:cNvPr id="6" name="Rectangle 5"/>
          <p:cNvSpPr/>
          <p:nvPr/>
        </p:nvSpPr>
        <p:spPr>
          <a:xfrm>
            <a:off x="548640" y="1060704"/>
            <a:ext cx="914400" cy="41148"/>
          </a:xfrm>
          <a:prstGeom prst="rect">
            <a:avLst/>
          </a:prstGeom>
          <a:solidFill>
            <a:srgbClr val="12284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>
            <a:off x="548640" y="6400800"/>
            <a:ext cx="11091672" cy="0"/>
          </a:xfrm>
          <a:prstGeom prst="line">
            <a:avLst/>
          </a:prstGeom>
          <a:ln w="9525">
            <a:solidFill>
              <a:srgbClr val="D5D9DF"/>
            </a:solidFill>
          </a:ln>
        </p:spPr>
      </p:cxnSp>
      <p:sp>
        <p:nvSpPr>
          <p:cNvPr id="8" name="TextBox 7"/>
          <p:cNvSpPr txBox="1"/>
          <p:nvPr/>
        </p:nvSpPr>
        <p:spPr>
          <a:xfrm>
            <a:off x="548640" y="6437376"/>
            <a:ext cx="3931920" cy="365760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00" b="0" i="0">
                <a:solidFill>
                  <a:srgbClr val="8A919C"/>
                </a:solidFill>
                <a:latin typeface="Source Sans 3"/>
              </a:rPr>
              <a:t>ODC on Defects4J  ·  Thesis Defence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0" y="6437376"/>
            <a:ext cx="854964" cy="365760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400" b="0" i="0">
                <a:solidFill>
                  <a:srgbClr val="8A919C"/>
                </a:solidFill>
                <a:latin typeface="Source Sans 3"/>
              </a:rPr>
              <a:t>Context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55564" y="6437376"/>
            <a:ext cx="1239012" cy="365760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400" b="1" i="0">
                <a:solidFill>
                  <a:srgbClr val="12284C"/>
                </a:solidFill>
                <a:latin typeface="Source Sans 3"/>
              </a:rPr>
              <a:t>Methodology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747004" y="6757416"/>
            <a:ext cx="1056132" cy="32004"/>
          </a:xfrm>
          <a:prstGeom prst="rect">
            <a:avLst/>
          </a:prstGeom>
          <a:solidFill>
            <a:srgbClr val="12284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123176" y="6437376"/>
            <a:ext cx="854964" cy="365760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400" b="0" i="0">
                <a:solidFill>
                  <a:srgbClr val="8A919C"/>
                </a:solidFill>
                <a:latin typeface="Source Sans 3"/>
              </a:rPr>
              <a:t>Results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966960" y="6419088"/>
            <a:ext cx="1673352" cy="402336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800" b="1" i="0">
                <a:solidFill>
                  <a:srgbClr val="12284C"/>
                </a:solidFill>
                <a:latin typeface="Source Sans 3"/>
              </a:rPr>
              <a:t>11 / 24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48640" y="1234440"/>
            <a:ext cx="11091672" cy="502920"/>
          </a:xfrm>
          <a:prstGeom prst="rect">
            <a:avLst/>
          </a:prstGeom>
          <a:solidFill>
            <a:srgbClr val="E6EAF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31520" y="1234440"/>
            <a:ext cx="10789920" cy="502920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700" b="1" i="0">
                <a:solidFill>
                  <a:srgbClr val="12284C"/>
                </a:solidFill>
                <a:latin typeface="Source Sans 3"/>
              </a:rPr>
              <a:t>Same in both:  </a:t>
            </a:r>
            <a:r>
              <a:rPr sz="1700" b="0" i="0">
                <a:solidFill>
                  <a:srgbClr val="1C2128"/>
                </a:solidFill>
                <a:latin typeface="Source Sans 3"/>
              </a:rPr>
              <a:t>ODC taxonomy  ·  anti-bias rules  ·  the bug’s evidence summary  ·  JSON answer format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48640" y="1920240"/>
            <a:ext cx="5376672" cy="438912"/>
          </a:xfrm>
          <a:prstGeom prst="rect">
            <a:avLst/>
          </a:prstGeom>
          <a:solidFill>
            <a:srgbClr val="2F5D9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31520" y="1920240"/>
            <a:ext cx="5102352" cy="438912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800" b="1" i="0">
                <a:solidFill>
                  <a:srgbClr val="FFFFFF"/>
                </a:solidFill>
                <a:latin typeface="Source Sans 3"/>
              </a:rPr>
              <a:t>few-shot</a:t>
            </a:r>
            <a:r>
              <a:rPr sz="1500" b="0" i="0">
                <a:solidFill>
                  <a:srgbClr val="FFFFFF"/>
                </a:solidFill>
                <a:latin typeface="Source Sans 3"/>
              </a:rPr>
              <a:t>   ·   one call, one answer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263640" y="1920240"/>
            <a:ext cx="5376672" cy="438912"/>
          </a:xfrm>
          <a:prstGeom prst="rect">
            <a:avLst/>
          </a:prstGeom>
          <a:solidFill>
            <a:srgbClr val="5B4B9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46520" y="1920240"/>
            <a:ext cx="5102352" cy="438912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800" b="1" i="0">
                <a:solidFill>
                  <a:srgbClr val="FFFFFF"/>
                </a:solidFill>
                <a:latin typeface="Source Sans 3"/>
              </a:rPr>
              <a:t>scientific</a:t>
            </a:r>
            <a:r>
              <a:rPr sz="1500" b="0" i="0">
                <a:solidFill>
                  <a:srgbClr val="FFFFFF"/>
                </a:solidFill>
                <a:latin typeface="Source Sans 3"/>
              </a:rPr>
              <a:t>   ·   up to 6 turns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48640" y="2514600"/>
            <a:ext cx="5376672" cy="868680"/>
          </a:xfrm>
          <a:prstGeom prst="rect">
            <a:avLst/>
          </a:prstGeom>
          <a:solidFill>
            <a:srgbClr val="E4ECF7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548640" y="2514600"/>
            <a:ext cx="64008" cy="868680"/>
          </a:xfrm>
          <a:prstGeom prst="rect">
            <a:avLst/>
          </a:prstGeom>
          <a:solidFill>
            <a:srgbClr val="2F5D9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77240" y="2551176"/>
            <a:ext cx="1280160" cy="310896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00" b="1" i="0">
                <a:solidFill>
                  <a:srgbClr val="2F5D9B"/>
                </a:solidFill>
                <a:latin typeface="Source Sans 3"/>
              </a:rPr>
              <a:t>① Instructions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77240" y="2843784"/>
            <a:ext cx="5010912" cy="502919"/>
          </a:xfrm>
          <a:prstGeom prst="rect">
            <a:avLst/>
          </a:prstGeom>
          <a:noFill/>
        </p:spPr>
        <p:txBody>
          <a:bodyPr wrap="square" lIns="27432" rIns="27432" tIns="27432" bIns="27432" anchor="t">
            <a:no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1600" b="0" i="0">
                <a:solidFill>
                  <a:srgbClr val="1C2128"/>
                </a:solidFill>
                <a:latin typeface="Source Sans 3"/>
              </a:rPr>
              <a:t>ODC definitions, a 7-question decision tree, 5 worked examples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48640" y="3520440"/>
            <a:ext cx="5376672" cy="731520"/>
          </a:xfrm>
          <a:prstGeom prst="rect">
            <a:avLst/>
          </a:prstGeom>
          <a:solidFill>
            <a:srgbClr val="F4F5F7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548640" y="3520440"/>
            <a:ext cx="64008" cy="731520"/>
          </a:xfrm>
          <a:prstGeom prst="rect">
            <a:avLst/>
          </a:prstGeom>
          <a:solidFill>
            <a:srgbClr val="5A62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77240" y="3557016"/>
            <a:ext cx="1280160" cy="310896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00" b="1" i="0">
                <a:solidFill>
                  <a:srgbClr val="5A6270"/>
                </a:solidFill>
                <a:latin typeface="Source Sans 3"/>
              </a:rPr>
              <a:t>② The bug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77240" y="3849624"/>
            <a:ext cx="5010912" cy="365760"/>
          </a:xfrm>
          <a:prstGeom prst="rect">
            <a:avLst/>
          </a:prstGeom>
          <a:noFill/>
        </p:spPr>
        <p:txBody>
          <a:bodyPr wrap="square" lIns="27432" rIns="27432" tIns="27432" bIns="27432" anchor="t">
            <a:no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1600" b="0" i="0">
                <a:solidFill>
                  <a:srgbClr val="1C2128"/>
                </a:solidFill>
                <a:latin typeface="Source Sans 3"/>
              </a:rPr>
              <a:t>the evidence summary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3236976" y="4297680"/>
            <a:ext cx="0" cy="1143000"/>
          </a:xfrm>
          <a:prstGeom prst="line">
            <a:avLst/>
          </a:prstGeom>
          <a:ln w="19050">
            <a:solidFill>
              <a:srgbClr val="8A919C"/>
            </a:solidFill>
            <a:tailEnd type="triangle" w="med" len="med"/>
          </a:ln>
        </p:spPr>
      </p:cxnSp>
      <p:sp>
        <p:nvSpPr>
          <p:cNvPr id="29" name="TextBox 28"/>
          <p:cNvSpPr txBox="1"/>
          <p:nvPr/>
        </p:nvSpPr>
        <p:spPr>
          <a:xfrm>
            <a:off x="3374136" y="4526280"/>
            <a:ext cx="2377440" cy="731520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600" b="0" i="1">
                <a:solidFill>
                  <a:srgbClr val="5A6270"/>
                </a:solidFill>
                <a:latin typeface="Source Sans 3"/>
              </a:rPr>
              <a:t>one call,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600" b="0" i="1">
                <a:solidFill>
                  <a:srgbClr val="5A6270"/>
                </a:solidFill>
                <a:latin typeface="Source Sans 3"/>
              </a:rPr>
              <a:t>no extra evidence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48640" y="5486400"/>
            <a:ext cx="5376672" cy="731520"/>
          </a:xfrm>
          <a:prstGeom prst="rect">
            <a:avLst/>
          </a:prstGeom>
          <a:solidFill>
            <a:srgbClr val="E3F1E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548640" y="5486400"/>
            <a:ext cx="64008" cy="731520"/>
          </a:xfrm>
          <a:prstGeom prst="rect">
            <a:avLst/>
          </a:prstGeom>
          <a:solidFill>
            <a:srgbClr val="2F7D4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77240" y="5522976"/>
            <a:ext cx="1280160" cy="310896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00" b="1" i="0">
                <a:solidFill>
                  <a:srgbClr val="2F7D4F"/>
                </a:solidFill>
                <a:latin typeface="Source Sans 3"/>
              </a:rPr>
              <a:t>③ Answer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77240" y="5815584"/>
            <a:ext cx="5010912" cy="365760"/>
          </a:xfrm>
          <a:prstGeom prst="rect">
            <a:avLst/>
          </a:prstGeom>
          <a:noFill/>
        </p:spPr>
        <p:txBody>
          <a:bodyPr wrap="square" lIns="27432" rIns="27432" tIns="27432" bIns="27432" anchor="t">
            <a:no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1600" b="0" i="0">
                <a:solidFill>
                  <a:srgbClr val="1C2128"/>
                </a:solidFill>
                <a:latin typeface="Source Sans 3"/>
              </a:rPr>
              <a:t>one JSON: type, alternatives, reasoning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263640" y="2514600"/>
            <a:ext cx="5376672" cy="868680"/>
          </a:xfrm>
          <a:prstGeom prst="rect">
            <a:avLst/>
          </a:prstGeom>
          <a:solidFill>
            <a:srgbClr val="ECE8F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6263640" y="2514600"/>
            <a:ext cx="64008" cy="868680"/>
          </a:xfrm>
          <a:prstGeom prst="rect">
            <a:avLst/>
          </a:prstGeom>
          <a:solidFill>
            <a:srgbClr val="5B4B9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492240" y="2551176"/>
            <a:ext cx="1280160" cy="310896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00" b="1" i="0">
                <a:solidFill>
                  <a:srgbClr val="5B4B9A"/>
                </a:solidFill>
                <a:latin typeface="Source Sans 3"/>
              </a:rPr>
              <a:t>① Instructions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492240" y="2843784"/>
            <a:ext cx="5010912" cy="502919"/>
          </a:xfrm>
          <a:prstGeom prst="rect">
            <a:avLst/>
          </a:prstGeom>
          <a:noFill/>
        </p:spPr>
        <p:txBody>
          <a:bodyPr wrap="square" lIns="27432" rIns="27432" tIns="27432" bIns="27432" anchor="t">
            <a:no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1600" b="0" i="0">
                <a:solidFill>
                  <a:srgbClr val="1C2128"/>
                </a:solidFill>
                <a:latin typeface="Source Sans 3"/>
              </a:rPr>
              <a:t>ODC definitions, the list of 5 probes, turn rules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263640" y="3520440"/>
            <a:ext cx="5376672" cy="731520"/>
          </a:xfrm>
          <a:prstGeom prst="rect">
            <a:avLst/>
          </a:prstGeom>
          <a:solidFill>
            <a:srgbClr val="F4F5F7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6263640" y="3520440"/>
            <a:ext cx="64008" cy="731520"/>
          </a:xfrm>
          <a:prstGeom prst="rect">
            <a:avLst/>
          </a:prstGeom>
          <a:solidFill>
            <a:srgbClr val="5A62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492240" y="3557016"/>
            <a:ext cx="1280160" cy="310896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00" b="1" i="0">
                <a:solidFill>
                  <a:srgbClr val="5A6270"/>
                </a:solidFill>
                <a:latin typeface="Source Sans 3"/>
              </a:rPr>
              <a:t>② The bug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492240" y="3849624"/>
            <a:ext cx="5010912" cy="365760"/>
          </a:xfrm>
          <a:prstGeom prst="rect">
            <a:avLst/>
          </a:prstGeom>
          <a:noFill/>
        </p:spPr>
        <p:txBody>
          <a:bodyPr wrap="square" lIns="27432" rIns="27432" tIns="27432" bIns="27432" anchor="t">
            <a:no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1600" b="0" i="0">
                <a:solidFill>
                  <a:srgbClr val="1C2128"/>
                </a:solidFill>
                <a:latin typeface="Source Sans 3"/>
              </a:rPr>
              <a:t>the same summary; the rest is held back</a:t>
            </a:r>
          </a:p>
        </p:txBody>
      </p:sp>
      <p:sp>
        <p:nvSpPr>
          <p:cNvPr id="42" name="Rectangle 41"/>
          <p:cNvSpPr/>
          <p:nvPr/>
        </p:nvSpPr>
        <p:spPr>
          <a:xfrm>
            <a:off x="6263640" y="4389120"/>
            <a:ext cx="5376672" cy="960120"/>
          </a:xfrm>
          <a:prstGeom prst="rect">
            <a:avLst/>
          </a:prstGeom>
          <a:solidFill>
            <a:srgbClr val="FFFFFF"/>
          </a:solidFill>
          <a:ln w="12700">
            <a:solidFill>
              <a:srgbClr val="5B4B9A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446520" y="4407408"/>
            <a:ext cx="1828800" cy="274320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1" i="0">
                <a:solidFill>
                  <a:srgbClr val="5B4B9A"/>
                </a:solidFill>
                <a:latin typeface="Source Sans 3"/>
              </a:rPr>
              <a:t>EACH TURN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446520" y="4681728"/>
            <a:ext cx="5010912" cy="310896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500" b="1" i="0">
                <a:solidFill>
                  <a:srgbClr val="5B4B9A"/>
                </a:solidFill>
                <a:latin typeface="Source Sans 3"/>
              </a:rPr>
              <a:t>model  </a:t>
            </a:r>
            <a:r>
              <a:rPr sz="1500" b="0" i="0">
                <a:solidFill>
                  <a:srgbClr val="1C2128"/>
                </a:solidFill>
                <a:latin typeface="Source Sans 3"/>
              </a:rPr>
              <a:t>hypothesis → prediction → probe request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446520" y="4992624"/>
            <a:ext cx="5010912" cy="310896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500" b="1" i="0">
                <a:solidFill>
                  <a:srgbClr val="B7791F"/>
                </a:solidFill>
                <a:latin typeface="Source Sans 3"/>
              </a:rPr>
              <a:t>pipeline  </a:t>
            </a:r>
            <a:r>
              <a:rPr sz="1500" b="0" i="0">
                <a:solidFill>
                  <a:srgbClr val="1C2128"/>
                </a:solidFill>
                <a:latin typeface="Source Sans 3"/>
              </a:rPr>
              <a:t>returns what the probe found</a:t>
            </a:r>
          </a:p>
        </p:txBody>
      </p:sp>
      <p:sp>
        <p:nvSpPr>
          <p:cNvPr id="46" name="Rectangle 45"/>
          <p:cNvSpPr/>
          <p:nvPr/>
        </p:nvSpPr>
        <p:spPr>
          <a:xfrm>
            <a:off x="6263640" y="5486400"/>
            <a:ext cx="5376672" cy="731520"/>
          </a:xfrm>
          <a:prstGeom prst="rect">
            <a:avLst/>
          </a:prstGeom>
          <a:solidFill>
            <a:srgbClr val="E3F1E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6263640" y="5486400"/>
            <a:ext cx="64008" cy="731520"/>
          </a:xfrm>
          <a:prstGeom prst="rect">
            <a:avLst/>
          </a:prstGeom>
          <a:solidFill>
            <a:srgbClr val="2F7D4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6492240" y="5522976"/>
            <a:ext cx="1280160" cy="310896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00" b="1" i="0">
                <a:solidFill>
                  <a:srgbClr val="2F7D4F"/>
                </a:solidFill>
                <a:latin typeface="Source Sans 3"/>
              </a:rPr>
              <a:t>③ Answer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492240" y="5815584"/>
            <a:ext cx="5010912" cy="365760"/>
          </a:xfrm>
          <a:prstGeom prst="rect">
            <a:avLst/>
          </a:prstGeom>
          <a:noFill/>
        </p:spPr>
        <p:txBody>
          <a:bodyPr wrap="square" lIns="27432" rIns="27432" tIns="27432" bIns="27432" anchor="t">
            <a:no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1600" b="0" i="0">
                <a:solidFill>
                  <a:srgbClr val="1C2128"/>
                </a:solidFill>
                <a:latin typeface="Source Sans 3"/>
              </a:rPr>
              <a:t>the same JSON + the full turn transcript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74320"/>
            <a:ext cx="10332720" cy="731520"/>
          </a:xfrm>
          <a:prstGeom prst="rect">
            <a:avLst/>
          </a:prstGeom>
          <a:noFill/>
        </p:spPr>
        <p:txBody>
          <a:bodyPr wrap="square" lIns="27432" rIns="27432" tIns="27432" bIns="27432" anchor="b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000" b="1" i="0">
                <a:solidFill>
                  <a:srgbClr val="12284C"/>
                </a:solidFill>
                <a:latin typeface="Source Sans 3"/>
              </a:rPr>
              <a:t>How the Scientific Strategy Reasons</a:t>
            </a:r>
          </a:p>
        </p:txBody>
      </p:sp>
      <p:pic>
        <p:nvPicPr>
          <p:cNvPr id="4" name="Picture 3" descr="iut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228832" y="292608"/>
            <a:ext cx="433472" cy="713232"/>
          </a:xfrm>
          <a:prstGeom prst="rect">
            <a:avLst/>
          </a:prstGeom>
        </p:spPr>
      </p:pic>
      <p:cxnSp>
        <p:nvCxnSpPr>
          <p:cNvPr id="5" name="Connector 4"/>
          <p:cNvCxnSpPr/>
          <p:nvPr/>
        </p:nvCxnSpPr>
        <p:spPr>
          <a:xfrm>
            <a:off x="548640" y="1078992"/>
            <a:ext cx="11091672" cy="0"/>
          </a:xfrm>
          <a:prstGeom prst="line">
            <a:avLst/>
          </a:prstGeom>
          <a:ln w="9525">
            <a:solidFill>
              <a:srgbClr val="D5D9DF"/>
            </a:solidFill>
          </a:ln>
        </p:spPr>
      </p:cxnSp>
      <p:sp>
        <p:nvSpPr>
          <p:cNvPr id="6" name="Rectangle 5"/>
          <p:cNvSpPr/>
          <p:nvPr/>
        </p:nvSpPr>
        <p:spPr>
          <a:xfrm>
            <a:off x="548640" y="1060704"/>
            <a:ext cx="914400" cy="41148"/>
          </a:xfrm>
          <a:prstGeom prst="rect">
            <a:avLst/>
          </a:prstGeom>
          <a:solidFill>
            <a:srgbClr val="12284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>
            <a:off x="548640" y="6400800"/>
            <a:ext cx="11091672" cy="0"/>
          </a:xfrm>
          <a:prstGeom prst="line">
            <a:avLst/>
          </a:prstGeom>
          <a:ln w="9525">
            <a:solidFill>
              <a:srgbClr val="D5D9DF"/>
            </a:solidFill>
          </a:ln>
        </p:spPr>
      </p:cxnSp>
      <p:sp>
        <p:nvSpPr>
          <p:cNvPr id="8" name="TextBox 7"/>
          <p:cNvSpPr txBox="1"/>
          <p:nvPr/>
        </p:nvSpPr>
        <p:spPr>
          <a:xfrm>
            <a:off x="548640" y="6437376"/>
            <a:ext cx="3931920" cy="365760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00" b="0" i="0">
                <a:solidFill>
                  <a:srgbClr val="8A919C"/>
                </a:solidFill>
                <a:latin typeface="Source Sans 3"/>
              </a:rPr>
              <a:t>ODC on Defects4J  ·  Thesis Defence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0" y="6437376"/>
            <a:ext cx="854964" cy="365760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400" b="0" i="0">
                <a:solidFill>
                  <a:srgbClr val="8A919C"/>
                </a:solidFill>
                <a:latin typeface="Source Sans 3"/>
              </a:rPr>
              <a:t>Context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55564" y="6437376"/>
            <a:ext cx="1239012" cy="365760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400" b="1" i="0">
                <a:solidFill>
                  <a:srgbClr val="12284C"/>
                </a:solidFill>
                <a:latin typeface="Source Sans 3"/>
              </a:rPr>
              <a:t>Methodology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747004" y="6757416"/>
            <a:ext cx="1056132" cy="32004"/>
          </a:xfrm>
          <a:prstGeom prst="rect">
            <a:avLst/>
          </a:prstGeom>
          <a:solidFill>
            <a:srgbClr val="12284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123176" y="6437376"/>
            <a:ext cx="854964" cy="365760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400" b="0" i="0">
                <a:solidFill>
                  <a:srgbClr val="8A919C"/>
                </a:solidFill>
                <a:latin typeface="Source Sans 3"/>
              </a:rPr>
              <a:t>Results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966960" y="6419088"/>
            <a:ext cx="1673352" cy="402336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800" b="1" i="0">
                <a:solidFill>
                  <a:srgbClr val="12284C"/>
                </a:solidFill>
                <a:latin typeface="Source Sans 3"/>
              </a:rPr>
              <a:t>12 / 24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1234440"/>
            <a:ext cx="11091672" cy="329184"/>
          </a:xfrm>
          <a:prstGeom prst="rect">
            <a:avLst/>
          </a:prstGeom>
          <a:noFill/>
        </p:spPr>
        <p:txBody>
          <a:bodyPr wrap="square" lIns="27432" rIns="27432" tIns="27432" bIns="27432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00" b="1" i="0">
                <a:solidFill>
                  <a:srgbClr val="5A6270"/>
                </a:solidFill>
                <a:latin typeface="Source Sans 3"/>
              </a:rPr>
              <a:t>THE SUMMARY IS READ ONCE  ·  EVERY TURN THEN STARTS AT HYPOTHESIS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8640" y="1627632"/>
            <a:ext cx="1691640" cy="960120"/>
          </a:xfrm>
          <a:prstGeom prst="roundRect">
            <a:avLst>
              <a:gd name="adj" fmla="val 7619"/>
            </a:avLst>
          </a:prstGeom>
          <a:solidFill>
            <a:srgbClr val="F4F5F7"/>
          </a:solidFill>
          <a:ln w="15875">
            <a:solidFill>
              <a:srgbClr val="5A627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48640" y="1700784"/>
            <a:ext cx="1691640" cy="384048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800" b="1" i="0">
                <a:solidFill>
                  <a:srgbClr val="5A6270"/>
                </a:solidFill>
                <a:latin typeface="Source Sans 3"/>
              </a:rPr>
              <a:t>Start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1792" y="2066543"/>
            <a:ext cx="1545336" cy="484632"/>
          </a:xfrm>
          <a:prstGeom prst="rect">
            <a:avLst/>
          </a:prstGeom>
          <a:noFill/>
        </p:spPr>
        <p:txBody>
          <a:bodyPr wrap="square" lIns="27432" rIns="27432" tIns="27432" bIns="27432" anchor="t">
            <a:noAutofit/>
          </a:bodyPr>
          <a:lstStyle/>
          <a:p>
            <a:pPr algn="ctr">
              <a:lnSpc>
                <a:spcPct val="98000"/>
              </a:lnSpc>
              <a:spcAft>
                <a:spcPts val="0"/>
              </a:spcAft>
            </a:pPr>
            <a:r>
              <a:rPr sz="1400" b="0" i="0">
                <a:solidFill>
                  <a:srgbClr val="1C2128"/>
                </a:solidFill>
                <a:latin typeface="Source Sans 3"/>
              </a:rPr>
              <a:t>evidence summary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2560320" y="1627632"/>
            <a:ext cx="2011680" cy="960120"/>
          </a:xfrm>
          <a:prstGeom prst="roundRect">
            <a:avLst>
              <a:gd name="adj" fmla="val 7619"/>
            </a:avLst>
          </a:prstGeom>
          <a:solidFill>
            <a:srgbClr val="ECE8F6"/>
          </a:solidFill>
          <a:ln w="15875">
            <a:solidFill>
              <a:srgbClr val="5B4B9A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560320" y="1700784"/>
            <a:ext cx="2011680" cy="384048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800" b="1" i="0">
                <a:solidFill>
                  <a:srgbClr val="5B4B9A"/>
                </a:solidFill>
                <a:latin typeface="Source Sans 3"/>
              </a:rPr>
              <a:t>Hypothesis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633472" y="2066543"/>
            <a:ext cx="1865376" cy="484632"/>
          </a:xfrm>
          <a:prstGeom prst="rect">
            <a:avLst/>
          </a:prstGeom>
          <a:noFill/>
        </p:spPr>
        <p:txBody>
          <a:bodyPr wrap="square" lIns="27432" rIns="27432" tIns="27432" bIns="27432" anchor="t">
            <a:noAutofit/>
          </a:bodyPr>
          <a:lstStyle/>
          <a:p>
            <a:pPr algn="ctr">
              <a:lnSpc>
                <a:spcPct val="98000"/>
              </a:lnSpc>
              <a:spcAft>
                <a:spcPts val="0"/>
              </a:spcAft>
            </a:pPr>
            <a:r>
              <a:rPr sz="1400" b="0" i="0">
                <a:solidFill>
                  <a:srgbClr val="1C2128"/>
                </a:solidFill>
                <a:latin typeface="Source Sans 3"/>
              </a:rPr>
              <a:t>a specific cause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892040" y="1627632"/>
            <a:ext cx="2011680" cy="960120"/>
          </a:xfrm>
          <a:prstGeom prst="roundRect">
            <a:avLst>
              <a:gd name="adj" fmla="val 7619"/>
            </a:avLst>
          </a:prstGeom>
          <a:solidFill>
            <a:srgbClr val="ECE8F6"/>
          </a:solidFill>
          <a:ln w="15875">
            <a:solidFill>
              <a:srgbClr val="5B4B9A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892040" y="1700784"/>
            <a:ext cx="2011680" cy="384048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800" b="1" i="0">
                <a:solidFill>
                  <a:srgbClr val="5B4B9A"/>
                </a:solidFill>
                <a:latin typeface="Source Sans 3"/>
              </a:rPr>
              <a:t>Prediction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965192" y="2066543"/>
            <a:ext cx="1865376" cy="484632"/>
          </a:xfrm>
          <a:prstGeom prst="rect">
            <a:avLst/>
          </a:prstGeom>
          <a:noFill/>
        </p:spPr>
        <p:txBody>
          <a:bodyPr wrap="square" lIns="27432" rIns="27432" tIns="27432" bIns="27432" anchor="t">
            <a:noAutofit/>
          </a:bodyPr>
          <a:lstStyle/>
          <a:p>
            <a:pPr algn="ctr">
              <a:lnSpc>
                <a:spcPct val="98000"/>
              </a:lnSpc>
              <a:spcAft>
                <a:spcPts val="0"/>
              </a:spcAft>
            </a:pPr>
            <a:r>
              <a:rPr sz="1400" b="0" i="0">
                <a:solidFill>
                  <a:srgbClr val="1C2128"/>
                </a:solidFill>
                <a:latin typeface="Source Sans 3"/>
              </a:rPr>
              <a:t>what must be there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7223760" y="1627632"/>
            <a:ext cx="2011680" cy="960120"/>
          </a:xfrm>
          <a:prstGeom prst="roundRect">
            <a:avLst>
              <a:gd name="adj" fmla="val 7619"/>
            </a:avLst>
          </a:prstGeom>
          <a:solidFill>
            <a:srgbClr val="FBF1DF"/>
          </a:solidFill>
          <a:ln w="15875">
            <a:solidFill>
              <a:srgbClr val="B7791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223760" y="1700784"/>
            <a:ext cx="2011680" cy="384048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800" b="1" i="0">
                <a:solidFill>
                  <a:srgbClr val="B7791F"/>
                </a:solidFill>
                <a:latin typeface="Source Sans 3"/>
              </a:rPr>
              <a:t>Enough evidence?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96912" y="2066543"/>
            <a:ext cx="1865376" cy="484632"/>
          </a:xfrm>
          <a:prstGeom prst="rect">
            <a:avLst/>
          </a:prstGeom>
          <a:noFill/>
        </p:spPr>
        <p:txBody>
          <a:bodyPr wrap="square" lIns="27432" rIns="27432" tIns="27432" bIns="27432" anchor="t">
            <a:noAutofit/>
          </a:bodyPr>
          <a:lstStyle/>
          <a:p>
            <a:pPr algn="ctr">
              <a:lnSpc>
                <a:spcPct val="98000"/>
              </a:lnSpc>
              <a:spcAft>
                <a:spcPts val="0"/>
              </a:spcAft>
            </a:pPr>
            <a:r>
              <a:rPr sz="1400" b="0" i="0">
                <a:solidFill>
                  <a:srgbClr val="1C2128"/>
                </a:solidFill>
                <a:latin typeface="Source Sans 3"/>
              </a:rPr>
              <a:t>the model decides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628632" y="1627632"/>
            <a:ext cx="2011680" cy="960120"/>
          </a:xfrm>
          <a:prstGeom prst="roundRect">
            <a:avLst>
              <a:gd name="adj" fmla="val 7619"/>
            </a:avLst>
          </a:prstGeom>
          <a:solidFill>
            <a:srgbClr val="E3F1E8"/>
          </a:solidFill>
          <a:ln w="22225">
            <a:solidFill>
              <a:srgbClr val="2F7D4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628632" y="1700784"/>
            <a:ext cx="2011680" cy="384048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800" b="1" i="0">
                <a:solidFill>
                  <a:srgbClr val="2F7D4F"/>
                </a:solidFill>
                <a:latin typeface="Source Sans 3"/>
              </a:rPr>
              <a:t>Conclude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701784" y="2066543"/>
            <a:ext cx="1865376" cy="484632"/>
          </a:xfrm>
          <a:prstGeom prst="rect">
            <a:avLst/>
          </a:prstGeom>
          <a:noFill/>
        </p:spPr>
        <p:txBody>
          <a:bodyPr wrap="square" lIns="27432" rIns="27432" tIns="27432" bIns="27432" anchor="t">
            <a:noAutofit/>
          </a:bodyPr>
          <a:lstStyle/>
          <a:p>
            <a:pPr algn="ctr">
              <a:lnSpc>
                <a:spcPct val="98000"/>
              </a:lnSpc>
              <a:spcAft>
                <a:spcPts val="0"/>
              </a:spcAft>
            </a:pPr>
            <a:r>
              <a:rPr sz="1400" b="0" i="0">
                <a:solidFill>
                  <a:srgbClr val="1C2128"/>
                </a:solidFill>
                <a:latin typeface="Source Sans 3"/>
              </a:rPr>
              <a:t>ODC label + alternatives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2267712" y="2107692"/>
            <a:ext cx="265176" cy="0"/>
          </a:xfrm>
          <a:prstGeom prst="line">
            <a:avLst/>
          </a:prstGeom>
          <a:ln w="22225">
            <a:solidFill>
              <a:srgbClr val="12284C"/>
            </a:solidFill>
            <a:tailEnd type="triangle" w="med" len="med"/>
          </a:ln>
        </p:spPr>
      </p:cxnSp>
      <p:cxnSp>
        <p:nvCxnSpPr>
          <p:cNvPr id="31" name="Connector 30"/>
          <p:cNvCxnSpPr/>
          <p:nvPr/>
        </p:nvCxnSpPr>
        <p:spPr>
          <a:xfrm>
            <a:off x="4599432" y="2107692"/>
            <a:ext cx="265175" cy="0"/>
          </a:xfrm>
          <a:prstGeom prst="line">
            <a:avLst/>
          </a:prstGeom>
          <a:ln w="22225">
            <a:solidFill>
              <a:srgbClr val="12284C"/>
            </a:solidFill>
            <a:tailEnd type="triangle" w="med" len="med"/>
          </a:ln>
        </p:spPr>
      </p:cxnSp>
      <p:cxnSp>
        <p:nvCxnSpPr>
          <p:cNvPr id="32" name="Connector 31"/>
          <p:cNvCxnSpPr/>
          <p:nvPr/>
        </p:nvCxnSpPr>
        <p:spPr>
          <a:xfrm>
            <a:off x="6931152" y="2107692"/>
            <a:ext cx="265176" cy="0"/>
          </a:xfrm>
          <a:prstGeom prst="line">
            <a:avLst/>
          </a:prstGeom>
          <a:ln w="22225">
            <a:solidFill>
              <a:srgbClr val="12284C"/>
            </a:solidFill>
            <a:tailEnd type="triangle" w="med" len="med"/>
          </a:ln>
        </p:spPr>
      </p:cxnSp>
      <p:cxnSp>
        <p:nvCxnSpPr>
          <p:cNvPr id="33" name="Connector 32"/>
          <p:cNvCxnSpPr/>
          <p:nvPr/>
        </p:nvCxnSpPr>
        <p:spPr>
          <a:xfrm>
            <a:off x="9262872" y="2107692"/>
            <a:ext cx="338328" cy="0"/>
          </a:xfrm>
          <a:prstGeom prst="line">
            <a:avLst/>
          </a:prstGeom>
          <a:ln w="25400">
            <a:solidFill>
              <a:srgbClr val="2F7D4F"/>
            </a:solidFill>
            <a:tailEnd type="triangle" w="med" len="med"/>
          </a:ln>
        </p:spPr>
      </p:cxnSp>
      <p:sp>
        <p:nvSpPr>
          <p:cNvPr id="34" name="TextBox 33"/>
          <p:cNvSpPr txBox="1"/>
          <p:nvPr/>
        </p:nvSpPr>
        <p:spPr>
          <a:xfrm>
            <a:off x="9162288" y="1719072"/>
            <a:ext cx="548640" cy="256032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500" b="1" i="0">
                <a:solidFill>
                  <a:srgbClr val="2F7D4F"/>
                </a:solidFill>
                <a:latin typeface="Source Sans 3"/>
              </a:rPr>
              <a:t>yes</a:t>
            </a:r>
          </a:p>
        </p:txBody>
      </p:sp>
      <p:cxnSp>
        <p:nvCxnSpPr>
          <p:cNvPr id="35" name="Connector 34"/>
          <p:cNvCxnSpPr/>
          <p:nvPr/>
        </p:nvCxnSpPr>
        <p:spPr>
          <a:xfrm>
            <a:off x="8229600" y="2587752"/>
            <a:ext cx="0" cy="356616"/>
          </a:xfrm>
          <a:prstGeom prst="line">
            <a:avLst/>
          </a:prstGeom>
          <a:ln w="22225">
            <a:solidFill>
              <a:srgbClr val="12284C"/>
            </a:solidFill>
            <a:tailEnd type="triangle" w="med" len="med"/>
          </a:ln>
        </p:spPr>
      </p:cxnSp>
      <p:sp>
        <p:nvSpPr>
          <p:cNvPr id="36" name="TextBox 35"/>
          <p:cNvSpPr txBox="1"/>
          <p:nvPr/>
        </p:nvSpPr>
        <p:spPr>
          <a:xfrm>
            <a:off x="8302752" y="2633472"/>
            <a:ext cx="457200" cy="274320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500" b="1" i="0">
                <a:solidFill>
                  <a:srgbClr val="5A6270"/>
                </a:solidFill>
                <a:latin typeface="Source Sans 3"/>
              </a:rPr>
              <a:t>no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7223760" y="2971800"/>
            <a:ext cx="2011680" cy="914400"/>
          </a:xfrm>
          <a:prstGeom prst="roundRect">
            <a:avLst>
              <a:gd name="adj" fmla="val 8000"/>
            </a:avLst>
          </a:prstGeom>
          <a:solidFill>
            <a:srgbClr val="E4ECF7"/>
          </a:solidFill>
          <a:ln w="15875">
            <a:solidFill>
              <a:srgbClr val="2F5D9B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7223760" y="3044952"/>
            <a:ext cx="2011680" cy="384048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800" b="1" i="0">
                <a:solidFill>
                  <a:srgbClr val="2F5D9B"/>
                </a:solidFill>
                <a:latin typeface="Source Sans 3"/>
              </a:rPr>
              <a:t>Probe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296912" y="3410712"/>
            <a:ext cx="1865376" cy="438912"/>
          </a:xfrm>
          <a:prstGeom prst="rect">
            <a:avLst/>
          </a:prstGeom>
          <a:noFill/>
        </p:spPr>
        <p:txBody>
          <a:bodyPr wrap="square" lIns="27432" rIns="27432" tIns="27432" bIns="27432" anchor="t">
            <a:noAutofit/>
          </a:bodyPr>
          <a:lstStyle/>
          <a:p>
            <a:pPr algn="ctr">
              <a:lnSpc>
                <a:spcPct val="98000"/>
              </a:lnSpc>
              <a:spcAft>
                <a:spcPts val="0"/>
              </a:spcAft>
            </a:pPr>
            <a:r>
              <a:rPr sz="1400" b="0" i="0">
                <a:solidFill>
                  <a:srgbClr val="1C2128"/>
                </a:solidFill>
                <a:latin typeface="Source Sans 3"/>
              </a:rPr>
              <a:t>ask for hidden evidence</a:t>
            </a:r>
          </a:p>
        </p:txBody>
      </p:sp>
      <p:cxnSp>
        <p:nvCxnSpPr>
          <p:cNvPr id="40" name="Connector 39"/>
          <p:cNvCxnSpPr/>
          <p:nvPr/>
        </p:nvCxnSpPr>
        <p:spPr>
          <a:xfrm flipH="1">
            <a:off x="6931152" y="3429000"/>
            <a:ext cx="265176" cy="0"/>
          </a:xfrm>
          <a:prstGeom prst="line">
            <a:avLst/>
          </a:prstGeom>
          <a:ln w="22225">
            <a:solidFill>
              <a:srgbClr val="12284C"/>
            </a:solidFill>
            <a:tailEnd type="triangle" w="med" len="med"/>
          </a:ln>
        </p:spPr>
      </p:cxnSp>
      <p:sp>
        <p:nvSpPr>
          <p:cNvPr id="41" name="Rounded Rectangle 40"/>
          <p:cNvSpPr/>
          <p:nvPr/>
        </p:nvSpPr>
        <p:spPr>
          <a:xfrm>
            <a:off x="4892040" y="2971800"/>
            <a:ext cx="2011680" cy="914400"/>
          </a:xfrm>
          <a:prstGeom prst="roundRect">
            <a:avLst>
              <a:gd name="adj" fmla="val 8000"/>
            </a:avLst>
          </a:prstGeom>
          <a:solidFill>
            <a:srgbClr val="E4ECF7"/>
          </a:solidFill>
          <a:ln w="15875">
            <a:solidFill>
              <a:srgbClr val="2F5D9B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4892040" y="3044952"/>
            <a:ext cx="2011680" cy="384048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800" b="1" i="0">
                <a:solidFill>
                  <a:srgbClr val="2F5D9B"/>
                </a:solidFill>
                <a:latin typeface="Source Sans 3"/>
              </a:rPr>
              <a:t>Observation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965192" y="3410712"/>
            <a:ext cx="1865376" cy="438912"/>
          </a:xfrm>
          <a:prstGeom prst="rect">
            <a:avLst/>
          </a:prstGeom>
          <a:noFill/>
        </p:spPr>
        <p:txBody>
          <a:bodyPr wrap="square" lIns="27432" rIns="27432" tIns="27432" bIns="27432" anchor="t">
            <a:noAutofit/>
          </a:bodyPr>
          <a:lstStyle/>
          <a:p>
            <a:pPr algn="ctr">
              <a:lnSpc>
                <a:spcPct val="98000"/>
              </a:lnSpc>
              <a:spcAft>
                <a:spcPts val="0"/>
              </a:spcAft>
            </a:pPr>
            <a:r>
              <a:rPr sz="1400" b="0" i="0">
                <a:solidFill>
                  <a:srgbClr val="1C2128"/>
                </a:solidFill>
                <a:latin typeface="Source Sans 3"/>
              </a:rPr>
              <a:t>read what came back</a:t>
            </a:r>
          </a:p>
        </p:txBody>
      </p:sp>
      <p:cxnSp>
        <p:nvCxnSpPr>
          <p:cNvPr id="44" name="Connector 43"/>
          <p:cNvCxnSpPr/>
          <p:nvPr/>
        </p:nvCxnSpPr>
        <p:spPr>
          <a:xfrm flipH="1">
            <a:off x="3566160" y="3429000"/>
            <a:ext cx="1298448" cy="0"/>
          </a:xfrm>
          <a:prstGeom prst="line">
            <a:avLst/>
          </a:prstGeom>
          <a:ln w="22225">
            <a:solidFill>
              <a:srgbClr val="12284C"/>
            </a:solidFill>
            <a:prstDash val="dash"/>
          </a:ln>
        </p:spPr>
      </p:cxnSp>
      <p:cxnSp>
        <p:nvCxnSpPr>
          <p:cNvPr id="45" name="Connector 44"/>
          <p:cNvCxnSpPr/>
          <p:nvPr/>
        </p:nvCxnSpPr>
        <p:spPr>
          <a:xfrm flipV="1">
            <a:off x="3566160" y="2615184"/>
            <a:ext cx="0" cy="813816"/>
          </a:xfrm>
          <a:prstGeom prst="line">
            <a:avLst/>
          </a:prstGeom>
          <a:ln w="22225">
            <a:solidFill>
              <a:srgbClr val="12284C"/>
            </a:solidFill>
            <a:prstDash val="dash"/>
            <a:tailEnd type="triangle" w="med" len="med"/>
          </a:ln>
        </p:spPr>
      </p:cxnSp>
      <p:sp>
        <p:nvSpPr>
          <p:cNvPr id="46" name="TextBox 45"/>
          <p:cNvSpPr txBox="1"/>
          <p:nvPr/>
        </p:nvSpPr>
        <p:spPr>
          <a:xfrm>
            <a:off x="3639312" y="3081528"/>
            <a:ext cx="1188720" cy="310896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500" b="0" i="1">
                <a:solidFill>
                  <a:srgbClr val="12284C"/>
                </a:solidFill>
                <a:latin typeface="Source Sans 3"/>
              </a:rPr>
              <a:t>next turn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9628632" y="3017520"/>
            <a:ext cx="2011680" cy="868680"/>
          </a:xfrm>
          <a:prstGeom prst="rect">
            <a:avLst/>
          </a:prstGeom>
          <a:noFill/>
        </p:spPr>
        <p:txBody>
          <a:bodyPr wrap="square" lIns="27432" rIns="27432" tIns="27432" bIns="27432" anchor="t">
            <a:noAutofit/>
          </a:bodyPr>
          <a:lstStyle/>
          <a:p>
            <a:pPr algn="ctr">
              <a:lnSpc>
                <a:spcPct val="98000"/>
              </a:lnSpc>
              <a:spcAft>
                <a:spcPts val="0"/>
              </a:spcAft>
            </a:pPr>
            <a:r>
              <a:rPr sz="1400" b="0" i="1">
                <a:solidFill>
                  <a:srgbClr val="5A6270"/>
                </a:solidFill>
                <a:latin typeface="Source Sans 3"/>
              </a:rPr>
              <a:t>at most 6 turns;</a:t>
            </a:r>
          </a:p>
          <a:p>
            <a:pPr algn="ctr">
              <a:lnSpc>
                <a:spcPct val="98000"/>
              </a:lnSpc>
              <a:spcAft>
                <a:spcPts val="0"/>
              </a:spcAft>
            </a:pPr>
            <a:r>
              <a:rPr sz="1400" b="0" i="1">
                <a:solidFill>
                  <a:srgbClr val="5A6270"/>
                </a:solidFill>
                <a:latin typeface="Source Sans 3"/>
              </a:rPr>
              <a:t>on the last one it</a:t>
            </a:r>
          </a:p>
          <a:p>
            <a:pPr algn="ctr">
              <a:lnSpc>
                <a:spcPct val="98000"/>
              </a:lnSpc>
              <a:spcAft>
                <a:spcPts val="0"/>
              </a:spcAft>
            </a:pPr>
            <a:r>
              <a:rPr sz="1400" b="0" i="1">
                <a:solidFill>
                  <a:srgbClr val="5A6270"/>
                </a:solidFill>
                <a:latin typeface="Source Sans 3"/>
              </a:rPr>
              <a:t>must conclude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548640" y="3063240"/>
            <a:ext cx="2834640" cy="822960"/>
          </a:xfrm>
          <a:prstGeom prst="rect">
            <a:avLst/>
          </a:prstGeom>
          <a:noFill/>
        </p:spPr>
        <p:txBody>
          <a:bodyPr wrap="square" lIns="27432" rIns="27432" tIns="27432" bIns="27432" anchor="t">
            <a:no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1500" b="1" i="0">
                <a:solidFill>
                  <a:srgbClr val="12284C"/>
                </a:solidFill>
                <a:latin typeface="Source Sans 3"/>
              </a:rPr>
              <a:t>Adapted from AutoSD [17, 18]</a:t>
            </a:r>
          </a:p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1500" b="0" i="0">
                <a:solidFill>
                  <a:srgbClr val="5A6270"/>
                </a:solidFill>
                <a:latin typeface="Source Sans 3"/>
              </a:rPr>
              <a:t>from locating a fault to naming its type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548640" y="4160520"/>
            <a:ext cx="11091672" cy="329184"/>
          </a:xfrm>
          <a:prstGeom prst="rect">
            <a:avLst/>
          </a:prstGeom>
          <a:noFill/>
        </p:spPr>
        <p:txBody>
          <a:bodyPr wrap="square" lIns="27432" rIns="27432" tIns="27432" bIns="27432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00" b="1" i="0">
                <a:solidFill>
                  <a:srgbClr val="5A6270"/>
                </a:solidFill>
                <a:latin typeface="Source Sans 3"/>
              </a:rPr>
              <a:t>FIVE PROBES: THE ONLY WAY TO SEE EVIDENCE HELD BACK FROM THE PROMPT</a:t>
            </a:r>
          </a:p>
        </p:txBody>
      </p:sp>
      <p:sp>
        <p:nvSpPr>
          <p:cNvPr id="50" name="Rectangle 49"/>
          <p:cNvSpPr/>
          <p:nvPr/>
        </p:nvSpPr>
        <p:spPr>
          <a:xfrm>
            <a:off x="548640" y="4507992"/>
            <a:ext cx="2108606" cy="960120"/>
          </a:xfrm>
          <a:prstGeom prst="rect">
            <a:avLst/>
          </a:prstGeom>
          <a:solidFill>
            <a:srgbClr val="E4ECF7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548640" y="4507992"/>
            <a:ext cx="2108606" cy="54864"/>
          </a:xfrm>
          <a:prstGeom prst="rect">
            <a:avLst/>
          </a:prstGeom>
          <a:solidFill>
            <a:srgbClr val="2F5D9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658368" y="4590288"/>
            <a:ext cx="1925726" cy="530352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l">
              <a:lnSpc>
                <a:spcPct val="95000"/>
              </a:lnSpc>
              <a:spcAft>
                <a:spcPts val="0"/>
              </a:spcAft>
            </a:pPr>
            <a:r>
              <a:rPr sz="1400" b="1" i="0">
                <a:solidFill>
                  <a:srgbClr val="2F5D9B"/>
                </a:solidFill>
                <a:latin typeface="Source Code Pro"/>
              </a:rPr>
              <a:t>list_evidence()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58368" y="5102352"/>
            <a:ext cx="1925726" cy="329184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00" b="0" i="0">
                <a:solidFill>
                  <a:srgbClr val="1C2128"/>
                </a:solidFill>
                <a:latin typeface="Source Sans 3"/>
              </a:rPr>
              <a:t>what evidence exists</a:t>
            </a:r>
          </a:p>
        </p:txBody>
      </p:sp>
      <p:sp>
        <p:nvSpPr>
          <p:cNvPr id="54" name="Rectangle 53"/>
          <p:cNvSpPr/>
          <p:nvPr/>
        </p:nvSpPr>
        <p:spPr>
          <a:xfrm>
            <a:off x="2794406" y="4507992"/>
            <a:ext cx="2108606" cy="960120"/>
          </a:xfrm>
          <a:prstGeom prst="rect">
            <a:avLst/>
          </a:prstGeom>
          <a:solidFill>
            <a:srgbClr val="E4ECF7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2794406" y="4507992"/>
            <a:ext cx="2108606" cy="54864"/>
          </a:xfrm>
          <a:prstGeom prst="rect">
            <a:avLst/>
          </a:prstGeom>
          <a:solidFill>
            <a:srgbClr val="2F5D9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2904134" y="4590288"/>
            <a:ext cx="1925726" cy="530352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l">
              <a:lnSpc>
                <a:spcPct val="95000"/>
              </a:lnSpc>
              <a:spcAft>
                <a:spcPts val="0"/>
              </a:spcAft>
            </a:pPr>
            <a:r>
              <a:rPr sz="1400" b="1" i="0">
                <a:solidFill>
                  <a:srgbClr val="2F5D9B"/>
                </a:solidFill>
                <a:latin typeface="Source Code Pro"/>
              </a:rPr>
              <a:t>full_stack_trace</a:t>
            </a:r>
          </a:p>
          <a:p>
            <a:pPr algn="l">
              <a:lnSpc>
                <a:spcPct val="95000"/>
              </a:lnSpc>
              <a:spcAft>
                <a:spcPts val="0"/>
              </a:spcAft>
            </a:pPr>
            <a:r>
              <a:rPr sz="1400" b="1" i="0">
                <a:solidFill>
                  <a:srgbClr val="2F5D9B"/>
                </a:solidFill>
                <a:latin typeface="Source Code Pro"/>
              </a:rPr>
              <a:t>(test)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904134" y="5102352"/>
            <a:ext cx="1925726" cy="329184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00" b="0" i="0">
                <a:solidFill>
                  <a:srgbClr val="1C2128"/>
                </a:solidFill>
                <a:latin typeface="Source Sans 3"/>
              </a:rPr>
              <a:t>full trace and message</a:t>
            </a:r>
          </a:p>
        </p:txBody>
      </p:sp>
      <p:sp>
        <p:nvSpPr>
          <p:cNvPr id="58" name="Rectangle 57"/>
          <p:cNvSpPr/>
          <p:nvPr/>
        </p:nvSpPr>
        <p:spPr>
          <a:xfrm>
            <a:off x="5040172" y="4507992"/>
            <a:ext cx="2108606" cy="960120"/>
          </a:xfrm>
          <a:prstGeom prst="rect">
            <a:avLst/>
          </a:prstGeom>
          <a:solidFill>
            <a:srgbClr val="E4ECF7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9" name="Rectangle 58"/>
          <p:cNvSpPr/>
          <p:nvPr/>
        </p:nvSpPr>
        <p:spPr>
          <a:xfrm>
            <a:off x="5040172" y="4507992"/>
            <a:ext cx="2108606" cy="54864"/>
          </a:xfrm>
          <a:prstGeom prst="rect">
            <a:avLst/>
          </a:prstGeom>
          <a:solidFill>
            <a:srgbClr val="2F5D9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5149900" y="4590288"/>
            <a:ext cx="1925726" cy="530352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l">
              <a:lnSpc>
                <a:spcPct val="95000"/>
              </a:lnSpc>
              <a:spcAft>
                <a:spcPts val="0"/>
              </a:spcAft>
            </a:pPr>
            <a:r>
              <a:rPr sz="1400" b="1" i="0">
                <a:solidFill>
                  <a:srgbClr val="2F5D9B"/>
                </a:solidFill>
                <a:latin typeface="Source Code Pro"/>
              </a:rPr>
              <a:t>snippet(class)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5149900" y="5102352"/>
            <a:ext cx="1925726" cy="329184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00" b="0" i="0">
                <a:solidFill>
                  <a:srgbClr val="1C2128"/>
                </a:solidFill>
                <a:latin typeface="Source Sans 3"/>
              </a:rPr>
              <a:t>source of a class</a:t>
            </a:r>
          </a:p>
        </p:txBody>
      </p:sp>
      <p:sp>
        <p:nvSpPr>
          <p:cNvPr id="62" name="Rectangle 61"/>
          <p:cNvSpPr/>
          <p:nvPr/>
        </p:nvSpPr>
        <p:spPr>
          <a:xfrm>
            <a:off x="7285939" y="4507992"/>
            <a:ext cx="2108606" cy="960120"/>
          </a:xfrm>
          <a:prstGeom prst="rect">
            <a:avLst/>
          </a:prstGeom>
          <a:solidFill>
            <a:srgbClr val="E4ECF7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3" name="Rectangle 62"/>
          <p:cNvSpPr/>
          <p:nvPr/>
        </p:nvSpPr>
        <p:spPr>
          <a:xfrm>
            <a:off x="7285939" y="4507992"/>
            <a:ext cx="2108606" cy="54864"/>
          </a:xfrm>
          <a:prstGeom prst="rect">
            <a:avLst/>
          </a:prstGeom>
          <a:solidFill>
            <a:srgbClr val="2F5D9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7395667" y="4590288"/>
            <a:ext cx="1925726" cy="530352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l">
              <a:lnSpc>
                <a:spcPct val="95000"/>
              </a:lnSpc>
              <a:spcAft>
                <a:spcPts val="0"/>
              </a:spcAft>
            </a:pPr>
            <a:r>
              <a:rPr sz="1400" b="1" i="0">
                <a:solidFill>
                  <a:srgbClr val="2F5D9B"/>
                </a:solidFill>
                <a:latin typeface="Source Code Pro"/>
              </a:rPr>
              <a:t>coverage(class)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7395667" y="5102352"/>
            <a:ext cx="1925726" cy="329184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00" b="0" i="0">
                <a:solidFill>
                  <a:srgbClr val="1C2128"/>
                </a:solidFill>
                <a:latin typeface="Source Sans 3"/>
              </a:rPr>
              <a:t>line and branch data</a:t>
            </a:r>
          </a:p>
        </p:txBody>
      </p:sp>
      <p:sp>
        <p:nvSpPr>
          <p:cNvPr id="66" name="Rectangle 65"/>
          <p:cNvSpPr/>
          <p:nvPr/>
        </p:nvSpPr>
        <p:spPr>
          <a:xfrm>
            <a:off x="9531705" y="4507992"/>
            <a:ext cx="2108606" cy="960120"/>
          </a:xfrm>
          <a:prstGeom prst="rect">
            <a:avLst/>
          </a:prstGeom>
          <a:solidFill>
            <a:srgbClr val="E4ECF7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7" name="Rectangle 66"/>
          <p:cNvSpPr/>
          <p:nvPr/>
        </p:nvSpPr>
        <p:spPr>
          <a:xfrm>
            <a:off x="9531705" y="4507992"/>
            <a:ext cx="2108606" cy="54864"/>
          </a:xfrm>
          <a:prstGeom prst="rect">
            <a:avLst/>
          </a:prstGeom>
          <a:solidFill>
            <a:srgbClr val="2F5D9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9641433" y="4590288"/>
            <a:ext cx="1925726" cy="530352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l">
              <a:lnSpc>
                <a:spcPct val="95000"/>
              </a:lnSpc>
              <a:spcAft>
                <a:spcPts val="0"/>
              </a:spcAft>
            </a:pPr>
            <a:r>
              <a:rPr sz="1400" b="1" i="0">
                <a:solidFill>
                  <a:srgbClr val="2F5D9B"/>
                </a:solidFill>
                <a:latin typeface="Source Code Pro"/>
              </a:rPr>
              <a:t>bug_report()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9641433" y="5102352"/>
            <a:ext cx="1925726" cy="329184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00" b="0" i="0">
                <a:solidFill>
                  <a:srgbClr val="1C2128"/>
                </a:solidFill>
                <a:latin typeface="Source Sans 3"/>
              </a:rPr>
              <a:t>the full report</a:t>
            </a:r>
          </a:p>
        </p:txBody>
      </p:sp>
      <p:sp>
        <p:nvSpPr>
          <p:cNvPr id="70" name="Rectangle 69"/>
          <p:cNvSpPr/>
          <p:nvPr/>
        </p:nvSpPr>
        <p:spPr>
          <a:xfrm>
            <a:off x="548640" y="5669280"/>
            <a:ext cx="64008" cy="502920"/>
          </a:xfrm>
          <a:prstGeom prst="rect">
            <a:avLst/>
          </a:prstGeom>
          <a:solidFill>
            <a:srgbClr val="12284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777240" y="5669280"/>
            <a:ext cx="10881360" cy="502920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800" b="0" i="0">
                <a:solidFill>
                  <a:srgbClr val="1C2128"/>
                </a:solidFill>
                <a:latin typeface="Source Sans 3"/>
              </a:rPr>
              <a:t>The prediction is written before the evidence arrives, so a first guess cannot be rationalised afterwards.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74320"/>
            <a:ext cx="10332720" cy="731520"/>
          </a:xfrm>
          <a:prstGeom prst="rect">
            <a:avLst/>
          </a:prstGeom>
          <a:noFill/>
        </p:spPr>
        <p:txBody>
          <a:bodyPr wrap="square" lIns="27432" rIns="27432" tIns="27432" bIns="27432" anchor="b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000" b="1" i="0">
                <a:solidFill>
                  <a:srgbClr val="12284C"/>
                </a:solidFill>
                <a:latin typeface="Source Sans 3"/>
              </a:rPr>
              <a:t>Evaluation: How We Compare Two Labels</a:t>
            </a:r>
          </a:p>
        </p:txBody>
      </p:sp>
      <p:pic>
        <p:nvPicPr>
          <p:cNvPr id="4" name="Picture 3" descr="iut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228832" y="292608"/>
            <a:ext cx="433472" cy="713232"/>
          </a:xfrm>
          <a:prstGeom prst="rect">
            <a:avLst/>
          </a:prstGeom>
        </p:spPr>
      </p:pic>
      <p:cxnSp>
        <p:nvCxnSpPr>
          <p:cNvPr id="5" name="Connector 4"/>
          <p:cNvCxnSpPr/>
          <p:nvPr/>
        </p:nvCxnSpPr>
        <p:spPr>
          <a:xfrm>
            <a:off x="548640" y="1078992"/>
            <a:ext cx="11091672" cy="0"/>
          </a:xfrm>
          <a:prstGeom prst="line">
            <a:avLst/>
          </a:prstGeom>
          <a:ln w="9525">
            <a:solidFill>
              <a:srgbClr val="D5D9DF"/>
            </a:solidFill>
          </a:ln>
        </p:spPr>
      </p:cxnSp>
      <p:sp>
        <p:nvSpPr>
          <p:cNvPr id="6" name="Rectangle 5"/>
          <p:cNvSpPr/>
          <p:nvPr/>
        </p:nvSpPr>
        <p:spPr>
          <a:xfrm>
            <a:off x="548640" y="1060704"/>
            <a:ext cx="914400" cy="41148"/>
          </a:xfrm>
          <a:prstGeom prst="rect">
            <a:avLst/>
          </a:prstGeom>
          <a:solidFill>
            <a:srgbClr val="12284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>
            <a:off x="548640" y="6400800"/>
            <a:ext cx="11091672" cy="0"/>
          </a:xfrm>
          <a:prstGeom prst="line">
            <a:avLst/>
          </a:prstGeom>
          <a:ln w="9525">
            <a:solidFill>
              <a:srgbClr val="D5D9DF"/>
            </a:solidFill>
          </a:ln>
        </p:spPr>
      </p:cxnSp>
      <p:sp>
        <p:nvSpPr>
          <p:cNvPr id="8" name="TextBox 7"/>
          <p:cNvSpPr txBox="1"/>
          <p:nvPr/>
        </p:nvSpPr>
        <p:spPr>
          <a:xfrm>
            <a:off x="548640" y="6437376"/>
            <a:ext cx="3931920" cy="365760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00" b="0" i="0">
                <a:solidFill>
                  <a:srgbClr val="8A919C"/>
                </a:solidFill>
                <a:latin typeface="Source Sans 3"/>
              </a:rPr>
              <a:t>ODC on Defects4J  ·  Thesis Defence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0" y="6437376"/>
            <a:ext cx="854964" cy="365760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400" b="0" i="0">
                <a:solidFill>
                  <a:srgbClr val="8A919C"/>
                </a:solidFill>
                <a:latin typeface="Source Sans 3"/>
              </a:rPr>
              <a:t>Context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55564" y="6437376"/>
            <a:ext cx="1239012" cy="365760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400" b="1" i="0">
                <a:solidFill>
                  <a:srgbClr val="12284C"/>
                </a:solidFill>
                <a:latin typeface="Source Sans 3"/>
              </a:rPr>
              <a:t>Methodology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747004" y="6757416"/>
            <a:ext cx="1056132" cy="32004"/>
          </a:xfrm>
          <a:prstGeom prst="rect">
            <a:avLst/>
          </a:prstGeom>
          <a:solidFill>
            <a:srgbClr val="12284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123176" y="6437376"/>
            <a:ext cx="854964" cy="365760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400" b="0" i="0">
                <a:solidFill>
                  <a:srgbClr val="8A919C"/>
                </a:solidFill>
                <a:latin typeface="Source Sans 3"/>
              </a:rPr>
              <a:t>Results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966960" y="6419088"/>
            <a:ext cx="1673352" cy="402336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800" b="1" i="0">
                <a:solidFill>
                  <a:srgbClr val="12284C"/>
                </a:solidFill>
                <a:latin typeface="Source Sans 3"/>
              </a:rPr>
              <a:t>13 / 24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1188720"/>
            <a:ext cx="11091672" cy="411480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700" b="0" i="0">
                <a:solidFill>
                  <a:srgbClr val="1C2128"/>
                </a:solidFill>
                <a:latin typeface="Source Sans 3"/>
              </a:rPr>
              <a:t>For each bug we compare its </a:t>
            </a:r>
            <a:r>
              <a:rPr sz="1700" b="1" i="0">
                <a:solidFill>
                  <a:srgbClr val="A23B3B"/>
                </a:solidFill>
                <a:latin typeface="Source Sans 3"/>
              </a:rPr>
              <a:t>pre-fix</a:t>
            </a:r>
            <a:r>
              <a:rPr sz="1700" b="0" i="0">
                <a:solidFill>
                  <a:srgbClr val="1C2128"/>
                </a:solidFill>
                <a:latin typeface="Source Sans 3"/>
              </a:rPr>
              <a:t> label with its </a:t>
            </a:r>
            <a:r>
              <a:rPr sz="1700" b="1" i="0">
                <a:solidFill>
                  <a:srgbClr val="2F7D4F"/>
                </a:solidFill>
                <a:latin typeface="Source Sans 3"/>
              </a:rPr>
              <a:t>post-fix</a:t>
            </a:r>
            <a:r>
              <a:rPr sz="1700" b="0" i="0">
                <a:solidFill>
                  <a:srgbClr val="1C2128"/>
                </a:solidFill>
                <a:latin typeface="Source Sans 3"/>
              </a:rPr>
              <a:t> label, from strict to forgiving.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48640" y="1737360"/>
            <a:ext cx="3544824" cy="1810512"/>
          </a:xfrm>
          <a:prstGeom prst="rect">
            <a:avLst/>
          </a:prstGeom>
          <a:solidFill>
            <a:srgbClr val="F4F5F7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48640" y="1737360"/>
            <a:ext cx="3544824" cy="64008"/>
          </a:xfrm>
          <a:prstGeom prst="rect">
            <a:avLst/>
          </a:prstGeom>
          <a:solidFill>
            <a:srgbClr val="2F5D9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31520" y="1865376"/>
            <a:ext cx="914400" cy="310896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1" i="0">
                <a:solidFill>
                  <a:srgbClr val="2F5D9B"/>
                </a:solidFill>
                <a:latin typeface="Source Sans 3"/>
              </a:rPr>
              <a:t>TIER 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508760" y="1847088"/>
            <a:ext cx="2447544" cy="347472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900" b="1" i="0">
                <a:solidFill>
                  <a:srgbClr val="12284C"/>
                </a:solidFill>
                <a:latin typeface="Source Sans 3"/>
              </a:rPr>
              <a:t>Strict match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31520" y="2194560"/>
            <a:ext cx="3270504" cy="329184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600" b="0" i="0">
                <a:solidFill>
                  <a:srgbClr val="1C2128"/>
                </a:solidFill>
                <a:latin typeface="Source Sans 3"/>
              </a:rPr>
              <a:t>Same ODC type?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31520" y="2578608"/>
            <a:ext cx="502920" cy="310896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1" i="0">
                <a:solidFill>
                  <a:srgbClr val="A23B3B"/>
                </a:solidFill>
                <a:latin typeface="Source Sans 3"/>
              </a:rPr>
              <a:t>pre</a:t>
            </a:r>
          </a:p>
        </p:txBody>
      </p:sp>
      <p:sp>
        <p:nvSpPr>
          <p:cNvPr id="21" name="Rectangle 20"/>
          <p:cNvSpPr/>
          <p:nvPr/>
        </p:nvSpPr>
        <p:spPr>
          <a:xfrm>
            <a:off x="1261872" y="2596896"/>
            <a:ext cx="1463040" cy="283464"/>
          </a:xfrm>
          <a:prstGeom prst="rect">
            <a:avLst/>
          </a:prstGeom>
          <a:solidFill>
            <a:srgbClr val="FFFFFF"/>
          </a:solidFill>
          <a:ln w="9525">
            <a:solidFill>
              <a:srgbClr val="D5D9D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261872" y="2596896"/>
            <a:ext cx="1463040" cy="283464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400" b="0" i="0">
                <a:solidFill>
                  <a:srgbClr val="1C2128"/>
                </a:solidFill>
                <a:latin typeface="Source Sans 3"/>
              </a:rPr>
              <a:t>Checking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31520" y="2907791"/>
            <a:ext cx="502920" cy="310896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1" i="0">
                <a:solidFill>
                  <a:srgbClr val="2F7D4F"/>
                </a:solidFill>
                <a:latin typeface="Source Sans 3"/>
              </a:rPr>
              <a:t>post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261872" y="2926079"/>
            <a:ext cx="1463040" cy="283464"/>
          </a:xfrm>
          <a:prstGeom prst="rect">
            <a:avLst/>
          </a:prstGeom>
          <a:solidFill>
            <a:srgbClr val="FFFFFF"/>
          </a:solidFill>
          <a:ln w="9525">
            <a:solidFill>
              <a:srgbClr val="D5D9D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261872" y="2926079"/>
            <a:ext cx="1463040" cy="283464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400" b="0" i="0">
                <a:solidFill>
                  <a:srgbClr val="1C2128"/>
                </a:solidFill>
                <a:latin typeface="Source Sans 3"/>
              </a:rPr>
              <a:t>Checking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31520" y="3236976"/>
            <a:ext cx="3270504" cy="274320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00" b="0" i="1">
                <a:solidFill>
                  <a:srgbClr val="5A6270"/>
                </a:solidFill>
                <a:latin typeface="Source Sans 3"/>
              </a:rPr>
              <a:t>same type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075176" y="2560320"/>
            <a:ext cx="265176" cy="365760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2400" b="1" i="0">
                <a:solidFill>
                  <a:srgbClr val="8A919C"/>
                </a:solidFill>
                <a:latin typeface="Source Sans 3"/>
              </a:rPr>
              <a:t>›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322064" y="1737360"/>
            <a:ext cx="3544824" cy="1810512"/>
          </a:xfrm>
          <a:prstGeom prst="rect">
            <a:avLst/>
          </a:prstGeom>
          <a:solidFill>
            <a:srgbClr val="F4F5F7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4322064" y="1737360"/>
            <a:ext cx="3544824" cy="64008"/>
          </a:xfrm>
          <a:prstGeom prst="rect">
            <a:avLst/>
          </a:prstGeom>
          <a:solidFill>
            <a:srgbClr val="5B4B9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504944" y="1865376"/>
            <a:ext cx="914400" cy="310896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1" i="0">
                <a:solidFill>
                  <a:srgbClr val="5B4B9A"/>
                </a:solidFill>
                <a:latin typeface="Source Sans 3"/>
              </a:rPr>
              <a:t>TIER 2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282184" y="1847088"/>
            <a:ext cx="2447544" cy="347472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900" b="1" i="0">
                <a:solidFill>
                  <a:srgbClr val="12284C"/>
                </a:solidFill>
                <a:latin typeface="Source Sans 3"/>
              </a:rPr>
              <a:t>Top-2 match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504944" y="2194560"/>
            <a:ext cx="3270504" cy="329184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600" b="0" i="0">
                <a:solidFill>
                  <a:srgbClr val="1C2128"/>
                </a:solidFill>
                <a:latin typeface="Source Sans 3"/>
              </a:rPr>
              <a:t>One label is the other’s alternative?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504944" y="2578608"/>
            <a:ext cx="502920" cy="310896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1" i="0">
                <a:solidFill>
                  <a:srgbClr val="A23B3B"/>
                </a:solidFill>
                <a:latin typeface="Source Sans 3"/>
              </a:rPr>
              <a:t>pre</a:t>
            </a:r>
          </a:p>
        </p:txBody>
      </p:sp>
      <p:sp>
        <p:nvSpPr>
          <p:cNvPr id="34" name="Rectangle 33"/>
          <p:cNvSpPr/>
          <p:nvPr/>
        </p:nvSpPr>
        <p:spPr>
          <a:xfrm>
            <a:off x="5035296" y="2596896"/>
            <a:ext cx="1463040" cy="283464"/>
          </a:xfrm>
          <a:prstGeom prst="rect">
            <a:avLst/>
          </a:prstGeom>
          <a:solidFill>
            <a:srgbClr val="FFFFFF"/>
          </a:solidFill>
          <a:ln w="9525">
            <a:solidFill>
              <a:srgbClr val="D5D9D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035296" y="2596896"/>
            <a:ext cx="1463040" cy="283464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400" b="0" i="0">
                <a:solidFill>
                  <a:srgbClr val="1C2128"/>
                </a:solidFill>
                <a:latin typeface="Source Sans 3"/>
              </a:rPr>
              <a:t>Checking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504944" y="2907791"/>
            <a:ext cx="502920" cy="310896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1" i="0">
                <a:solidFill>
                  <a:srgbClr val="2F7D4F"/>
                </a:solidFill>
                <a:latin typeface="Source Sans 3"/>
              </a:rPr>
              <a:t>post</a:t>
            </a:r>
          </a:p>
        </p:txBody>
      </p:sp>
      <p:sp>
        <p:nvSpPr>
          <p:cNvPr id="37" name="Rectangle 36"/>
          <p:cNvSpPr/>
          <p:nvPr/>
        </p:nvSpPr>
        <p:spPr>
          <a:xfrm>
            <a:off x="5035296" y="2926079"/>
            <a:ext cx="1463040" cy="283464"/>
          </a:xfrm>
          <a:prstGeom prst="rect">
            <a:avLst/>
          </a:prstGeom>
          <a:solidFill>
            <a:srgbClr val="FFFFFF"/>
          </a:solidFill>
          <a:ln w="9525">
            <a:solidFill>
              <a:srgbClr val="D5D9D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5035296" y="2926079"/>
            <a:ext cx="1463040" cy="283464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400" b="0" i="0">
                <a:solidFill>
                  <a:srgbClr val="1C2128"/>
                </a:solidFill>
                <a:latin typeface="Source Sans 3"/>
              </a:rPr>
              <a:t>Algorithm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504944" y="3236976"/>
            <a:ext cx="3270504" cy="274320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00" b="0" i="1">
                <a:solidFill>
                  <a:srgbClr val="5A6270"/>
                </a:solidFill>
                <a:latin typeface="Source Sans 3"/>
              </a:rPr>
              <a:t>Algorithm was a listed alternative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848600" y="2560320"/>
            <a:ext cx="265176" cy="365760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2400" b="1" i="0">
                <a:solidFill>
                  <a:srgbClr val="8A919C"/>
                </a:solidFill>
                <a:latin typeface="Source Sans 3"/>
              </a:rPr>
              <a:t>›</a:t>
            </a:r>
          </a:p>
        </p:txBody>
      </p:sp>
      <p:sp>
        <p:nvSpPr>
          <p:cNvPr id="41" name="Rectangle 40"/>
          <p:cNvSpPr/>
          <p:nvPr/>
        </p:nvSpPr>
        <p:spPr>
          <a:xfrm>
            <a:off x="8095488" y="1737360"/>
            <a:ext cx="3544824" cy="1810512"/>
          </a:xfrm>
          <a:prstGeom prst="rect">
            <a:avLst/>
          </a:prstGeom>
          <a:solidFill>
            <a:srgbClr val="F4F5F7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8095488" y="1737360"/>
            <a:ext cx="3544824" cy="64008"/>
          </a:xfrm>
          <a:prstGeom prst="rect">
            <a:avLst/>
          </a:prstGeom>
          <a:solidFill>
            <a:srgbClr val="2B7F7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8278367" y="1865376"/>
            <a:ext cx="914400" cy="310896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1" i="0">
                <a:solidFill>
                  <a:srgbClr val="2B7F72"/>
                </a:solidFill>
                <a:latin typeface="Source Sans 3"/>
              </a:rPr>
              <a:t>TIER 3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055608" y="1847088"/>
            <a:ext cx="2447544" cy="347472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900" b="1" i="0">
                <a:solidFill>
                  <a:srgbClr val="12284C"/>
                </a:solidFill>
                <a:latin typeface="Source Sans 3"/>
              </a:rPr>
              <a:t>Family match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278367" y="2194560"/>
            <a:ext cx="3270504" cy="329184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600" b="0" i="0">
                <a:solidFill>
                  <a:srgbClr val="1C2128"/>
                </a:solidFill>
                <a:latin typeface="Source Sans 3"/>
              </a:rPr>
              <a:t>Same ODC family?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278367" y="2578608"/>
            <a:ext cx="502920" cy="310896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1" i="0">
                <a:solidFill>
                  <a:srgbClr val="A23B3B"/>
                </a:solidFill>
                <a:latin typeface="Source Sans 3"/>
              </a:rPr>
              <a:t>pre</a:t>
            </a:r>
          </a:p>
        </p:txBody>
      </p:sp>
      <p:sp>
        <p:nvSpPr>
          <p:cNvPr id="47" name="Rectangle 46"/>
          <p:cNvSpPr/>
          <p:nvPr/>
        </p:nvSpPr>
        <p:spPr>
          <a:xfrm>
            <a:off x="8808720" y="2596896"/>
            <a:ext cx="1463040" cy="283464"/>
          </a:xfrm>
          <a:prstGeom prst="rect">
            <a:avLst/>
          </a:prstGeom>
          <a:solidFill>
            <a:srgbClr val="FFFFFF"/>
          </a:solidFill>
          <a:ln w="9525">
            <a:solidFill>
              <a:srgbClr val="D5D9D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8808720" y="2596896"/>
            <a:ext cx="1463040" cy="283464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400" b="0" i="0">
                <a:solidFill>
                  <a:srgbClr val="1C2128"/>
                </a:solidFill>
                <a:latin typeface="Source Sans 3"/>
              </a:rPr>
              <a:t>Checking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8278367" y="2907791"/>
            <a:ext cx="502920" cy="310896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1" i="0">
                <a:solidFill>
                  <a:srgbClr val="2F7D4F"/>
                </a:solidFill>
                <a:latin typeface="Source Sans 3"/>
              </a:rPr>
              <a:t>post</a:t>
            </a:r>
          </a:p>
        </p:txBody>
      </p:sp>
      <p:sp>
        <p:nvSpPr>
          <p:cNvPr id="50" name="Rectangle 49"/>
          <p:cNvSpPr/>
          <p:nvPr/>
        </p:nvSpPr>
        <p:spPr>
          <a:xfrm>
            <a:off x="8808720" y="2926079"/>
            <a:ext cx="1463040" cy="283464"/>
          </a:xfrm>
          <a:prstGeom prst="rect">
            <a:avLst/>
          </a:prstGeom>
          <a:solidFill>
            <a:srgbClr val="FFFFFF"/>
          </a:solidFill>
          <a:ln w="9525">
            <a:solidFill>
              <a:srgbClr val="D5D9D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8808720" y="2926079"/>
            <a:ext cx="1463040" cy="283464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400" b="0" i="0">
                <a:solidFill>
                  <a:srgbClr val="1C2128"/>
                </a:solidFill>
                <a:latin typeface="Source Sans 3"/>
              </a:rPr>
              <a:t>Assignment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8278367" y="3236976"/>
            <a:ext cx="3270504" cy="274320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00" b="0" i="1">
                <a:solidFill>
                  <a:srgbClr val="5A6270"/>
                </a:solidFill>
                <a:latin typeface="Source Sans 3"/>
              </a:rPr>
              <a:t>both Control and Data Flow</a:t>
            </a:r>
          </a:p>
        </p:txBody>
      </p:sp>
      <p:sp>
        <p:nvSpPr>
          <p:cNvPr id="53" name="Rectangle 52"/>
          <p:cNvSpPr/>
          <p:nvPr/>
        </p:nvSpPr>
        <p:spPr>
          <a:xfrm>
            <a:off x="548640" y="3685032"/>
            <a:ext cx="11091672" cy="2560320"/>
          </a:xfrm>
          <a:prstGeom prst="rect">
            <a:avLst/>
          </a:prstGeom>
          <a:solidFill>
            <a:srgbClr val="FBF1D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548640" y="3685032"/>
            <a:ext cx="64008" cy="2560320"/>
          </a:xfrm>
          <a:prstGeom prst="rect">
            <a:avLst/>
          </a:prstGeom>
          <a:solidFill>
            <a:srgbClr val="B7791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777240" y="3739896"/>
            <a:ext cx="7315200" cy="384048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1" i="0">
                <a:solidFill>
                  <a:srgbClr val="B7791F"/>
                </a:solidFill>
                <a:latin typeface="Source Sans 3"/>
              </a:rPr>
              <a:t>TIER 4  </a:t>
            </a:r>
            <a:r>
              <a:rPr sz="1900" b="1" i="0">
                <a:solidFill>
                  <a:srgbClr val="12284C"/>
                </a:solidFill>
                <a:latin typeface="Source Sans 3"/>
              </a:rPr>
              <a:t>Cohen’s κ: is the agreement more than luck?</a:t>
            </a:r>
          </a:p>
        </p:txBody>
      </p:sp>
      <p:sp>
        <p:nvSpPr>
          <p:cNvPr id="56" name="Oval 55"/>
          <p:cNvSpPr/>
          <p:nvPr/>
        </p:nvSpPr>
        <p:spPr>
          <a:xfrm>
            <a:off x="777240" y="4197096"/>
            <a:ext cx="310896" cy="310896"/>
          </a:xfrm>
          <a:prstGeom prst="ellipse">
            <a:avLst/>
          </a:prstGeom>
          <a:solidFill>
            <a:srgbClr val="B7791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777240" y="4197096"/>
            <a:ext cx="310896" cy="310896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Source Sans 3"/>
              </a:rPr>
              <a:t>1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1207008" y="4160520"/>
            <a:ext cx="6583680" cy="658368"/>
          </a:xfrm>
          <a:prstGeom prst="rect">
            <a:avLst/>
          </a:prstGeom>
          <a:noFill/>
        </p:spPr>
        <p:txBody>
          <a:bodyPr wrap="square" lIns="27432" rIns="27432" tIns="27432" bIns="27432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00" b="1" i="0">
                <a:solidFill>
                  <a:srgbClr val="B7791F"/>
                </a:solidFill>
                <a:latin typeface="Source Sans 3"/>
              </a:rPr>
              <a:t>How we calculate it:  </a:t>
            </a:r>
            <a:r>
              <a:rPr sz="1400" b="0" i="0">
                <a:solidFill>
                  <a:srgbClr val="1C2128"/>
                </a:solidFill>
                <a:latin typeface="Source Sans 3"/>
              </a:rPr>
              <a:t>Over all bugs, we take the share whose pre-fix and post-fix labels match, then subtract the share that would match </a:t>
            </a:r>
            <a:r>
              <a:rPr sz="1400" b="1" i="0">
                <a:solidFill>
                  <a:srgbClr val="1C2128"/>
                </a:solidFill>
                <a:latin typeface="Source Sans 3"/>
              </a:rPr>
              <a:t>by chance</a:t>
            </a:r>
            <a:r>
              <a:rPr sz="1400" b="0" i="0">
                <a:solidFill>
                  <a:srgbClr val="1C2128"/>
                </a:solidFill>
                <a:latin typeface="Source Sans 3"/>
              </a:rPr>
              <a:t> given how often each run uses each type. κ = what is left ÷ what could be left.</a:t>
            </a:r>
          </a:p>
        </p:txBody>
      </p:sp>
      <p:sp>
        <p:nvSpPr>
          <p:cNvPr id="59" name="Oval 58"/>
          <p:cNvSpPr/>
          <p:nvPr/>
        </p:nvSpPr>
        <p:spPr>
          <a:xfrm>
            <a:off x="777240" y="5001768"/>
            <a:ext cx="310896" cy="310896"/>
          </a:xfrm>
          <a:prstGeom prst="ellipse">
            <a:avLst/>
          </a:prstGeom>
          <a:solidFill>
            <a:srgbClr val="B7791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777240" y="5001768"/>
            <a:ext cx="310896" cy="310896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Source Sans 3"/>
              </a:rPr>
              <a:t>2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1207008" y="4965192"/>
            <a:ext cx="6583680" cy="658368"/>
          </a:xfrm>
          <a:prstGeom prst="rect">
            <a:avLst/>
          </a:prstGeom>
          <a:noFill/>
        </p:spPr>
        <p:txBody>
          <a:bodyPr wrap="square" lIns="27432" rIns="27432" tIns="27432" bIns="27432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00" b="1" i="0">
                <a:solidFill>
                  <a:srgbClr val="B7791F"/>
                </a:solidFill>
                <a:latin typeface="Source Sans 3"/>
              </a:rPr>
              <a:t>Why we need it:  </a:t>
            </a:r>
            <a:r>
              <a:rPr sz="1400" b="0" i="0">
                <a:solidFill>
                  <a:srgbClr val="1C2128"/>
                </a:solidFill>
                <a:latin typeface="Source Sans 3"/>
              </a:rPr>
              <a:t>Most bugs are Checking or Algorithm, so two runs agree often just by picking common types. κ removes that luck.</a:t>
            </a:r>
          </a:p>
        </p:txBody>
      </p:sp>
      <p:sp>
        <p:nvSpPr>
          <p:cNvPr id="62" name="Oval 61"/>
          <p:cNvSpPr/>
          <p:nvPr/>
        </p:nvSpPr>
        <p:spPr>
          <a:xfrm>
            <a:off x="777240" y="5605272"/>
            <a:ext cx="310896" cy="310896"/>
          </a:xfrm>
          <a:prstGeom prst="ellipse">
            <a:avLst/>
          </a:prstGeom>
          <a:solidFill>
            <a:srgbClr val="B7791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777240" y="5605272"/>
            <a:ext cx="310896" cy="310896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Source Sans 3"/>
              </a:rPr>
              <a:t>3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1207008" y="5568696"/>
            <a:ext cx="6583680" cy="658368"/>
          </a:xfrm>
          <a:prstGeom prst="rect">
            <a:avLst/>
          </a:prstGeom>
          <a:noFill/>
        </p:spPr>
        <p:txBody>
          <a:bodyPr wrap="square" lIns="27432" rIns="27432" tIns="27432" bIns="27432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00" b="1" i="0">
                <a:solidFill>
                  <a:srgbClr val="B7791F"/>
                </a:solidFill>
                <a:latin typeface="Source Sans 3"/>
              </a:rPr>
              <a:t>How the result slides show it:  </a:t>
            </a:r>
            <a:r>
              <a:rPr sz="1400" b="0" i="0">
                <a:solidFill>
                  <a:srgbClr val="1C2128"/>
                </a:solidFill>
                <a:latin typeface="Source Sans 3"/>
              </a:rPr>
              <a:t>In words, not numbers: </a:t>
            </a:r>
            <a:r>
              <a:rPr sz="1400" b="1" i="0">
                <a:solidFill>
                  <a:srgbClr val="12284C"/>
                </a:solidFill>
                <a:latin typeface="Source Sans 3"/>
              </a:rPr>
              <a:t>“agreement well beyond chance”</a:t>
            </a:r>
            <a:r>
              <a:rPr sz="1400" b="0" i="0">
                <a:solidFill>
                  <a:srgbClr val="1C2128"/>
                </a:solidFill>
                <a:latin typeface="Source Sans 3"/>
              </a:rPr>
              <a:t>, “a real gain, not luck”. Exact values are in the book; scale from [27].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8092440" y="4096512"/>
            <a:ext cx="3337560" cy="274320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0" i="1">
                <a:solidFill>
                  <a:srgbClr val="5A6270"/>
                </a:solidFill>
                <a:latin typeface="Source Sans 3"/>
              </a:rPr>
              <a:t>Illustration</a:t>
            </a:r>
          </a:p>
        </p:txBody>
      </p:sp>
      <p:sp>
        <p:nvSpPr>
          <p:cNvPr id="66" name="Rectangle 65"/>
          <p:cNvSpPr/>
          <p:nvPr/>
        </p:nvSpPr>
        <p:spPr>
          <a:xfrm>
            <a:off x="8092440" y="4370832"/>
            <a:ext cx="333756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D5D9D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7" name="Rectangle 66"/>
          <p:cNvSpPr/>
          <p:nvPr/>
        </p:nvSpPr>
        <p:spPr>
          <a:xfrm>
            <a:off x="8092440" y="4370832"/>
            <a:ext cx="1335024" cy="457200"/>
          </a:xfrm>
          <a:prstGeom prst="rect">
            <a:avLst/>
          </a:prstGeom>
          <a:solidFill>
            <a:srgbClr val="B3B9C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8" name="Rectangle 67"/>
          <p:cNvSpPr/>
          <p:nvPr/>
        </p:nvSpPr>
        <p:spPr>
          <a:xfrm>
            <a:off x="9427463" y="4370832"/>
            <a:ext cx="1001268" cy="457200"/>
          </a:xfrm>
          <a:prstGeom prst="rect">
            <a:avLst/>
          </a:prstGeom>
          <a:solidFill>
            <a:srgbClr val="B7791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8092440" y="4370832"/>
            <a:ext cx="1335024" cy="457200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400" b="1" i="0">
                <a:solidFill>
                  <a:srgbClr val="FFFFFF"/>
                </a:solidFill>
                <a:latin typeface="Source Sans 3"/>
              </a:rPr>
              <a:t>chance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9427463" y="4370832"/>
            <a:ext cx="1001268" cy="457200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400" b="1" i="0">
                <a:solidFill>
                  <a:srgbClr val="FFFFFF"/>
                </a:solidFill>
                <a:latin typeface="Source Sans 3"/>
              </a:rPr>
              <a:t>real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8092440" y="4846320"/>
            <a:ext cx="548640" cy="274320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0" i="0">
                <a:solidFill>
                  <a:srgbClr val="5A6270"/>
                </a:solidFill>
                <a:latin typeface="Source Sans 3"/>
              </a:rPr>
              <a:t>0%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10789920" y="4846320"/>
            <a:ext cx="640080" cy="274320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300" b="0" i="0">
                <a:solidFill>
                  <a:srgbClr val="5A6270"/>
                </a:solidFill>
                <a:latin typeface="Source Sans 3"/>
              </a:rPr>
              <a:t>100%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092440" y="5193792"/>
            <a:ext cx="3337560" cy="274320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300" b="0" i="0">
                <a:solidFill>
                  <a:srgbClr val="5A6270"/>
                </a:solidFill>
                <a:latin typeface="Source Sans 3"/>
              </a:rPr>
              <a:t>observed agreement = chance + real</a:t>
            </a:r>
          </a:p>
        </p:txBody>
      </p:sp>
      <p:cxnSp>
        <p:nvCxnSpPr>
          <p:cNvPr id="74" name="Connector 73"/>
          <p:cNvCxnSpPr/>
          <p:nvPr/>
        </p:nvCxnSpPr>
        <p:spPr>
          <a:xfrm>
            <a:off x="9427463" y="5605272"/>
            <a:ext cx="2002537" cy="0"/>
          </a:xfrm>
          <a:prstGeom prst="line">
            <a:avLst/>
          </a:prstGeom>
          <a:ln w="15875">
            <a:solidFill>
              <a:srgbClr val="12284C"/>
            </a:solidFill>
          </a:ln>
        </p:spPr>
      </p:cxnSp>
      <p:cxnSp>
        <p:nvCxnSpPr>
          <p:cNvPr id="75" name="Connector 74"/>
          <p:cNvCxnSpPr/>
          <p:nvPr/>
        </p:nvCxnSpPr>
        <p:spPr>
          <a:xfrm>
            <a:off x="9427463" y="5513832"/>
            <a:ext cx="0" cy="182880"/>
          </a:xfrm>
          <a:prstGeom prst="line">
            <a:avLst/>
          </a:prstGeom>
          <a:ln w="15875">
            <a:solidFill>
              <a:srgbClr val="12284C"/>
            </a:solidFill>
          </a:ln>
        </p:spPr>
      </p:cxnSp>
      <p:cxnSp>
        <p:nvCxnSpPr>
          <p:cNvPr id="76" name="Connector 75"/>
          <p:cNvCxnSpPr/>
          <p:nvPr/>
        </p:nvCxnSpPr>
        <p:spPr>
          <a:xfrm>
            <a:off x="11430000" y="5513832"/>
            <a:ext cx="0" cy="182880"/>
          </a:xfrm>
          <a:prstGeom prst="line">
            <a:avLst/>
          </a:prstGeom>
          <a:ln w="15875">
            <a:solidFill>
              <a:srgbClr val="12284C"/>
            </a:solidFill>
          </a:ln>
        </p:spPr>
      </p:cxnSp>
      <p:sp>
        <p:nvSpPr>
          <p:cNvPr id="77" name="TextBox 76"/>
          <p:cNvSpPr txBox="1"/>
          <p:nvPr/>
        </p:nvSpPr>
        <p:spPr>
          <a:xfrm>
            <a:off x="9061703" y="5696712"/>
            <a:ext cx="2368296" cy="310896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400" b="1" i="0">
                <a:solidFill>
                  <a:srgbClr val="12284C"/>
                </a:solidFill>
                <a:latin typeface="Source Sans 3"/>
              </a:rPr>
              <a:t>κ = real ÷ this span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74320"/>
            <a:ext cx="10332720" cy="731520"/>
          </a:xfrm>
          <a:prstGeom prst="rect">
            <a:avLst/>
          </a:prstGeom>
          <a:noFill/>
        </p:spPr>
        <p:txBody>
          <a:bodyPr wrap="square" lIns="27432" rIns="27432" tIns="27432" bIns="27432" anchor="b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000" b="1" i="0">
                <a:solidFill>
                  <a:srgbClr val="12284C"/>
                </a:solidFill>
                <a:latin typeface="Source Sans 3"/>
              </a:rPr>
              <a:t>Why the Post-Fix Label Is a Reliable Reference</a:t>
            </a:r>
          </a:p>
        </p:txBody>
      </p:sp>
      <p:pic>
        <p:nvPicPr>
          <p:cNvPr id="4" name="Picture 3" descr="iut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228832" y="292608"/>
            <a:ext cx="433472" cy="713232"/>
          </a:xfrm>
          <a:prstGeom prst="rect">
            <a:avLst/>
          </a:prstGeom>
        </p:spPr>
      </p:pic>
      <p:cxnSp>
        <p:nvCxnSpPr>
          <p:cNvPr id="5" name="Connector 4"/>
          <p:cNvCxnSpPr/>
          <p:nvPr/>
        </p:nvCxnSpPr>
        <p:spPr>
          <a:xfrm>
            <a:off x="548640" y="1078992"/>
            <a:ext cx="11091672" cy="0"/>
          </a:xfrm>
          <a:prstGeom prst="line">
            <a:avLst/>
          </a:prstGeom>
          <a:ln w="9525">
            <a:solidFill>
              <a:srgbClr val="D5D9DF"/>
            </a:solidFill>
          </a:ln>
        </p:spPr>
      </p:cxnSp>
      <p:sp>
        <p:nvSpPr>
          <p:cNvPr id="6" name="Rectangle 5"/>
          <p:cNvSpPr/>
          <p:nvPr/>
        </p:nvSpPr>
        <p:spPr>
          <a:xfrm>
            <a:off x="548640" y="1060704"/>
            <a:ext cx="914400" cy="41148"/>
          </a:xfrm>
          <a:prstGeom prst="rect">
            <a:avLst/>
          </a:prstGeom>
          <a:solidFill>
            <a:srgbClr val="12284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>
            <a:off x="548640" y="6400800"/>
            <a:ext cx="11091672" cy="0"/>
          </a:xfrm>
          <a:prstGeom prst="line">
            <a:avLst/>
          </a:prstGeom>
          <a:ln w="9525">
            <a:solidFill>
              <a:srgbClr val="D5D9DF"/>
            </a:solidFill>
          </a:ln>
        </p:spPr>
      </p:cxnSp>
      <p:sp>
        <p:nvSpPr>
          <p:cNvPr id="8" name="TextBox 7"/>
          <p:cNvSpPr txBox="1"/>
          <p:nvPr/>
        </p:nvSpPr>
        <p:spPr>
          <a:xfrm>
            <a:off x="548640" y="6437376"/>
            <a:ext cx="3931920" cy="365760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00" b="0" i="0">
                <a:solidFill>
                  <a:srgbClr val="8A919C"/>
                </a:solidFill>
                <a:latin typeface="Source Sans 3"/>
              </a:rPr>
              <a:t>ODC on Defects4J  ·  Thesis Defence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0" y="6437376"/>
            <a:ext cx="854964" cy="365760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400" b="0" i="0">
                <a:solidFill>
                  <a:srgbClr val="8A919C"/>
                </a:solidFill>
                <a:latin typeface="Source Sans 3"/>
              </a:rPr>
              <a:t>Context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55564" y="6437376"/>
            <a:ext cx="1239012" cy="365760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400" b="1" i="0">
                <a:solidFill>
                  <a:srgbClr val="12284C"/>
                </a:solidFill>
                <a:latin typeface="Source Sans 3"/>
              </a:rPr>
              <a:t>Methodology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747004" y="6757416"/>
            <a:ext cx="1056132" cy="32004"/>
          </a:xfrm>
          <a:prstGeom prst="rect">
            <a:avLst/>
          </a:prstGeom>
          <a:solidFill>
            <a:srgbClr val="12284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123176" y="6437376"/>
            <a:ext cx="854964" cy="365760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400" b="0" i="0">
                <a:solidFill>
                  <a:srgbClr val="8A919C"/>
                </a:solidFill>
                <a:latin typeface="Source Sans 3"/>
              </a:rPr>
              <a:t>Results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966960" y="6419088"/>
            <a:ext cx="1673352" cy="402336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800" b="1" i="0">
                <a:solidFill>
                  <a:srgbClr val="12284C"/>
                </a:solidFill>
                <a:latin typeface="Source Sans 3"/>
              </a:rPr>
              <a:t>14 / 24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1207008"/>
            <a:ext cx="11091672" cy="457200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700" b="0" i="0">
                <a:solidFill>
                  <a:srgbClr val="1C2128"/>
                </a:solidFill>
                <a:latin typeface="Source Sans 3"/>
              </a:rPr>
              <a:t>The post-fix run is the same classifier given </a:t>
            </a:r>
            <a:r>
              <a:rPr sz="1700" b="1" i="0">
                <a:solidFill>
                  <a:srgbClr val="12284C"/>
                </a:solidFill>
                <a:latin typeface="Source Sans 3"/>
              </a:rPr>
              <a:t>one extra piece of evidence: the developer’s fix.</a:t>
            </a:r>
            <a:r>
              <a:rPr sz="1700" b="0" i="0">
                <a:solidFill>
                  <a:srgbClr val="1C2128"/>
                </a:solidFill>
                <a:latin typeface="Source Sans 3"/>
              </a:rPr>
              <a:t> Four reasons make it the better-informed rater.</a:t>
            </a:r>
          </a:p>
        </p:txBody>
      </p:sp>
      <p:sp>
        <p:nvSpPr>
          <p:cNvPr id="15" name="Oval 14"/>
          <p:cNvSpPr/>
          <p:nvPr/>
        </p:nvSpPr>
        <p:spPr>
          <a:xfrm>
            <a:off x="548640" y="1856231"/>
            <a:ext cx="457200" cy="457200"/>
          </a:xfrm>
          <a:prstGeom prst="ellipse">
            <a:avLst/>
          </a:prstGeom>
          <a:solidFill>
            <a:srgbClr val="12284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48640" y="1856231"/>
            <a:ext cx="457200" cy="457200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800" b="1" i="0">
                <a:solidFill>
                  <a:srgbClr val="FFFFFF"/>
                </a:solidFill>
                <a:latin typeface="Source Sans 3"/>
              </a:rPr>
              <a:t>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88720" y="1810512"/>
            <a:ext cx="7863840" cy="411480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000" b="1" i="0">
                <a:solidFill>
                  <a:srgbClr val="12284C"/>
                </a:solidFill>
                <a:latin typeface="Source Sans 3"/>
              </a:rPr>
              <a:t>It sees what defines the answer.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88720" y="2231136"/>
            <a:ext cx="7863840" cy="640080"/>
          </a:xfrm>
          <a:prstGeom prst="rect">
            <a:avLst/>
          </a:prstGeom>
          <a:noFill/>
        </p:spPr>
        <p:txBody>
          <a:bodyPr wrap="square" lIns="27432" rIns="27432" tIns="27432" bIns="27432" anchor="t">
            <a:noAutofit/>
          </a:bodyPr>
          <a:lstStyle/>
          <a:p>
            <a:pPr algn="l">
              <a:lnSpc>
                <a:spcPct val="103000"/>
              </a:lnSpc>
              <a:spcAft>
                <a:spcPts val="0"/>
              </a:spcAft>
            </a:pPr>
            <a:r>
              <a:rPr sz="1600" b="0" i="0">
                <a:solidFill>
                  <a:srgbClr val="1C2128"/>
                </a:solidFill>
                <a:latin typeface="Source Sans 3"/>
              </a:rPr>
              <a:t>In ODC, the Defect Type is the nature of the correction [4, 15]. Pre-fix has to guess the correction from symptoms; post-fix can read it.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548640" y="2862072"/>
            <a:ext cx="11091672" cy="0"/>
          </a:xfrm>
          <a:prstGeom prst="line">
            <a:avLst/>
          </a:prstGeom>
          <a:ln w="9525">
            <a:solidFill>
              <a:srgbClr val="D5D9DF"/>
            </a:solidFill>
          </a:ln>
        </p:spPr>
      </p:cxnSp>
      <p:sp>
        <p:nvSpPr>
          <p:cNvPr id="20" name="Rectangle 19"/>
          <p:cNvSpPr/>
          <p:nvPr/>
        </p:nvSpPr>
        <p:spPr>
          <a:xfrm>
            <a:off x="9418320" y="1883664"/>
            <a:ext cx="2221992" cy="384048"/>
          </a:xfrm>
          <a:prstGeom prst="rect">
            <a:avLst/>
          </a:prstGeom>
          <a:solidFill>
            <a:srgbClr val="F7E6E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418320" y="1883664"/>
            <a:ext cx="2221992" cy="384048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400" b="0" i="0">
                <a:solidFill>
                  <a:srgbClr val="A23B3B"/>
                </a:solidFill>
                <a:latin typeface="Source Code Pro"/>
              </a:rPr>
              <a:t>− buggy line</a:t>
            </a:r>
          </a:p>
        </p:txBody>
      </p:sp>
      <p:sp>
        <p:nvSpPr>
          <p:cNvPr id="22" name="Rectangle 21"/>
          <p:cNvSpPr/>
          <p:nvPr/>
        </p:nvSpPr>
        <p:spPr>
          <a:xfrm>
            <a:off x="9418320" y="2340864"/>
            <a:ext cx="2221992" cy="384048"/>
          </a:xfrm>
          <a:prstGeom prst="rect">
            <a:avLst/>
          </a:prstGeom>
          <a:solidFill>
            <a:srgbClr val="E3F1E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418320" y="2340864"/>
            <a:ext cx="2221992" cy="384048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400" b="0" i="0">
                <a:solidFill>
                  <a:srgbClr val="2F7D4F"/>
                </a:solidFill>
                <a:latin typeface="Source Code Pro"/>
              </a:rPr>
              <a:t>+ fixed line</a:t>
            </a:r>
          </a:p>
        </p:txBody>
      </p:sp>
      <p:sp>
        <p:nvSpPr>
          <p:cNvPr id="24" name="Oval 23"/>
          <p:cNvSpPr/>
          <p:nvPr/>
        </p:nvSpPr>
        <p:spPr>
          <a:xfrm>
            <a:off x="548640" y="2971800"/>
            <a:ext cx="457200" cy="457200"/>
          </a:xfrm>
          <a:prstGeom prst="ellipse">
            <a:avLst/>
          </a:prstGeom>
          <a:solidFill>
            <a:srgbClr val="12284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48640" y="2971800"/>
            <a:ext cx="457200" cy="457200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800" b="1" i="0">
                <a:solidFill>
                  <a:srgbClr val="FFFFFF"/>
                </a:solidFill>
                <a:latin typeface="Source Sans 3"/>
              </a:rPr>
              <a:t>2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88720" y="2926080"/>
            <a:ext cx="7863840" cy="411480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000" b="1" i="0">
                <a:solidFill>
                  <a:srgbClr val="12284C"/>
                </a:solidFill>
                <a:latin typeface="Source Sans 3"/>
              </a:rPr>
              <a:t>More evidence makes raters agree.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88720" y="3346704"/>
            <a:ext cx="7863840" cy="640080"/>
          </a:xfrm>
          <a:prstGeom prst="rect">
            <a:avLst/>
          </a:prstGeom>
          <a:noFill/>
        </p:spPr>
        <p:txBody>
          <a:bodyPr wrap="square" lIns="27432" rIns="27432" tIns="27432" bIns="27432" anchor="t">
            <a:noAutofit/>
          </a:bodyPr>
          <a:lstStyle/>
          <a:p>
            <a:pPr algn="l">
              <a:lnSpc>
                <a:spcPct val="103000"/>
              </a:lnSpc>
              <a:spcAft>
                <a:spcPts val="0"/>
              </a:spcAft>
            </a:pPr>
            <a:r>
              <a:rPr sz="1600" b="0" i="0">
                <a:solidFill>
                  <a:srgbClr val="1C2128"/>
                </a:solidFill>
                <a:latin typeface="Source Sans 3"/>
              </a:rPr>
              <a:t>Human raters agree far more when they see the code and the change than when they read only a fault description [22–26].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548640" y="3977639"/>
            <a:ext cx="11091672" cy="0"/>
          </a:xfrm>
          <a:prstGeom prst="line">
            <a:avLst/>
          </a:prstGeom>
          <a:ln w="9525">
            <a:solidFill>
              <a:srgbClr val="D5D9DF"/>
            </a:solidFill>
          </a:ln>
        </p:spPr>
      </p:cxnSp>
      <p:sp>
        <p:nvSpPr>
          <p:cNvPr id="29" name="Rectangle 28"/>
          <p:cNvSpPr/>
          <p:nvPr/>
        </p:nvSpPr>
        <p:spPr>
          <a:xfrm>
            <a:off x="9555480" y="3777203"/>
            <a:ext cx="502920" cy="90708"/>
          </a:xfrm>
          <a:prstGeom prst="rect">
            <a:avLst/>
          </a:prstGeom>
          <a:solidFill>
            <a:srgbClr val="A23B3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418320" y="3502883"/>
            <a:ext cx="777240" cy="256032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300" b="1" i="0">
                <a:solidFill>
                  <a:srgbClr val="A23B3B"/>
                </a:solidFill>
                <a:latin typeface="Source Sans 3"/>
              </a:rPr>
              <a:t>κ 0.16</a:t>
            </a:r>
          </a:p>
        </p:txBody>
      </p:sp>
      <p:sp>
        <p:nvSpPr>
          <p:cNvPr id="31" name="Rectangle 30"/>
          <p:cNvSpPr/>
          <p:nvPr/>
        </p:nvSpPr>
        <p:spPr>
          <a:xfrm>
            <a:off x="10287000" y="3471062"/>
            <a:ext cx="502920" cy="396849"/>
          </a:xfrm>
          <a:prstGeom prst="rect">
            <a:avLst/>
          </a:prstGeom>
          <a:solidFill>
            <a:srgbClr val="B7791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0149840" y="3196742"/>
            <a:ext cx="777240" cy="256032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300" b="1" i="0">
                <a:solidFill>
                  <a:srgbClr val="B7791F"/>
                </a:solidFill>
                <a:latin typeface="Source Sans 3"/>
              </a:rPr>
              <a:t>κ 0.70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11018520" y="3340668"/>
            <a:ext cx="502920" cy="527243"/>
          </a:xfrm>
          <a:prstGeom prst="rect">
            <a:avLst/>
          </a:prstGeom>
          <a:solidFill>
            <a:srgbClr val="2F7D4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0881360" y="3066348"/>
            <a:ext cx="777240" cy="256032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300" b="1" i="0">
                <a:solidFill>
                  <a:srgbClr val="2F7D4F"/>
                </a:solidFill>
                <a:latin typeface="Source Sans 3"/>
              </a:rPr>
              <a:t>κ 0.93</a:t>
            </a:r>
          </a:p>
        </p:txBody>
      </p:sp>
      <p:cxnSp>
        <p:nvCxnSpPr>
          <p:cNvPr id="35" name="Connector 34"/>
          <p:cNvCxnSpPr/>
          <p:nvPr/>
        </p:nvCxnSpPr>
        <p:spPr>
          <a:xfrm>
            <a:off x="9418320" y="3867912"/>
            <a:ext cx="2221992" cy="0"/>
          </a:xfrm>
          <a:prstGeom prst="line">
            <a:avLst/>
          </a:prstGeom>
          <a:ln w="9525">
            <a:solidFill>
              <a:srgbClr val="8A919C"/>
            </a:solidFill>
          </a:ln>
        </p:spPr>
      </p:cxnSp>
      <p:sp>
        <p:nvSpPr>
          <p:cNvPr id="36" name="Oval 35"/>
          <p:cNvSpPr/>
          <p:nvPr/>
        </p:nvSpPr>
        <p:spPr>
          <a:xfrm>
            <a:off x="548640" y="4087368"/>
            <a:ext cx="457200" cy="457200"/>
          </a:xfrm>
          <a:prstGeom prst="ellipse">
            <a:avLst/>
          </a:prstGeom>
          <a:solidFill>
            <a:srgbClr val="12284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48640" y="4087368"/>
            <a:ext cx="457200" cy="457200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800" b="1" i="0">
                <a:solidFill>
                  <a:srgbClr val="FFFFFF"/>
                </a:solidFill>
                <a:latin typeface="Source Sans 3"/>
              </a:rPr>
              <a:t>3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188720" y="4041648"/>
            <a:ext cx="7863840" cy="411480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000" b="1" i="0">
                <a:solidFill>
                  <a:srgbClr val="12284C"/>
                </a:solidFill>
                <a:latin typeface="Source Sans 3"/>
              </a:rPr>
              <a:t>It points at one specific fault.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188720" y="4462272"/>
            <a:ext cx="7863840" cy="640080"/>
          </a:xfrm>
          <a:prstGeom prst="rect">
            <a:avLst/>
          </a:prstGeom>
          <a:noFill/>
        </p:spPr>
        <p:txBody>
          <a:bodyPr wrap="square" lIns="27432" rIns="27432" tIns="27432" bIns="27432" anchor="t">
            <a:noAutofit/>
          </a:bodyPr>
          <a:lstStyle/>
          <a:p>
            <a:pPr algn="l">
              <a:lnSpc>
                <a:spcPct val="103000"/>
              </a:lnSpc>
              <a:spcAft>
                <a:spcPts val="0"/>
              </a:spcAft>
            </a:pPr>
            <a:r>
              <a:rPr sz="1600" b="0" i="0">
                <a:solidFill>
                  <a:srgbClr val="1C2128"/>
                </a:solidFill>
                <a:latin typeface="Source Sans 3"/>
              </a:rPr>
              <a:t>A buggy version holds about 9.2 faults [29]. The fix diff shows exactly the one the benchmark bug is about.</a:t>
            </a:r>
          </a:p>
        </p:txBody>
      </p:sp>
      <p:cxnSp>
        <p:nvCxnSpPr>
          <p:cNvPr id="40" name="Connector 39"/>
          <p:cNvCxnSpPr/>
          <p:nvPr/>
        </p:nvCxnSpPr>
        <p:spPr>
          <a:xfrm>
            <a:off x="548640" y="5093208"/>
            <a:ext cx="11091672" cy="0"/>
          </a:xfrm>
          <a:prstGeom prst="line">
            <a:avLst/>
          </a:prstGeom>
          <a:ln w="9525">
            <a:solidFill>
              <a:srgbClr val="D5D9DF"/>
            </a:solidFill>
          </a:ln>
        </p:spPr>
      </p:cxnSp>
      <p:sp>
        <p:nvSpPr>
          <p:cNvPr id="41" name="Oval 40"/>
          <p:cNvSpPr/>
          <p:nvPr/>
        </p:nvSpPr>
        <p:spPr>
          <a:xfrm>
            <a:off x="9646920" y="4416552"/>
            <a:ext cx="173736" cy="173736"/>
          </a:xfrm>
          <a:prstGeom prst="ellipse">
            <a:avLst/>
          </a:prstGeom>
          <a:solidFill>
            <a:srgbClr val="B3B9C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2" name="Oval 41"/>
          <p:cNvSpPr/>
          <p:nvPr/>
        </p:nvSpPr>
        <p:spPr>
          <a:xfrm>
            <a:off x="9857232" y="4416552"/>
            <a:ext cx="173736" cy="173736"/>
          </a:xfrm>
          <a:prstGeom prst="ellipse">
            <a:avLst/>
          </a:prstGeom>
          <a:solidFill>
            <a:srgbClr val="B3B9C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3" name="Oval 42"/>
          <p:cNvSpPr/>
          <p:nvPr/>
        </p:nvSpPr>
        <p:spPr>
          <a:xfrm>
            <a:off x="10067544" y="4416552"/>
            <a:ext cx="173736" cy="173736"/>
          </a:xfrm>
          <a:prstGeom prst="ellipse">
            <a:avLst/>
          </a:prstGeom>
          <a:solidFill>
            <a:srgbClr val="B3B9C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4" name="Oval 43"/>
          <p:cNvSpPr/>
          <p:nvPr/>
        </p:nvSpPr>
        <p:spPr>
          <a:xfrm>
            <a:off x="10277856" y="4416552"/>
            <a:ext cx="173736" cy="173736"/>
          </a:xfrm>
          <a:prstGeom prst="ellipse">
            <a:avLst/>
          </a:prstGeom>
          <a:solidFill>
            <a:srgbClr val="B3B9C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5" name="Oval 44"/>
          <p:cNvSpPr/>
          <p:nvPr/>
        </p:nvSpPr>
        <p:spPr>
          <a:xfrm>
            <a:off x="10488168" y="4416552"/>
            <a:ext cx="173736" cy="173736"/>
          </a:xfrm>
          <a:prstGeom prst="ellipse">
            <a:avLst/>
          </a:prstGeom>
          <a:solidFill>
            <a:srgbClr val="2F7D4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6" name="Oval 45"/>
          <p:cNvSpPr/>
          <p:nvPr/>
        </p:nvSpPr>
        <p:spPr>
          <a:xfrm>
            <a:off x="10698480" y="4416552"/>
            <a:ext cx="173736" cy="173736"/>
          </a:xfrm>
          <a:prstGeom prst="ellipse">
            <a:avLst/>
          </a:prstGeom>
          <a:solidFill>
            <a:srgbClr val="B3B9C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7" name="Oval 46"/>
          <p:cNvSpPr/>
          <p:nvPr/>
        </p:nvSpPr>
        <p:spPr>
          <a:xfrm>
            <a:off x="10908792" y="4416552"/>
            <a:ext cx="173736" cy="173736"/>
          </a:xfrm>
          <a:prstGeom prst="ellipse">
            <a:avLst/>
          </a:prstGeom>
          <a:solidFill>
            <a:srgbClr val="B3B9C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8" name="Oval 47"/>
          <p:cNvSpPr/>
          <p:nvPr/>
        </p:nvSpPr>
        <p:spPr>
          <a:xfrm>
            <a:off x="11119104" y="4416552"/>
            <a:ext cx="173736" cy="173736"/>
          </a:xfrm>
          <a:prstGeom prst="ellipse">
            <a:avLst/>
          </a:prstGeom>
          <a:solidFill>
            <a:srgbClr val="B3B9C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9" name="Oval 48"/>
          <p:cNvSpPr/>
          <p:nvPr/>
        </p:nvSpPr>
        <p:spPr>
          <a:xfrm>
            <a:off x="11329416" y="4416552"/>
            <a:ext cx="173736" cy="173736"/>
          </a:xfrm>
          <a:prstGeom prst="ellipse">
            <a:avLst/>
          </a:prstGeom>
          <a:solidFill>
            <a:srgbClr val="B3B9C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9418320" y="4645152"/>
            <a:ext cx="2221992" cy="310896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400" b="1" i="0">
                <a:solidFill>
                  <a:srgbClr val="2F7D4F"/>
                </a:solidFill>
                <a:latin typeface="Source Sans 3"/>
              </a:rPr>
              <a:t>the fix repairs one</a:t>
            </a:r>
          </a:p>
        </p:txBody>
      </p:sp>
      <p:sp>
        <p:nvSpPr>
          <p:cNvPr id="51" name="Oval 50"/>
          <p:cNvSpPr/>
          <p:nvPr/>
        </p:nvSpPr>
        <p:spPr>
          <a:xfrm>
            <a:off x="548640" y="5202936"/>
            <a:ext cx="457200" cy="457200"/>
          </a:xfrm>
          <a:prstGeom prst="ellipse">
            <a:avLst/>
          </a:prstGeom>
          <a:solidFill>
            <a:srgbClr val="12284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548640" y="5202936"/>
            <a:ext cx="457200" cy="457200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800" b="1" i="0">
                <a:solidFill>
                  <a:srgbClr val="FFFFFF"/>
                </a:solidFill>
                <a:latin typeface="Source Sans 3"/>
              </a:rPr>
              <a:t>4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188720" y="5157216"/>
            <a:ext cx="7863840" cy="411480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000" b="1" i="0">
                <a:solidFill>
                  <a:srgbClr val="12284C"/>
                </a:solidFill>
                <a:latin typeface="Source Sans 3"/>
              </a:rPr>
              <a:t>Nothing else changes.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188720" y="5577840"/>
            <a:ext cx="7863840" cy="640080"/>
          </a:xfrm>
          <a:prstGeom prst="rect">
            <a:avLst/>
          </a:prstGeom>
          <a:noFill/>
        </p:spPr>
        <p:txBody>
          <a:bodyPr wrap="square" lIns="27432" rIns="27432" tIns="27432" bIns="27432" anchor="t">
            <a:noAutofit/>
          </a:bodyPr>
          <a:lstStyle/>
          <a:p>
            <a:pPr algn="l">
              <a:lnSpc>
                <a:spcPct val="103000"/>
              </a:lnSpc>
              <a:spcAft>
                <a:spcPts val="0"/>
              </a:spcAft>
            </a:pPr>
            <a:r>
              <a:rPr sz="1600" b="0" i="0">
                <a:solidFill>
                  <a:srgbClr val="1C2128"/>
                </a:solidFill>
                <a:latin typeface="Source Sans 3"/>
              </a:rPr>
              <a:t>Same model, same prompt, same taxonomy, same evidence. Any difference between the two labels comes from the fix alone.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9418320" y="5230368"/>
            <a:ext cx="777240" cy="384048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00" b="1" i="0">
                <a:solidFill>
                  <a:srgbClr val="A23B3B"/>
                </a:solidFill>
                <a:latin typeface="Source Sans 3"/>
              </a:rPr>
              <a:t>pre-fix</a:t>
            </a:r>
          </a:p>
        </p:txBody>
      </p:sp>
      <p:sp>
        <p:nvSpPr>
          <p:cNvPr id="56" name="Rectangle 55"/>
          <p:cNvSpPr/>
          <p:nvPr/>
        </p:nvSpPr>
        <p:spPr>
          <a:xfrm>
            <a:off x="10241280" y="5303520"/>
            <a:ext cx="237744" cy="237744"/>
          </a:xfrm>
          <a:prstGeom prst="rect">
            <a:avLst/>
          </a:prstGeom>
          <a:solidFill>
            <a:srgbClr val="B3B9C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10543032" y="5303520"/>
            <a:ext cx="237744" cy="237744"/>
          </a:xfrm>
          <a:prstGeom prst="rect">
            <a:avLst/>
          </a:prstGeom>
          <a:solidFill>
            <a:srgbClr val="B3B9C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8" name="Rectangle 57"/>
          <p:cNvSpPr/>
          <p:nvPr/>
        </p:nvSpPr>
        <p:spPr>
          <a:xfrm>
            <a:off x="10844784" y="5303520"/>
            <a:ext cx="237744" cy="237744"/>
          </a:xfrm>
          <a:prstGeom prst="rect">
            <a:avLst/>
          </a:prstGeom>
          <a:solidFill>
            <a:srgbClr val="B3B9C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9418320" y="5687568"/>
            <a:ext cx="777240" cy="384048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00" b="1" i="0">
                <a:solidFill>
                  <a:srgbClr val="2F7D4F"/>
                </a:solidFill>
                <a:latin typeface="Source Sans 3"/>
              </a:rPr>
              <a:t>post-fix</a:t>
            </a:r>
          </a:p>
        </p:txBody>
      </p:sp>
      <p:sp>
        <p:nvSpPr>
          <p:cNvPr id="60" name="Rectangle 59"/>
          <p:cNvSpPr/>
          <p:nvPr/>
        </p:nvSpPr>
        <p:spPr>
          <a:xfrm>
            <a:off x="10241280" y="5760720"/>
            <a:ext cx="237744" cy="237744"/>
          </a:xfrm>
          <a:prstGeom prst="rect">
            <a:avLst/>
          </a:prstGeom>
          <a:solidFill>
            <a:srgbClr val="B3B9C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10543032" y="5760720"/>
            <a:ext cx="237744" cy="237744"/>
          </a:xfrm>
          <a:prstGeom prst="rect">
            <a:avLst/>
          </a:prstGeom>
          <a:solidFill>
            <a:srgbClr val="B3B9C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10844784" y="5760720"/>
            <a:ext cx="237744" cy="237744"/>
          </a:xfrm>
          <a:prstGeom prst="rect">
            <a:avLst/>
          </a:prstGeom>
          <a:solidFill>
            <a:srgbClr val="B3B9C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3" name="Rectangle 62"/>
          <p:cNvSpPr/>
          <p:nvPr/>
        </p:nvSpPr>
        <p:spPr>
          <a:xfrm>
            <a:off x="11146536" y="5760720"/>
            <a:ext cx="475488" cy="237744"/>
          </a:xfrm>
          <a:prstGeom prst="rect">
            <a:avLst/>
          </a:prstGeom>
          <a:solidFill>
            <a:srgbClr val="2F7D4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11146536" y="5760720"/>
            <a:ext cx="475488" cy="237744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  <a:latin typeface="Source Sans 3"/>
              </a:rPr>
              <a:t>+fix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74320"/>
            <a:ext cx="10332720" cy="731520"/>
          </a:xfrm>
          <a:prstGeom prst="rect">
            <a:avLst/>
          </a:prstGeom>
          <a:noFill/>
        </p:spPr>
        <p:txBody>
          <a:bodyPr wrap="square" lIns="27432" rIns="27432" tIns="27432" bIns="27432" anchor="b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000" b="1" i="0">
                <a:solidFill>
                  <a:srgbClr val="12284C"/>
                </a:solidFill>
                <a:latin typeface="Source Sans 3"/>
              </a:rPr>
              <a:t>Experimental Setup</a:t>
            </a:r>
          </a:p>
        </p:txBody>
      </p:sp>
      <p:pic>
        <p:nvPicPr>
          <p:cNvPr id="4" name="Picture 3" descr="iut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228832" y="292608"/>
            <a:ext cx="433472" cy="713232"/>
          </a:xfrm>
          <a:prstGeom prst="rect">
            <a:avLst/>
          </a:prstGeom>
        </p:spPr>
      </p:pic>
      <p:cxnSp>
        <p:nvCxnSpPr>
          <p:cNvPr id="5" name="Connector 4"/>
          <p:cNvCxnSpPr/>
          <p:nvPr/>
        </p:nvCxnSpPr>
        <p:spPr>
          <a:xfrm>
            <a:off x="548640" y="1078992"/>
            <a:ext cx="11091672" cy="0"/>
          </a:xfrm>
          <a:prstGeom prst="line">
            <a:avLst/>
          </a:prstGeom>
          <a:ln w="9525">
            <a:solidFill>
              <a:srgbClr val="D5D9DF"/>
            </a:solidFill>
          </a:ln>
        </p:spPr>
      </p:cxnSp>
      <p:sp>
        <p:nvSpPr>
          <p:cNvPr id="6" name="Rectangle 5"/>
          <p:cNvSpPr/>
          <p:nvPr/>
        </p:nvSpPr>
        <p:spPr>
          <a:xfrm>
            <a:off x="548640" y="1060704"/>
            <a:ext cx="914400" cy="41148"/>
          </a:xfrm>
          <a:prstGeom prst="rect">
            <a:avLst/>
          </a:prstGeom>
          <a:solidFill>
            <a:srgbClr val="12284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>
            <a:off x="548640" y="6400800"/>
            <a:ext cx="11091672" cy="0"/>
          </a:xfrm>
          <a:prstGeom prst="line">
            <a:avLst/>
          </a:prstGeom>
          <a:ln w="9525">
            <a:solidFill>
              <a:srgbClr val="D5D9DF"/>
            </a:solidFill>
          </a:ln>
        </p:spPr>
      </p:cxnSp>
      <p:sp>
        <p:nvSpPr>
          <p:cNvPr id="8" name="TextBox 7"/>
          <p:cNvSpPr txBox="1"/>
          <p:nvPr/>
        </p:nvSpPr>
        <p:spPr>
          <a:xfrm>
            <a:off x="548640" y="6437376"/>
            <a:ext cx="3931920" cy="365760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00" b="0" i="0">
                <a:solidFill>
                  <a:srgbClr val="8A919C"/>
                </a:solidFill>
                <a:latin typeface="Source Sans 3"/>
              </a:rPr>
              <a:t>ODC on Defects4J  ·  Thesis Defence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0" y="6437376"/>
            <a:ext cx="854964" cy="365760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400" b="0" i="0">
                <a:solidFill>
                  <a:srgbClr val="8A919C"/>
                </a:solidFill>
                <a:latin typeface="Source Sans 3"/>
              </a:rPr>
              <a:t>Context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55564" y="6437376"/>
            <a:ext cx="1239012" cy="365760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400" b="1" i="0">
                <a:solidFill>
                  <a:srgbClr val="12284C"/>
                </a:solidFill>
                <a:latin typeface="Source Sans 3"/>
              </a:rPr>
              <a:t>Methodology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747004" y="6757416"/>
            <a:ext cx="1056132" cy="32004"/>
          </a:xfrm>
          <a:prstGeom prst="rect">
            <a:avLst/>
          </a:prstGeom>
          <a:solidFill>
            <a:srgbClr val="12284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123176" y="6437376"/>
            <a:ext cx="854964" cy="365760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400" b="0" i="0">
                <a:solidFill>
                  <a:srgbClr val="8A919C"/>
                </a:solidFill>
                <a:latin typeface="Source Sans 3"/>
              </a:rPr>
              <a:t>Results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966960" y="6419088"/>
            <a:ext cx="1673352" cy="402336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800" b="1" i="0">
                <a:solidFill>
                  <a:srgbClr val="12284C"/>
                </a:solidFill>
                <a:latin typeface="Source Sans 3"/>
              </a:rPr>
              <a:t>15 / 24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1280160"/>
            <a:ext cx="4754880" cy="329184"/>
          </a:xfrm>
          <a:prstGeom prst="rect">
            <a:avLst/>
          </a:prstGeom>
          <a:noFill/>
        </p:spPr>
        <p:txBody>
          <a:bodyPr wrap="square" lIns="27432" rIns="27432" tIns="27432" bIns="27432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00" b="1" i="0">
                <a:solidFill>
                  <a:srgbClr val="5A6270"/>
                </a:solidFill>
                <a:latin typeface="Source Sans 3"/>
              </a:rPr>
              <a:t>410 BUGS FROM 6 PROJECTS  ·  ONE SQUARE PER BUG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48640" y="1691640"/>
            <a:ext cx="128016" cy="128016"/>
          </a:xfrm>
          <a:prstGeom prst="rect">
            <a:avLst/>
          </a:prstGeom>
          <a:solidFill>
            <a:srgbClr val="12284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713232" y="1691640"/>
            <a:ext cx="128016" cy="128016"/>
          </a:xfrm>
          <a:prstGeom prst="rect">
            <a:avLst/>
          </a:prstGeom>
          <a:solidFill>
            <a:srgbClr val="12284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7824" y="1691640"/>
            <a:ext cx="128016" cy="128016"/>
          </a:xfrm>
          <a:prstGeom prst="rect">
            <a:avLst/>
          </a:prstGeom>
          <a:solidFill>
            <a:srgbClr val="12284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1042416" y="1691640"/>
            <a:ext cx="128016" cy="128016"/>
          </a:xfrm>
          <a:prstGeom prst="rect">
            <a:avLst/>
          </a:prstGeom>
          <a:solidFill>
            <a:srgbClr val="12284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1207008" y="1691640"/>
            <a:ext cx="128016" cy="128016"/>
          </a:xfrm>
          <a:prstGeom prst="rect">
            <a:avLst/>
          </a:prstGeom>
          <a:solidFill>
            <a:srgbClr val="12284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1371600" y="1691640"/>
            <a:ext cx="128016" cy="128016"/>
          </a:xfrm>
          <a:prstGeom prst="rect">
            <a:avLst/>
          </a:prstGeom>
          <a:solidFill>
            <a:srgbClr val="12284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1536192" y="1691640"/>
            <a:ext cx="128016" cy="128016"/>
          </a:xfrm>
          <a:prstGeom prst="rect">
            <a:avLst/>
          </a:prstGeom>
          <a:solidFill>
            <a:srgbClr val="12284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1700784" y="1691640"/>
            <a:ext cx="128016" cy="128016"/>
          </a:xfrm>
          <a:prstGeom prst="rect">
            <a:avLst/>
          </a:prstGeom>
          <a:solidFill>
            <a:srgbClr val="12284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1865376" y="1691640"/>
            <a:ext cx="128016" cy="128016"/>
          </a:xfrm>
          <a:prstGeom prst="rect">
            <a:avLst/>
          </a:prstGeom>
          <a:solidFill>
            <a:srgbClr val="12284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2029968" y="1691640"/>
            <a:ext cx="128016" cy="128016"/>
          </a:xfrm>
          <a:prstGeom prst="rect">
            <a:avLst/>
          </a:prstGeom>
          <a:solidFill>
            <a:srgbClr val="12284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2194560" y="1691640"/>
            <a:ext cx="128016" cy="128016"/>
          </a:xfrm>
          <a:prstGeom prst="rect">
            <a:avLst/>
          </a:prstGeom>
          <a:solidFill>
            <a:srgbClr val="12284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2359152" y="1691640"/>
            <a:ext cx="128016" cy="128016"/>
          </a:xfrm>
          <a:prstGeom prst="rect">
            <a:avLst/>
          </a:prstGeom>
          <a:solidFill>
            <a:srgbClr val="12284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2523744" y="1691640"/>
            <a:ext cx="128016" cy="128016"/>
          </a:xfrm>
          <a:prstGeom prst="rect">
            <a:avLst/>
          </a:prstGeom>
          <a:solidFill>
            <a:srgbClr val="12284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2688336" y="1691640"/>
            <a:ext cx="128016" cy="128016"/>
          </a:xfrm>
          <a:prstGeom prst="rect">
            <a:avLst/>
          </a:prstGeom>
          <a:solidFill>
            <a:srgbClr val="12284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2852928" y="1691640"/>
            <a:ext cx="128016" cy="128016"/>
          </a:xfrm>
          <a:prstGeom prst="rect">
            <a:avLst/>
          </a:prstGeom>
          <a:solidFill>
            <a:srgbClr val="12284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3017520" y="1691640"/>
            <a:ext cx="128016" cy="128016"/>
          </a:xfrm>
          <a:prstGeom prst="rect">
            <a:avLst/>
          </a:prstGeom>
          <a:solidFill>
            <a:srgbClr val="12284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3182112" y="1691640"/>
            <a:ext cx="128016" cy="128016"/>
          </a:xfrm>
          <a:prstGeom prst="rect">
            <a:avLst/>
          </a:prstGeom>
          <a:solidFill>
            <a:srgbClr val="12284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3346704" y="1691640"/>
            <a:ext cx="128016" cy="128016"/>
          </a:xfrm>
          <a:prstGeom prst="rect">
            <a:avLst/>
          </a:prstGeom>
          <a:solidFill>
            <a:srgbClr val="12284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3511296" y="1691640"/>
            <a:ext cx="128016" cy="128016"/>
          </a:xfrm>
          <a:prstGeom prst="rect">
            <a:avLst/>
          </a:prstGeom>
          <a:solidFill>
            <a:srgbClr val="12284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3675888" y="1691640"/>
            <a:ext cx="128016" cy="128016"/>
          </a:xfrm>
          <a:prstGeom prst="rect">
            <a:avLst/>
          </a:prstGeom>
          <a:solidFill>
            <a:srgbClr val="12284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3840480" y="1691640"/>
            <a:ext cx="128016" cy="128016"/>
          </a:xfrm>
          <a:prstGeom prst="rect">
            <a:avLst/>
          </a:prstGeom>
          <a:solidFill>
            <a:srgbClr val="12284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4005072" y="1691640"/>
            <a:ext cx="128016" cy="128016"/>
          </a:xfrm>
          <a:prstGeom prst="rect">
            <a:avLst/>
          </a:prstGeom>
          <a:solidFill>
            <a:srgbClr val="12284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4169664" y="1691640"/>
            <a:ext cx="128016" cy="128016"/>
          </a:xfrm>
          <a:prstGeom prst="rect">
            <a:avLst/>
          </a:prstGeom>
          <a:solidFill>
            <a:srgbClr val="12284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4334256" y="1691640"/>
            <a:ext cx="128016" cy="128016"/>
          </a:xfrm>
          <a:prstGeom prst="rect">
            <a:avLst/>
          </a:prstGeom>
          <a:solidFill>
            <a:srgbClr val="12284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4498848" y="1691640"/>
            <a:ext cx="128016" cy="128016"/>
          </a:xfrm>
          <a:prstGeom prst="rect">
            <a:avLst/>
          </a:prstGeom>
          <a:solidFill>
            <a:srgbClr val="12284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4663440" y="1691640"/>
            <a:ext cx="128016" cy="128016"/>
          </a:xfrm>
          <a:prstGeom prst="rect">
            <a:avLst/>
          </a:prstGeom>
          <a:solidFill>
            <a:srgbClr val="12284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4828032" y="1691640"/>
            <a:ext cx="128016" cy="128016"/>
          </a:xfrm>
          <a:prstGeom prst="rect">
            <a:avLst/>
          </a:prstGeom>
          <a:solidFill>
            <a:srgbClr val="12284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4992624" y="1691640"/>
            <a:ext cx="128016" cy="128016"/>
          </a:xfrm>
          <a:prstGeom prst="rect">
            <a:avLst/>
          </a:prstGeom>
          <a:solidFill>
            <a:srgbClr val="12284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548640" y="1856232"/>
            <a:ext cx="128016" cy="128016"/>
          </a:xfrm>
          <a:prstGeom prst="rect">
            <a:avLst/>
          </a:prstGeom>
          <a:solidFill>
            <a:srgbClr val="12284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713232" y="1856232"/>
            <a:ext cx="128016" cy="128016"/>
          </a:xfrm>
          <a:prstGeom prst="rect">
            <a:avLst/>
          </a:prstGeom>
          <a:solidFill>
            <a:srgbClr val="12284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877824" y="1856232"/>
            <a:ext cx="128016" cy="128016"/>
          </a:xfrm>
          <a:prstGeom prst="rect">
            <a:avLst/>
          </a:prstGeom>
          <a:solidFill>
            <a:srgbClr val="12284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1042416" y="1856232"/>
            <a:ext cx="128016" cy="128016"/>
          </a:xfrm>
          <a:prstGeom prst="rect">
            <a:avLst/>
          </a:prstGeom>
          <a:solidFill>
            <a:srgbClr val="12284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1207008" y="1856232"/>
            <a:ext cx="128016" cy="128016"/>
          </a:xfrm>
          <a:prstGeom prst="rect">
            <a:avLst/>
          </a:prstGeom>
          <a:solidFill>
            <a:srgbClr val="12284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1371600" y="1856232"/>
            <a:ext cx="128016" cy="128016"/>
          </a:xfrm>
          <a:prstGeom prst="rect">
            <a:avLst/>
          </a:prstGeom>
          <a:solidFill>
            <a:srgbClr val="12284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1536192" y="1856232"/>
            <a:ext cx="128016" cy="128016"/>
          </a:xfrm>
          <a:prstGeom prst="rect">
            <a:avLst/>
          </a:prstGeom>
          <a:solidFill>
            <a:srgbClr val="12284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1700784" y="1856232"/>
            <a:ext cx="128016" cy="128016"/>
          </a:xfrm>
          <a:prstGeom prst="rect">
            <a:avLst/>
          </a:prstGeom>
          <a:solidFill>
            <a:srgbClr val="12284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1865376" y="1856232"/>
            <a:ext cx="128016" cy="128016"/>
          </a:xfrm>
          <a:prstGeom prst="rect">
            <a:avLst/>
          </a:prstGeom>
          <a:solidFill>
            <a:srgbClr val="12284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2029968" y="1856232"/>
            <a:ext cx="128016" cy="128016"/>
          </a:xfrm>
          <a:prstGeom prst="rect">
            <a:avLst/>
          </a:prstGeom>
          <a:solidFill>
            <a:srgbClr val="12284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2194560" y="1856232"/>
            <a:ext cx="128016" cy="128016"/>
          </a:xfrm>
          <a:prstGeom prst="rect">
            <a:avLst/>
          </a:prstGeom>
          <a:solidFill>
            <a:srgbClr val="12284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2359152" y="1856232"/>
            <a:ext cx="128016" cy="128016"/>
          </a:xfrm>
          <a:prstGeom prst="rect">
            <a:avLst/>
          </a:prstGeom>
          <a:solidFill>
            <a:srgbClr val="12284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2523744" y="1856232"/>
            <a:ext cx="128016" cy="128016"/>
          </a:xfrm>
          <a:prstGeom prst="rect">
            <a:avLst/>
          </a:prstGeom>
          <a:solidFill>
            <a:srgbClr val="12284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2688336" y="1856232"/>
            <a:ext cx="128016" cy="128016"/>
          </a:xfrm>
          <a:prstGeom prst="rect">
            <a:avLst/>
          </a:prstGeom>
          <a:solidFill>
            <a:srgbClr val="12284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2852928" y="1856232"/>
            <a:ext cx="128016" cy="128016"/>
          </a:xfrm>
          <a:prstGeom prst="rect">
            <a:avLst/>
          </a:prstGeom>
          <a:solidFill>
            <a:srgbClr val="12284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8" name="Rectangle 57"/>
          <p:cNvSpPr/>
          <p:nvPr/>
        </p:nvSpPr>
        <p:spPr>
          <a:xfrm>
            <a:off x="3017520" y="1856232"/>
            <a:ext cx="128016" cy="128016"/>
          </a:xfrm>
          <a:prstGeom prst="rect">
            <a:avLst/>
          </a:prstGeom>
          <a:solidFill>
            <a:srgbClr val="12284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9" name="Rectangle 58"/>
          <p:cNvSpPr/>
          <p:nvPr/>
        </p:nvSpPr>
        <p:spPr>
          <a:xfrm>
            <a:off x="3182112" y="1856232"/>
            <a:ext cx="128016" cy="128016"/>
          </a:xfrm>
          <a:prstGeom prst="rect">
            <a:avLst/>
          </a:prstGeom>
          <a:solidFill>
            <a:srgbClr val="12284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0" name="Rectangle 59"/>
          <p:cNvSpPr/>
          <p:nvPr/>
        </p:nvSpPr>
        <p:spPr>
          <a:xfrm>
            <a:off x="3346704" y="1856232"/>
            <a:ext cx="128016" cy="128016"/>
          </a:xfrm>
          <a:prstGeom prst="rect">
            <a:avLst/>
          </a:prstGeom>
          <a:solidFill>
            <a:srgbClr val="12284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3511296" y="1856232"/>
            <a:ext cx="128016" cy="128016"/>
          </a:xfrm>
          <a:prstGeom prst="rect">
            <a:avLst/>
          </a:prstGeom>
          <a:solidFill>
            <a:srgbClr val="12284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3675888" y="1856232"/>
            <a:ext cx="128016" cy="128016"/>
          </a:xfrm>
          <a:prstGeom prst="rect">
            <a:avLst/>
          </a:prstGeom>
          <a:solidFill>
            <a:srgbClr val="12284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3" name="Rectangle 62"/>
          <p:cNvSpPr/>
          <p:nvPr/>
        </p:nvSpPr>
        <p:spPr>
          <a:xfrm>
            <a:off x="3840480" y="1856232"/>
            <a:ext cx="128016" cy="128016"/>
          </a:xfrm>
          <a:prstGeom prst="rect">
            <a:avLst/>
          </a:prstGeom>
          <a:solidFill>
            <a:srgbClr val="12284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4" name="Rectangle 63"/>
          <p:cNvSpPr/>
          <p:nvPr/>
        </p:nvSpPr>
        <p:spPr>
          <a:xfrm>
            <a:off x="4005072" y="1856232"/>
            <a:ext cx="128016" cy="128016"/>
          </a:xfrm>
          <a:prstGeom prst="rect">
            <a:avLst/>
          </a:prstGeom>
          <a:solidFill>
            <a:srgbClr val="12284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5" name="Rectangle 64"/>
          <p:cNvSpPr/>
          <p:nvPr/>
        </p:nvSpPr>
        <p:spPr>
          <a:xfrm>
            <a:off x="4169664" y="1856232"/>
            <a:ext cx="128016" cy="128016"/>
          </a:xfrm>
          <a:prstGeom prst="rect">
            <a:avLst/>
          </a:prstGeom>
          <a:solidFill>
            <a:srgbClr val="12284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6" name="Rectangle 65"/>
          <p:cNvSpPr/>
          <p:nvPr/>
        </p:nvSpPr>
        <p:spPr>
          <a:xfrm>
            <a:off x="4334256" y="1856232"/>
            <a:ext cx="128016" cy="128016"/>
          </a:xfrm>
          <a:prstGeom prst="rect">
            <a:avLst/>
          </a:prstGeom>
          <a:solidFill>
            <a:srgbClr val="12284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7" name="Rectangle 66"/>
          <p:cNvSpPr/>
          <p:nvPr/>
        </p:nvSpPr>
        <p:spPr>
          <a:xfrm>
            <a:off x="4498848" y="1856232"/>
            <a:ext cx="128016" cy="128016"/>
          </a:xfrm>
          <a:prstGeom prst="rect">
            <a:avLst/>
          </a:prstGeom>
          <a:solidFill>
            <a:srgbClr val="12284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8" name="Rectangle 67"/>
          <p:cNvSpPr/>
          <p:nvPr/>
        </p:nvSpPr>
        <p:spPr>
          <a:xfrm>
            <a:off x="4663440" y="1856232"/>
            <a:ext cx="128016" cy="128016"/>
          </a:xfrm>
          <a:prstGeom prst="rect">
            <a:avLst/>
          </a:prstGeom>
          <a:solidFill>
            <a:srgbClr val="12284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9" name="Rectangle 68"/>
          <p:cNvSpPr/>
          <p:nvPr/>
        </p:nvSpPr>
        <p:spPr>
          <a:xfrm>
            <a:off x="4828032" y="1856232"/>
            <a:ext cx="128016" cy="128016"/>
          </a:xfrm>
          <a:prstGeom prst="rect">
            <a:avLst/>
          </a:prstGeom>
          <a:solidFill>
            <a:srgbClr val="12284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0" name="Rectangle 69"/>
          <p:cNvSpPr/>
          <p:nvPr/>
        </p:nvSpPr>
        <p:spPr>
          <a:xfrm>
            <a:off x="4992624" y="1856232"/>
            <a:ext cx="128016" cy="128016"/>
          </a:xfrm>
          <a:prstGeom prst="rect">
            <a:avLst/>
          </a:prstGeom>
          <a:solidFill>
            <a:srgbClr val="12284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1" name="Rectangle 70"/>
          <p:cNvSpPr/>
          <p:nvPr/>
        </p:nvSpPr>
        <p:spPr>
          <a:xfrm>
            <a:off x="548640" y="2020824"/>
            <a:ext cx="128016" cy="128016"/>
          </a:xfrm>
          <a:prstGeom prst="rect">
            <a:avLst/>
          </a:prstGeom>
          <a:solidFill>
            <a:srgbClr val="12284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2" name="Rectangle 71"/>
          <p:cNvSpPr/>
          <p:nvPr/>
        </p:nvSpPr>
        <p:spPr>
          <a:xfrm>
            <a:off x="713232" y="2020824"/>
            <a:ext cx="128016" cy="128016"/>
          </a:xfrm>
          <a:prstGeom prst="rect">
            <a:avLst/>
          </a:prstGeom>
          <a:solidFill>
            <a:srgbClr val="12284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3" name="Rectangle 72"/>
          <p:cNvSpPr/>
          <p:nvPr/>
        </p:nvSpPr>
        <p:spPr>
          <a:xfrm>
            <a:off x="877824" y="2020824"/>
            <a:ext cx="128016" cy="128016"/>
          </a:xfrm>
          <a:prstGeom prst="rect">
            <a:avLst/>
          </a:prstGeom>
          <a:solidFill>
            <a:srgbClr val="12284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4" name="Rectangle 73"/>
          <p:cNvSpPr/>
          <p:nvPr/>
        </p:nvSpPr>
        <p:spPr>
          <a:xfrm>
            <a:off x="1042416" y="2020824"/>
            <a:ext cx="128016" cy="128016"/>
          </a:xfrm>
          <a:prstGeom prst="rect">
            <a:avLst/>
          </a:prstGeom>
          <a:solidFill>
            <a:srgbClr val="12284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5" name="Rectangle 74"/>
          <p:cNvSpPr/>
          <p:nvPr/>
        </p:nvSpPr>
        <p:spPr>
          <a:xfrm>
            <a:off x="1207008" y="2020824"/>
            <a:ext cx="128016" cy="128016"/>
          </a:xfrm>
          <a:prstGeom prst="rect">
            <a:avLst/>
          </a:prstGeom>
          <a:solidFill>
            <a:srgbClr val="12284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6" name="Rectangle 75"/>
          <p:cNvSpPr/>
          <p:nvPr/>
        </p:nvSpPr>
        <p:spPr>
          <a:xfrm>
            <a:off x="1371600" y="2020824"/>
            <a:ext cx="128016" cy="128016"/>
          </a:xfrm>
          <a:prstGeom prst="rect">
            <a:avLst/>
          </a:prstGeom>
          <a:solidFill>
            <a:srgbClr val="12284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7" name="Rectangle 76"/>
          <p:cNvSpPr/>
          <p:nvPr/>
        </p:nvSpPr>
        <p:spPr>
          <a:xfrm>
            <a:off x="1536192" y="2020824"/>
            <a:ext cx="128016" cy="128016"/>
          </a:xfrm>
          <a:prstGeom prst="rect">
            <a:avLst/>
          </a:prstGeom>
          <a:solidFill>
            <a:srgbClr val="12284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8" name="Rectangle 77"/>
          <p:cNvSpPr/>
          <p:nvPr/>
        </p:nvSpPr>
        <p:spPr>
          <a:xfrm>
            <a:off x="1700784" y="2020824"/>
            <a:ext cx="128016" cy="128016"/>
          </a:xfrm>
          <a:prstGeom prst="rect">
            <a:avLst/>
          </a:prstGeom>
          <a:solidFill>
            <a:srgbClr val="12284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9" name="Rectangle 78"/>
          <p:cNvSpPr/>
          <p:nvPr/>
        </p:nvSpPr>
        <p:spPr>
          <a:xfrm>
            <a:off x="1865376" y="2020824"/>
            <a:ext cx="128016" cy="128016"/>
          </a:xfrm>
          <a:prstGeom prst="rect">
            <a:avLst/>
          </a:prstGeom>
          <a:solidFill>
            <a:srgbClr val="12284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0" name="Rectangle 79"/>
          <p:cNvSpPr/>
          <p:nvPr/>
        </p:nvSpPr>
        <p:spPr>
          <a:xfrm>
            <a:off x="2029968" y="2020824"/>
            <a:ext cx="128016" cy="128016"/>
          </a:xfrm>
          <a:prstGeom prst="rect">
            <a:avLst/>
          </a:prstGeom>
          <a:solidFill>
            <a:srgbClr val="12284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1" name="Rectangle 80"/>
          <p:cNvSpPr/>
          <p:nvPr/>
        </p:nvSpPr>
        <p:spPr>
          <a:xfrm>
            <a:off x="2194560" y="2020824"/>
            <a:ext cx="128016" cy="128016"/>
          </a:xfrm>
          <a:prstGeom prst="rect">
            <a:avLst/>
          </a:prstGeom>
          <a:solidFill>
            <a:srgbClr val="12284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2" name="Rectangle 81"/>
          <p:cNvSpPr/>
          <p:nvPr/>
        </p:nvSpPr>
        <p:spPr>
          <a:xfrm>
            <a:off x="2359152" y="2020824"/>
            <a:ext cx="128016" cy="128016"/>
          </a:xfrm>
          <a:prstGeom prst="rect">
            <a:avLst/>
          </a:prstGeom>
          <a:solidFill>
            <a:srgbClr val="12284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3" name="Rectangle 82"/>
          <p:cNvSpPr/>
          <p:nvPr/>
        </p:nvSpPr>
        <p:spPr>
          <a:xfrm>
            <a:off x="2523744" y="2020824"/>
            <a:ext cx="128016" cy="128016"/>
          </a:xfrm>
          <a:prstGeom prst="rect">
            <a:avLst/>
          </a:prstGeom>
          <a:solidFill>
            <a:srgbClr val="12284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4" name="Rectangle 83"/>
          <p:cNvSpPr/>
          <p:nvPr/>
        </p:nvSpPr>
        <p:spPr>
          <a:xfrm>
            <a:off x="2688336" y="2020824"/>
            <a:ext cx="128016" cy="128016"/>
          </a:xfrm>
          <a:prstGeom prst="rect">
            <a:avLst/>
          </a:prstGeom>
          <a:solidFill>
            <a:srgbClr val="12284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5" name="Rectangle 84"/>
          <p:cNvSpPr/>
          <p:nvPr/>
        </p:nvSpPr>
        <p:spPr>
          <a:xfrm>
            <a:off x="2852928" y="2020824"/>
            <a:ext cx="128016" cy="128016"/>
          </a:xfrm>
          <a:prstGeom prst="rect">
            <a:avLst/>
          </a:prstGeom>
          <a:solidFill>
            <a:srgbClr val="12284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6" name="Rectangle 85"/>
          <p:cNvSpPr/>
          <p:nvPr/>
        </p:nvSpPr>
        <p:spPr>
          <a:xfrm>
            <a:off x="3017520" y="2020824"/>
            <a:ext cx="128016" cy="128016"/>
          </a:xfrm>
          <a:prstGeom prst="rect">
            <a:avLst/>
          </a:prstGeom>
          <a:solidFill>
            <a:srgbClr val="12284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7" name="Rectangle 86"/>
          <p:cNvSpPr/>
          <p:nvPr/>
        </p:nvSpPr>
        <p:spPr>
          <a:xfrm>
            <a:off x="3182112" y="2020824"/>
            <a:ext cx="128016" cy="128016"/>
          </a:xfrm>
          <a:prstGeom prst="rect">
            <a:avLst/>
          </a:prstGeom>
          <a:solidFill>
            <a:srgbClr val="12284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8" name="Rectangle 87"/>
          <p:cNvSpPr/>
          <p:nvPr/>
        </p:nvSpPr>
        <p:spPr>
          <a:xfrm>
            <a:off x="3346704" y="2020824"/>
            <a:ext cx="128016" cy="128016"/>
          </a:xfrm>
          <a:prstGeom prst="rect">
            <a:avLst/>
          </a:prstGeom>
          <a:solidFill>
            <a:srgbClr val="12284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9" name="Rectangle 88"/>
          <p:cNvSpPr/>
          <p:nvPr/>
        </p:nvSpPr>
        <p:spPr>
          <a:xfrm>
            <a:off x="3511296" y="2020824"/>
            <a:ext cx="128016" cy="128016"/>
          </a:xfrm>
          <a:prstGeom prst="rect">
            <a:avLst/>
          </a:prstGeom>
          <a:solidFill>
            <a:srgbClr val="12284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0" name="Rectangle 89"/>
          <p:cNvSpPr/>
          <p:nvPr/>
        </p:nvSpPr>
        <p:spPr>
          <a:xfrm>
            <a:off x="3675888" y="2020824"/>
            <a:ext cx="128016" cy="128016"/>
          </a:xfrm>
          <a:prstGeom prst="rect">
            <a:avLst/>
          </a:prstGeom>
          <a:solidFill>
            <a:srgbClr val="12284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1" name="Rectangle 90"/>
          <p:cNvSpPr/>
          <p:nvPr/>
        </p:nvSpPr>
        <p:spPr>
          <a:xfrm>
            <a:off x="3840480" y="2020824"/>
            <a:ext cx="128016" cy="128016"/>
          </a:xfrm>
          <a:prstGeom prst="rect">
            <a:avLst/>
          </a:prstGeom>
          <a:solidFill>
            <a:srgbClr val="12284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2" name="Rectangle 91"/>
          <p:cNvSpPr/>
          <p:nvPr/>
        </p:nvSpPr>
        <p:spPr>
          <a:xfrm>
            <a:off x="4005072" y="2020824"/>
            <a:ext cx="128016" cy="128016"/>
          </a:xfrm>
          <a:prstGeom prst="rect">
            <a:avLst/>
          </a:prstGeom>
          <a:solidFill>
            <a:srgbClr val="12284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3" name="Rectangle 92"/>
          <p:cNvSpPr/>
          <p:nvPr/>
        </p:nvSpPr>
        <p:spPr>
          <a:xfrm>
            <a:off x="4169664" y="2020824"/>
            <a:ext cx="128016" cy="128016"/>
          </a:xfrm>
          <a:prstGeom prst="rect">
            <a:avLst/>
          </a:prstGeom>
          <a:solidFill>
            <a:srgbClr val="12284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4" name="Rectangle 93"/>
          <p:cNvSpPr/>
          <p:nvPr/>
        </p:nvSpPr>
        <p:spPr>
          <a:xfrm>
            <a:off x="4334256" y="2020824"/>
            <a:ext cx="128016" cy="128016"/>
          </a:xfrm>
          <a:prstGeom prst="rect">
            <a:avLst/>
          </a:prstGeom>
          <a:solidFill>
            <a:srgbClr val="12284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5" name="Rectangle 94"/>
          <p:cNvSpPr/>
          <p:nvPr/>
        </p:nvSpPr>
        <p:spPr>
          <a:xfrm>
            <a:off x="4498848" y="2020824"/>
            <a:ext cx="128016" cy="128016"/>
          </a:xfrm>
          <a:prstGeom prst="rect">
            <a:avLst/>
          </a:prstGeom>
          <a:solidFill>
            <a:srgbClr val="12284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6" name="Rectangle 95"/>
          <p:cNvSpPr/>
          <p:nvPr/>
        </p:nvSpPr>
        <p:spPr>
          <a:xfrm>
            <a:off x="4663440" y="2020824"/>
            <a:ext cx="128016" cy="128016"/>
          </a:xfrm>
          <a:prstGeom prst="rect">
            <a:avLst/>
          </a:prstGeom>
          <a:solidFill>
            <a:srgbClr val="12284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7" name="Rectangle 96"/>
          <p:cNvSpPr/>
          <p:nvPr/>
        </p:nvSpPr>
        <p:spPr>
          <a:xfrm>
            <a:off x="4828032" y="2020824"/>
            <a:ext cx="128016" cy="128016"/>
          </a:xfrm>
          <a:prstGeom prst="rect">
            <a:avLst/>
          </a:prstGeom>
          <a:solidFill>
            <a:srgbClr val="12284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8" name="Rectangle 97"/>
          <p:cNvSpPr/>
          <p:nvPr/>
        </p:nvSpPr>
        <p:spPr>
          <a:xfrm>
            <a:off x="4992624" y="2020824"/>
            <a:ext cx="128016" cy="128016"/>
          </a:xfrm>
          <a:prstGeom prst="rect">
            <a:avLst/>
          </a:prstGeom>
          <a:solidFill>
            <a:srgbClr val="12284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9" name="Rectangle 98"/>
          <p:cNvSpPr/>
          <p:nvPr/>
        </p:nvSpPr>
        <p:spPr>
          <a:xfrm>
            <a:off x="548640" y="2185416"/>
            <a:ext cx="128016" cy="128016"/>
          </a:xfrm>
          <a:prstGeom prst="rect">
            <a:avLst/>
          </a:prstGeom>
          <a:solidFill>
            <a:srgbClr val="12284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0" name="Rectangle 99"/>
          <p:cNvSpPr/>
          <p:nvPr/>
        </p:nvSpPr>
        <p:spPr>
          <a:xfrm>
            <a:off x="713232" y="2185416"/>
            <a:ext cx="128016" cy="128016"/>
          </a:xfrm>
          <a:prstGeom prst="rect">
            <a:avLst/>
          </a:prstGeom>
          <a:solidFill>
            <a:srgbClr val="12284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1" name="Rectangle 100"/>
          <p:cNvSpPr/>
          <p:nvPr/>
        </p:nvSpPr>
        <p:spPr>
          <a:xfrm>
            <a:off x="877824" y="2185416"/>
            <a:ext cx="128016" cy="128016"/>
          </a:xfrm>
          <a:prstGeom prst="rect">
            <a:avLst/>
          </a:prstGeom>
          <a:solidFill>
            <a:srgbClr val="12284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2" name="Rectangle 101"/>
          <p:cNvSpPr/>
          <p:nvPr/>
        </p:nvSpPr>
        <p:spPr>
          <a:xfrm>
            <a:off x="1042416" y="2185416"/>
            <a:ext cx="128016" cy="128016"/>
          </a:xfrm>
          <a:prstGeom prst="rect">
            <a:avLst/>
          </a:prstGeom>
          <a:solidFill>
            <a:srgbClr val="12284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3" name="Rectangle 102"/>
          <p:cNvSpPr/>
          <p:nvPr/>
        </p:nvSpPr>
        <p:spPr>
          <a:xfrm>
            <a:off x="1207008" y="2185416"/>
            <a:ext cx="128016" cy="128016"/>
          </a:xfrm>
          <a:prstGeom prst="rect">
            <a:avLst/>
          </a:prstGeom>
          <a:solidFill>
            <a:srgbClr val="12284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4" name="Rectangle 103"/>
          <p:cNvSpPr/>
          <p:nvPr/>
        </p:nvSpPr>
        <p:spPr>
          <a:xfrm>
            <a:off x="1371600" y="2185416"/>
            <a:ext cx="128016" cy="128016"/>
          </a:xfrm>
          <a:prstGeom prst="rect">
            <a:avLst/>
          </a:prstGeom>
          <a:solidFill>
            <a:srgbClr val="12284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5" name="Rectangle 104"/>
          <p:cNvSpPr/>
          <p:nvPr/>
        </p:nvSpPr>
        <p:spPr>
          <a:xfrm>
            <a:off x="1536192" y="2185416"/>
            <a:ext cx="128016" cy="128016"/>
          </a:xfrm>
          <a:prstGeom prst="rect">
            <a:avLst/>
          </a:prstGeom>
          <a:solidFill>
            <a:srgbClr val="12284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6" name="Rectangle 105"/>
          <p:cNvSpPr/>
          <p:nvPr/>
        </p:nvSpPr>
        <p:spPr>
          <a:xfrm>
            <a:off x="1700784" y="2185416"/>
            <a:ext cx="128016" cy="128016"/>
          </a:xfrm>
          <a:prstGeom prst="rect">
            <a:avLst/>
          </a:prstGeom>
          <a:solidFill>
            <a:srgbClr val="12284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7" name="Rectangle 106"/>
          <p:cNvSpPr/>
          <p:nvPr/>
        </p:nvSpPr>
        <p:spPr>
          <a:xfrm>
            <a:off x="1865376" y="2185416"/>
            <a:ext cx="128016" cy="128016"/>
          </a:xfrm>
          <a:prstGeom prst="rect">
            <a:avLst/>
          </a:prstGeom>
          <a:solidFill>
            <a:srgbClr val="12284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8" name="Rectangle 107"/>
          <p:cNvSpPr/>
          <p:nvPr/>
        </p:nvSpPr>
        <p:spPr>
          <a:xfrm>
            <a:off x="2029968" y="2185416"/>
            <a:ext cx="128016" cy="128016"/>
          </a:xfrm>
          <a:prstGeom prst="rect">
            <a:avLst/>
          </a:prstGeom>
          <a:solidFill>
            <a:srgbClr val="12284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9" name="Rectangle 108"/>
          <p:cNvSpPr/>
          <p:nvPr/>
        </p:nvSpPr>
        <p:spPr>
          <a:xfrm>
            <a:off x="2194560" y="2185416"/>
            <a:ext cx="128016" cy="128016"/>
          </a:xfrm>
          <a:prstGeom prst="rect">
            <a:avLst/>
          </a:prstGeom>
          <a:solidFill>
            <a:srgbClr val="12284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0" name="Rectangle 109"/>
          <p:cNvSpPr/>
          <p:nvPr/>
        </p:nvSpPr>
        <p:spPr>
          <a:xfrm>
            <a:off x="2359152" y="2185416"/>
            <a:ext cx="128016" cy="128016"/>
          </a:xfrm>
          <a:prstGeom prst="rect">
            <a:avLst/>
          </a:prstGeom>
          <a:solidFill>
            <a:srgbClr val="12284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1" name="Rectangle 110"/>
          <p:cNvSpPr/>
          <p:nvPr/>
        </p:nvSpPr>
        <p:spPr>
          <a:xfrm>
            <a:off x="2523744" y="2185416"/>
            <a:ext cx="128016" cy="128016"/>
          </a:xfrm>
          <a:prstGeom prst="rect">
            <a:avLst/>
          </a:prstGeom>
          <a:solidFill>
            <a:srgbClr val="12284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2" name="Rectangle 111"/>
          <p:cNvSpPr/>
          <p:nvPr/>
        </p:nvSpPr>
        <p:spPr>
          <a:xfrm>
            <a:off x="2688336" y="2185416"/>
            <a:ext cx="128016" cy="128016"/>
          </a:xfrm>
          <a:prstGeom prst="rect">
            <a:avLst/>
          </a:prstGeom>
          <a:solidFill>
            <a:srgbClr val="12284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3" name="Rectangle 112"/>
          <p:cNvSpPr/>
          <p:nvPr/>
        </p:nvSpPr>
        <p:spPr>
          <a:xfrm>
            <a:off x="2852928" y="2185416"/>
            <a:ext cx="128016" cy="128016"/>
          </a:xfrm>
          <a:prstGeom prst="rect">
            <a:avLst/>
          </a:prstGeom>
          <a:solidFill>
            <a:srgbClr val="12284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4" name="Rectangle 113"/>
          <p:cNvSpPr/>
          <p:nvPr/>
        </p:nvSpPr>
        <p:spPr>
          <a:xfrm>
            <a:off x="3017520" y="2185416"/>
            <a:ext cx="128016" cy="128016"/>
          </a:xfrm>
          <a:prstGeom prst="rect">
            <a:avLst/>
          </a:prstGeom>
          <a:solidFill>
            <a:srgbClr val="12284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5" name="Rectangle 114"/>
          <p:cNvSpPr/>
          <p:nvPr/>
        </p:nvSpPr>
        <p:spPr>
          <a:xfrm>
            <a:off x="3182112" y="2185416"/>
            <a:ext cx="128016" cy="128016"/>
          </a:xfrm>
          <a:prstGeom prst="rect">
            <a:avLst/>
          </a:prstGeom>
          <a:solidFill>
            <a:srgbClr val="12284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6" name="Rectangle 115"/>
          <p:cNvSpPr/>
          <p:nvPr/>
        </p:nvSpPr>
        <p:spPr>
          <a:xfrm>
            <a:off x="3346704" y="2185416"/>
            <a:ext cx="128016" cy="128016"/>
          </a:xfrm>
          <a:prstGeom prst="rect">
            <a:avLst/>
          </a:prstGeom>
          <a:solidFill>
            <a:srgbClr val="12284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7" name="Rectangle 116"/>
          <p:cNvSpPr/>
          <p:nvPr/>
        </p:nvSpPr>
        <p:spPr>
          <a:xfrm>
            <a:off x="3511296" y="2185416"/>
            <a:ext cx="128016" cy="128016"/>
          </a:xfrm>
          <a:prstGeom prst="rect">
            <a:avLst/>
          </a:prstGeom>
          <a:solidFill>
            <a:srgbClr val="12284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8" name="Rectangle 117"/>
          <p:cNvSpPr/>
          <p:nvPr/>
        </p:nvSpPr>
        <p:spPr>
          <a:xfrm>
            <a:off x="3675888" y="2185416"/>
            <a:ext cx="128016" cy="128016"/>
          </a:xfrm>
          <a:prstGeom prst="rect">
            <a:avLst/>
          </a:prstGeom>
          <a:solidFill>
            <a:srgbClr val="12284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9" name="Rectangle 118"/>
          <p:cNvSpPr/>
          <p:nvPr/>
        </p:nvSpPr>
        <p:spPr>
          <a:xfrm>
            <a:off x="3840480" y="2185416"/>
            <a:ext cx="128016" cy="128016"/>
          </a:xfrm>
          <a:prstGeom prst="rect">
            <a:avLst/>
          </a:prstGeom>
          <a:solidFill>
            <a:srgbClr val="12284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0" name="Rectangle 119"/>
          <p:cNvSpPr/>
          <p:nvPr/>
        </p:nvSpPr>
        <p:spPr>
          <a:xfrm>
            <a:off x="4005072" y="2185416"/>
            <a:ext cx="128016" cy="128016"/>
          </a:xfrm>
          <a:prstGeom prst="rect">
            <a:avLst/>
          </a:prstGeom>
          <a:solidFill>
            <a:srgbClr val="12284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1" name="Rectangle 120"/>
          <p:cNvSpPr/>
          <p:nvPr/>
        </p:nvSpPr>
        <p:spPr>
          <a:xfrm>
            <a:off x="4169664" y="2185416"/>
            <a:ext cx="128016" cy="128016"/>
          </a:xfrm>
          <a:prstGeom prst="rect">
            <a:avLst/>
          </a:prstGeom>
          <a:solidFill>
            <a:srgbClr val="12284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2" name="Rectangle 121"/>
          <p:cNvSpPr/>
          <p:nvPr/>
        </p:nvSpPr>
        <p:spPr>
          <a:xfrm>
            <a:off x="4334256" y="2185416"/>
            <a:ext cx="128016" cy="128016"/>
          </a:xfrm>
          <a:prstGeom prst="rect">
            <a:avLst/>
          </a:prstGeom>
          <a:solidFill>
            <a:srgbClr val="12284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3" name="Rectangle 122"/>
          <p:cNvSpPr/>
          <p:nvPr/>
        </p:nvSpPr>
        <p:spPr>
          <a:xfrm>
            <a:off x="4498848" y="2185416"/>
            <a:ext cx="128016" cy="128016"/>
          </a:xfrm>
          <a:prstGeom prst="rect">
            <a:avLst/>
          </a:prstGeom>
          <a:solidFill>
            <a:srgbClr val="12284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4" name="Rectangle 123"/>
          <p:cNvSpPr/>
          <p:nvPr/>
        </p:nvSpPr>
        <p:spPr>
          <a:xfrm>
            <a:off x="4663440" y="2185416"/>
            <a:ext cx="128016" cy="128016"/>
          </a:xfrm>
          <a:prstGeom prst="rect">
            <a:avLst/>
          </a:prstGeom>
          <a:solidFill>
            <a:srgbClr val="12284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5" name="Rectangle 124"/>
          <p:cNvSpPr/>
          <p:nvPr/>
        </p:nvSpPr>
        <p:spPr>
          <a:xfrm>
            <a:off x="4828032" y="2185416"/>
            <a:ext cx="128016" cy="128016"/>
          </a:xfrm>
          <a:prstGeom prst="rect">
            <a:avLst/>
          </a:prstGeom>
          <a:solidFill>
            <a:srgbClr val="12284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6" name="Rectangle 125"/>
          <p:cNvSpPr/>
          <p:nvPr/>
        </p:nvSpPr>
        <p:spPr>
          <a:xfrm>
            <a:off x="4992624" y="2185416"/>
            <a:ext cx="128016" cy="128016"/>
          </a:xfrm>
          <a:prstGeom prst="rect">
            <a:avLst/>
          </a:prstGeom>
          <a:solidFill>
            <a:srgbClr val="12284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7" name="Rectangle 126"/>
          <p:cNvSpPr/>
          <p:nvPr/>
        </p:nvSpPr>
        <p:spPr>
          <a:xfrm>
            <a:off x="548640" y="2350008"/>
            <a:ext cx="128016" cy="128016"/>
          </a:xfrm>
          <a:prstGeom prst="rect">
            <a:avLst/>
          </a:prstGeom>
          <a:solidFill>
            <a:srgbClr val="12284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8" name="Rectangle 127"/>
          <p:cNvSpPr/>
          <p:nvPr/>
        </p:nvSpPr>
        <p:spPr>
          <a:xfrm>
            <a:off x="713232" y="2350008"/>
            <a:ext cx="128016" cy="128016"/>
          </a:xfrm>
          <a:prstGeom prst="rect">
            <a:avLst/>
          </a:prstGeom>
          <a:solidFill>
            <a:srgbClr val="12284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9" name="Rectangle 128"/>
          <p:cNvSpPr/>
          <p:nvPr/>
        </p:nvSpPr>
        <p:spPr>
          <a:xfrm>
            <a:off x="877824" y="2350008"/>
            <a:ext cx="128016" cy="128016"/>
          </a:xfrm>
          <a:prstGeom prst="rect">
            <a:avLst/>
          </a:prstGeom>
          <a:solidFill>
            <a:srgbClr val="12284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0" name="Rectangle 129"/>
          <p:cNvSpPr/>
          <p:nvPr/>
        </p:nvSpPr>
        <p:spPr>
          <a:xfrm>
            <a:off x="1042416" y="2350008"/>
            <a:ext cx="128016" cy="128016"/>
          </a:xfrm>
          <a:prstGeom prst="rect">
            <a:avLst/>
          </a:prstGeom>
          <a:solidFill>
            <a:srgbClr val="12284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1" name="Rectangle 130"/>
          <p:cNvSpPr/>
          <p:nvPr/>
        </p:nvSpPr>
        <p:spPr>
          <a:xfrm>
            <a:off x="1207008" y="2350008"/>
            <a:ext cx="128016" cy="128016"/>
          </a:xfrm>
          <a:prstGeom prst="rect">
            <a:avLst/>
          </a:prstGeom>
          <a:solidFill>
            <a:srgbClr val="12284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2" name="Rectangle 131"/>
          <p:cNvSpPr/>
          <p:nvPr/>
        </p:nvSpPr>
        <p:spPr>
          <a:xfrm>
            <a:off x="1371600" y="2350008"/>
            <a:ext cx="128016" cy="128016"/>
          </a:xfrm>
          <a:prstGeom prst="rect">
            <a:avLst/>
          </a:prstGeom>
          <a:solidFill>
            <a:srgbClr val="12284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3" name="Rectangle 132"/>
          <p:cNvSpPr/>
          <p:nvPr/>
        </p:nvSpPr>
        <p:spPr>
          <a:xfrm>
            <a:off x="1536192" y="2350008"/>
            <a:ext cx="128016" cy="128016"/>
          </a:xfrm>
          <a:prstGeom prst="rect">
            <a:avLst/>
          </a:prstGeom>
          <a:solidFill>
            <a:srgbClr val="12284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4" name="Rectangle 133"/>
          <p:cNvSpPr/>
          <p:nvPr/>
        </p:nvSpPr>
        <p:spPr>
          <a:xfrm>
            <a:off x="1700784" y="2350008"/>
            <a:ext cx="128016" cy="128016"/>
          </a:xfrm>
          <a:prstGeom prst="rect">
            <a:avLst/>
          </a:prstGeom>
          <a:solidFill>
            <a:srgbClr val="12284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5" name="Rectangle 134"/>
          <p:cNvSpPr/>
          <p:nvPr/>
        </p:nvSpPr>
        <p:spPr>
          <a:xfrm>
            <a:off x="1865376" y="2350008"/>
            <a:ext cx="128016" cy="128016"/>
          </a:xfrm>
          <a:prstGeom prst="rect">
            <a:avLst/>
          </a:prstGeom>
          <a:solidFill>
            <a:srgbClr val="12284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6" name="Rectangle 135"/>
          <p:cNvSpPr/>
          <p:nvPr/>
        </p:nvSpPr>
        <p:spPr>
          <a:xfrm>
            <a:off x="2029968" y="2350008"/>
            <a:ext cx="128016" cy="128016"/>
          </a:xfrm>
          <a:prstGeom prst="rect">
            <a:avLst/>
          </a:prstGeom>
          <a:solidFill>
            <a:srgbClr val="12284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7" name="Rectangle 136"/>
          <p:cNvSpPr/>
          <p:nvPr/>
        </p:nvSpPr>
        <p:spPr>
          <a:xfrm>
            <a:off x="2194560" y="2350008"/>
            <a:ext cx="128016" cy="128016"/>
          </a:xfrm>
          <a:prstGeom prst="rect">
            <a:avLst/>
          </a:prstGeom>
          <a:solidFill>
            <a:srgbClr val="12284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8" name="Rectangle 137"/>
          <p:cNvSpPr/>
          <p:nvPr/>
        </p:nvSpPr>
        <p:spPr>
          <a:xfrm>
            <a:off x="2359152" y="2350008"/>
            <a:ext cx="128016" cy="128016"/>
          </a:xfrm>
          <a:prstGeom prst="rect">
            <a:avLst/>
          </a:prstGeom>
          <a:solidFill>
            <a:srgbClr val="12284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9" name="Rectangle 138"/>
          <p:cNvSpPr/>
          <p:nvPr/>
        </p:nvSpPr>
        <p:spPr>
          <a:xfrm>
            <a:off x="2523744" y="2350008"/>
            <a:ext cx="128016" cy="128016"/>
          </a:xfrm>
          <a:prstGeom prst="rect">
            <a:avLst/>
          </a:prstGeom>
          <a:solidFill>
            <a:srgbClr val="12284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0" name="Rectangle 139"/>
          <p:cNvSpPr/>
          <p:nvPr/>
        </p:nvSpPr>
        <p:spPr>
          <a:xfrm>
            <a:off x="2688336" y="2350008"/>
            <a:ext cx="128016" cy="128016"/>
          </a:xfrm>
          <a:prstGeom prst="rect">
            <a:avLst/>
          </a:prstGeom>
          <a:solidFill>
            <a:srgbClr val="12284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1" name="Rectangle 140"/>
          <p:cNvSpPr/>
          <p:nvPr/>
        </p:nvSpPr>
        <p:spPr>
          <a:xfrm>
            <a:off x="2852928" y="2350008"/>
            <a:ext cx="128016" cy="128016"/>
          </a:xfrm>
          <a:prstGeom prst="rect">
            <a:avLst/>
          </a:prstGeom>
          <a:solidFill>
            <a:srgbClr val="12284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2" name="Rectangle 141"/>
          <p:cNvSpPr/>
          <p:nvPr/>
        </p:nvSpPr>
        <p:spPr>
          <a:xfrm>
            <a:off x="3017520" y="2350008"/>
            <a:ext cx="128016" cy="128016"/>
          </a:xfrm>
          <a:prstGeom prst="rect">
            <a:avLst/>
          </a:prstGeom>
          <a:solidFill>
            <a:srgbClr val="12284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3" name="Rectangle 142"/>
          <p:cNvSpPr/>
          <p:nvPr/>
        </p:nvSpPr>
        <p:spPr>
          <a:xfrm>
            <a:off x="3182112" y="2350008"/>
            <a:ext cx="128016" cy="128016"/>
          </a:xfrm>
          <a:prstGeom prst="rect">
            <a:avLst/>
          </a:prstGeom>
          <a:solidFill>
            <a:srgbClr val="12284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4" name="Rectangle 143"/>
          <p:cNvSpPr/>
          <p:nvPr/>
        </p:nvSpPr>
        <p:spPr>
          <a:xfrm>
            <a:off x="3346704" y="2350008"/>
            <a:ext cx="128016" cy="128016"/>
          </a:xfrm>
          <a:prstGeom prst="rect">
            <a:avLst/>
          </a:prstGeom>
          <a:solidFill>
            <a:srgbClr val="12284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5" name="Rectangle 144"/>
          <p:cNvSpPr/>
          <p:nvPr/>
        </p:nvSpPr>
        <p:spPr>
          <a:xfrm>
            <a:off x="3511296" y="2350008"/>
            <a:ext cx="128016" cy="128016"/>
          </a:xfrm>
          <a:prstGeom prst="rect">
            <a:avLst/>
          </a:prstGeom>
          <a:solidFill>
            <a:srgbClr val="12284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6" name="Rectangle 145"/>
          <p:cNvSpPr/>
          <p:nvPr/>
        </p:nvSpPr>
        <p:spPr>
          <a:xfrm>
            <a:off x="3675888" y="2350008"/>
            <a:ext cx="128016" cy="128016"/>
          </a:xfrm>
          <a:prstGeom prst="rect">
            <a:avLst/>
          </a:prstGeom>
          <a:solidFill>
            <a:srgbClr val="12284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7" name="Rectangle 146"/>
          <p:cNvSpPr/>
          <p:nvPr/>
        </p:nvSpPr>
        <p:spPr>
          <a:xfrm>
            <a:off x="3840480" y="2350008"/>
            <a:ext cx="128016" cy="128016"/>
          </a:xfrm>
          <a:prstGeom prst="rect">
            <a:avLst/>
          </a:prstGeom>
          <a:solidFill>
            <a:srgbClr val="12284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8" name="Rectangle 147"/>
          <p:cNvSpPr/>
          <p:nvPr/>
        </p:nvSpPr>
        <p:spPr>
          <a:xfrm>
            <a:off x="4005072" y="2350008"/>
            <a:ext cx="128016" cy="128016"/>
          </a:xfrm>
          <a:prstGeom prst="rect">
            <a:avLst/>
          </a:prstGeom>
          <a:solidFill>
            <a:srgbClr val="12284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9" name="Rectangle 148"/>
          <p:cNvSpPr/>
          <p:nvPr/>
        </p:nvSpPr>
        <p:spPr>
          <a:xfrm>
            <a:off x="4169664" y="2350008"/>
            <a:ext cx="128016" cy="128016"/>
          </a:xfrm>
          <a:prstGeom prst="rect">
            <a:avLst/>
          </a:prstGeom>
          <a:solidFill>
            <a:srgbClr val="12284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0" name="Rectangle 149"/>
          <p:cNvSpPr/>
          <p:nvPr/>
        </p:nvSpPr>
        <p:spPr>
          <a:xfrm>
            <a:off x="4334256" y="2350008"/>
            <a:ext cx="128016" cy="128016"/>
          </a:xfrm>
          <a:prstGeom prst="rect">
            <a:avLst/>
          </a:prstGeom>
          <a:solidFill>
            <a:srgbClr val="12284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1" name="Rectangle 150"/>
          <p:cNvSpPr/>
          <p:nvPr/>
        </p:nvSpPr>
        <p:spPr>
          <a:xfrm>
            <a:off x="4498848" y="2350008"/>
            <a:ext cx="128016" cy="128016"/>
          </a:xfrm>
          <a:prstGeom prst="rect">
            <a:avLst/>
          </a:prstGeom>
          <a:solidFill>
            <a:srgbClr val="12284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2" name="Rectangle 151"/>
          <p:cNvSpPr/>
          <p:nvPr/>
        </p:nvSpPr>
        <p:spPr>
          <a:xfrm>
            <a:off x="4663440" y="2350008"/>
            <a:ext cx="128016" cy="128016"/>
          </a:xfrm>
          <a:prstGeom prst="rect">
            <a:avLst/>
          </a:prstGeom>
          <a:solidFill>
            <a:srgbClr val="12284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3" name="Rectangle 152"/>
          <p:cNvSpPr/>
          <p:nvPr/>
        </p:nvSpPr>
        <p:spPr>
          <a:xfrm>
            <a:off x="4828032" y="2350008"/>
            <a:ext cx="128016" cy="128016"/>
          </a:xfrm>
          <a:prstGeom prst="rect">
            <a:avLst/>
          </a:prstGeom>
          <a:solidFill>
            <a:srgbClr val="12284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4" name="Rectangle 153"/>
          <p:cNvSpPr/>
          <p:nvPr/>
        </p:nvSpPr>
        <p:spPr>
          <a:xfrm>
            <a:off x="4992624" y="2350008"/>
            <a:ext cx="128016" cy="128016"/>
          </a:xfrm>
          <a:prstGeom prst="rect">
            <a:avLst/>
          </a:prstGeom>
          <a:solidFill>
            <a:srgbClr val="12284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5" name="Rectangle 154"/>
          <p:cNvSpPr/>
          <p:nvPr/>
        </p:nvSpPr>
        <p:spPr>
          <a:xfrm>
            <a:off x="548640" y="2514600"/>
            <a:ext cx="128016" cy="128016"/>
          </a:xfrm>
          <a:prstGeom prst="rect">
            <a:avLst/>
          </a:prstGeom>
          <a:solidFill>
            <a:srgbClr val="12284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6" name="Rectangle 155"/>
          <p:cNvSpPr/>
          <p:nvPr/>
        </p:nvSpPr>
        <p:spPr>
          <a:xfrm>
            <a:off x="713232" y="2514600"/>
            <a:ext cx="128016" cy="128016"/>
          </a:xfrm>
          <a:prstGeom prst="rect">
            <a:avLst/>
          </a:prstGeom>
          <a:solidFill>
            <a:srgbClr val="12284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7" name="Rectangle 156"/>
          <p:cNvSpPr/>
          <p:nvPr/>
        </p:nvSpPr>
        <p:spPr>
          <a:xfrm>
            <a:off x="877824" y="2514600"/>
            <a:ext cx="128016" cy="128016"/>
          </a:xfrm>
          <a:prstGeom prst="rect">
            <a:avLst/>
          </a:prstGeom>
          <a:solidFill>
            <a:srgbClr val="12284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8" name="Rectangle 157"/>
          <p:cNvSpPr/>
          <p:nvPr/>
        </p:nvSpPr>
        <p:spPr>
          <a:xfrm>
            <a:off x="1042416" y="2514600"/>
            <a:ext cx="128016" cy="128016"/>
          </a:xfrm>
          <a:prstGeom prst="rect">
            <a:avLst/>
          </a:prstGeom>
          <a:solidFill>
            <a:srgbClr val="12284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9" name="Rectangle 158"/>
          <p:cNvSpPr/>
          <p:nvPr/>
        </p:nvSpPr>
        <p:spPr>
          <a:xfrm>
            <a:off x="1207008" y="2514600"/>
            <a:ext cx="128016" cy="128016"/>
          </a:xfrm>
          <a:prstGeom prst="rect">
            <a:avLst/>
          </a:prstGeom>
          <a:solidFill>
            <a:srgbClr val="12284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0" name="Rectangle 159"/>
          <p:cNvSpPr/>
          <p:nvPr/>
        </p:nvSpPr>
        <p:spPr>
          <a:xfrm>
            <a:off x="1371600" y="2514600"/>
            <a:ext cx="128016" cy="128016"/>
          </a:xfrm>
          <a:prstGeom prst="rect">
            <a:avLst/>
          </a:prstGeom>
          <a:solidFill>
            <a:srgbClr val="12284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1" name="Rectangle 160"/>
          <p:cNvSpPr/>
          <p:nvPr/>
        </p:nvSpPr>
        <p:spPr>
          <a:xfrm>
            <a:off x="1536192" y="2514600"/>
            <a:ext cx="128016" cy="128016"/>
          </a:xfrm>
          <a:prstGeom prst="rect">
            <a:avLst/>
          </a:prstGeom>
          <a:solidFill>
            <a:srgbClr val="12284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2" name="Rectangle 161"/>
          <p:cNvSpPr/>
          <p:nvPr/>
        </p:nvSpPr>
        <p:spPr>
          <a:xfrm>
            <a:off x="1700784" y="2514600"/>
            <a:ext cx="128016" cy="128016"/>
          </a:xfrm>
          <a:prstGeom prst="rect">
            <a:avLst/>
          </a:prstGeom>
          <a:solidFill>
            <a:srgbClr val="12284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3" name="Rectangle 162"/>
          <p:cNvSpPr/>
          <p:nvPr/>
        </p:nvSpPr>
        <p:spPr>
          <a:xfrm>
            <a:off x="1865376" y="2514600"/>
            <a:ext cx="128016" cy="128016"/>
          </a:xfrm>
          <a:prstGeom prst="rect">
            <a:avLst/>
          </a:prstGeom>
          <a:solidFill>
            <a:srgbClr val="12284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4" name="Rectangle 163"/>
          <p:cNvSpPr/>
          <p:nvPr/>
        </p:nvSpPr>
        <p:spPr>
          <a:xfrm>
            <a:off x="2029968" y="2514600"/>
            <a:ext cx="128016" cy="128016"/>
          </a:xfrm>
          <a:prstGeom prst="rect">
            <a:avLst/>
          </a:prstGeom>
          <a:solidFill>
            <a:srgbClr val="12284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5" name="Rectangle 164"/>
          <p:cNvSpPr/>
          <p:nvPr/>
        </p:nvSpPr>
        <p:spPr>
          <a:xfrm>
            <a:off x="2194560" y="2514600"/>
            <a:ext cx="128016" cy="128016"/>
          </a:xfrm>
          <a:prstGeom prst="rect">
            <a:avLst/>
          </a:prstGeom>
          <a:solidFill>
            <a:srgbClr val="12284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6" name="Rectangle 165"/>
          <p:cNvSpPr/>
          <p:nvPr/>
        </p:nvSpPr>
        <p:spPr>
          <a:xfrm>
            <a:off x="2359152" y="2514600"/>
            <a:ext cx="128016" cy="128016"/>
          </a:xfrm>
          <a:prstGeom prst="rect">
            <a:avLst/>
          </a:prstGeom>
          <a:solidFill>
            <a:srgbClr val="12284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7" name="Rectangle 166"/>
          <p:cNvSpPr/>
          <p:nvPr/>
        </p:nvSpPr>
        <p:spPr>
          <a:xfrm>
            <a:off x="2523744" y="2514600"/>
            <a:ext cx="128016" cy="128016"/>
          </a:xfrm>
          <a:prstGeom prst="rect">
            <a:avLst/>
          </a:prstGeom>
          <a:solidFill>
            <a:srgbClr val="12284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8" name="Rectangle 167"/>
          <p:cNvSpPr/>
          <p:nvPr/>
        </p:nvSpPr>
        <p:spPr>
          <a:xfrm>
            <a:off x="2688336" y="2514600"/>
            <a:ext cx="128016" cy="128016"/>
          </a:xfrm>
          <a:prstGeom prst="rect">
            <a:avLst/>
          </a:prstGeom>
          <a:solidFill>
            <a:srgbClr val="24406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9" name="Rectangle 168"/>
          <p:cNvSpPr/>
          <p:nvPr/>
        </p:nvSpPr>
        <p:spPr>
          <a:xfrm>
            <a:off x="2852928" y="2514600"/>
            <a:ext cx="128016" cy="128016"/>
          </a:xfrm>
          <a:prstGeom prst="rect">
            <a:avLst/>
          </a:prstGeom>
          <a:solidFill>
            <a:srgbClr val="24406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0" name="Rectangle 169"/>
          <p:cNvSpPr/>
          <p:nvPr/>
        </p:nvSpPr>
        <p:spPr>
          <a:xfrm>
            <a:off x="3017520" y="2514600"/>
            <a:ext cx="128016" cy="128016"/>
          </a:xfrm>
          <a:prstGeom prst="rect">
            <a:avLst/>
          </a:prstGeom>
          <a:solidFill>
            <a:srgbClr val="24406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1" name="Rectangle 170"/>
          <p:cNvSpPr/>
          <p:nvPr/>
        </p:nvSpPr>
        <p:spPr>
          <a:xfrm>
            <a:off x="3182112" y="2514600"/>
            <a:ext cx="128016" cy="128016"/>
          </a:xfrm>
          <a:prstGeom prst="rect">
            <a:avLst/>
          </a:prstGeom>
          <a:solidFill>
            <a:srgbClr val="24406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2" name="Rectangle 171"/>
          <p:cNvSpPr/>
          <p:nvPr/>
        </p:nvSpPr>
        <p:spPr>
          <a:xfrm>
            <a:off x="3346704" y="2514600"/>
            <a:ext cx="128016" cy="128016"/>
          </a:xfrm>
          <a:prstGeom prst="rect">
            <a:avLst/>
          </a:prstGeom>
          <a:solidFill>
            <a:srgbClr val="24406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3" name="Rectangle 172"/>
          <p:cNvSpPr/>
          <p:nvPr/>
        </p:nvSpPr>
        <p:spPr>
          <a:xfrm>
            <a:off x="3511296" y="2514600"/>
            <a:ext cx="128016" cy="128016"/>
          </a:xfrm>
          <a:prstGeom prst="rect">
            <a:avLst/>
          </a:prstGeom>
          <a:solidFill>
            <a:srgbClr val="24406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4" name="Rectangle 173"/>
          <p:cNvSpPr/>
          <p:nvPr/>
        </p:nvSpPr>
        <p:spPr>
          <a:xfrm>
            <a:off x="3675888" y="2514600"/>
            <a:ext cx="128016" cy="128016"/>
          </a:xfrm>
          <a:prstGeom prst="rect">
            <a:avLst/>
          </a:prstGeom>
          <a:solidFill>
            <a:srgbClr val="24406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5" name="Rectangle 174"/>
          <p:cNvSpPr/>
          <p:nvPr/>
        </p:nvSpPr>
        <p:spPr>
          <a:xfrm>
            <a:off x="3840480" y="2514600"/>
            <a:ext cx="128016" cy="128016"/>
          </a:xfrm>
          <a:prstGeom prst="rect">
            <a:avLst/>
          </a:prstGeom>
          <a:solidFill>
            <a:srgbClr val="24406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6" name="Rectangle 175"/>
          <p:cNvSpPr/>
          <p:nvPr/>
        </p:nvSpPr>
        <p:spPr>
          <a:xfrm>
            <a:off x="4005072" y="2514600"/>
            <a:ext cx="128016" cy="128016"/>
          </a:xfrm>
          <a:prstGeom prst="rect">
            <a:avLst/>
          </a:prstGeom>
          <a:solidFill>
            <a:srgbClr val="24406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7" name="Rectangle 176"/>
          <p:cNvSpPr/>
          <p:nvPr/>
        </p:nvSpPr>
        <p:spPr>
          <a:xfrm>
            <a:off x="4169664" y="2514600"/>
            <a:ext cx="128016" cy="128016"/>
          </a:xfrm>
          <a:prstGeom prst="rect">
            <a:avLst/>
          </a:prstGeom>
          <a:solidFill>
            <a:srgbClr val="24406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8" name="Rectangle 177"/>
          <p:cNvSpPr/>
          <p:nvPr/>
        </p:nvSpPr>
        <p:spPr>
          <a:xfrm>
            <a:off x="4334256" y="2514600"/>
            <a:ext cx="128016" cy="128016"/>
          </a:xfrm>
          <a:prstGeom prst="rect">
            <a:avLst/>
          </a:prstGeom>
          <a:solidFill>
            <a:srgbClr val="24406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9" name="Rectangle 178"/>
          <p:cNvSpPr/>
          <p:nvPr/>
        </p:nvSpPr>
        <p:spPr>
          <a:xfrm>
            <a:off x="4498848" y="2514600"/>
            <a:ext cx="128016" cy="128016"/>
          </a:xfrm>
          <a:prstGeom prst="rect">
            <a:avLst/>
          </a:prstGeom>
          <a:solidFill>
            <a:srgbClr val="24406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0" name="Rectangle 179"/>
          <p:cNvSpPr/>
          <p:nvPr/>
        </p:nvSpPr>
        <p:spPr>
          <a:xfrm>
            <a:off x="4663440" y="2514600"/>
            <a:ext cx="128016" cy="128016"/>
          </a:xfrm>
          <a:prstGeom prst="rect">
            <a:avLst/>
          </a:prstGeom>
          <a:solidFill>
            <a:srgbClr val="24406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1" name="Rectangle 180"/>
          <p:cNvSpPr/>
          <p:nvPr/>
        </p:nvSpPr>
        <p:spPr>
          <a:xfrm>
            <a:off x="4828032" y="2514600"/>
            <a:ext cx="128016" cy="128016"/>
          </a:xfrm>
          <a:prstGeom prst="rect">
            <a:avLst/>
          </a:prstGeom>
          <a:solidFill>
            <a:srgbClr val="24406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2" name="Rectangle 181"/>
          <p:cNvSpPr/>
          <p:nvPr/>
        </p:nvSpPr>
        <p:spPr>
          <a:xfrm>
            <a:off x="4992624" y="2514600"/>
            <a:ext cx="128016" cy="128016"/>
          </a:xfrm>
          <a:prstGeom prst="rect">
            <a:avLst/>
          </a:prstGeom>
          <a:solidFill>
            <a:srgbClr val="24406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3" name="Rectangle 182"/>
          <p:cNvSpPr/>
          <p:nvPr/>
        </p:nvSpPr>
        <p:spPr>
          <a:xfrm>
            <a:off x="548640" y="2679192"/>
            <a:ext cx="128016" cy="128016"/>
          </a:xfrm>
          <a:prstGeom prst="rect">
            <a:avLst/>
          </a:prstGeom>
          <a:solidFill>
            <a:srgbClr val="24406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4" name="Rectangle 183"/>
          <p:cNvSpPr/>
          <p:nvPr/>
        </p:nvSpPr>
        <p:spPr>
          <a:xfrm>
            <a:off x="713232" y="2679192"/>
            <a:ext cx="128016" cy="128016"/>
          </a:xfrm>
          <a:prstGeom prst="rect">
            <a:avLst/>
          </a:prstGeom>
          <a:solidFill>
            <a:srgbClr val="24406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5" name="Rectangle 184"/>
          <p:cNvSpPr/>
          <p:nvPr/>
        </p:nvSpPr>
        <p:spPr>
          <a:xfrm>
            <a:off x="877824" y="2679192"/>
            <a:ext cx="128016" cy="128016"/>
          </a:xfrm>
          <a:prstGeom prst="rect">
            <a:avLst/>
          </a:prstGeom>
          <a:solidFill>
            <a:srgbClr val="24406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6" name="Rectangle 185"/>
          <p:cNvSpPr/>
          <p:nvPr/>
        </p:nvSpPr>
        <p:spPr>
          <a:xfrm>
            <a:off x="1042416" y="2679192"/>
            <a:ext cx="128016" cy="128016"/>
          </a:xfrm>
          <a:prstGeom prst="rect">
            <a:avLst/>
          </a:prstGeom>
          <a:solidFill>
            <a:srgbClr val="24406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7" name="Rectangle 186"/>
          <p:cNvSpPr/>
          <p:nvPr/>
        </p:nvSpPr>
        <p:spPr>
          <a:xfrm>
            <a:off x="1207008" y="2679192"/>
            <a:ext cx="128016" cy="128016"/>
          </a:xfrm>
          <a:prstGeom prst="rect">
            <a:avLst/>
          </a:prstGeom>
          <a:solidFill>
            <a:srgbClr val="24406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8" name="Rectangle 187"/>
          <p:cNvSpPr/>
          <p:nvPr/>
        </p:nvSpPr>
        <p:spPr>
          <a:xfrm>
            <a:off x="1371600" y="2679192"/>
            <a:ext cx="128016" cy="128016"/>
          </a:xfrm>
          <a:prstGeom prst="rect">
            <a:avLst/>
          </a:prstGeom>
          <a:solidFill>
            <a:srgbClr val="24406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9" name="Rectangle 188"/>
          <p:cNvSpPr/>
          <p:nvPr/>
        </p:nvSpPr>
        <p:spPr>
          <a:xfrm>
            <a:off x="1536192" y="2679192"/>
            <a:ext cx="128016" cy="128016"/>
          </a:xfrm>
          <a:prstGeom prst="rect">
            <a:avLst/>
          </a:prstGeom>
          <a:solidFill>
            <a:srgbClr val="24406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0" name="Rectangle 189"/>
          <p:cNvSpPr/>
          <p:nvPr/>
        </p:nvSpPr>
        <p:spPr>
          <a:xfrm>
            <a:off x="1700784" y="2679192"/>
            <a:ext cx="128016" cy="128016"/>
          </a:xfrm>
          <a:prstGeom prst="rect">
            <a:avLst/>
          </a:prstGeom>
          <a:solidFill>
            <a:srgbClr val="24406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1" name="Rectangle 190"/>
          <p:cNvSpPr/>
          <p:nvPr/>
        </p:nvSpPr>
        <p:spPr>
          <a:xfrm>
            <a:off x="1865376" y="2679192"/>
            <a:ext cx="128016" cy="128016"/>
          </a:xfrm>
          <a:prstGeom prst="rect">
            <a:avLst/>
          </a:prstGeom>
          <a:solidFill>
            <a:srgbClr val="24406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2" name="Rectangle 191"/>
          <p:cNvSpPr/>
          <p:nvPr/>
        </p:nvSpPr>
        <p:spPr>
          <a:xfrm>
            <a:off x="2029968" y="2679192"/>
            <a:ext cx="128016" cy="128016"/>
          </a:xfrm>
          <a:prstGeom prst="rect">
            <a:avLst/>
          </a:prstGeom>
          <a:solidFill>
            <a:srgbClr val="24406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3" name="Rectangle 192"/>
          <p:cNvSpPr/>
          <p:nvPr/>
        </p:nvSpPr>
        <p:spPr>
          <a:xfrm>
            <a:off x="2194560" y="2679192"/>
            <a:ext cx="128016" cy="128016"/>
          </a:xfrm>
          <a:prstGeom prst="rect">
            <a:avLst/>
          </a:prstGeom>
          <a:solidFill>
            <a:srgbClr val="24406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4" name="Rectangle 193"/>
          <p:cNvSpPr/>
          <p:nvPr/>
        </p:nvSpPr>
        <p:spPr>
          <a:xfrm>
            <a:off x="2359152" y="2679192"/>
            <a:ext cx="128016" cy="128016"/>
          </a:xfrm>
          <a:prstGeom prst="rect">
            <a:avLst/>
          </a:prstGeom>
          <a:solidFill>
            <a:srgbClr val="24406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5" name="Rectangle 194"/>
          <p:cNvSpPr/>
          <p:nvPr/>
        </p:nvSpPr>
        <p:spPr>
          <a:xfrm>
            <a:off x="2523744" y="2679192"/>
            <a:ext cx="128016" cy="128016"/>
          </a:xfrm>
          <a:prstGeom prst="rect">
            <a:avLst/>
          </a:prstGeom>
          <a:solidFill>
            <a:srgbClr val="24406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6" name="Rectangle 195"/>
          <p:cNvSpPr/>
          <p:nvPr/>
        </p:nvSpPr>
        <p:spPr>
          <a:xfrm>
            <a:off x="2688336" y="2679192"/>
            <a:ext cx="128016" cy="128016"/>
          </a:xfrm>
          <a:prstGeom prst="rect">
            <a:avLst/>
          </a:prstGeom>
          <a:solidFill>
            <a:srgbClr val="24406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7" name="Rectangle 196"/>
          <p:cNvSpPr/>
          <p:nvPr/>
        </p:nvSpPr>
        <p:spPr>
          <a:xfrm>
            <a:off x="2852928" y="2679192"/>
            <a:ext cx="128016" cy="128016"/>
          </a:xfrm>
          <a:prstGeom prst="rect">
            <a:avLst/>
          </a:prstGeom>
          <a:solidFill>
            <a:srgbClr val="24406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8" name="Rectangle 197"/>
          <p:cNvSpPr/>
          <p:nvPr/>
        </p:nvSpPr>
        <p:spPr>
          <a:xfrm>
            <a:off x="3017520" y="2679192"/>
            <a:ext cx="128016" cy="128016"/>
          </a:xfrm>
          <a:prstGeom prst="rect">
            <a:avLst/>
          </a:prstGeom>
          <a:solidFill>
            <a:srgbClr val="24406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9" name="Rectangle 198"/>
          <p:cNvSpPr/>
          <p:nvPr/>
        </p:nvSpPr>
        <p:spPr>
          <a:xfrm>
            <a:off x="3182112" y="2679192"/>
            <a:ext cx="128016" cy="128016"/>
          </a:xfrm>
          <a:prstGeom prst="rect">
            <a:avLst/>
          </a:prstGeom>
          <a:solidFill>
            <a:srgbClr val="24406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00" name="Rectangle 199"/>
          <p:cNvSpPr/>
          <p:nvPr/>
        </p:nvSpPr>
        <p:spPr>
          <a:xfrm>
            <a:off x="3346704" y="2679192"/>
            <a:ext cx="128016" cy="128016"/>
          </a:xfrm>
          <a:prstGeom prst="rect">
            <a:avLst/>
          </a:prstGeom>
          <a:solidFill>
            <a:srgbClr val="24406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01" name="Rectangle 200"/>
          <p:cNvSpPr/>
          <p:nvPr/>
        </p:nvSpPr>
        <p:spPr>
          <a:xfrm>
            <a:off x="3511296" y="2679192"/>
            <a:ext cx="128016" cy="128016"/>
          </a:xfrm>
          <a:prstGeom prst="rect">
            <a:avLst/>
          </a:prstGeom>
          <a:solidFill>
            <a:srgbClr val="24406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02" name="Rectangle 201"/>
          <p:cNvSpPr/>
          <p:nvPr/>
        </p:nvSpPr>
        <p:spPr>
          <a:xfrm>
            <a:off x="3675888" y="2679192"/>
            <a:ext cx="128016" cy="128016"/>
          </a:xfrm>
          <a:prstGeom prst="rect">
            <a:avLst/>
          </a:prstGeom>
          <a:solidFill>
            <a:srgbClr val="24406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03" name="Rectangle 202"/>
          <p:cNvSpPr/>
          <p:nvPr/>
        </p:nvSpPr>
        <p:spPr>
          <a:xfrm>
            <a:off x="3840480" y="2679192"/>
            <a:ext cx="128016" cy="128016"/>
          </a:xfrm>
          <a:prstGeom prst="rect">
            <a:avLst/>
          </a:prstGeom>
          <a:solidFill>
            <a:srgbClr val="24406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04" name="Rectangle 203"/>
          <p:cNvSpPr/>
          <p:nvPr/>
        </p:nvSpPr>
        <p:spPr>
          <a:xfrm>
            <a:off x="4005072" y="2679192"/>
            <a:ext cx="128016" cy="128016"/>
          </a:xfrm>
          <a:prstGeom prst="rect">
            <a:avLst/>
          </a:prstGeom>
          <a:solidFill>
            <a:srgbClr val="24406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05" name="Rectangle 204"/>
          <p:cNvSpPr/>
          <p:nvPr/>
        </p:nvSpPr>
        <p:spPr>
          <a:xfrm>
            <a:off x="4169664" y="2679192"/>
            <a:ext cx="128016" cy="128016"/>
          </a:xfrm>
          <a:prstGeom prst="rect">
            <a:avLst/>
          </a:prstGeom>
          <a:solidFill>
            <a:srgbClr val="24406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06" name="Rectangle 205"/>
          <p:cNvSpPr/>
          <p:nvPr/>
        </p:nvSpPr>
        <p:spPr>
          <a:xfrm>
            <a:off x="4334256" y="2679192"/>
            <a:ext cx="128016" cy="128016"/>
          </a:xfrm>
          <a:prstGeom prst="rect">
            <a:avLst/>
          </a:prstGeom>
          <a:solidFill>
            <a:srgbClr val="24406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07" name="Rectangle 206"/>
          <p:cNvSpPr/>
          <p:nvPr/>
        </p:nvSpPr>
        <p:spPr>
          <a:xfrm>
            <a:off x="4498848" y="2679192"/>
            <a:ext cx="128016" cy="128016"/>
          </a:xfrm>
          <a:prstGeom prst="rect">
            <a:avLst/>
          </a:prstGeom>
          <a:solidFill>
            <a:srgbClr val="24406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08" name="Rectangle 207"/>
          <p:cNvSpPr/>
          <p:nvPr/>
        </p:nvSpPr>
        <p:spPr>
          <a:xfrm>
            <a:off x="4663440" y="2679192"/>
            <a:ext cx="128016" cy="128016"/>
          </a:xfrm>
          <a:prstGeom prst="rect">
            <a:avLst/>
          </a:prstGeom>
          <a:solidFill>
            <a:srgbClr val="24406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09" name="Rectangle 208"/>
          <p:cNvSpPr/>
          <p:nvPr/>
        </p:nvSpPr>
        <p:spPr>
          <a:xfrm>
            <a:off x="4828032" y="2679192"/>
            <a:ext cx="128016" cy="128016"/>
          </a:xfrm>
          <a:prstGeom prst="rect">
            <a:avLst/>
          </a:prstGeom>
          <a:solidFill>
            <a:srgbClr val="24406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0" name="Rectangle 209"/>
          <p:cNvSpPr/>
          <p:nvPr/>
        </p:nvSpPr>
        <p:spPr>
          <a:xfrm>
            <a:off x="4992624" y="2679192"/>
            <a:ext cx="128016" cy="128016"/>
          </a:xfrm>
          <a:prstGeom prst="rect">
            <a:avLst/>
          </a:prstGeom>
          <a:solidFill>
            <a:srgbClr val="24406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1" name="Rectangle 210"/>
          <p:cNvSpPr/>
          <p:nvPr/>
        </p:nvSpPr>
        <p:spPr>
          <a:xfrm>
            <a:off x="548640" y="2843784"/>
            <a:ext cx="128016" cy="128016"/>
          </a:xfrm>
          <a:prstGeom prst="rect">
            <a:avLst/>
          </a:prstGeom>
          <a:solidFill>
            <a:srgbClr val="24406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2" name="Rectangle 211"/>
          <p:cNvSpPr/>
          <p:nvPr/>
        </p:nvSpPr>
        <p:spPr>
          <a:xfrm>
            <a:off x="713232" y="2843784"/>
            <a:ext cx="128016" cy="128016"/>
          </a:xfrm>
          <a:prstGeom prst="rect">
            <a:avLst/>
          </a:prstGeom>
          <a:solidFill>
            <a:srgbClr val="24406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3" name="Rectangle 212"/>
          <p:cNvSpPr/>
          <p:nvPr/>
        </p:nvSpPr>
        <p:spPr>
          <a:xfrm>
            <a:off x="877824" y="2843784"/>
            <a:ext cx="128016" cy="128016"/>
          </a:xfrm>
          <a:prstGeom prst="rect">
            <a:avLst/>
          </a:prstGeom>
          <a:solidFill>
            <a:srgbClr val="24406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4" name="Rectangle 213"/>
          <p:cNvSpPr/>
          <p:nvPr/>
        </p:nvSpPr>
        <p:spPr>
          <a:xfrm>
            <a:off x="1042416" y="2843784"/>
            <a:ext cx="128016" cy="128016"/>
          </a:xfrm>
          <a:prstGeom prst="rect">
            <a:avLst/>
          </a:prstGeom>
          <a:solidFill>
            <a:srgbClr val="24406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5" name="Rectangle 214"/>
          <p:cNvSpPr/>
          <p:nvPr/>
        </p:nvSpPr>
        <p:spPr>
          <a:xfrm>
            <a:off x="1207008" y="2843784"/>
            <a:ext cx="128016" cy="128016"/>
          </a:xfrm>
          <a:prstGeom prst="rect">
            <a:avLst/>
          </a:prstGeom>
          <a:solidFill>
            <a:srgbClr val="24406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6" name="Rectangle 215"/>
          <p:cNvSpPr/>
          <p:nvPr/>
        </p:nvSpPr>
        <p:spPr>
          <a:xfrm>
            <a:off x="1371600" y="2843784"/>
            <a:ext cx="128016" cy="128016"/>
          </a:xfrm>
          <a:prstGeom prst="rect">
            <a:avLst/>
          </a:prstGeom>
          <a:solidFill>
            <a:srgbClr val="24406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7" name="Rectangle 216"/>
          <p:cNvSpPr/>
          <p:nvPr/>
        </p:nvSpPr>
        <p:spPr>
          <a:xfrm>
            <a:off x="1536192" y="2843784"/>
            <a:ext cx="128016" cy="128016"/>
          </a:xfrm>
          <a:prstGeom prst="rect">
            <a:avLst/>
          </a:prstGeom>
          <a:solidFill>
            <a:srgbClr val="24406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8" name="Rectangle 217"/>
          <p:cNvSpPr/>
          <p:nvPr/>
        </p:nvSpPr>
        <p:spPr>
          <a:xfrm>
            <a:off x="1700784" y="2843784"/>
            <a:ext cx="128016" cy="128016"/>
          </a:xfrm>
          <a:prstGeom prst="rect">
            <a:avLst/>
          </a:prstGeom>
          <a:solidFill>
            <a:srgbClr val="24406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9" name="Rectangle 218"/>
          <p:cNvSpPr/>
          <p:nvPr/>
        </p:nvSpPr>
        <p:spPr>
          <a:xfrm>
            <a:off x="1865376" y="2843784"/>
            <a:ext cx="128016" cy="128016"/>
          </a:xfrm>
          <a:prstGeom prst="rect">
            <a:avLst/>
          </a:prstGeom>
          <a:solidFill>
            <a:srgbClr val="24406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0" name="Rectangle 219"/>
          <p:cNvSpPr/>
          <p:nvPr/>
        </p:nvSpPr>
        <p:spPr>
          <a:xfrm>
            <a:off x="2029968" y="2843784"/>
            <a:ext cx="128016" cy="128016"/>
          </a:xfrm>
          <a:prstGeom prst="rect">
            <a:avLst/>
          </a:prstGeom>
          <a:solidFill>
            <a:srgbClr val="24406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1" name="Rectangle 220"/>
          <p:cNvSpPr/>
          <p:nvPr/>
        </p:nvSpPr>
        <p:spPr>
          <a:xfrm>
            <a:off x="2194560" y="2843784"/>
            <a:ext cx="128016" cy="128016"/>
          </a:xfrm>
          <a:prstGeom prst="rect">
            <a:avLst/>
          </a:prstGeom>
          <a:solidFill>
            <a:srgbClr val="24406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2" name="Rectangle 221"/>
          <p:cNvSpPr/>
          <p:nvPr/>
        </p:nvSpPr>
        <p:spPr>
          <a:xfrm>
            <a:off x="2359152" y="2843784"/>
            <a:ext cx="128016" cy="128016"/>
          </a:xfrm>
          <a:prstGeom prst="rect">
            <a:avLst/>
          </a:prstGeom>
          <a:solidFill>
            <a:srgbClr val="24406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3" name="Rectangle 222"/>
          <p:cNvSpPr/>
          <p:nvPr/>
        </p:nvSpPr>
        <p:spPr>
          <a:xfrm>
            <a:off x="2523744" y="2843784"/>
            <a:ext cx="128016" cy="128016"/>
          </a:xfrm>
          <a:prstGeom prst="rect">
            <a:avLst/>
          </a:prstGeom>
          <a:solidFill>
            <a:srgbClr val="24406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4" name="Rectangle 223"/>
          <p:cNvSpPr/>
          <p:nvPr/>
        </p:nvSpPr>
        <p:spPr>
          <a:xfrm>
            <a:off x="2688336" y="2843784"/>
            <a:ext cx="128016" cy="128016"/>
          </a:xfrm>
          <a:prstGeom prst="rect">
            <a:avLst/>
          </a:prstGeom>
          <a:solidFill>
            <a:srgbClr val="24406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5" name="Rectangle 224"/>
          <p:cNvSpPr/>
          <p:nvPr/>
        </p:nvSpPr>
        <p:spPr>
          <a:xfrm>
            <a:off x="2852928" y="2843784"/>
            <a:ext cx="128016" cy="128016"/>
          </a:xfrm>
          <a:prstGeom prst="rect">
            <a:avLst/>
          </a:prstGeom>
          <a:solidFill>
            <a:srgbClr val="24406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6" name="Rectangle 225"/>
          <p:cNvSpPr/>
          <p:nvPr/>
        </p:nvSpPr>
        <p:spPr>
          <a:xfrm>
            <a:off x="3017520" y="2843784"/>
            <a:ext cx="128016" cy="128016"/>
          </a:xfrm>
          <a:prstGeom prst="rect">
            <a:avLst/>
          </a:prstGeom>
          <a:solidFill>
            <a:srgbClr val="24406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7" name="Rectangle 226"/>
          <p:cNvSpPr/>
          <p:nvPr/>
        </p:nvSpPr>
        <p:spPr>
          <a:xfrm>
            <a:off x="3182112" y="2843784"/>
            <a:ext cx="128016" cy="128016"/>
          </a:xfrm>
          <a:prstGeom prst="rect">
            <a:avLst/>
          </a:prstGeom>
          <a:solidFill>
            <a:srgbClr val="24406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8" name="Rectangle 227"/>
          <p:cNvSpPr/>
          <p:nvPr/>
        </p:nvSpPr>
        <p:spPr>
          <a:xfrm>
            <a:off x="3346704" y="2843784"/>
            <a:ext cx="128016" cy="128016"/>
          </a:xfrm>
          <a:prstGeom prst="rect">
            <a:avLst/>
          </a:prstGeom>
          <a:solidFill>
            <a:srgbClr val="24406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9" name="Rectangle 228"/>
          <p:cNvSpPr/>
          <p:nvPr/>
        </p:nvSpPr>
        <p:spPr>
          <a:xfrm>
            <a:off x="3511296" y="2843784"/>
            <a:ext cx="128016" cy="128016"/>
          </a:xfrm>
          <a:prstGeom prst="rect">
            <a:avLst/>
          </a:prstGeom>
          <a:solidFill>
            <a:srgbClr val="24406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0" name="Rectangle 229"/>
          <p:cNvSpPr/>
          <p:nvPr/>
        </p:nvSpPr>
        <p:spPr>
          <a:xfrm>
            <a:off x="3675888" y="2843784"/>
            <a:ext cx="128016" cy="128016"/>
          </a:xfrm>
          <a:prstGeom prst="rect">
            <a:avLst/>
          </a:prstGeom>
          <a:solidFill>
            <a:srgbClr val="24406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1" name="Rectangle 230"/>
          <p:cNvSpPr/>
          <p:nvPr/>
        </p:nvSpPr>
        <p:spPr>
          <a:xfrm>
            <a:off x="3840480" y="2843784"/>
            <a:ext cx="128016" cy="128016"/>
          </a:xfrm>
          <a:prstGeom prst="rect">
            <a:avLst/>
          </a:prstGeom>
          <a:solidFill>
            <a:srgbClr val="24406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2" name="Rectangle 231"/>
          <p:cNvSpPr/>
          <p:nvPr/>
        </p:nvSpPr>
        <p:spPr>
          <a:xfrm>
            <a:off x="4005072" y="2843784"/>
            <a:ext cx="128016" cy="128016"/>
          </a:xfrm>
          <a:prstGeom prst="rect">
            <a:avLst/>
          </a:prstGeom>
          <a:solidFill>
            <a:srgbClr val="24406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3" name="Rectangle 232"/>
          <p:cNvSpPr/>
          <p:nvPr/>
        </p:nvSpPr>
        <p:spPr>
          <a:xfrm>
            <a:off x="4169664" y="2843784"/>
            <a:ext cx="128016" cy="128016"/>
          </a:xfrm>
          <a:prstGeom prst="rect">
            <a:avLst/>
          </a:prstGeom>
          <a:solidFill>
            <a:srgbClr val="24406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4" name="Rectangle 233"/>
          <p:cNvSpPr/>
          <p:nvPr/>
        </p:nvSpPr>
        <p:spPr>
          <a:xfrm>
            <a:off x="4334256" y="2843784"/>
            <a:ext cx="128016" cy="128016"/>
          </a:xfrm>
          <a:prstGeom prst="rect">
            <a:avLst/>
          </a:prstGeom>
          <a:solidFill>
            <a:srgbClr val="24406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5" name="Rectangle 234"/>
          <p:cNvSpPr/>
          <p:nvPr/>
        </p:nvSpPr>
        <p:spPr>
          <a:xfrm>
            <a:off x="4498848" y="2843784"/>
            <a:ext cx="128016" cy="128016"/>
          </a:xfrm>
          <a:prstGeom prst="rect">
            <a:avLst/>
          </a:prstGeom>
          <a:solidFill>
            <a:srgbClr val="24406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6" name="Rectangle 235"/>
          <p:cNvSpPr/>
          <p:nvPr/>
        </p:nvSpPr>
        <p:spPr>
          <a:xfrm>
            <a:off x="4663440" y="2843784"/>
            <a:ext cx="128016" cy="128016"/>
          </a:xfrm>
          <a:prstGeom prst="rect">
            <a:avLst/>
          </a:prstGeom>
          <a:solidFill>
            <a:srgbClr val="24406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7" name="Rectangle 236"/>
          <p:cNvSpPr/>
          <p:nvPr/>
        </p:nvSpPr>
        <p:spPr>
          <a:xfrm>
            <a:off x="4828032" y="2843784"/>
            <a:ext cx="128016" cy="128016"/>
          </a:xfrm>
          <a:prstGeom prst="rect">
            <a:avLst/>
          </a:prstGeom>
          <a:solidFill>
            <a:srgbClr val="24406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8" name="Rectangle 237"/>
          <p:cNvSpPr/>
          <p:nvPr/>
        </p:nvSpPr>
        <p:spPr>
          <a:xfrm>
            <a:off x="4992624" y="2843784"/>
            <a:ext cx="128016" cy="128016"/>
          </a:xfrm>
          <a:prstGeom prst="rect">
            <a:avLst/>
          </a:prstGeom>
          <a:solidFill>
            <a:srgbClr val="24406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9" name="Rectangle 238"/>
          <p:cNvSpPr/>
          <p:nvPr/>
        </p:nvSpPr>
        <p:spPr>
          <a:xfrm>
            <a:off x="548640" y="3008376"/>
            <a:ext cx="128016" cy="128016"/>
          </a:xfrm>
          <a:prstGeom prst="rect">
            <a:avLst/>
          </a:prstGeom>
          <a:solidFill>
            <a:srgbClr val="24406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0" name="Rectangle 239"/>
          <p:cNvSpPr/>
          <p:nvPr/>
        </p:nvSpPr>
        <p:spPr>
          <a:xfrm>
            <a:off x="713232" y="3008376"/>
            <a:ext cx="128016" cy="128016"/>
          </a:xfrm>
          <a:prstGeom prst="rect">
            <a:avLst/>
          </a:prstGeom>
          <a:solidFill>
            <a:srgbClr val="24406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1" name="Rectangle 240"/>
          <p:cNvSpPr/>
          <p:nvPr/>
        </p:nvSpPr>
        <p:spPr>
          <a:xfrm>
            <a:off x="877824" y="3008376"/>
            <a:ext cx="128016" cy="128016"/>
          </a:xfrm>
          <a:prstGeom prst="rect">
            <a:avLst/>
          </a:prstGeom>
          <a:solidFill>
            <a:srgbClr val="24406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2" name="Rectangle 241"/>
          <p:cNvSpPr/>
          <p:nvPr/>
        </p:nvSpPr>
        <p:spPr>
          <a:xfrm>
            <a:off x="1042416" y="3008376"/>
            <a:ext cx="128016" cy="128016"/>
          </a:xfrm>
          <a:prstGeom prst="rect">
            <a:avLst/>
          </a:prstGeom>
          <a:solidFill>
            <a:srgbClr val="24406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3" name="Rectangle 242"/>
          <p:cNvSpPr/>
          <p:nvPr/>
        </p:nvSpPr>
        <p:spPr>
          <a:xfrm>
            <a:off x="1207008" y="3008376"/>
            <a:ext cx="128016" cy="128016"/>
          </a:xfrm>
          <a:prstGeom prst="rect">
            <a:avLst/>
          </a:prstGeom>
          <a:solidFill>
            <a:srgbClr val="24406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4" name="Rectangle 243"/>
          <p:cNvSpPr/>
          <p:nvPr/>
        </p:nvSpPr>
        <p:spPr>
          <a:xfrm>
            <a:off x="1371600" y="3008376"/>
            <a:ext cx="128016" cy="128016"/>
          </a:xfrm>
          <a:prstGeom prst="rect">
            <a:avLst/>
          </a:prstGeom>
          <a:solidFill>
            <a:srgbClr val="24406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5" name="Rectangle 244"/>
          <p:cNvSpPr/>
          <p:nvPr/>
        </p:nvSpPr>
        <p:spPr>
          <a:xfrm>
            <a:off x="1536192" y="3008376"/>
            <a:ext cx="128016" cy="128016"/>
          </a:xfrm>
          <a:prstGeom prst="rect">
            <a:avLst/>
          </a:prstGeom>
          <a:solidFill>
            <a:srgbClr val="24406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6" name="Rectangle 245"/>
          <p:cNvSpPr/>
          <p:nvPr/>
        </p:nvSpPr>
        <p:spPr>
          <a:xfrm>
            <a:off x="1700784" y="3008376"/>
            <a:ext cx="128016" cy="128016"/>
          </a:xfrm>
          <a:prstGeom prst="rect">
            <a:avLst/>
          </a:prstGeom>
          <a:solidFill>
            <a:srgbClr val="24406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7" name="Rectangle 246"/>
          <p:cNvSpPr/>
          <p:nvPr/>
        </p:nvSpPr>
        <p:spPr>
          <a:xfrm>
            <a:off x="1865376" y="3008376"/>
            <a:ext cx="128016" cy="128016"/>
          </a:xfrm>
          <a:prstGeom prst="rect">
            <a:avLst/>
          </a:prstGeom>
          <a:solidFill>
            <a:srgbClr val="24406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8" name="Rectangle 247"/>
          <p:cNvSpPr/>
          <p:nvPr/>
        </p:nvSpPr>
        <p:spPr>
          <a:xfrm>
            <a:off x="2029968" y="3008376"/>
            <a:ext cx="128016" cy="128016"/>
          </a:xfrm>
          <a:prstGeom prst="rect">
            <a:avLst/>
          </a:prstGeom>
          <a:solidFill>
            <a:srgbClr val="24406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9" name="Rectangle 248"/>
          <p:cNvSpPr/>
          <p:nvPr/>
        </p:nvSpPr>
        <p:spPr>
          <a:xfrm>
            <a:off x="2194560" y="3008376"/>
            <a:ext cx="128016" cy="128016"/>
          </a:xfrm>
          <a:prstGeom prst="rect">
            <a:avLst/>
          </a:prstGeom>
          <a:solidFill>
            <a:srgbClr val="24406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0" name="Rectangle 249"/>
          <p:cNvSpPr/>
          <p:nvPr/>
        </p:nvSpPr>
        <p:spPr>
          <a:xfrm>
            <a:off x="2359152" y="3008376"/>
            <a:ext cx="128016" cy="128016"/>
          </a:xfrm>
          <a:prstGeom prst="rect">
            <a:avLst/>
          </a:prstGeom>
          <a:solidFill>
            <a:srgbClr val="24406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1" name="Rectangle 250"/>
          <p:cNvSpPr/>
          <p:nvPr/>
        </p:nvSpPr>
        <p:spPr>
          <a:xfrm>
            <a:off x="2523744" y="3008376"/>
            <a:ext cx="128016" cy="128016"/>
          </a:xfrm>
          <a:prstGeom prst="rect">
            <a:avLst/>
          </a:prstGeom>
          <a:solidFill>
            <a:srgbClr val="24406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2" name="Rectangle 251"/>
          <p:cNvSpPr/>
          <p:nvPr/>
        </p:nvSpPr>
        <p:spPr>
          <a:xfrm>
            <a:off x="2688336" y="3008376"/>
            <a:ext cx="128016" cy="128016"/>
          </a:xfrm>
          <a:prstGeom prst="rect">
            <a:avLst/>
          </a:prstGeom>
          <a:solidFill>
            <a:srgbClr val="24406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3" name="Rectangle 252"/>
          <p:cNvSpPr/>
          <p:nvPr/>
        </p:nvSpPr>
        <p:spPr>
          <a:xfrm>
            <a:off x="2852928" y="3008376"/>
            <a:ext cx="128016" cy="128016"/>
          </a:xfrm>
          <a:prstGeom prst="rect">
            <a:avLst/>
          </a:prstGeom>
          <a:solidFill>
            <a:srgbClr val="24406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4" name="Rectangle 253"/>
          <p:cNvSpPr/>
          <p:nvPr/>
        </p:nvSpPr>
        <p:spPr>
          <a:xfrm>
            <a:off x="3017520" y="3008376"/>
            <a:ext cx="128016" cy="128016"/>
          </a:xfrm>
          <a:prstGeom prst="rect">
            <a:avLst/>
          </a:prstGeom>
          <a:solidFill>
            <a:srgbClr val="24406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5" name="Rectangle 254"/>
          <p:cNvSpPr/>
          <p:nvPr/>
        </p:nvSpPr>
        <p:spPr>
          <a:xfrm>
            <a:off x="3182112" y="3008376"/>
            <a:ext cx="128016" cy="128016"/>
          </a:xfrm>
          <a:prstGeom prst="rect">
            <a:avLst/>
          </a:prstGeom>
          <a:solidFill>
            <a:srgbClr val="24406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6" name="Rectangle 255"/>
          <p:cNvSpPr/>
          <p:nvPr/>
        </p:nvSpPr>
        <p:spPr>
          <a:xfrm>
            <a:off x="3346704" y="3008376"/>
            <a:ext cx="128016" cy="128016"/>
          </a:xfrm>
          <a:prstGeom prst="rect">
            <a:avLst/>
          </a:prstGeom>
          <a:solidFill>
            <a:srgbClr val="24406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7" name="Rectangle 256"/>
          <p:cNvSpPr/>
          <p:nvPr/>
        </p:nvSpPr>
        <p:spPr>
          <a:xfrm>
            <a:off x="3511296" y="3008376"/>
            <a:ext cx="128016" cy="128016"/>
          </a:xfrm>
          <a:prstGeom prst="rect">
            <a:avLst/>
          </a:prstGeom>
          <a:solidFill>
            <a:srgbClr val="24406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8" name="Rectangle 257"/>
          <p:cNvSpPr/>
          <p:nvPr/>
        </p:nvSpPr>
        <p:spPr>
          <a:xfrm>
            <a:off x="3675888" y="3008376"/>
            <a:ext cx="128016" cy="128016"/>
          </a:xfrm>
          <a:prstGeom prst="rect">
            <a:avLst/>
          </a:prstGeom>
          <a:solidFill>
            <a:srgbClr val="24406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9" name="Rectangle 258"/>
          <p:cNvSpPr/>
          <p:nvPr/>
        </p:nvSpPr>
        <p:spPr>
          <a:xfrm>
            <a:off x="3840480" y="3008376"/>
            <a:ext cx="128016" cy="128016"/>
          </a:xfrm>
          <a:prstGeom prst="rect">
            <a:avLst/>
          </a:prstGeom>
          <a:solidFill>
            <a:srgbClr val="24406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0" name="Rectangle 259"/>
          <p:cNvSpPr/>
          <p:nvPr/>
        </p:nvSpPr>
        <p:spPr>
          <a:xfrm>
            <a:off x="4005072" y="3008376"/>
            <a:ext cx="128016" cy="128016"/>
          </a:xfrm>
          <a:prstGeom prst="rect">
            <a:avLst/>
          </a:prstGeom>
          <a:solidFill>
            <a:srgbClr val="24406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1" name="Rectangle 260"/>
          <p:cNvSpPr/>
          <p:nvPr/>
        </p:nvSpPr>
        <p:spPr>
          <a:xfrm>
            <a:off x="4169664" y="3008376"/>
            <a:ext cx="128016" cy="128016"/>
          </a:xfrm>
          <a:prstGeom prst="rect">
            <a:avLst/>
          </a:prstGeom>
          <a:solidFill>
            <a:srgbClr val="24406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2" name="Rectangle 261"/>
          <p:cNvSpPr/>
          <p:nvPr/>
        </p:nvSpPr>
        <p:spPr>
          <a:xfrm>
            <a:off x="4334256" y="3008376"/>
            <a:ext cx="128016" cy="128016"/>
          </a:xfrm>
          <a:prstGeom prst="rect">
            <a:avLst/>
          </a:prstGeom>
          <a:solidFill>
            <a:srgbClr val="24406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3" name="Rectangle 262"/>
          <p:cNvSpPr/>
          <p:nvPr/>
        </p:nvSpPr>
        <p:spPr>
          <a:xfrm>
            <a:off x="4498848" y="3008376"/>
            <a:ext cx="128016" cy="128016"/>
          </a:xfrm>
          <a:prstGeom prst="rect">
            <a:avLst/>
          </a:prstGeom>
          <a:solidFill>
            <a:srgbClr val="24406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4" name="Rectangle 263"/>
          <p:cNvSpPr/>
          <p:nvPr/>
        </p:nvSpPr>
        <p:spPr>
          <a:xfrm>
            <a:off x="4663440" y="3008376"/>
            <a:ext cx="128016" cy="128016"/>
          </a:xfrm>
          <a:prstGeom prst="rect">
            <a:avLst/>
          </a:prstGeom>
          <a:solidFill>
            <a:srgbClr val="24406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5" name="Rectangle 264"/>
          <p:cNvSpPr/>
          <p:nvPr/>
        </p:nvSpPr>
        <p:spPr>
          <a:xfrm>
            <a:off x="4828032" y="3008376"/>
            <a:ext cx="128016" cy="128016"/>
          </a:xfrm>
          <a:prstGeom prst="rect">
            <a:avLst/>
          </a:prstGeom>
          <a:solidFill>
            <a:srgbClr val="24406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6" name="Rectangle 265"/>
          <p:cNvSpPr/>
          <p:nvPr/>
        </p:nvSpPr>
        <p:spPr>
          <a:xfrm>
            <a:off x="4992624" y="3008376"/>
            <a:ext cx="128016" cy="128016"/>
          </a:xfrm>
          <a:prstGeom prst="rect">
            <a:avLst/>
          </a:prstGeom>
          <a:solidFill>
            <a:srgbClr val="24406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7" name="Rectangle 266"/>
          <p:cNvSpPr/>
          <p:nvPr/>
        </p:nvSpPr>
        <p:spPr>
          <a:xfrm>
            <a:off x="548640" y="3172968"/>
            <a:ext cx="128016" cy="128016"/>
          </a:xfrm>
          <a:prstGeom prst="rect">
            <a:avLst/>
          </a:prstGeom>
          <a:solidFill>
            <a:srgbClr val="24406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8" name="Rectangle 267"/>
          <p:cNvSpPr/>
          <p:nvPr/>
        </p:nvSpPr>
        <p:spPr>
          <a:xfrm>
            <a:off x="713232" y="3172968"/>
            <a:ext cx="128016" cy="128016"/>
          </a:xfrm>
          <a:prstGeom prst="rect">
            <a:avLst/>
          </a:prstGeom>
          <a:solidFill>
            <a:srgbClr val="24406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9" name="Rectangle 268"/>
          <p:cNvSpPr/>
          <p:nvPr/>
        </p:nvSpPr>
        <p:spPr>
          <a:xfrm>
            <a:off x="877824" y="3172968"/>
            <a:ext cx="128016" cy="128016"/>
          </a:xfrm>
          <a:prstGeom prst="rect">
            <a:avLst/>
          </a:prstGeom>
          <a:solidFill>
            <a:srgbClr val="24406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0" name="Rectangle 269"/>
          <p:cNvSpPr/>
          <p:nvPr/>
        </p:nvSpPr>
        <p:spPr>
          <a:xfrm>
            <a:off x="1042416" y="3172968"/>
            <a:ext cx="128016" cy="128016"/>
          </a:xfrm>
          <a:prstGeom prst="rect">
            <a:avLst/>
          </a:prstGeom>
          <a:solidFill>
            <a:srgbClr val="24406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1" name="Rectangle 270"/>
          <p:cNvSpPr/>
          <p:nvPr/>
        </p:nvSpPr>
        <p:spPr>
          <a:xfrm>
            <a:off x="1207008" y="3172968"/>
            <a:ext cx="128016" cy="128016"/>
          </a:xfrm>
          <a:prstGeom prst="rect">
            <a:avLst/>
          </a:prstGeom>
          <a:solidFill>
            <a:srgbClr val="24406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2" name="Rectangle 271"/>
          <p:cNvSpPr/>
          <p:nvPr/>
        </p:nvSpPr>
        <p:spPr>
          <a:xfrm>
            <a:off x="1371600" y="3172968"/>
            <a:ext cx="128016" cy="128016"/>
          </a:xfrm>
          <a:prstGeom prst="rect">
            <a:avLst/>
          </a:prstGeom>
          <a:solidFill>
            <a:srgbClr val="24406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3" name="Rectangle 272"/>
          <p:cNvSpPr/>
          <p:nvPr/>
        </p:nvSpPr>
        <p:spPr>
          <a:xfrm>
            <a:off x="1536192" y="3172968"/>
            <a:ext cx="128016" cy="128016"/>
          </a:xfrm>
          <a:prstGeom prst="rect">
            <a:avLst/>
          </a:prstGeom>
          <a:solidFill>
            <a:srgbClr val="24406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4" name="Rectangle 273"/>
          <p:cNvSpPr/>
          <p:nvPr/>
        </p:nvSpPr>
        <p:spPr>
          <a:xfrm>
            <a:off x="1700784" y="3172968"/>
            <a:ext cx="128016" cy="128016"/>
          </a:xfrm>
          <a:prstGeom prst="rect">
            <a:avLst/>
          </a:prstGeom>
          <a:solidFill>
            <a:srgbClr val="3A5A8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5" name="Rectangle 274"/>
          <p:cNvSpPr/>
          <p:nvPr/>
        </p:nvSpPr>
        <p:spPr>
          <a:xfrm>
            <a:off x="1865376" y="3172968"/>
            <a:ext cx="128016" cy="128016"/>
          </a:xfrm>
          <a:prstGeom prst="rect">
            <a:avLst/>
          </a:prstGeom>
          <a:solidFill>
            <a:srgbClr val="3A5A8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6" name="Rectangle 275"/>
          <p:cNvSpPr/>
          <p:nvPr/>
        </p:nvSpPr>
        <p:spPr>
          <a:xfrm>
            <a:off x="2029968" y="3172968"/>
            <a:ext cx="128016" cy="128016"/>
          </a:xfrm>
          <a:prstGeom prst="rect">
            <a:avLst/>
          </a:prstGeom>
          <a:solidFill>
            <a:srgbClr val="3A5A8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7" name="Rectangle 276"/>
          <p:cNvSpPr/>
          <p:nvPr/>
        </p:nvSpPr>
        <p:spPr>
          <a:xfrm>
            <a:off x="2194560" y="3172968"/>
            <a:ext cx="128016" cy="128016"/>
          </a:xfrm>
          <a:prstGeom prst="rect">
            <a:avLst/>
          </a:prstGeom>
          <a:solidFill>
            <a:srgbClr val="3A5A8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8" name="Rectangle 277"/>
          <p:cNvSpPr/>
          <p:nvPr/>
        </p:nvSpPr>
        <p:spPr>
          <a:xfrm>
            <a:off x="2359152" y="3172968"/>
            <a:ext cx="128016" cy="128016"/>
          </a:xfrm>
          <a:prstGeom prst="rect">
            <a:avLst/>
          </a:prstGeom>
          <a:solidFill>
            <a:srgbClr val="3A5A8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9" name="Rectangle 278"/>
          <p:cNvSpPr/>
          <p:nvPr/>
        </p:nvSpPr>
        <p:spPr>
          <a:xfrm>
            <a:off x="2523744" y="3172968"/>
            <a:ext cx="128016" cy="128016"/>
          </a:xfrm>
          <a:prstGeom prst="rect">
            <a:avLst/>
          </a:prstGeom>
          <a:solidFill>
            <a:srgbClr val="3A5A8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0" name="Rectangle 279"/>
          <p:cNvSpPr/>
          <p:nvPr/>
        </p:nvSpPr>
        <p:spPr>
          <a:xfrm>
            <a:off x="2688336" y="3172968"/>
            <a:ext cx="128016" cy="128016"/>
          </a:xfrm>
          <a:prstGeom prst="rect">
            <a:avLst/>
          </a:prstGeom>
          <a:solidFill>
            <a:srgbClr val="3A5A8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1" name="Rectangle 280"/>
          <p:cNvSpPr/>
          <p:nvPr/>
        </p:nvSpPr>
        <p:spPr>
          <a:xfrm>
            <a:off x="2852928" y="3172968"/>
            <a:ext cx="128016" cy="128016"/>
          </a:xfrm>
          <a:prstGeom prst="rect">
            <a:avLst/>
          </a:prstGeom>
          <a:solidFill>
            <a:srgbClr val="3A5A8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2" name="Rectangle 281"/>
          <p:cNvSpPr/>
          <p:nvPr/>
        </p:nvSpPr>
        <p:spPr>
          <a:xfrm>
            <a:off x="3017520" y="3172968"/>
            <a:ext cx="128016" cy="128016"/>
          </a:xfrm>
          <a:prstGeom prst="rect">
            <a:avLst/>
          </a:prstGeom>
          <a:solidFill>
            <a:srgbClr val="3A5A8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3" name="Rectangle 282"/>
          <p:cNvSpPr/>
          <p:nvPr/>
        </p:nvSpPr>
        <p:spPr>
          <a:xfrm>
            <a:off x="3182112" y="3172968"/>
            <a:ext cx="128016" cy="128016"/>
          </a:xfrm>
          <a:prstGeom prst="rect">
            <a:avLst/>
          </a:prstGeom>
          <a:solidFill>
            <a:srgbClr val="3A5A8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4" name="Rectangle 283"/>
          <p:cNvSpPr/>
          <p:nvPr/>
        </p:nvSpPr>
        <p:spPr>
          <a:xfrm>
            <a:off x="3346704" y="3172968"/>
            <a:ext cx="128016" cy="128016"/>
          </a:xfrm>
          <a:prstGeom prst="rect">
            <a:avLst/>
          </a:prstGeom>
          <a:solidFill>
            <a:srgbClr val="3A5A8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5" name="Rectangle 284"/>
          <p:cNvSpPr/>
          <p:nvPr/>
        </p:nvSpPr>
        <p:spPr>
          <a:xfrm>
            <a:off x="3511296" y="3172968"/>
            <a:ext cx="128016" cy="128016"/>
          </a:xfrm>
          <a:prstGeom prst="rect">
            <a:avLst/>
          </a:prstGeom>
          <a:solidFill>
            <a:srgbClr val="3A5A8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6" name="Rectangle 285"/>
          <p:cNvSpPr/>
          <p:nvPr/>
        </p:nvSpPr>
        <p:spPr>
          <a:xfrm>
            <a:off x="3675888" y="3172968"/>
            <a:ext cx="128016" cy="128016"/>
          </a:xfrm>
          <a:prstGeom prst="rect">
            <a:avLst/>
          </a:prstGeom>
          <a:solidFill>
            <a:srgbClr val="3A5A8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7" name="Rectangle 286"/>
          <p:cNvSpPr/>
          <p:nvPr/>
        </p:nvSpPr>
        <p:spPr>
          <a:xfrm>
            <a:off x="3840480" y="3172968"/>
            <a:ext cx="128016" cy="128016"/>
          </a:xfrm>
          <a:prstGeom prst="rect">
            <a:avLst/>
          </a:prstGeom>
          <a:solidFill>
            <a:srgbClr val="3A5A8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8" name="Rectangle 287"/>
          <p:cNvSpPr/>
          <p:nvPr/>
        </p:nvSpPr>
        <p:spPr>
          <a:xfrm>
            <a:off x="4005072" y="3172968"/>
            <a:ext cx="128016" cy="128016"/>
          </a:xfrm>
          <a:prstGeom prst="rect">
            <a:avLst/>
          </a:prstGeom>
          <a:solidFill>
            <a:srgbClr val="3A5A8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9" name="Rectangle 288"/>
          <p:cNvSpPr/>
          <p:nvPr/>
        </p:nvSpPr>
        <p:spPr>
          <a:xfrm>
            <a:off x="4169664" y="3172968"/>
            <a:ext cx="128016" cy="128016"/>
          </a:xfrm>
          <a:prstGeom prst="rect">
            <a:avLst/>
          </a:prstGeom>
          <a:solidFill>
            <a:srgbClr val="3A5A8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0" name="Rectangle 289"/>
          <p:cNvSpPr/>
          <p:nvPr/>
        </p:nvSpPr>
        <p:spPr>
          <a:xfrm>
            <a:off x="4334256" y="3172968"/>
            <a:ext cx="128016" cy="128016"/>
          </a:xfrm>
          <a:prstGeom prst="rect">
            <a:avLst/>
          </a:prstGeom>
          <a:solidFill>
            <a:srgbClr val="3A5A8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1" name="Rectangle 290"/>
          <p:cNvSpPr/>
          <p:nvPr/>
        </p:nvSpPr>
        <p:spPr>
          <a:xfrm>
            <a:off x="4498848" y="3172968"/>
            <a:ext cx="128016" cy="128016"/>
          </a:xfrm>
          <a:prstGeom prst="rect">
            <a:avLst/>
          </a:prstGeom>
          <a:solidFill>
            <a:srgbClr val="3A5A8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2" name="Rectangle 291"/>
          <p:cNvSpPr/>
          <p:nvPr/>
        </p:nvSpPr>
        <p:spPr>
          <a:xfrm>
            <a:off x="4663440" y="3172968"/>
            <a:ext cx="128016" cy="128016"/>
          </a:xfrm>
          <a:prstGeom prst="rect">
            <a:avLst/>
          </a:prstGeom>
          <a:solidFill>
            <a:srgbClr val="3A5A8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3" name="Rectangle 292"/>
          <p:cNvSpPr/>
          <p:nvPr/>
        </p:nvSpPr>
        <p:spPr>
          <a:xfrm>
            <a:off x="4828032" y="3172968"/>
            <a:ext cx="128016" cy="128016"/>
          </a:xfrm>
          <a:prstGeom prst="rect">
            <a:avLst/>
          </a:prstGeom>
          <a:solidFill>
            <a:srgbClr val="3A5A8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4" name="Rectangle 293"/>
          <p:cNvSpPr/>
          <p:nvPr/>
        </p:nvSpPr>
        <p:spPr>
          <a:xfrm>
            <a:off x="4992624" y="3172968"/>
            <a:ext cx="128016" cy="128016"/>
          </a:xfrm>
          <a:prstGeom prst="rect">
            <a:avLst/>
          </a:prstGeom>
          <a:solidFill>
            <a:srgbClr val="3A5A8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5" name="Rectangle 294"/>
          <p:cNvSpPr/>
          <p:nvPr/>
        </p:nvSpPr>
        <p:spPr>
          <a:xfrm>
            <a:off x="548640" y="3337560"/>
            <a:ext cx="128016" cy="128016"/>
          </a:xfrm>
          <a:prstGeom prst="rect">
            <a:avLst/>
          </a:prstGeom>
          <a:solidFill>
            <a:srgbClr val="3A5A8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6" name="Rectangle 295"/>
          <p:cNvSpPr/>
          <p:nvPr/>
        </p:nvSpPr>
        <p:spPr>
          <a:xfrm>
            <a:off x="713232" y="3337560"/>
            <a:ext cx="128016" cy="128016"/>
          </a:xfrm>
          <a:prstGeom prst="rect">
            <a:avLst/>
          </a:prstGeom>
          <a:solidFill>
            <a:srgbClr val="3A5A8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7" name="Rectangle 296"/>
          <p:cNvSpPr/>
          <p:nvPr/>
        </p:nvSpPr>
        <p:spPr>
          <a:xfrm>
            <a:off x="877824" y="3337560"/>
            <a:ext cx="128016" cy="128016"/>
          </a:xfrm>
          <a:prstGeom prst="rect">
            <a:avLst/>
          </a:prstGeom>
          <a:solidFill>
            <a:srgbClr val="3A5A8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8" name="Rectangle 297"/>
          <p:cNvSpPr/>
          <p:nvPr/>
        </p:nvSpPr>
        <p:spPr>
          <a:xfrm>
            <a:off x="1042416" y="3337560"/>
            <a:ext cx="128016" cy="128016"/>
          </a:xfrm>
          <a:prstGeom prst="rect">
            <a:avLst/>
          </a:prstGeom>
          <a:solidFill>
            <a:srgbClr val="3A5A8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9" name="Rectangle 298"/>
          <p:cNvSpPr/>
          <p:nvPr/>
        </p:nvSpPr>
        <p:spPr>
          <a:xfrm>
            <a:off x="1207008" y="3337560"/>
            <a:ext cx="128016" cy="128016"/>
          </a:xfrm>
          <a:prstGeom prst="rect">
            <a:avLst/>
          </a:prstGeom>
          <a:solidFill>
            <a:srgbClr val="3A5A8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0" name="Rectangle 299"/>
          <p:cNvSpPr/>
          <p:nvPr/>
        </p:nvSpPr>
        <p:spPr>
          <a:xfrm>
            <a:off x="1371600" y="3337560"/>
            <a:ext cx="128016" cy="128016"/>
          </a:xfrm>
          <a:prstGeom prst="rect">
            <a:avLst/>
          </a:prstGeom>
          <a:solidFill>
            <a:srgbClr val="3A5A8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1" name="Rectangle 300"/>
          <p:cNvSpPr/>
          <p:nvPr/>
        </p:nvSpPr>
        <p:spPr>
          <a:xfrm>
            <a:off x="1536192" y="3337560"/>
            <a:ext cx="128016" cy="128016"/>
          </a:xfrm>
          <a:prstGeom prst="rect">
            <a:avLst/>
          </a:prstGeom>
          <a:solidFill>
            <a:srgbClr val="3A5A8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2" name="Rectangle 301"/>
          <p:cNvSpPr/>
          <p:nvPr/>
        </p:nvSpPr>
        <p:spPr>
          <a:xfrm>
            <a:off x="1700784" y="3337560"/>
            <a:ext cx="128016" cy="128016"/>
          </a:xfrm>
          <a:prstGeom prst="rect">
            <a:avLst/>
          </a:prstGeom>
          <a:solidFill>
            <a:srgbClr val="3A5A8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3" name="Rectangle 302"/>
          <p:cNvSpPr/>
          <p:nvPr/>
        </p:nvSpPr>
        <p:spPr>
          <a:xfrm>
            <a:off x="1865376" y="3337560"/>
            <a:ext cx="128016" cy="128016"/>
          </a:xfrm>
          <a:prstGeom prst="rect">
            <a:avLst/>
          </a:prstGeom>
          <a:solidFill>
            <a:srgbClr val="3A5A8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4" name="Rectangle 303"/>
          <p:cNvSpPr/>
          <p:nvPr/>
        </p:nvSpPr>
        <p:spPr>
          <a:xfrm>
            <a:off x="2029968" y="3337560"/>
            <a:ext cx="128016" cy="128016"/>
          </a:xfrm>
          <a:prstGeom prst="rect">
            <a:avLst/>
          </a:prstGeom>
          <a:solidFill>
            <a:srgbClr val="3A5A8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5" name="Rectangle 304"/>
          <p:cNvSpPr/>
          <p:nvPr/>
        </p:nvSpPr>
        <p:spPr>
          <a:xfrm>
            <a:off x="2194560" y="3337560"/>
            <a:ext cx="128016" cy="128016"/>
          </a:xfrm>
          <a:prstGeom prst="rect">
            <a:avLst/>
          </a:prstGeom>
          <a:solidFill>
            <a:srgbClr val="3A5A8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6" name="Rectangle 305"/>
          <p:cNvSpPr/>
          <p:nvPr/>
        </p:nvSpPr>
        <p:spPr>
          <a:xfrm>
            <a:off x="2359152" y="3337560"/>
            <a:ext cx="128016" cy="128016"/>
          </a:xfrm>
          <a:prstGeom prst="rect">
            <a:avLst/>
          </a:prstGeom>
          <a:solidFill>
            <a:srgbClr val="3A5A8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7" name="Rectangle 306"/>
          <p:cNvSpPr/>
          <p:nvPr/>
        </p:nvSpPr>
        <p:spPr>
          <a:xfrm>
            <a:off x="2523744" y="3337560"/>
            <a:ext cx="128016" cy="128016"/>
          </a:xfrm>
          <a:prstGeom prst="rect">
            <a:avLst/>
          </a:prstGeom>
          <a:solidFill>
            <a:srgbClr val="3A5A8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8" name="Rectangle 307"/>
          <p:cNvSpPr/>
          <p:nvPr/>
        </p:nvSpPr>
        <p:spPr>
          <a:xfrm>
            <a:off x="2688336" y="3337560"/>
            <a:ext cx="128016" cy="128016"/>
          </a:xfrm>
          <a:prstGeom prst="rect">
            <a:avLst/>
          </a:prstGeom>
          <a:solidFill>
            <a:srgbClr val="3A5A8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9" name="Rectangle 308"/>
          <p:cNvSpPr/>
          <p:nvPr/>
        </p:nvSpPr>
        <p:spPr>
          <a:xfrm>
            <a:off x="2852928" y="3337560"/>
            <a:ext cx="128016" cy="128016"/>
          </a:xfrm>
          <a:prstGeom prst="rect">
            <a:avLst/>
          </a:prstGeom>
          <a:solidFill>
            <a:srgbClr val="3A5A8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10" name="Rectangle 309"/>
          <p:cNvSpPr/>
          <p:nvPr/>
        </p:nvSpPr>
        <p:spPr>
          <a:xfrm>
            <a:off x="3017520" y="3337560"/>
            <a:ext cx="128016" cy="128016"/>
          </a:xfrm>
          <a:prstGeom prst="rect">
            <a:avLst/>
          </a:prstGeom>
          <a:solidFill>
            <a:srgbClr val="3A5A8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11" name="Rectangle 310"/>
          <p:cNvSpPr/>
          <p:nvPr/>
        </p:nvSpPr>
        <p:spPr>
          <a:xfrm>
            <a:off x="3182112" y="3337560"/>
            <a:ext cx="128016" cy="128016"/>
          </a:xfrm>
          <a:prstGeom prst="rect">
            <a:avLst/>
          </a:prstGeom>
          <a:solidFill>
            <a:srgbClr val="3A5A8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12" name="Rectangle 311"/>
          <p:cNvSpPr/>
          <p:nvPr/>
        </p:nvSpPr>
        <p:spPr>
          <a:xfrm>
            <a:off x="3346704" y="3337560"/>
            <a:ext cx="128016" cy="128016"/>
          </a:xfrm>
          <a:prstGeom prst="rect">
            <a:avLst/>
          </a:prstGeom>
          <a:solidFill>
            <a:srgbClr val="3A5A8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13" name="Rectangle 312"/>
          <p:cNvSpPr/>
          <p:nvPr/>
        </p:nvSpPr>
        <p:spPr>
          <a:xfrm>
            <a:off x="3511296" y="3337560"/>
            <a:ext cx="128016" cy="128016"/>
          </a:xfrm>
          <a:prstGeom prst="rect">
            <a:avLst/>
          </a:prstGeom>
          <a:solidFill>
            <a:srgbClr val="3A5A8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14" name="Rectangle 313"/>
          <p:cNvSpPr/>
          <p:nvPr/>
        </p:nvSpPr>
        <p:spPr>
          <a:xfrm>
            <a:off x="3675888" y="3337560"/>
            <a:ext cx="128016" cy="128016"/>
          </a:xfrm>
          <a:prstGeom prst="rect">
            <a:avLst/>
          </a:prstGeom>
          <a:solidFill>
            <a:srgbClr val="3A5A8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15" name="Rectangle 314"/>
          <p:cNvSpPr/>
          <p:nvPr/>
        </p:nvSpPr>
        <p:spPr>
          <a:xfrm>
            <a:off x="3840480" y="3337560"/>
            <a:ext cx="128016" cy="128016"/>
          </a:xfrm>
          <a:prstGeom prst="rect">
            <a:avLst/>
          </a:prstGeom>
          <a:solidFill>
            <a:srgbClr val="3A5A8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16" name="Rectangle 315"/>
          <p:cNvSpPr/>
          <p:nvPr/>
        </p:nvSpPr>
        <p:spPr>
          <a:xfrm>
            <a:off x="4005072" y="3337560"/>
            <a:ext cx="128016" cy="128016"/>
          </a:xfrm>
          <a:prstGeom prst="rect">
            <a:avLst/>
          </a:prstGeom>
          <a:solidFill>
            <a:srgbClr val="3A5A8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17" name="Rectangle 316"/>
          <p:cNvSpPr/>
          <p:nvPr/>
        </p:nvSpPr>
        <p:spPr>
          <a:xfrm>
            <a:off x="4169664" y="3337560"/>
            <a:ext cx="128016" cy="128016"/>
          </a:xfrm>
          <a:prstGeom prst="rect">
            <a:avLst/>
          </a:prstGeom>
          <a:solidFill>
            <a:srgbClr val="3A5A8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18" name="Rectangle 317"/>
          <p:cNvSpPr/>
          <p:nvPr/>
        </p:nvSpPr>
        <p:spPr>
          <a:xfrm>
            <a:off x="4334256" y="3337560"/>
            <a:ext cx="128016" cy="128016"/>
          </a:xfrm>
          <a:prstGeom prst="rect">
            <a:avLst/>
          </a:prstGeom>
          <a:solidFill>
            <a:srgbClr val="3A5A8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19" name="Rectangle 318"/>
          <p:cNvSpPr/>
          <p:nvPr/>
        </p:nvSpPr>
        <p:spPr>
          <a:xfrm>
            <a:off x="4498848" y="3337560"/>
            <a:ext cx="128016" cy="128016"/>
          </a:xfrm>
          <a:prstGeom prst="rect">
            <a:avLst/>
          </a:prstGeom>
          <a:solidFill>
            <a:srgbClr val="3A5A8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20" name="Rectangle 319"/>
          <p:cNvSpPr/>
          <p:nvPr/>
        </p:nvSpPr>
        <p:spPr>
          <a:xfrm>
            <a:off x="4663440" y="3337560"/>
            <a:ext cx="128016" cy="128016"/>
          </a:xfrm>
          <a:prstGeom prst="rect">
            <a:avLst/>
          </a:prstGeom>
          <a:solidFill>
            <a:srgbClr val="3A5A8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21" name="Rectangle 320"/>
          <p:cNvSpPr/>
          <p:nvPr/>
        </p:nvSpPr>
        <p:spPr>
          <a:xfrm>
            <a:off x="4828032" y="3337560"/>
            <a:ext cx="128016" cy="128016"/>
          </a:xfrm>
          <a:prstGeom prst="rect">
            <a:avLst/>
          </a:prstGeom>
          <a:solidFill>
            <a:srgbClr val="3A5A8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22" name="Rectangle 321"/>
          <p:cNvSpPr/>
          <p:nvPr/>
        </p:nvSpPr>
        <p:spPr>
          <a:xfrm>
            <a:off x="4992624" y="3337560"/>
            <a:ext cx="128016" cy="128016"/>
          </a:xfrm>
          <a:prstGeom prst="rect">
            <a:avLst/>
          </a:prstGeom>
          <a:solidFill>
            <a:srgbClr val="3A5A8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23" name="Rectangle 322"/>
          <p:cNvSpPr/>
          <p:nvPr/>
        </p:nvSpPr>
        <p:spPr>
          <a:xfrm>
            <a:off x="548640" y="3502152"/>
            <a:ext cx="128016" cy="128016"/>
          </a:xfrm>
          <a:prstGeom prst="rect">
            <a:avLst/>
          </a:prstGeom>
          <a:solidFill>
            <a:srgbClr val="3A5A8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24" name="Rectangle 323"/>
          <p:cNvSpPr/>
          <p:nvPr/>
        </p:nvSpPr>
        <p:spPr>
          <a:xfrm>
            <a:off x="713232" y="3502152"/>
            <a:ext cx="128016" cy="128016"/>
          </a:xfrm>
          <a:prstGeom prst="rect">
            <a:avLst/>
          </a:prstGeom>
          <a:solidFill>
            <a:srgbClr val="3A5A8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25" name="Rectangle 324"/>
          <p:cNvSpPr/>
          <p:nvPr/>
        </p:nvSpPr>
        <p:spPr>
          <a:xfrm>
            <a:off x="877824" y="3502152"/>
            <a:ext cx="128016" cy="128016"/>
          </a:xfrm>
          <a:prstGeom prst="rect">
            <a:avLst/>
          </a:prstGeom>
          <a:solidFill>
            <a:srgbClr val="3A5A8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26" name="Rectangle 325"/>
          <p:cNvSpPr/>
          <p:nvPr/>
        </p:nvSpPr>
        <p:spPr>
          <a:xfrm>
            <a:off x="1042416" y="3502152"/>
            <a:ext cx="128016" cy="128016"/>
          </a:xfrm>
          <a:prstGeom prst="rect">
            <a:avLst/>
          </a:prstGeom>
          <a:solidFill>
            <a:srgbClr val="3A5A8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27" name="Rectangle 326"/>
          <p:cNvSpPr/>
          <p:nvPr/>
        </p:nvSpPr>
        <p:spPr>
          <a:xfrm>
            <a:off x="1207008" y="3502152"/>
            <a:ext cx="128016" cy="128016"/>
          </a:xfrm>
          <a:prstGeom prst="rect">
            <a:avLst/>
          </a:prstGeom>
          <a:solidFill>
            <a:srgbClr val="3A5A8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28" name="Rectangle 327"/>
          <p:cNvSpPr/>
          <p:nvPr/>
        </p:nvSpPr>
        <p:spPr>
          <a:xfrm>
            <a:off x="1371600" y="3502152"/>
            <a:ext cx="128016" cy="128016"/>
          </a:xfrm>
          <a:prstGeom prst="rect">
            <a:avLst/>
          </a:prstGeom>
          <a:solidFill>
            <a:srgbClr val="3A5A8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29" name="Rectangle 328"/>
          <p:cNvSpPr/>
          <p:nvPr/>
        </p:nvSpPr>
        <p:spPr>
          <a:xfrm>
            <a:off x="1536192" y="3502152"/>
            <a:ext cx="128016" cy="128016"/>
          </a:xfrm>
          <a:prstGeom prst="rect">
            <a:avLst/>
          </a:prstGeom>
          <a:solidFill>
            <a:srgbClr val="3A5A8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30" name="Rectangle 329"/>
          <p:cNvSpPr/>
          <p:nvPr/>
        </p:nvSpPr>
        <p:spPr>
          <a:xfrm>
            <a:off x="1700784" y="3502152"/>
            <a:ext cx="128016" cy="128016"/>
          </a:xfrm>
          <a:prstGeom prst="rect">
            <a:avLst/>
          </a:prstGeom>
          <a:solidFill>
            <a:srgbClr val="3A5A8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31" name="Rectangle 330"/>
          <p:cNvSpPr/>
          <p:nvPr/>
        </p:nvSpPr>
        <p:spPr>
          <a:xfrm>
            <a:off x="1865376" y="3502152"/>
            <a:ext cx="128016" cy="128016"/>
          </a:xfrm>
          <a:prstGeom prst="rect">
            <a:avLst/>
          </a:prstGeom>
          <a:solidFill>
            <a:srgbClr val="3A5A8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32" name="Rectangle 331"/>
          <p:cNvSpPr/>
          <p:nvPr/>
        </p:nvSpPr>
        <p:spPr>
          <a:xfrm>
            <a:off x="2029968" y="3502152"/>
            <a:ext cx="128016" cy="128016"/>
          </a:xfrm>
          <a:prstGeom prst="rect">
            <a:avLst/>
          </a:prstGeom>
          <a:solidFill>
            <a:srgbClr val="3A5A8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33" name="Rectangle 332"/>
          <p:cNvSpPr/>
          <p:nvPr/>
        </p:nvSpPr>
        <p:spPr>
          <a:xfrm>
            <a:off x="2194560" y="3502152"/>
            <a:ext cx="128016" cy="128016"/>
          </a:xfrm>
          <a:prstGeom prst="rect">
            <a:avLst/>
          </a:prstGeom>
          <a:solidFill>
            <a:srgbClr val="3A5A8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34" name="Rectangle 333"/>
          <p:cNvSpPr/>
          <p:nvPr/>
        </p:nvSpPr>
        <p:spPr>
          <a:xfrm>
            <a:off x="2359152" y="3502152"/>
            <a:ext cx="128016" cy="128016"/>
          </a:xfrm>
          <a:prstGeom prst="rect">
            <a:avLst/>
          </a:prstGeom>
          <a:solidFill>
            <a:srgbClr val="3A5A8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35" name="Rectangle 334"/>
          <p:cNvSpPr/>
          <p:nvPr/>
        </p:nvSpPr>
        <p:spPr>
          <a:xfrm>
            <a:off x="2523744" y="3502152"/>
            <a:ext cx="128016" cy="128016"/>
          </a:xfrm>
          <a:prstGeom prst="rect">
            <a:avLst/>
          </a:prstGeom>
          <a:solidFill>
            <a:srgbClr val="5E789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36" name="Rectangle 335"/>
          <p:cNvSpPr/>
          <p:nvPr/>
        </p:nvSpPr>
        <p:spPr>
          <a:xfrm>
            <a:off x="2688336" y="3502152"/>
            <a:ext cx="128016" cy="128016"/>
          </a:xfrm>
          <a:prstGeom prst="rect">
            <a:avLst/>
          </a:prstGeom>
          <a:solidFill>
            <a:srgbClr val="5E789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37" name="Rectangle 336"/>
          <p:cNvSpPr/>
          <p:nvPr/>
        </p:nvSpPr>
        <p:spPr>
          <a:xfrm>
            <a:off x="2852928" y="3502152"/>
            <a:ext cx="128016" cy="128016"/>
          </a:xfrm>
          <a:prstGeom prst="rect">
            <a:avLst/>
          </a:prstGeom>
          <a:solidFill>
            <a:srgbClr val="5E789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38" name="Rectangle 337"/>
          <p:cNvSpPr/>
          <p:nvPr/>
        </p:nvSpPr>
        <p:spPr>
          <a:xfrm>
            <a:off x="3017520" y="3502152"/>
            <a:ext cx="128016" cy="128016"/>
          </a:xfrm>
          <a:prstGeom prst="rect">
            <a:avLst/>
          </a:prstGeom>
          <a:solidFill>
            <a:srgbClr val="5E789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39" name="Rectangle 338"/>
          <p:cNvSpPr/>
          <p:nvPr/>
        </p:nvSpPr>
        <p:spPr>
          <a:xfrm>
            <a:off x="3182112" y="3502152"/>
            <a:ext cx="128016" cy="128016"/>
          </a:xfrm>
          <a:prstGeom prst="rect">
            <a:avLst/>
          </a:prstGeom>
          <a:solidFill>
            <a:srgbClr val="5E789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40" name="Rectangle 339"/>
          <p:cNvSpPr/>
          <p:nvPr/>
        </p:nvSpPr>
        <p:spPr>
          <a:xfrm>
            <a:off x="3346704" y="3502152"/>
            <a:ext cx="128016" cy="128016"/>
          </a:xfrm>
          <a:prstGeom prst="rect">
            <a:avLst/>
          </a:prstGeom>
          <a:solidFill>
            <a:srgbClr val="5E789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41" name="Rectangle 340"/>
          <p:cNvSpPr/>
          <p:nvPr/>
        </p:nvSpPr>
        <p:spPr>
          <a:xfrm>
            <a:off x="3511296" y="3502152"/>
            <a:ext cx="128016" cy="128016"/>
          </a:xfrm>
          <a:prstGeom prst="rect">
            <a:avLst/>
          </a:prstGeom>
          <a:solidFill>
            <a:srgbClr val="5E789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42" name="Rectangle 341"/>
          <p:cNvSpPr/>
          <p:nvPr/>
        </p:nvSpPr>
        <p:spPr>
          <a:xfrm>
            <a:off x="3675888" y="3502152"/>
            <a:ext cx="128016" cy="128016"/>
          </a:xfrm>
          <a:prstGeom prst="rect">
            <a:avLst/>
          </a:prstGeom>
          <a:solidFill>
            <a:srgbClr val="5E789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43" name="Rectangle 342"/>
          <p:cNvSpPr/>
          <p:nvPr/>
        </p:nvSpPr>
        <p:spPr>
          <a:xfrm>
            <a:off x="3840480" y="3502152"/>
            <a:ext cx="128016" cy="128016"/>
          </a:xfrm>
          <a:prstGeom prst="rect">
            <a:avLst/>
          </a:prstGeom>
          <a:solidFill>
            <a:srgbClr val="5E789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44" name="Rectangle 343"/>
          <p:cNvSpPr/>
          <p:nvPr/>
        </p:nvSpPr>
        <p:spPr>
          <a:xfrm>
            <a:off x="4005072" y="3502152"/>
            <a:ext cx="128016" cy="128016"/>
          </a:xfrm>
          <a:prstGeom prst="rect">
            <a:avLst/>
          </a:prstGeom>
          <a:solidFill>
            <a:srgbClr val="5E789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45" name="Rectangle 344"/>
          <p:cNvSpPr/>
          <p:nvPr/>
        </p:nvSpPr>
        <p:spPr>
          <a:xfrm>
            <a:off x="4169664" y="3502152"/>
            <a:ext cx="128016" cy="128016"/>
          </a:xfrm>
          <a:prstGeom prst="rect">
            <a:avLst/>
          </a:prstGeom>
          <a:solidFill>
            <a:srgbClr val="5E789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46" name="Rectangle 345"/>
          <p:cNvSpPr/>
          <p:nvPr/>
        </p:nvSpPr>
        <p:spPr>
          <a:xfrm>
            <a:off x="4334256" y="3502152"/>
            <a:ext cx="128016" cy="128016"/>
          </a:xfrm>
          <a:prstGeom prst="rect">
            <a:avLst/>
          </a:prstGeom>
          <a:solidFill>
            <a:srgbClr val="5E789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47" name="Rectangle 346"/>
          <p:cNvSpPr/>
          <p:nvPr/>
        </p:nvSpPr>
        <p:spPr>
          <a:xfrm>
            <a:off x="4498848" y="3502152"/>
            <a:ext cx="128016" cy="128016"/>
          </a:xfrm>
          <a:prstGeom prst="rect">
            <a:avLst/>
          </a:prstGeom>
          <a:solidFill>
            <a:srgbClr val="5E789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48" name="Rectangle 347"/>
          <p:cNvSpPr/>
          <p:nvPr/>
        </p:nvSpPr>
        <p:spPr>
          <a:xfrm>
            <a:off x="4663440" y="3502152"/>
            <a:ext cx="128016" cy="128016"/>
          </a:xfrm>
          <a:prstGeom prst="rect">
            <a:avLst/>
          </a:prstGeom>
          <a:solidFill>
            <a:srgbClr val="5E789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49" name="Rectangle 348"/>
          <p:cNvSpPr/>
          <p:nvPr/>
        </p:nvSpPr>
        <p:spPr>
          <a:xfrm>
            <a:off x="4828032" y="3502152"/>
            <a:ext cx="128016" cy="128016"/>
          </a:xfrm>
          <a:prstGeom prst="rect">
            <a:avLst/>
          </a:prstGeom>
          <a:solidFill>
            <a:srgbClr val="5E789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50" name="Rectangle 349"/>
          <p:cNvSpPr/>
          <p:nvPr/>
        </p:nvSpPr>
        <p:spPr>
          <a:xfrm>
            <a:off x="4992624" y="3502152"/>
            <a:ext cx="128016" cy="128016"/>
          </a:xfrm>
          <a:prstGeom prst="rect">
            <a:avLst/>
          </a:prstGeom>
          <a:solidFill>
            <a:srgbClr val="5E789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51" name="Rectangle 350"/>
          <p:cNvSpPr/>
          <p:nvPr/>
        </p:nvSpPr>
        <p:spPr>
          <a:xfrm>
            <a:off x="548640" y="3666744"/>
            <a:ext cx="128016" cy="128016"/>
          </a:xfrm>
          <a:prstGeom prst="rect">
            <a:avLst/>
          </a:prstGeom>
          <a:solidFill>
            <a:srgbClr val="5E789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52" name="Rectangle 351"/>
          <p:cNvSpPr/>
          <p:nvPr/>
        </p:nvSpPr>
        <p:spPr>
          <a:xfrm>
            <a:off x="713232" y="3666744"/>
            <a:ext cx="128016" cy="128016"/>
          </a:xfrm>
          <a:prstGeom prst="rect">
            <a:avLst/>
          </a:prstGeom>
          <a:solidFill>
            <a:srgbClr val="5E789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53" name="Rectangle 352"/>
          <p:cNvSpPr/>
          <p:nvPr/>
        </p:nvSpPr>
        <p:spPr>
          <a:xfrm>
            <a:off x="877824" y="3666744"/>
            <a:ext cx="128016" cy="128016"/>
          </a:xfrm>
          <a:prstGeom prst="rect">
            <a:avLst/>
          </a:prstGeom>
          <a:solidFill>
            <a:srgbClr val="5E789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54" name="Rectangle 353"/>
          <p:cNvSpPr/>
          <p:nvPr/>
        </p:nvSpPr>
        <p:spPr>
          <a:xfrm>
            <a:off x="1042416" y="3666744"/>
            <a:ext cx="128016" cy="128016"/>
          </a:xfrm>
          <a:prstGeom prst="rect">
            <a:avLst/>
          </a:prstGeom>
          <a:solidFill>
            <a:srgbClr val="5E789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55" name="Rectangle 354"/>
          <p:cNvSpPr/>
          <p:nvPr/>
        </p:nvSpPr>
        <p:spPr>
          <a:xfrm>
            <a:off x="1207008" y="3666744"/>
            <a:ext cx="128016" cy="128016"/>
          </a:xfrm>
          <a:prstGeom prst="rect">
            <a:avLst/>
          </a:prstGeom>
          <a:solidFill>
            <a:srgbClr val="5E789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56" name="Rectangle 355"/>
          <p:cNvSpPr/>
          <p:nvPr/>
        </p:nvSpPr>
        <p:spPr>
          <a:xfrm>
            <a:off x="1371600" y="3666744"/>
            <a:ext cx="128016" cy="128016"/>
          </a:xfrm>
          <a:prstGeom prst="rect">
            <a:avLst/>
          </a:prstGeom>
          <a:solidFill>
            <a:srgbClr val="5E789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57" name="Rectangle 356"/>
          <p:cNvSpPr/>
          <p:nvPr/>
        </p:nvSpPr>
        <p:spPr>
          <a:xfrm>
            <a:off x="1536192" y="3666744"/>
            <a:ext cx="128016" cy="128016"/>
          </a:xfrm>
          <a:prstGeom prst="rect">
            <a:avLst/>
          </a:prstGeom>
          <a:solidFill>
            <a:srgbClr val="5E789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58" name="Rectangle 357"/>
          <p:cNvSpPr/>
          <p:nvPr/>
        </p:nvSpPr>
        <p:spPr>
          <a:xfrm>
            <a:off x="1700784" y="3666744"/>
            <a:ext cx="128016" cy="128016"/>
          </a:xfrm>
          <a:prstGeom prst="rect">
            <a:avLst/>
          </a:prstGeom>
          <a:solidFill>
            <a:srgbClr val="5E789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59" name="Rectangle 358"/>
          <p:cNvSpPr/>
          <p:nvPr/>
        </p:nvSpPr>
        <p:spPr>
          <a:xfrm>
            <a:off x="1865376" y="3666744"/>
            <a:ext cx="128016" cy="128016"/>
          </a:xfrm>
          <a:prstGeom prst="rect">
            <a:avLst/>
          </a:prstGeom>
          <a:solidFill>
            <a:srgbClr val="5E789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0" name="Rectangle 359"/>
          <p:cNvSpPr/>
          <p:nvPr/>
        </p:nvSpPr>
        <p:spPr>
          <a:xfrm>
            <a:off x="2029968" y="3666744"/>
            <a:ext cx="128016" cy="128016"/>
          </a:xfrm>
          <a:prstGeom prst="rect">
            <a:avLst/>
          </a:prstGeom>
          <a:solidFill>
            <a:srgbClr val="5E789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1" name="Rectangle 360"/>
          <p:cNvSpPr/>
          <p:nvPr/>
        </p:nvSpPr>
        <p:spPr>
          <a:xfrm>
            <a:off x="2194560" y="3666744"/>
            <a:ext cx="128016" cy="128016"/>
          </a:xfrm>
          <a:prstGeom prst="rect">
            <a:avLst/>
          </a:prstGeom>
          <a:solidFill>
            <a:srgbClr val="5E789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2" name="Rectangle 361"/>
          <p:cNvSpPr/>
          <p:nvPr/>
        </p:nvSpPr>
        <p:spPr>
          <a:xfrm>
            <a:off x="2359152" y="3666744"/>
            <a:ext cx="128016" cy="128016"/>
          </a:xfrm>
          <a:prstGeom prst="rect">
            <a:avLst/>
          </a:prstGeom>
          <a:solidFill>
            <a:srgbClr val="5E789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3" name="Rectangle 362"/>
          <p:cNvSpPr/>
          <p:nvPr/>
        </p:nvSpPr>
        <p:spPr>
          <a:xfrm>
            <a:off x="2523744" y="3666744"/>
            <a:ext cx="128016" cy="128016"/>
          </a:xfrm>
          <a:prstGeom prst="rect">
            <a:avLst/>
          </a:prstGeom>
          <a:solidFill>
            <a:srgbClr val="5E789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4" name="Rectangle 363"/>
          <p:cNvSpPr/>
          <p:nvPr/>
        </p:nvSpPr>
        <p:spPr>
          <a:xfrm>
            <a:off x="2688336" y="3666744"/>
            <a:ext cx="128016" cy="128016"/>
          </a:xfrm>
          <a:prstGeom prst="rect">
            <a:avLst/>
          </a:prstGeom>
          <a:solidFill>
            <a:srgbClr val="5E789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5" name="Rectangle 364"/>
          <p:cNvSpPr/>
          <p:nvPr/>
        </p:nvSpPr>
        <p:spPr>
          <a:xfrm>
            <a:off x="2852928" y="3666744"/>
            <a:ext cx="128016" cy="128016"/>
          </a:xfrm>
          <a:prstGeom prst="rect">
            <a:avLst/>
          </a:prstGeom>
          <a:solidFill>
            <a:srgbClr val="5E789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6" name="Rectangle 365"/>
          <p:cNvSpPr/>
          <p:nvPr/>
        </p:nvSpPr>
        <p:spPr>
          <a:xfrm>
            <a:off x="3017520" y="3666744"/>
            <a:ext cx="128016" cy="128016"/>
          </a:xfrm>
          <a:prstGeom prst="rect">
            <a:avLst/>
          </a:prstGeom>
          <a:solidFill>
            <a:srgbClr val="5E789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7" name="Rectangle 366"/>
          <p:cNvSpPr/>
          <p:nvPr/>
        </p:nvSpPr>
        <p:spPr>
          <a:xfrm>
            <a:off x="3182112" y="3666744"/>
            <a:ext cx="128016" cy="128016"/>
          </a:xfrm>
          <a:prstGeom prst="rect">
            <a:avLst/>
          </a:prstGeom>
          <a:solidFill>
            <a:srgbClr val="5E789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8" name="Rectangle 367"/>
          <p:cNvSpPr/>
          <p:nvPr/>
        </p:nvSpPr>
        <p:spPr>
          <a:xfrm>
            <a:off x="3346704" y="3666744"/>
            <a:ext cx="128016" cy="128016"/>
          </a:xfrm>
          <a:prstGeom prst="rect">
            <a:avLst/>
          </a:prstGeom>
          <a:solidFill>
            <a:srgbClr val="5E789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9" name="Rectangle 368"/>
          <p:cNvSpPr/>
          <p:nvPr/>
        </p:nvSpPr>
        <p:spPr>
          <a:xfrm>
            <a:off x="3511296" y="3666744"/>
            <a:ext cx="128016" cy="128016"/>
          </a:xfrm>
          <a:prstGeom prst="rect">
            <a:avLst/>
          </a:prstGeom>
          <a:solidFill>
            <a:srgbClr val="5E789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70" name="Rectangle 369"/>
          <p:cNvSpPr/>
          <p:nvPr/>
        </p:nvSpPr>
        <p:spPr>
          <a:xfrm>
            <a:off x="3675888" y="3666744"/>
            <a:ext cx="128016" cy="128016"/>
          </a:xfrm>
          <a:prstGeom prst="rect">
            <a:avLst/>
          </a:prstGeom>
          <a:solidFill>
            <a:srgbClr val="5E789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71" name="Rectangle 370"/>
          <p:cNvSpPr/>
          <p:nvPr/>
        </p:nvSpPr>
        <p:spPr>
          <a:xfrm>
            <a:off x="3840480" y="3666744"/>
            <a:ext cx="128016" cy="128016"/>
          </a:xfrm>
          <a:prstGeom prst="rect">
            <a:avLst/>
          </a:prstGeom>
          <a:solidFill>
            <a:srgbClr val="5E789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72" name="Rectangle 371"/>
          <p:cNvSpPr/>
          <p:nvPr/>
        </p:nvSpPr>
        <p:spPr>
          <a:xfrm>
            <a:off x="4005072" y="3666744"/>
            <a:ext cx="128016" cy="128016"/>
          </a:xfrm>
          <a:prstGeom prst="rect">
            <a:avLst/>
          </a:prstGeom>
          <a:solidFill>
            <a:srgbClr val="5E789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73" name="Rectangle 372"/>
          <p:cNvSpPr/>
          <p:nvPr/>
        </p:nvSpPr>
        <p:spPr>
          <a:xfrm>
            <a:off x="4169664" y="3666744"/>
            <a:ext cx="128016" cy="128016"/>
          </a:xfrm>
          <a:prstGeom prst="rect">
            <a:avLst/>
          </a:prstGeom>
          <a:solidFill>
            <a:srgbClr val="8A9EB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74" name="Rectangle 373"/>
          <p:cNvSpPr/>
          <p:nvPr/>
        </p:nvSpPr>
        <p:spPr>
          <a:xfrm>
            <a:off x="4334256" y="3666744"/>
            <a:ext cx="128016" cy="128016"/>
          </a:xfrm>
          <a:prstGeom prst="rect">
            <a:avLst/>
          </a:prstGeom>
          <a:solidFill>
            <a:srgbClr val="8A9EB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75" name="Rectangle 374"/>
          <p:cNvSpPr/>
          <p:nvPr/>
        </p:nvSpPr>
        <p:spPr>
          <a:xfrm>
            <a:off x="4498848" y="3666744"/>
            <a:ext cx="128016" cy="128016"/>
          </a:xfrm>
          <a:prstGeom prst="rect">
            <a:avLst/>
          </a:prstGeom>
          <a:solidFill>
            <a:srgbClr val="8A9EB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76" name="Rectangle 375"/>
          <p:cNvSpPr/>
          <p:nvPr/>
        </p:nvSpPr>
        <p:spPr>
          <a:xfrm>
            <a:off x="4663440" y="3666744"/>
            <a:ext cx="128016" cy="128016"/>
          </a:xfrm>
          <a:prstGeom prst="rect">
            <a:avLst/>
          </a:prstGeom>
          <a:solidFill>
            <a:srgbClr val="8A9EB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77" name="Rectangle 376"/>
          <p:cNvSpPr/>
          <p:nvPr/>
        </p:nvSpPr>
        <p:spPr>
          <a:xfrm>
            <a:off x="4828032" y="3666744"/>
            <a:ext cx="128016" cy="128016"/>
          </a:xfrm>
          <a:prstGeom prst="rect">
            <a:avLst/>
          </a:prstGeom>
          <a:solidFill>
            <a:srgbClr val="8A9EB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78" name="Rectangle 377"/>
          <p:cNvSpPr/>
          <p:nvPr/>
        </p:nvSpPr>
        <p:spPr>
          <a:xfrm>
            <a:off x="4992624" y="3666744"/>
            <a:ext cx="128016" cy="128016"/>
          </a:xfrm>
          <a:prstGeom prst="rect">
            <a:avLst/>
          </a:prstGeom>
          <a:solidFill>
            <a:srgbClr val="8A9EB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79" name="Rectangle 378"/>
          <p:cNvSpPr/>
          <p:nvPr/>
        </p:nvSpPr>
        <p:spPr>
          <a:xfrm>
            <a:off x="548640" y="3831336"/>
            <a:ext cx="128016" cy="128016"/>
          </a:xfrm>
          <a:prstGeom prst="rect">
            <a:avLst/>
          </a:prstGeom>
          <a:solidFill>
            <a:srgbClr val="8A9EB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80" name="Rectangle 379"/>
          <p:cNvSpPr/>
          <p:nvPr/>
        </p:nvSpPr>
        <p:spPr>
          <a:xfrm>
            <a:off x="713232" y="3831336"/>
            <a:ext cx="128016" cy="128016"/>
          </a:xfrm>
          <a:prstGeom prst="rect">
            <a:avLst/>
          </a:prstGeom>
          <a:solidFill>
            <a:srgbClr val="8A9EB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81" name="Rectangle 380"/>
          <p:cNvSpPr/>
          <p:nvPr/>
        </p:nvSpPr>
        <p:spPr>
          <a:xfrm>
            <a:off x="877824" y="3831336"/>
            <a:ext cx="128016" cy="128016"/>
          </a:xfrm>
          <a:prstGeom prst="rect">
            <a:avLst/>
          </a:prstGeom>
          <a:solidFill>
            <a:srgbClr val="8A9EB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82" name="Rectangle 381"/>
          <p:cNvSpPr/>
          <p:nvPr/>
        </p:nvSpPr>
        <p:spPr>
          <a:xfrm>
            <a:off x="1042416" y="3831336"/>
            <a:ext cx="128016" cy="128016"/>
          </a:xfrm>
          <a:prstGeom prst="rect">
            <a:avLst/>
          </a:prstGeom>
          <a:solidFill>
            <a:srgbClr val="8A9EB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83" name="Rectangle 382"/>
          <p:cNvSpPr/>
          <p:nvPr/>
        </p:nvSpPr>
        <p:spPr>
          <a:xfrm>
            <a:off x="1207008" y="3831336"/>
            <a:ext cx="128016" cy="128016"/>
          </a:xfrm>
          <a:prstGeom prst="rect">
            <a:avLst/>
          </a:prstGeom>
          <a:solidFill>
            <a:srgbClr val="8A9EB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84" name="Rectangle 383"/>
          <p:cNvSpPr/>
          <p:nvPr/>
        </p:nvSpPr>
        <p:spPr>
          <a:xfrm>
            <a:off x="1371600" y="3831336"/>
            <a:ext cx="128016" cy="128016"/>
          </a:xfrm>
          <a:prstGeom prst="rect">
            <a:avLst/>
          </a:prstGeom>
          <a:solidFill>
            <a:srgbClr val="8A9EB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85" name="Rectangle 384"/>
          <p:cNvSpPr/>
          <p:nvPr/>
        </p:nvSpPr>
        <p:spPr>
          <a:xfrm>
            <a:off x="1536192" y="3831336"/>
            <a:ext cx="128016" cy="128016"/>
          </a:xfrm>
          <a:prstGeom prst="rect">
            <a:avLst/>
          </a:prstGeom>
          <a:solidFill>
            <a:srgbClr val="8A9EB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86" name="Rectangle 385"/>
          <p:cNvSpPr/>
          <p:nvPr/>
        </p:nvSpPr>
        <p:spPr>
          <a:xfrm>
            <a:off x="1700784" y="3831336"/>
            <a:ext cx="128016" cy="128016"/>
          </a:xfrm>
          <a:prstGeom prst="rect">
            <a:avLst/>
          </a:prstGeom>
          <a:solidFill>
            <a:srgbClr val="8A9EB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87" name="Rectangle 386"/>
          <p:cNvSpPr/>
          <p:nvPr/>
        </p:nvSpPr>
        <p:spPr>
          <a:xfrm>
            <a:off x="1865376" y="3831336"/>
            <a:ext cx="128016" cy="128016"/>
          </a:xfrm>
          <a:prstGeom prst="rect">
            <a:avLst/>
          </a:prstGeom>
          <a:solidFill>
            <a:srgbClr val="8A9EB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88" name="Rectangle 387"/>
          <p:cNvSpPr/>
          <p:nvPr/>
        </p:nvSpPr>
        <p:spPr>
          <a:xfrm>
            <a:off x="2029968" y="3831336"/>
            <a:ext cx="128016" cy="128016"/>
          </a:xfrm>
          <a:prstGeom prst="rect">
            <a:avLst/>
          </a:prstGeom>
          <a:solidFill>
            <a:srgbClr val="8A9EB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89" name="Rectangle 388"/>
          <p:cNvSpPr/>
          <p:nvPr/>
        </p:nvSpPr>
        <p:spPr>
          <a:xfrm>
            <a:off x="2194560" y="3831336"/>
            <a:ext cx="128016" cy="128016"/>
          </a:xfrm>
          <a:prstGeom prst="rect">
            <a:avLst/>
          </a:prstGeom>
          <a:solidFill>
            <a:srgbClr val="8A9EB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90" name="Rectangle 389"/>
          <p:cNvSpPr/>
          <p:nvPr/>
        </p:nvSpPr>
        <p:spPr>
          <a:xfrm>
            <a:off x="2359152" y="3831336"/>
            <a:ext cx="128016" cy="128016"/>
          </a:xfrm>
          <a:prstGeom prst="rect">
            <a:avLst/>
          </a:prstGeom>
          <a:solidFill>
            <a:srgbClr val="8A9EB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91" name="Rectangle 390"/>
          <p:cNvSpPr/>
          <p:nvPr/>
        </p:nvSpPr>
        <p:spPr>
          <a:xfrm>
            <a:off x="2523744" y="3831336"/>
            <a:ext cx="128016" cy="128016"/>
          </a:xfrm>
          <a:prstGeom prst="rect">
            <a:avLst/>
          </a:prstGeom>
          <a:solidFill>
            <a:srgbClr val="8A9EB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92" name="Rectangle 391"/>
          <p:cNvSpPr/>
          <p:nvPr/>
        </p:nvSpPr>
        <p:spPr>
          <a:xfrm>
            <a:off x="2688336" y="3831336"/>
            <a:ext cx="128016" cy="128016"/>
          </a:xfrm>
          <a:prstGeom prst="rect">
            <a:avLst/>
          </a:prstGeom>
          <a:solidFill>
            <a:srgbClr val="8A9EB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93" name="Rectangle 392"/>
          <p:cNvSpPr/>
          <p:nvPr/>
        </p:nvSpPr>
        <p:spPr>
          <a:xfrm>
            <a:off x="2852928" y="3831336"/>
            <a:ext cx="128016" cy="128016"/>
          </a:xfrm>
          <a:prstGeom prst="rect">
            <a:avLst/>
          </a:prstGeom>
          <a:solidFill>
            <a:srgbClr val="8A9EB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94" name="Rectangle 393"/>
          <p:cNvSpPr/>
          <p:nvPr/>
        </p:nvSpPr>
        <p:spPr>
          <a:xfrm>
            <a:off x="3017520" y="3831336"/>
            <a:ext cx="128016" cy="128016"/>
          </a:xfrm>
          <a:prstGeom prst="rect">
            <a:avLst/>
          </a:prstGeom>
          <a:solidFill>
            <a:srgbClr val="8A9EB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95" name="Rectangle 394"/>
          <p:cNvSpPr/>
          <p:nvPr/>
        </p:nvSpPr>
        <p:spPr>
          <a:xfrm>
            <a:off x="3182112" y="3831336"/>
            <a:ext cx="128016" cy="128016"/>
          </a:xfrm>
          <a:prstGeom prst="rect">
            <a:avLst/>
          </a:prstGeom>
          <a:solidFill>
            <a:srgbClr val="8A9EB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96" name="Rectangle 395"/>
          <p:cNvSpPr/>
          <p:nvPr/>
        </p:nvSpPr>
        <p:spPr>
          <a:xfrm>
            <a:off x="3346704" y="3831336"/>
            <a:ext cx="128016" cy="128016"/>
          </a:xfrm>
          <a:prstGeom prst="rect">
            <a:avLst/>
          </a:prstGeom>
          <a:solidFill>
            <a:srgbClr val="8A9EB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97" name="Rectangle 396"/>
          <p:cNvSpPr/>
          <p:nvPr/>
        </p:nvSpPr>
        <p:spPr>
          <a:xfrm>
            <a:off x="3511296" y="3831336"/>
            <a:ext cx="128016" cy="128016"/>
          </a:xfrm>
          <a:prstGeom prst="rect">
            <a:avLst/>
          </a:prstGeom>
          <a:solidFill>
            <a:srgbClr val="8A9EB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98" name="Rectangle 397"/>
          <p:cNvSpPr/>
          <p:nvPr/>
        </p:nvSpPr>
        <p:spPr>
          <a:xfrm>
            <a:off x="3675888" y="3831336"/>
            <a:ext cx="128016" cy="128016"/>
          </a:xfrm>
          <a:prstGeom prst="rect">
            <a:avLst/>
          </a:prstGeom>
          <a:solidFill>
            <a:srgbClr val="8A9EB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99" name="Rectangle 398"/>
          <p:cNvSpPr/>
          <p:nvPr/>
        </p:nvSpPr>
        <p:spPr>
          <a:xfrm>
            <a:off x="3840480" y="3831336"/>
            <a:ext cx="128016" cy="128016"/>
          </a:xfrm>
          <a:prstGeom prst="rect">
            <a:avLst/>
          </a:prstGeom>
          <a:solidFill>
            <a:srgbClr val="B3C0D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00" name="Rectangle 399"/>
          <p:cNvSpPr/>
          <p:nvPr/>
        </p:nvSpPr>
        <p:spPr>
          <a:xfrm>
            <a:off x="4005072" y="3831336"/>
            <a:ext cx="128016" cy="128016"/>
          </a:xfrm>
          <a:prstGeom prst="rect">
            <a:avLst/>
          </a:prstGeom>
          <a:solidFill>
            <a:srgbClr val="B3C0D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01" name="Rectangle 400"/>
          <p:cNvSpPr/>
          <p:nvPr/>
        </p:nvSpPr>
        <p:spPr>
          <a:xfrm>
            <a:off x="4169664" y="3831336"/>
            <a:ext cx="128016" cy="128016"/>
          </a:xfrm>
          <a:prstGeom prst="rect">
            <a:avLst/>
          </a:prstGeom>
          <a:solidFill>
            <a:srgbClr val="B3C0D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02" name="Rectangle 401"/>
          <p:cNvSpPr/>
          <p:nvPr/>
        </p:nvSpPr>
        <p:spPr>
          <a:xfrm>
            <a:off x="4334256" y="3831336"/>
            <a:ext cx="128016" cy="128016"/>
          </a:xfrm>
          <a:prstGeom prst="rect">
            <a:avLst/>
          </a:prstGeom>
          <a:solidFill>
            <a:srgbClr val="B3C0D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03" name="Rectangle 402"/>
          <p:cNvSpPr/>
          <p:nvPr/>
        </p:nvSpPr>
        <p:spPr>
          <a:xfrm>
            <a:off x="4498848" y="3831336"/>
            <a:ext cx="128016" cy="128016"/>
          </a:xfrm>
          <a:prstGeom prst="rect">
            <a:avLst/>
          </a:prstGeom>
          <a:solidFill>
            <a:srgbClr val="B3C0D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04" name="Rectangle 403"/>
          <p:cNvSpPr/>
          <p:nvPr/>
        </p:nvSpPr>
        <p:spPr>
          <a:xfrm>
            <a:off x="4663440" y="3831336"/>
            <a:ext cx="128016" cy="128016"/>
          </a:xfrm>
          <a:prstGeom prst="rect">
            <a:avLst/>
          </a:prstGeom>
          <a:solidFill>
            <a:srgbClr val="B3C0D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05" name="Rectangle 404"/>
          <p:cNvSpPr/>
          <p:nvPr/>
        </p:nvSpPr>
        <p:spPr>
          <a:xfrm>
            <a:off x="4828032" y="3831336"/>
            <a:ext cx="128016" cy="128016"/>
          </a:xfrm>
          <a:prstGeom prst="rect">
            <a:avLst/>
          </a:prstGeom>
          <a:solidFill>
            <a:srgbClr val="B3C0D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06" name="Rectangle 405"/>
          <p:cNvSpPr/>
          <p:nvPr/>
        </p:nvSpPr>
        <p:spPr>
          <a:xfrm>
            <a:off x="4992624" y="3831336"/>
            <a:ext cx="128016" cy="128016"/>
          </a:xfrm>
          <a:prstGeom prst="rect">
            <a:avLst/>
          </a:prstGeom>
          <a:solidFill>
            <a:srgbClr val="B3C0D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07" name="Rectangle 406"/>
          <p:cNvSpPr/>
          <p:nvPr/>
        </p:nvSpPr>
        <p:spPr>
          <a:xfrm>
            <a:off x="548640" y="3995928"/>
            <a:ext cx="128016" cy="128016"/>
          </a:xfrm>
          <a:prstGeom prst="rect">
            <a:avLst/>
          </a:prstGeom>
          <a:solidFill>
            <a:srgbClr val="B3C0D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08" name="Rectangle 407"/>
          <p:cNvSpPr/>
          <p:nvPr/>
        </p:nvSpPr>
        <p:spPr>
          <a:xfrm>
            <a:off x="713232" y="3995928"/>
            <a:ext cx="128016" cy="128016"/>
          </a:xfrm>
          <a:prstGeom prst="rect">
            <a:avLst/>
          </a:prstGeom>
          <a:solidFill>
            <a:srgbClr val="B3C0D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09" name="Rectangle 408"/>
          <p:cNvSpPr/>
          <p:nvPr/>
        </p:nvSpPr>
        <p:spPr>
          <a:xfrm>
            <a:off x="877824" y="3995928"/>
            <a:ext cx="128016" cy="128016"/>
          </a:xfrm>
          <a:prstGeom prst="rect">
            <a:avLst/>
          </a:prstGeom>
          <a:solidFill>
            <a:srgbClr val="B3C0D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10" name="Rectangle 409"/>
          <p:cNvSpPr/>
          <p:nvPr/>
        </p:nvSpPr>
        <p:spPr>
          <a:xfrm>
            <a:off x="1042416" y="3995928"/>
            <a:ext cx="128016" cy="128016"/>
          </a:xfrm>
          <a:prstGeom prst="rect">
            <a:avLst/>
          </a:prstGeom>
          <a:solidFill>
            <a:srgbClr val="B3C0D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11" name="Rectangle 410"/>
          <p:cNvSpPr/>
          <p:nvPr/>
        </p:nvSpPr>
        <p:spPr>
          <a:xfrm>
            <a:off x="1207008" y="3995928"/>
            <a:ext cx="128016" cy="128016"/>
          </a:xfrm>
          <a:prstGeom prst="rect">
            <a:avLst/>
          </a:prstGeom>
          <a:solidFill>
            <a:srgbClr val="B3C0D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12" name="Rectangle 411"/>
          <p:cNvSpPr/>
          <p:nvPr/>
        </p:nvSpPr>
        <p:spPr>
          <a:xfrm>
            <a:off x="1371600" y="3995928"/>
            <a:ext cx="128016" cy="128016"/>
          </a:xfrm>
          <a:prstGeom prst="rect">
            <a:avLst/>
          </a:prstGeom>
          <a:solidFill>
            <a:srgbClr val="B3C0D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13" name="Rectangle 412"/>
          <p:cNvSpPr/>
          <p:nvPr/>
        </p:nvSpPr>
        <p:spPr>
          <a:xfrm>
            <a:off x="1536192" y="3995928"/>
            <a:ext cx="128016" cy="128016"/>
          </a:xfrm>
          <a:prstGeom prst="rect">
            <a:avLst/>
          </a:prstGeom>
          <a:solidFill>
            <a:srgbClr val="B3C0D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14" name="Rectangle 413"/>
          <p:cNvSpPr/>
          <p:nvPr/>
        </p:nvSpPr>
        <p:spPr>
          <a:xfrm>
            <a:off x="1700784" y="3995928"/>
            <a:ext cx="128016" cy="128016"/>
          </a:xfrm>
          <a:prstGeom prst="rect">
            <a:avLst/>
          </a:prstGeom>
          <a:solidFill>
            <a:srgbClr val="B3C0D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15" name="Rectangle 414"/>
          <p:cNvSpPr/>
          <p:nvPr/>
        </p:nvSpPr>
        <p:spPr>
          <a:xfrm>
            <a:off x="1865376" y="3995928"/>
            <a:ext cx="128016" cy="128016"/>
          </a:xfrm>
          <a:prstGeom prst="rect">
            <a:avLst/>
          </a:prstGeom>
          <a:solidFill>
            <a:srgbClr val="B3C0D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16" name="Rectangle 415"/>
          <p:cNvSpPr/>
          <p:nvPr/>
        </p:nvSpPr>
        <p:spPr>
          <a:xfrm>
            <a:off x="2029968" y="3995928"/>
            <a:ext cx="128016" cy="128016"/>
          </a:xfrm>
          <a:prstGeom prst="rect">
            <a:avLst/>
          </a:prstGeom>
          <a:solidFill>
            <a:srgbClr val="B3C0D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17" name="Rectangle 416"/>
          <p:cNvSpPr/>
          <p:nvPr/>
        </p:nvSpPr>
        <p:spPr>
          <a:xfrm>
            <a:off x="2194560" y="3995928"/>
            <a:ext cx="128016" cy="128016"/>
          </a:xfrm>
          <a:prstGeom prst="rect">
            <a:avLst/>
          </a:prstGeom>
          <a:solidFill>
            <a:srgbClr val="B3C0D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18" name="Rectangle 417"/>
          <p:cNvSpPr/>
          <p:nvPr/>
        </p:nvSpPr>
        <p:spPr>
          <a:xfrm>
            <a:off x="2359152" y="3995928"/>
            <a:ext cx="128016" cy="128016"/>
          </a:xfrm>
          <a:prstGeom prst="rect">
            <a:avLst/>
          </a:prstGeom>
          <a:solidFill>
            <a:srgbClr val="B3C0D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19" name="Rectangle 418"/>
          <p:cNvSpPr/>
          <p:nvPr/>
        </p:nvSpPr>
        <p:spPr>
          <a:xfrm>
            <a:off x="2523744" y="3995928"/>
            <a:ext cx="128016" cy="128016"/>
          </a:xfrm>
          <a:prstGeom prst="rect">
            <a:avLst/>
          </a:prstGeom>
          <a:solidFill>
            <a:srgbClr val="B3C0D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20" name="Rectangle 419"/>
          <p:cNvSpPr/>
          <p:nvPr/>
        </p:nvSpPr>
        <p:spPr>
          <a:xfrm>
            <a:off x="2688336" y="3995928"/>
            <a:ext cx="128016" cy="128016"/>
          </a:xfrm>
          <a:prstGeom prst="rect">
            <a:avLst/>
          </a:prstGeom>
          <a:solidFill>
            <a:srgbClr val="B3C0D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21" name="Rectangle 420"/>
          <p:cNvSpPr/>
          <p:nvPr/>
        </p:nvSpPr>
        <p:spPr>
          <a:xfrm>
            <a:off x="2852928" y="3995928"/>
            <a:ext cx="128016" cy="128016"/>
          </a:xfrm>
          <a:prstGeom prst="rect">
            <a:avLst/>
          </a:prstGeom>
          <a:solidFill>
            <a:srgbClr val="B3C0D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22" name="Rectangle 421"/>
          <p:cNvSpPr/>
          <p:nvPr/>
        </p:nvSpPr>
        <p:spPr>
          <a:xfrm>
            <a:off x="3017520" y="3995928"/>
            <a:ext cx="128016" cy="128016"/>
          </a:xfrm>
          <a:prstGeom prst="rect">
            <a:avLst/>
          </a:prstGeom>
          <a:solidFill>
            <a:srgbClr val="B3C0D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23" name="Rectangle 422"/>
          <p:cNvSpPr/>
          <p:nvPr/>
        </p:nvSpPr>
        <p:spPr>
          <a:xfrm>
            <a:off x="3182112" y="3995928"/>
            <a:ext cx="128016" cy="128016"/>
          </a:xfrm>
          <a:prstGeom prst="rect">
            <a:avLst/>
          </a:prstGeom>
          <a:solidFill>
            <a:srgbClr val="B3C0D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24" name="Rectangle 423"/>
          <p:cNvSpPr/>
          <p:nvPr/>
        </p:nvSpPr>
        <p:spPr>
          <a:xfrm>
            <a:off x="3346704" y="3995928"/>
            <a:ext cx="128016" cy="128016"/>
          </a:xfrm>
          <a:prstGeom prst="rect">
            <a:avLst/>
          </a:prstGeom>
          <a:solidFill>
            <a:srgbClr val="B3C0D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25" name="Rectangle 424"/>
          <p:cNvSpPr/>
          <p:nvPr/>
        </p:nvSpPr>
        <p:spPr>
          <a:xfrm>
            <a:off x="548640" y="4443984"/>
            <a:ext cx="201168" cy="201168"/>
          </a:xfrm>
          <a:prstGeom prst="rect">
            <a:avLst/>
          </a:prstGeom>
          <a:solidFill>
            <a:srgbClr val="12284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26" name="TextBox 425"/>
          <p:cNvSpPr txBox="1"/>
          <p:nvPr/>
        </p:nvSpPr>
        <p:spPr>
          <a:xfrm>
            <a:off x="841247" y="4343400"/>
            <a:ext cx="1280160" cy="402336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500" b="0" i="0">
                <a:solidFill>
                  <a:srgbClr val="1C2128"/>
                </a:solidFill>
                <a:latin typeface="Source Sans 3"/>
              </a:rPr>
              <a:t>Closure 153</a:t>
            </a:r>
          </a:p>
        </p:txBody>
      </p:sp>
      <p:sp>
        <p:nvSpPr>
          <p:cNvPr id="427" name="Rectangle 426"/>
          <p:cNvSpPr/>
          <p:nvPr/>
        </p:nvSpPr>
        <p:spPr>
          <a:xfrm>
            <a:off x="2121408" y="4443984"/>
            <a:ext cx="201168" cy="201168"/>
          </a:xfrm>
          <a:prstGeom prst="rect">
            <a:avLst/>
          </a:prstGeom>
          <a:solidFill>
            <a:srgbClr val="24406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28" name="TextBox 427"/>
          <p:cNvSpPr txBox="1"/>
          <p:nvPr/>
        </p:nvSpPr>
        <p:spPr>
          <a:xfrm>
            <a:off x="2414015" y="4343400"/>
            <a:ext cx="1280160" cy="402336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500" b="0" i="0">
                <a:solidFill>
                  <a:srgbClr val="1C2128"/>
                </a:solidFill>
                <a:latin typeface="Source Sans 3"/>
              </a:rPr>
              <a:t>Math 106</a:t>
            </a:r>
          </a:p>
        </p:txBody>
      </p:sp>
      <p:sp>
        <p:nvSpPr>
          <p:cNvPr id="429" name="Rectangle 428"/>
          <p:cNvSpPr/>
          <p:nvPr/>
        </p:nvSpPr>
        <p:spPr>
          <a:xfrm>
            <a:off x="3694176" y="4443984"/>
            <a:ext cx="201168" cy="201168"/>
          </a:xfrm>
          <a:prstGeom prst="rect">
            <a:avLst/>
          </a:prstGeom>
          <a:solidFill>
            <a:srgbClr val="3A5A8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30" name="TextBox 429"/>
          <p:cNvSpPr txBox="1"/>
          <p:nvPr/>
        </p:nvSpPr>
        <p:spPr>
          <a:xfrm>
            <a:off x="3986784" y="4343400"/>
            <a:ext cx="1280160" cy="402336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500" b="0" i="0">
                <a:solidFill>
                  <a:srgbClr val="1C2128"/>
                </a:solidFill>
                <a:latin typeface="Source Sans 3"/>
              </a:rPr>
              <a:t>Lang 61</a:t>
            </a:r>
          </a:p>
        </p:txBody>
      </p:sp>
      <p:sp>
        <p:nvSpPr>
          <p:cNvPr id="431" name="Rectangle 430"/>
          <p:cNvSpPr/>
          <p:nvPr/>
        </p:nvSpPr>
        <p:spPr>
          <a:xfrm>
            <a:off x="548640" y="4855464"/>
            <a:ext cx="201168" cy="201168"/>
          </a:xfrm>
          <a:prstGeom prst="rect">
            <a:avLst/>
          </a:prstGeom>
          <a:solidFill>
            <a:srgbClr val="5E789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32" name="TextBox 431"/>
          <p:cNvSpPr txBox="1"/>
          <p:nvPr/>
        </p:nvSpPr>
        <p:spPr>
          <a:xfrm>
            <a:off x="841247" y="4754880"/>
            <a:ext cx="1280160" cy="402336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500" b="0" i="0">
                <a:solidFill>
                  <a:srgbClr val="1C2128"/>
                </a:solidFill>
                <a:latin typeface="Source Sans 3"/>
              </a:rPr>
              <a:t>Mockito 38</a:t>
            </a:r>
          </a:p>
        </p:txBody>
      </p:sp>
      <p:sp>
        <p:nvSpPr>
          <p:cNvPr id="433" name="Rectangle 432"/>
          <p:cNvSpPr/>
          <p:nvPr/>
        </p:nvSpPr>
        <p:spPr>
          <a:xfrm>
            <a:off x="2121408" y="4855464"/>
            <a:ext cx="201168" cy="201168"/>
          </a:xfrm>
          <a:prstGeom prst="rect">
            <a:avLst/>
          </a:prstGeom>
          <a:solidFill>
            <a:srgbClr val="8A9EB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34" name="TextBox 433"/>
          <p:cNvSpPr txBox="1"/>
          <p:nvPr/>
        </p:nvSpPr>
        <p:spPr>
          <a:xfrm>
            <a:off x="2414015" y="4754880"/>
            <a:ext cx="1280160" cy="402336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500" b="0" i="0">
                <a:solidFill>
                  <a:srgbClr val="1C2128"/>
                </a:solidFill>
                <a:latin typeface="Source Sans 3"/>
              </a:rPr>
              <a:t>Chart 26</a:t>
            </a:r>
          </a:p>
        </p:txBody>
      </p:sp>
      <p:sp>
        <p:nvSpPr>
          <p:cNvPr id="435" name="Rectangle 434"/>
          <p:cNvSpPr/>
          <p:nvPr/>
        </p:nvSpPr>
        <p:spPr>
          <a:xfrm>
            <a:off x="3694176" y="4855464"/>
            <a:ext cx="201168" cy="201168"/>
          </a:xfrm>
          <a:prstGeom prst="rect">
            <a:avLst/>
          </a:prstGeom>
          <a:solidFill>
            <a:srgbClr val="B3C0D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36" name="TextBox 435"/>
          <p:cNvSpPr txBox="1"/>
          <p:nvPr/>
        </p:nvSpPr>
        <p:spPr>
          <a:xfrm>
            <a:off x="3986784" y="4754880"/>
            <a:ext cx="1280160" cy="402336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500" b="0" i="0">
                <a:solidFill>
                  <a:srgbClr val="1C2128"/>
                </a:solidFill>
                <a:latin typeface="Source Sans 3"/>
              </a:rPr>
              <a:t>Time 26</a:t>
            </a:r>
          </a:p>
        </p:txBody>
      </p:sp>
      <p:sp>
        <p:nvSpPr>
          <p:cNvPr id="437" name="TextBox 436"/>
          <p:cNvSpPr txBox="1"/>
          <p:nvPr/>
        </p:nvSpPr>
        <p:spPr>
          <a:xfrm>
            <a:off x="5577840" y="1280160"/>
            <a:ext cx="6062472" cy="329184"/>
          </a:xfrm>
          <a:prstGeom prst="rect">
            <a:avLst/>
          </a:prstGeom>
          <a:noFill/>
        </p:spPr>
        <p:txBody>
          <a:bodyPr wrap="square" lIns="27432" rIns="27432" tIns="27432" bIns="27432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00" b="1" i="0">
                <a:solidFill>
                  <a:srgbClr val="5A6270"/>
                </a:solidFill>
                <a:latin typeface="Source Sans 3"/>
              </a:rPr>
              <a:t>WHAT WE RAN</a:t>
            </a:r>
          </a:p>
        </p:txBody>
      </p:sp>
      <p:sp>
        <p:nvSpPr>
          <p:cNvPr id="438" name="TextBox 437"/>
          <p:cNvSpPr txBox="1"/>
          <p:nvPr/>
        </p:nvSpPr>
        <p:spPr>
          <a:xfrm>
            <a:off x="5577840" y="1691640"/>
            <a:ext cx="6062472" cy="329184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500" b="1" i="0">
                <a:solidFill>
                  <a:srgbClr val="12284C"/>
                </a:solidFill>
                <a:latin typeface="Source Sans 3"/>
              </a:rPr>
              <a:t>Main study  ·  Gemini 3.1 Flash-Lite</a:t>
            </a:r>
          </a:p>
        </p:txBody>
      </p:sp>
      <p:sp>
        <p:nvSpPr>
          <p:cNvPr id="439" name="Rectangle 438"/>
          <p:cNvSpPr/>
          <p:nvPr/>
        </p:nvSpPr>
        <p:spPr>
          <a:xfrm>
            <a:off x="5577840" y="2103120"/>
            <a:ext cx="1005840" cy="530352"/>
          </a:xfrm>
          <a:prstGeom prst="rect">
            <a:avLst/>
          </a:prstGeom>
          <a:solidFill>
            <a:srgbClr val="F4F5F7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40" name="TextBox 439"/>
          <p:cNvSpPr txBox="1"/>
          <p:nvPr/>
        </p:nvSpPr>
        <p:spPr>
          <a:xfrm>
            <a:off x="5577840" y="2103120"/>
            <a:ext cx="1005840" cy="530352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500" b="1" i="0">
                <a:solidFill>
                  <a:srgbClr val="1C2128"/>
                </a:solidFill>
                <a:latin typeface="Source Sans 3"/>
              </a:rPr>
              <a:t>410 bugs</a:t>
            </a:r>
          </a:p>
        </p:txBody>
      </p:sp>
      <p:sp>
        <p:nvSpPr>
          <p:cNvPr id="441" name="TextBox 440"/>
          <p:cNvSpPr txBox="1"/>
          <p:nvPr/>
        </p:nvSpPr>
        <p:spPr>
          <a:xfrm>
            <a:off x="6583679" y="2103120"/>
            <a:ext cx="292608" cy="530352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800" b="0" i="0">
                <a:solidFill>
                  <a:srgbClr val="8A919C"/>
                </a:solidFill>
                <a:latin typeface="Source Sans 3"/>
              </a:rPr>
              <a:t>×</a:t>
            </a:r>
          </a:p>
        </p:txBody>
      </p:sp>
      <p:sp>
        <p:nvSpPr>
          <p:cNvPr id="442" name="Rectangle 441"/>
          <p:cNvSpPr/>
          <p:nvPr/>
        </p:nvSpPr>
        <p:spPr>
          <a:xfrm>
            <a:off x="6876288" y="2103120"/>
            <a:ext cx="1828800" cy="530352"/>
          </a:xfrm>
          <a:prstGeom prst="rect">
            <a:avLst/>
          </a:prstGeom>
          <a:solidFill>
            <a:srgbClr val="F4F5F7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43" name="TextBox 442"/>
          <p:cNvSpPr txBox="1"/>
          <p:nvPr/>
        </p:nvSpPr>
        <p:spPr>
          <a:xfrm>
            <a:off x="6876288" y="2103120"/>
            <a:ext cx="1828800" cy="530352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500" b="1" i="0">
                <a:solidFill>
                  <a:srgbClr val="1C2128"/>
                </a:solidFill>
                <a:latin typeface="Source Sans 3"/>
              </a:rPr>
              <a:t>scientific + few-shot</a:t>
            </a:r>
          </a:p>
        </p:txBody>
      </p:sp>
      <p:sp>
        <p:nvSpPr>
          <p:cNvPr id="444" name="TextBox 443"/>
          <p:cNvSpPr txBox="1"/>
          <p:nvPr/>
        </p:nvSpPr>
        <p:spPr>
          <a:xfrm>
            <a:off x="8705088" y="2103120"/>
            <a:ext cx="292608" cy="530352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800" b="0" i="0">
                <a:solidFill>
                  <a:srgbClr val="8A919C"/>
                </a:solidFill>
                <a:latin typeface="Source Sans 3"/>
              </a:rPr>
              <a:t>×</a:t>
            </a:r>
          </a:p>
        </p:txBody>
      </p:sp>
      <p:sp>
        <p:nvSpPr>
          <p:cNvPr id="445" name="Rectangle 444"/>
          <p:cNvSpPr/>
          <p:nvPr/>
        </p:nvSpPr>
        <p:spPr>
          <a:xfrm>
            <a:off x="8997696" y="2103120"/>
            <a:ext cx="1051560" cy="530352"/>
          </a:xfrm>
          <a:prstGeom prst="rect">
            <a:avLst/>
          </a:prstGeom>
          <a:solidFill>
            <a:srgbClr val="F4F5F7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46" name="TextBox 445"/>
          <p:cNvSpPr txBox="1"/>
          <p:nvPr/>
        </p:nvSpPr>
        <p:spPr>
          <a:xfrm>
            <a:off x="8997696" y="2103120"/>
            <a:ext cx="1051560" cy="530352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500" b="1" i="0">
                <a:solidFill>
                  <a:srgbClr val="1C2128"/>
                </a:solidFill>
                <a:latin typeface="Source Sans 3"/>
              </a:rPr>
              <a:t>pre + post</a:t>
            </a:r>
          </a:p>
        </p:txBody>
      </p:sp>
      <p:sp>
        <p:nvSpPr>
          <p:cNvPr id="447" name="TextBox 446"/>
          <p:cNvSpPr txBox="1"/>
          <p:nvPr/>
        </p:nvSpPr>
        <p:spPr>
          <a:xfrm>
            <a:off x="10049256" y="2103120"/>
            <a:ext cx="292608" cy="530352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800" b="0" i="0">
                <a:solidFill>
                  <a:srgbClr val="8A919C"/>
                </a:solidFill>
                <a:latin typeface="Source Sans 3"/>
              </a:rPr>
              <a:t>=</a:t>
            </a:r>
          </a:p>
        </p:txBody>
      </p:sp>
      <p:sp>
        <p:nvSpPr>
          <p:cNvPr id="448" name="Rectangle 447"/>
          <p:cNvSpPr/>
          <p:nvPr/>
        </p:nvSpPr>
        <p:spPr>
          <a:xfrm>
            <a:off x="10341864" y="2103120"/>
            <a:ext cx="1298448" cy="530352"/>
          </a:xfrm>
          <a:prstGeom prst="rect">
            <a:avLst/>
          </a:prstGeom>
          <a:solidFill>
            <a:srgbClr val="12284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49" name="TextBox 448"/>
          <p:cNvSpPr txBox="1"/>
          <p:nvPr/>
        </p:nvSpPr>
        <p:spPr>
          <a:xfrm>
            <a:off x="10341864" y="2103120"/>
            <a:ext cx="1298448" cy="530352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900" b="1" i="0">
                <a:solidFill>
                  <a:srgbClr val="FFFFFF"/>
                </a:solidFill>
                <a:latin typeface="Source Sans 3"/>
              </a:rPr>
              <a:t>1,640</a:t>
            </a:r>
            <a:r>
              <a:rPr sz="1400" b="0" i="0">
                <a:solidFill>
                  <a:srgbClr val="FFFFFF"/>
                </a:solidFill>
                <a:latin typeface="Source Sans 3"/>
              </a:rPr>
              <a:t> runs</a:t>
            </a:r>
          </a:p>
        </p:txBody>
      </p:sp>
      <p:sp>
        <p:nvSpPr>
          <p:cNvPr id="450" name="TextBox 449"/>
          <p:cNvSpPr txBox="1"/>
          <p:nvPr/>
        </p:nvSpPr>
        <p:spPr>
          <a:xfrm>
            <a:off x="5577840" y="2971800"/>
            <a:ext cx="6062472" cy="329184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500" b="1" i="0">
                <a:solidFill>
                  <a:srgbClr val="12284C"/>
                </a:solidFill>
                <a:latin typeface="Source Sans 3"/>
              </a:rPr>
              <a:t>Baseline for RQ4a  ·  Gemini 3.1 Flash-Lite</a:t>
            </a:r>
          </a:p>
        </p:txBody>
      </p:sp>
      <p:sp>
        <p:nvSpPr>
          <p:cNvPr id="451" name="Rectangle 450"/>
          <p:cNvSpPr/>
          <p:nvPr/>
        </p:nvSpPr>
        <p:spPr>
          <a:xfrm>
            <a:off x="5577840" y="3383280"/>
            <a:ext cx="1005840" cy="530352"/>
          </a:xfrm>
          <a:prstGeom prst="rect">
            <a:avLst/>
          </a:prstGeom>
          <a:solidFill>
            <a:srgbClr val="F4F5F7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52" name="TextBox 451"/>
          <p:cNvSpPr txBox="1"/>
          <p:nvPr/>
        </p:nvSpPr>
        <p:spPr>
          <a:xfrm>
            <a:off x="5577840" y="3383280"/>
            <a:ext cx="1005840" cy="530352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500" b="1" i="0">
                <a:solidFill>
                  <a:srgbClr val="1C2128"/>
                </a:solidFill>
                <a:latin typeface="Source Sans 3"/>
              </a:rPr>
              <a:t>410 bugs</a:t>
            </a:r>
          </a:p>
        </p:txBody>
      </p:sp>
      <p:sp>
        <p:nvSpPr>
          <p:cNvPr id="453" name="TextBox 452"/>
          <p:cNvSpPr txBox="1"/>
          <p:nvPr/>
        </p:nvSpPr>
        <p:spPr>
          <a:xfrm>
            <a:off x="6583679" y="3383280"/>
            <a:ext cx="292608" cy="530352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800" b="0" i="0">
                <a:solidFill>
                  <a:srgbClr val="8A919C"/>
                </a:solidFill>
                <a:latin typeface="Source Sans 3"/>
              </a:rPr>
              <a:t>×</a:t>
            </a:r>
          </a:p>
        </p:txBody>
      </p:sp>
      <p:sp>
        <p:nvSpPr>
          <p:cNvPr id="454" name="Rectangle 453"/>
          <p:cNvSpPr/>
          <p:nvPr/>
        </p:nvSpPr>
        <p:spPr>
          <a:xfrm>
            <a:off x="6876288" y="3383280"/>
            <a:ext cx="1828800" cy="530352"/>
          </a:xfrm>
          <a:prstGeom prst="rect">
            <a:avLst/>
          </a:prstGeom>
          <a:solidFill>
            <a:srgbClr val="F4F5F7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55" name="TextBox 454"/>
          <p:cNvSpPr txBox="1"/>
          <p:nvPr/>
        </p:nvSpPr>
        <p:spPr>
          <a:xfrm>
            <a:off x="6876288" y="3383280"/>
            <a:ext cx="1828800" cy="530352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500" b="1" i="0">
                <a:solidFill>
                  <a:srgbClr val="1C2128"/>
                </a:solidFill>
                <a:latin typeface="Source Sans 3"/>
              </a:rPr>
              <a:t>zero-free</a:t>
            </a:r>
          </a:p>
        </p:txBody>
      </p:sp>
      <p:sp>
        <p:nvSpPr>
          <p:cNvPr id="456" name="TextBox 455"/>
          <p:cNvSpPr txBox="1"/>
          <p:nvPr/>
        </p:nvSpPr>
        <p:spPr>
          <a:xfrm>
            <a:off x="8705088" y="3383280"/>
            <a:ext cx="292608" cy="530352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800" b="0" i="0">
                <a:solidFill>
                  <a:srgbClr val="8A919C"/>
                </a:solidFill>
                <a:latin typeface="Source Sans 3"/>
              </a:rPr>
              <a:t>×</a:t>
            </a:r>
          </a:p>
        </p:txBody>
      </p:sp>
      <p:sp>
        <p:nvSpPr>
          <p:cNvPr id="457" name="Rectangle 456"/>
          <p:cNvSpPr/>
          <p:nvPr/>
        </p:nvSpPr>
        <p:spPr>
          <a:xfrm>
            <a:off x="8997696" y="3383280"/>
            <a:ext cx="1051560" cy="530352"/>
          </a:xfrm>
          <a:prstGeom prst="rect">
            <a:avLst/>
          </a:prstGeom>
          <a:solidFill>
            <a:srgbClr val="F4F5F7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58" name="TextBox 457"/>
          <p:cNvSpPr txBox="1"/>
          <p:nvPr/>
        </p:nvSpPr>
        <p:spPr>
          <a:xfrm>
            <a:off x="8997696" y="3383280"/>
            <a:ext cx="1051560" cy="530352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500" b="1" i="0">
                <a:solidFill>
                  <a:srgbClr val="1C2128"/>
                </a:solidFill>
                <a:latin typeface="Source Sans 3"/>
              </a:rPr>
              <a:t>pre + post</a:t>
            </a:r>
          </a:p>
        </p:txBody>
      </p:sp>
      <p:sp>
        <p:nvSpPr>
          <p:cNvPr id="459" name="TextBox 458"/>
          <p:cNvSpPr txBox="1"/>
          <p:nvPr/>
        </p:nvSpPr>
        <p:spPr>
          <a:xfrm>
            <a:off x="10049256" y="3383280"/>
            <a:ext cx="292608" cy="530352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800" b="0" i="0">
                <a:solidFill>
                  <a:srgbClr val="8A919C"/>
                </a:solidFill>
                <a:latin typeface="Source Sans 3"/>
              </a:rPr>
              <a:t>=</a:t>
            </a:r>
          </a:p>
        </p:txBody>
      </p:sp>
      <p:sp>
        <p:nvSpPr>
          <p:cNvPr id="460" name="Rectangle 459"/>
          <p:cNvSpPr/>
          <p:nvPr/>
        </p:nvSpPr>
        <p:spPr>
          <a:xfrm>
            <a:off x="10341864" y="3383280"/>
            <a:ext cx="1298448" cy="530352"/>
          </a:xfrm>
          <a:prstGeom prst="rect">
            <a:avLst/>
          </a:prstGeom>
          <a:solidFill>
            <a:srgbClr val="E6EAF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61" name="TextBox 460"/>
          <p:cNvSpPr txBox="1"/>
          <p:nvPr/>
        </p:nvSpPr>
        <p:spPr>
          <a:xfrm>
            <a:off x="10341864" y="3383280"/>
            <a:ext cx="1298448" cy="530352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900" b="1" i="0">
                <a:solidFill>
                  <a:srgbClr val="12284C"/>
                </a:solidFill>
                <a:latin typeface="Source Sans 3"/>
              </a:rPr>
              <a:t>820</a:t>
            </a:r>
            <a:r>
              <a:rPr sz="1400" b="0" i="0">
                <a:solidFill>
                  <a:srgbClr val="12284C"/>
                </a:solidFill>
                <a:latin typeface="Source Sans 3"/>
              </a:rPr>
              <a:t> runs</a:t>
            </a:r>
          </a:p>
        </p:txBody>
      </p:sp>
      <p:sp>
        <p:nvSpPr>
          <p:cNvPr id="462" name="TextBox 461"/>
          <p:cNvSpPr txBox="1"/>
          <p:nvPr/>
        </p:nvSpPr>
        <p:spPr>
          <a:xfrm>
            <a:off x="5577840" y="4251960"/>
            <a:ext cx="6062472" cy="329184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500" b="1" i="0">
                <a:solidFill>
                  <a:srgbClr val="12284C"/>
                </a:solidFill>
                <a:latin typeface="Source Sans 3"/>
              </a:rPr>
              <a:t>Cross-model check  ·  gpt-5-mini</a:t>
            </a:r>
          </a:p>
        </p:txBody>
      </p:sp>
      <p:sp>
        <p:nvSpPr>
          <p:cNvPr id="463" name="Rectangle 462"/>
          <p:cNvSpPr/>
          <p:nvPr/>
        </p:nvSpPr>
        <p:spPr>
          <a:xfrm>
            <a:off x="5577840" y="4663440"/>
            <a:ext cx="1005840" cy="530352"/>
          </a:xfrm>
          <a:prstGeom prst="rect">
            <a:avLst/>
          </a:prstGeom>
          <a:solidFill>
            <a:srgbClr val="F4F5F7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64" name="TextBox 463"/>
          <p:cNvSpPr txBox="1"/>
          <p:nvPr/>
        </p:nvSpPr>
        <p:spPr>
          <a:xfrm>
            <a:off x="5577840" y="4663440"/>
            <a:ext cx="1005840" cy="530352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500" b="1" i="0">
                <a:solidFill>
                  <a:srgbClr val="1C2128"/>
                </a:solidFill>
                <a:latin typeface="Source Sans 3"/>
              </a:rPr>
              <a:t>13 bugs</a:t>
            </a:r>
          </a:p>
        </p:txBody>
      </p:sp>
      <p:sp>
        <p:nvSpPr>
          <p:cNvPr id="465" name="TextBox 464"/>
          <p:cNvSpPr txBox="1"/>
          <p:nvPr/>
        </p:nvSpPr>
        <p:spPr>
          <a:xfrm>
            <a:off x="6583679" y="4663440"/>
            <a:ext cx="292608" cy="530352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800" b="0" i="0">
                <a:solidFill>
                  <a:srgbClr val="8A919C"/>
                </a:solidFill>
                <a:latin typeface="Source Sans 3"/>
              </a:rPr>
              <a:t>×</a:t>
            </a:r>
          </a:p>
        </p:txBody>
      </p:sp>
      <p:sp>
        <p:nvSpPr>
          <p:cNvPr id="466" name="Rectangle 465"/>
          <p:cNvSpPr/>
          <p:nvPr/>
        </p:nvSpPr>
        <p:spPr>
          <a:xfrm>
            <a:off x="6876288" y="4663440"/>
            <a:ext cx="1828800" cy="530352"/>
          </a:xfrm>
          <a:prstGeom prst="rect">
            <a:avLst/>
          </a:prstGeom>
          <a:solidFill>
            <a:srgbClr val="F4F5F7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67" name="TextBox 466"/>
          <p:cNvSpPr txBox="1"/>
          <p:nvPr/>
        </p:nvSpPr>
        <p:spPr>
          <a:xfrm>
            <a:off x="6876288" y="4663440"/>
            <a:ext cx="1828800" cy="530352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500" b="1" i="0">
                <a:solidFill>
                  <a:srgbClr val="1C2128"/>
                </a:solidFill>
                <a:latin typeface="Source Sans 3"/>
              </a:rPr>
              <a:t>scientific + few-shot</a:t>
            </a:r>
          </a:p>
        </p:txBody>
      </p:sp>
      <p:sp>
        <p:nvSpPr>
          <p:cNvPr id="468" name="TextBox 467"/>
          <p:cNvSpPr txBox="1"/>
          <p:nvPr/>
        </p:nvSpPr>
        <p:spPr>
          <a:xfrm>
            <a:off x="8705088" y="4663440"/>
            <a:ext cx="292608" cy="530352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800" b="0" i="0">
                <a:solidFill>
                  <a:srgbClr val="8A919C"/>
                </a:solidFill>
                <a:latin typeface="Source Sans 3"/>
              </a:rPr>
              <a:t>×</a:t>
            </a:r>
          </a:p>
        </p:txBody>
      </p:sp>
      <p:sp>
        <p:nvSpPr>
          <p:cNvPr id="469" name="Rectangle 468"/>
          <p:cNvSpPr/>
          <p:nvPr/>
        </p:nvSpPr>
        <p:spPr>
          <a:xfrm>
            <a:off x="8997696" y="4663440"/>
            <a:ext cx="1051560" cy="530352"/>
          </a:xfrm>
          <a:prstGeom prst="rect">
            <a:avLst/>
          </a:prstGeom>
          <a:solidFill>
            <a:srgbClr val="F4F5F7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70" name="TextBox 469"/>
          <p:cNvSpPr txBox="1"/>
          <p:nvPr/>
        </p:nvSpPr>
        <p:spPr>
          <a:xfrm>
            <a:off x="8997696" y="4663440"/>
            <a:ext cx="1051560" cy="530352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500" b="1" i="0">
                <a:solidFill>
                  <a:srgbClr val="1C2128"/>
                </a:solidFill>
                <a:latin typeface="Source Sans 3"/>
              </a:rPr>
              <a:t>pre + post</a:t>
            </a:r>
          </a:p>
        </p:txBody>
      </p:sp>
      <p:sp>
        <p:nvSpPr>
          <p:cNvPr id="471" name="TextBox 470"/>
          <p:cNvSpPr txBox="1"/>
          <p:nvPr/>
        </p:nvSpPr>
        <p:spPr>
          <a:xfrm>
            <a:off x="10049256" y="4663440"/>
            <a:ext cx="292608" cy="530352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800" b="0" i="0">
                <a:solidFill>
                  <a:srgbClr val="8A919C"/>
                </a:solidFill>
                <a:latin typeface="Source Sans 3"/>
              </a:rPr>
              <a:t>=</a:t>
            </a:r>
          </a:p>
        </p:txBody>
      </p:sp>
      <p:sp>
        <p:nvSpPr>
          <p:cNvPr id="472" name="Rectangle 471"/>
          <p:cNvSpPr/>
          <p:nvPr/>
        </p:nvSpPr>
        <p:spPr>
          <a:xfrm>
            <a:off x="10341864" y="4663440"/>
            <a:ext cx="1298448" cy="530352"/>
          </a:xfrm>
          <a:prstGeom prst="rect">
            <a:avLst/>
          </a:prstGeom>
          <a:solidFill>
            <a:srgbClr val="E6EAF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73" name="TextBox 472"/>
          <p:cNvSpPr txBox="1"/>
          <p:nvPr/>
        </p:nvSpPr>
        <p:spPr>
          <a:xfrm>
            <a:off x="10341864" y="4663440"/>
            <a:ext cx="1298448" cy="530352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900" b="1" i="0">
                <a:solidFill>
                  <a:srgbClr val="12284C"/>
                </a:solidFill>
                <a:latin typeface="Source Sans 3"/>
              </a:rPr>
              <a:t>52</a:t>
            </a:r>
            <a:r>
              <a:rPr sz="1400" b="0" i="0">
                <a:solidFill>
                  <a:srgbClr val="12284C"/>
                </a:solidFill>
                <a:latin typeface="Source Sans 3"/>
              </a:rPr>
              <a:t> runs</a:t>
            </a:r>
          </a:p>
        </p:txBody>
      </p:sp>
      <p:sp>
        <p:nvSpPr>
          <p:cNvPr id="474" name="Rectangle 473"/>
          <p:cNvSpPr/>
          <p:nvPr/>
        </p:nvSpPr>
        <p:spPr>
          <a:xfrm>
            <a:off x="548640" y="5669280"/>
            <a:ext cx="64008" cy="502920"/>
          </a:xfrm>
          <a:prstGeom prst="rect">
            <a:avLst/>
          </a:prstGeom>
          <a:solidFill>
            <a:srgbClr val="12284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75" name="TextBox 474"/>
          <p:cNvSpPr txBox="1"/>
          <p:nvPr/>
        </p:nvSpPr>
        <p:spPr>
          <a:xfrm>
            <a:off x="777240" y="5669280"/>
            <a:ext cx="10881360" cy="502920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800" b="0" i="0">
                <a:solidFill>
                  <a:srgbClr val="1C2128"/>
                </a:solidFill>
                <a:latin typeface="Source Sans 3"/>
              </a:rPr>
              <a:t>The 13 cross-model bugs are the ones we also read by hand.  Reporting follows the LLM study guidelines [28].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74320"/>
            <a:ext cx="10332720" cy="731520"/>
          </a:xfrm>
          <a:prstGeom prst="rect">
            <a:avLst/>
          </a:prstGeom>
          <a:noFill/>
        </p:spPr>
        <p:txBody>
          <a:bodyPr wrap="square" lIns="27432" rIns="27432" tIns="27432" bIns="27432" anchor="b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000" b="1" i="0">
                <a:solidFill>
                  <a:srgbClr val="12284C"/>
                </a:solidFill>
                <a:latin typeface="Source Sans 3"/>
              </a:rPr>
              <a:t>RQ1–RQ2: Distribution and Coverage</a:t>
            </a:r>
          </a:p>
        </p:txBody>
      </p:sp>
      <p:pic>
        <p:nvPicPr>
          <p:cNvPr id="4" name="Picture 3" descr="iut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228832" y="292608"/>
            <a:ext cx="433472" cy="713232"/>
          </a:xfrm>
          <a:prstGeom prst="rect">
            <a:avLst/>
          </a:prstGeom>
        </p:spPr>
      </p:pic>
      <p:cxnSp>
        <p:nvCxnSpPr>
          <p:cNvPr id="5" name="Connector 4"/>
          <p:cNvCxnSpPr/>
          <p:nvPr/>
        </p:nvCxnSpPr>
        <p:spPr>
          <a:xfrm>
            <a:off x="548640" y="1078992"/>
            <a:ext cx="11091672" cy="0"/>
          </a:xfrm>
          <a:prstGeom prst="line">
            <a:avLst/>
          </a:prstGeom>
          <a:ln w="9525">
            <a:solidFill>
              <a:srgbClr val="D5D9DF"/>
            </a:solidFill>
          </a:ln>
        </p:spPr>
      </p:cxnSp>
      <p:sp>
        <p:nvSpPr>
          <p:cNvPr id="6" name="Rectangle 5"/>
          <p:cNvSpPr/>
          <p:nvPr/>
        </p:nvSpPr>
        <p:spPr>
          <a:xfrm>
            <a:off x="548640" y="1060704"/>
            <a:ext cx="914400" cy="41148"/>
          </a:xfrm>
          <a:prstGeom prst="rect">
            <a:avLst/>
          </a:prstGeom>
          <a:solidFill>
            <a:srgbClr val="12284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>
            <a:off x="548640" y="6400800"/>
            <a:ext cx="11091672" cy="0"/>
          </a:xfrm>
          <a:prstGeom prst="line">
            <a:avLst/>
          </a:prstGeom>
          <a:ln w="9525">
            <a:solidFill>
              <a:srgbClr val="D5D9DF"/>
            </a:solidFill>
          </a:ln>
        </p:spPr>
      </p:cxnSp>
      <p:sp>
        <p:nvSpPr>
          <p:cNvPr id="8" name="TextBox 7"/>
          <p:cNvSpPr txBox="1"/>
          <p:nvPr/>
        </p:nvSpPr>
        <p:spPr>
          <a:xfrm>
            <a:off x="548640" y="6437376"/>
            <a:ext cx="3931920" cy="365760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00" b="0" i="0">
                <a:solidFill>
                  <a:srgbClr val="8A919C"/>
                </a:solidFill>
                <a:latin typeface="Source Sans 3"/>
              </a:rPr>
              <a:t>ODC on Defects4J  ·  Thesis Defence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0" y="6437376"/>
            <a:ext cx="854964" cy="365760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400" b="0" i="0">
                <a:solidFill>
                  <a:srgbClr val="8A919C"/>
                </a:solidFill>
                <a:latin typeface="Source Sans 3"/>
              </a:rPr>
              <a:t>Context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55564" y="6437376"/>
            <a:ext cx="1239012" cy="365760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400" b="0" i="0">
                <a:solidFill>
                  <a:srgbClr val="8A919C"/>
                </a:solidFill>
                <a:latin typeface="Source Sans 3"/>
              </a:rPr>
              <a:t>Methodology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123176" y="6437376"/>
            <a:ext cx="854964" cy="365760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400" b="1" i="0">
                <a:solidFill>
                  <a:srgbClr val="12284C"/>
                </a:solidFill>
                <a:latin typeface="Source Sans 3"/>
              </a:rPr>
              <a:t>Results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214616" y="6757416"/>
            <a:ext cx="672084" cy="32004"/>
          </a:xfrm>
          <a:prstGeom prst="rect">
            <a:avLst/>
          </a:prstGeom>
          <a:solidFill>
            <a:srgbClr val="12284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966960" y="6419088"/>
            <a:ext cx="1673352" cy="402336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800" b="1" i="0">
                <a:solidFill>
                  <a:srgbClr val="12284C"/>
                </a:solidFill>
                <a:latin typeface="Source Sans 3"/>
              </a:rPr>
              <a:t>16 / 24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1280160"/>
            <a:ext cx="6858000" cy="329184"/>
          </a:xfrm>
          <a:prstGeom prst="rect">
            <a:avLst/>
          </a:prstGeom>
          <a:noFill/>
        </p:spPr>
        <p:txBody>
          <a:bodyPr wrap="square" lIns="27432" rIns="27432" tIns="27432" bIns="27432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00" b="1" i="0">
                <a:solidFill>
                  <a:srgbClr val="5A6270"/>
                </a:solidFill>
                <a:latin typeface="Source Sans 3"/>
              </a:rPr>
              <a:t>RQ1  ·  410 PRE-FIX LABELS, ONE SQUARE PER BUG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48640" y="1664208"/>
            <a:ext cx="141732" cy="141732"/>
          </a:xfrm>
          <a:prstGeom prst="rect">
            <a:avLst/>
          </a:prstGeom>
          <a:solidFill>
            <a:srgbClr val="C07A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731520" y="1664208"/>
            <a:ext cx="141732" cy="141732"/>
          </a:xfrm>
          <a:prstGeom prst="rect">
            <a:avLst/>
          </a:prstGeom>
          <a:solidFill>
            <a:srgbClr val="C07A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914400" y="1664208"/>
            <a:ext cx="141732" cy="141732"/>
          </a:xfrm>
          <a:prstGeom prst="rect">
            <a:avLst/>
          </a:prstGeom>
          <a:solidFill>
            <a:srgbClr val="C07A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1097280" y="1664208"/>
            <a:ext cx="141732" cy="141732"/>
          </a:xfrm>
          <a:prstGeom prst="rect">
            <a:avLst/>
          </a:prstGeom>
          <a:solidFill>
            <a:srgbClr val="C07A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1280160" y="1664208"/>
            <a:ext cx="141732" cy="141732"/>
          </a:xfrm>
          <a:prstGeom prst="rect">
            <a:avLst/>
          </a:prstGeom>
          <a:solidFill>
            <a:srgbClr val="C07A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1463040" y="1664208"/>
            <a:ext cx="141732" cy="141732"/>
          </a:xfrm>
          <a:prstGeom prst="rect">
            <a:avLst/>
          </a:prstGeom>
          <a:solidFill>
            <a:srgbClr val="C07A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1645920" y="1664208"/>
            <a:ext cx="141732" cy="141732"/>
          </a:xfrm>
          <a:prstGeom prst="rect">
            <a:avLst/>
          </a:prstGeom>
          <a:solidFill>
            <a:srgbClr val="C07A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1828800" y="1664208"/>
            <a:ext cx="141732" cy="141732"/>
          </a:xfrm>
          <a:prstGeom prst="rect">
            <a:avLst/>
          </a:prstGeom>
          <a:solidFill>
            <a:srgbClr val="C07A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2011680" y="1664208"/>
            <a:ext cx="141732" cy="141732"/>
          </a:xfrm>
          <a:prstGeom prst="rect">
            <a:avLst/>
          </a:prstGeom>
          <a:solidFill>
            <a:srgbClr val="C07A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2194560" y="1664208"/>
            <a:ext cx="141732" cy="141732"/>
          </a:xfrm>
          <a:prstGeom prst="rect">
            <a:avLst/>
          </a:prstGeom>
          <a:solidFill>
            <a:srgbClr val="C07A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2377440" y="1664208"/>
            <a:ext cx="141732" cy="141732"/>
          </a:xfrm>
          <a:prstGeom prst="rect">
            <a:avLst/>
          </a:prstGeom>
          <a:solidFill>
            <a:srgbClr val="C07A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2560320" y="1664208"/>
            <a:ext cx="141732" cy="141732"/>
          </a:xfrm>
          <a:prstGeom prst="rect">
            <a:avLst/>
          </a:prstGeom>
          <a:solidFill>
            <a:srgbClr val="C07A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2743200" y="1664208"/>
            <a:ext cx="141732" cy="141732"/>
          </a:xfrm>
          <a:prstGeom prst="rect">
            <a:avLst/>
          </a:prstGeom>
          <a:solidFill>
            <a:srgbClr val="C07A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2926080" y="1664208"/>
            <a:ext cx="141732" cy="141732"/>
          </a:xfrm>
          <a:prstGeom prst="rect">
            <a:avLst/>
          </a:prstGeom>
          <a:solidFill>
            <a:srgbClr val="C07A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3108960" y="1664208"/>
            <a:ext cx="141732" cy="141732"/>
          </a:xfrm>
          <a:prstGeom prst="rect">
            <a:avLst/>
          </a:prstGeom>
          <a:solidFill>
            <a:srgbClr val="C07A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3291840" y="1664208"/>
            <a:ext cx="141732" cy="141732"/>
          </a:xfrm>
          <a:prstGeom prst="rect">
            <a:avLst/>
          </a:prstGeom>
          <a:solidFill>
            <a:srgbClr val="C07A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3474720" y="1664208"/>
            <a:ext cx="141732" cy="141732"/>
          </a:xfrm>
          <a:prstGeom prst="rect">
            <a:avLst/>
          </a:prstGeom>
          <a:solidFill>
            <a:srgbClr val="C07A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3657600" y="1664208"/>
            <a:ext cx="141732" cy="141732"/>
          </a:xfrm>
          <a:prstGeom prst="rect">
            <a:avLst/>
          </a:prstGeom>
          <a:solidFill>
            <a:srgbClr val="C07A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3840480" y="1664208"/>
            <a:ext cx="141732" cy="141732"/>
          </a:xfrm>
          <a:prstGeom prst="rect">
            <a:avLst/>
          </a:prstGeom>
          <a:solidFill>
            <a:srgbClr val="C07A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4023360" y="1664208"/>
            <a:ext cx="141732" cy="141732"/>
          </a:xfrm>
          <a:prstGeom prst="rect">
            <a:avLst/>
          </a:prstGeom>
          <a:solidFill>
            <a:srgbClr val="C07A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4206240" y="1664208"/>
            <a:ext cx="141732" cy="141732"/>
          </a:xfrm>
          <a:prstGeom prst="rect">
            <a:avLst/>
          </a:prstGeom>
          <a:solidFill>
            <a:srgbClr val="C07A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4389120" y="1664208"/>
            <a:ext cx="141732" cy="141732"/>
          </a:xfrm>
          <a:prstGeom prst="rect">
            <a:avLst/>
          </a:prstGeom>
          <a:solidFill>
            <a:srgbClr val="C07A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4572000" y="1664208"/>
            <a:ext cx="141732" cy="141732"/>
          </a:xfrm>
          <a:prstGeom prst="rect">
            <a:avLst/>
          </a:prstGeom>
          <a:solidFill>
            <a:srgbClr val="C07A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4754880" y="1664208"/>
            <a:ext cx="141732" cy="141732"/>
          </a:xfrm>
          <a:prstGeom prst="rect">
            <a:avLst/>
          </a:prstGeom>
          <a:solidFill>
            <a:srgbClr val="C07A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4937760" y="1664208"/>
            <a:ext cx="141732" cy="141732"/>
          </a:xfrm>
          <a:prstGeom prst="rect">
            <a:avLst/>
          </a:prstGeom>
          <a:solidFill>
            <a:srgbClr val="C07A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5120640" y="1664208"/>
            <a:ext cx="141732" cy="141732"/>
          </a:xfrm>
          <a:prstGeom prst="rect">
            <a:avLst/>
          </a:prstGeom>
          <a:solidFill>
            <a:srgbClr val="C07A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5303520" y="1664208"/>
            <a:ext cx="141732" cy="141732"/>
          </a:xfrm>
          <a:prstGeom prst="rect">
            <a:avLst/>
          </a:prstGeom>
          <a:solidFill>
            <a:srgbClr val="C07A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5486400" y="1664208"/>
            <a:ext cx="141732" cy="141732"/>
          </a:xfrm>
          <a:prstGeom prst="rect">
            <a:avLst/>
          </a:prstGeom>
          <a:solidFill>
            <a:srgbClr val="C07A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5669280" y="1664208"/>
            <a:ext cx="141732" cy="141732"/>
          </a:xfrm>
          <a:prstGeom prst="rect">
            <a:avLst/>
          </a:prstGeom>
          <a:solidFill>
            <a:srgbClr val="C07A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5852160" y="1664208"/>
            <a:ext cx="141732" cy="141732"/>
          </a:xfrm>
          <a:prstGeom prst="rect">
            <a:avLst/>
          </a:prstGeom>
          <a:solidFill>
            <a:srgbClr val="C07A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548640" y="1847088"/>
            <a:ext cx="141732" cy="141732"/>
          </a:xfrm>
          <a:prstGeom prst="rect">
            <a:avLst/>
          </a:prstGeom>
          <a:solidFill>
            <a:srgbClr val="C07A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731520" y="1847088"/>
            <a:ext cx="141732" cy="141732"/>
          </a:xfrm>
          <a:prstGeom prst="rect">
            <a:avLst/>
          </a:prstGeom>
          <a:solidFill>
            <a:srgbClr val="C07A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914400" y="1847088"/>
            <a:ext cx="141732" cy="141732"/>
          </a:xfrm>
          <a:prstGeom prst="rect">
            <a:avLst/>
          </a:prstGeom>
          <a:solidFill>
            <a:srgbClr val="C07A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1097280" y="1847088"/>
            <a:ext cx="141732" cy="141732"/>
          </a:xfrm>
          <a:prstGeom prst="rect">
            <a:avLst/>
          </a:prstGeom>
          <a:solidFill>
            <a:srgbClr val="C07A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1280160" y="1847088"/>
            <a:ext cx="141732" cy="141732"/>
          </a:xfrm>
          <a:prstGeom prst="rect">
            <a:avLst/>
          </a:prstGeom>
          <a:solidFill>
            <a:srgbClr val="C07A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1463040" y="1847088"/>
            <a:ext cx="141732" cy="141732"/>
          </a:xfrm>
          <a:prstGeom prst="rect">
            <a:avLst/>
          </a:prstGeom>
          <a:solidFill>
            <a:srgbClr val="C07A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1645920" y="1847088"/>
            <a:ext cx="141732" cy="141732"/>
          </a:xfrm>
          <a:prstGeom prst="rect">
            <a:avLst/>
          </a:prstGeom>
          <a:solidFill>
            <a:srgbClr val="C07A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1828800" y="1847088"/>
            <a:ext cx="141732" cy="141732"/>
          </a:xfrm>
          <a:prstGeom prst="rect">
            <a:avLst/>
          </a:prstGeom>
          <a:solidFill>
            <a:srgbClr val="C07A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2011680" y="1847088"/>
            <a:ext cx="141732" cy="141732"/>
          </a:xfrm>
          <a:prstGeom prst="rect">
            <a:avLst/>
          </a:prstGeom>
          <a:solidFill>
            <a:srgbClr val="C07A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2194560" y="1847088"/>
            <a:ext cx="141732" cy="141732"/>
          </a:xfrm>
          <a:prstGeom prst="rect">
            <a:avLst/>
          </a:prstGeom>
          <a:solidFill>
            <a:srgbClr val="C07A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2377440" y="1847088"/>
            <a:ext cx="141732" cy="141732"/>
          </a:xfrm>
          <a:prstGeom prst="rect">
            <a:avLst/>
          </a:prstGeom>
          <a:solidFill>
            <a:srgbClr val="C07A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2560320" y="1847088"/>
            <a:ext cx="141732" cy="141732"/>
          </a:xfrm>
          <a:prstGeom prst="rect">
            <a:avLst/>
          </a:prstGeom>
          <a:solidFill>
            <a:srgbClr val="C07A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2743200" y="1847088"/>
            <a:ext cx="141732" cy="141732"/>
          </a:xfrm>
          <a:prstGeom prst="rect">
            <a:avLst/>
          </a:prstGeom>
          <a:solidFill>
            <a:srgbClr val="C07A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8" name="Rectangle 57"/>
          <p:cNvSpPr/>
          <p:nvPr/>
        </p:nvSpPr>
        <p:spPr>
          <a:xfrm>
            <a:off x="2926080" y="1847088"/>
            <a:ext cx="141732" cy="141732"/>
          </a:xfrm>
          <a:prstGeom prst="rect">
            <a:avLst/>
          </a:prstGeom>
          <a:solidFill>
            <a:srgbClr val="C07A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9" name="Rectangle 58"/>
          <p:cNvSpPr/>
          <p:nvPr/>
        </p:nvSpPr>
        <p:spPr>
          <a:xfrm>
            <a:off x="3108960" y="1847088"/>
            <a:ext cx="141732" cy="141732"/>
          </a:xfrm>
          <a:prstGeom prst="rect">
            <a:avLst/>
          </a:prstGeom>
          <a:solidFill>
            <a:srgbClr val="C07A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0" name="Rectangle 59"/>
          <p:cNvSpPr/>
          <p:nvPr/>
        </p:nvSpPr>
        <p:spPr>
          <a:xfrm>
            <a:off x="3291840" y="1847088"/>
            <a:ext cx="141732" cy="141732"/>
          </a:xfrm>
          <a:prstGeom prst="rect">
            <a:avLst/>
          </a:prstGeom>
          <a:solidFill>
            <a:srgbClr val="C07A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3474720" y="1847088"/>
            <a:ext cx="141732" cy="141732"/>
          </a:xfrm>
          <a:prstGeom prst="rect">
            <a:avLst/>
          </a:prstGeom>
          <a:solidFill>
            <a:srgbClr val="C07A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3657600" y="1847088"/>
            <a:ext cx="141732" cy="141732"/>
          </a:xfrm>
          <a:prstGeom prst="rect">
            <a:avLst/>
          </a:prstGeom>
          <a:solidFill>
            <a:srgbClr val="C07A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3" name="Rectangle 62"/>
          <p:cNvSpPr/>
          <p:nvPr/>
        </p:nvSpPr>
        <p:spPr>
          <a:xfrm>
            <a:off x="3840480" y="1847088"/>
            <a:ext cx="141732" cy="141732"/>
          </a:xfrm>
          <a:prstGeom prst="rect">
            <a:avLst/>
          </a:prstGeom>
          <a:solidFill>
            <a:srgbClr val="C07A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4" name="Rectangle 63"/>
          <p:cNvSpPr/>
          <p:nvPr/>
        </p:nvSpPr>
        <p:spPr>
          <a:xfrm>
            <a:off x="4023360" y="1847088"/>
            <a:ext cx="141732" cy="141732"/>
          </a:xfrm>
          <a:prstGeom prst="rect">
            <a:avLst/>
          </a:prstGeom>
          <a:solidFill>
            <a:srgbClr val="C07A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5" name="Rectangle 64"/>
          <p:cNvSpPr/>
          <p:nvPr/>
        </p:nvSpPr>
        <p:spPr>
          <a:xfrm>
            <a:off x="4206240" y="1847088"/>
            <a:ext cx="141732" cy="141732"/>
          </a:xfrm>
          <a:prstGeom prst="rect">
            <a:avLst/>
          </a:prstGeom>
          <a:solidFill>
            <a:srgbClr val="C07A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6" name="Rectangle 65"/>
          <p:cNvSpPr/>
          <p:nvPr/>
        </p:nvSpPr>
        <p:spPr>
          <a:xfrm>
            <a:off x="4389120" y="1847088"/>
            <a:ext cx="141732" cy="141732"/>
          </a:xfrm>
          <a:prstGeom prst="rect">
            <a:avLst/>
          </a:prstGeom>
          <a:solidFill>
            <a:srgbClr val="C07A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7" name="Rectangle 66"/>
          <p:cNvSpPr/>
          <p:nvPr/>
        </p:nvSpPr>
        <p:spPr>
          <a:xfrm>
            <a:off x="4572000" y="1847088"/>
            <a:ext cx="141732" cy="141732"/>
          </a:xfrm>
          <a:prstGeom prst="rect">
            <a:avLst/>
          </a:prstGeom>
          <a:solidFill>
            <a:srgbClr val="C07A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8" name="Rectangle 67"/>
          <p:cNvSpPr/>
          <p:nvPr/>
        </p:nvSpPr>
        <p:spPr>
          <a:xfrm>
            <a:off x="4754880" y="1847088"/>
            <a:ext cx="141732" cy="141732"/>
          </a:xfrm>
          <a:prstGeom prst="rect">
            <a:avLst/>
          </a:prstGeom>
          <a:solidFill>
            <a:srgbClr val="C07A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9" name="Rectangle 68"/>
          <p:cNvSpPr/>
          <p:nvPr/>
        </p:nvSpPr>
        <p:spPr>
          <a:xfrm>
            <a:off x="4937760" y="1847088"/>
            <a:ext cx="141732" cy="141732"/>
          </a:xfrm>
          <a:prstGeom prst="rect">
            <a:avLst/>
          </a:prstGeom>
          <a:solidFill>
            <a:srgbClr val="C07A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0" name="Rectangle 69"/>
          <p:cNvSpPr/>
          <p:nvPr/>
        </p:nvSpPr>
        <p:spPr>
          <a:xfrm>
            <a:off x="5120640" y="1847088"/>
            <a:ext cx="141732" cy="141732"/>
          </a:xfrm>
          <a:prstGeom prst="rect">
            <a:avLst/>
          </a:prstGeom>
          <a:solidFill>
            <a:srgbClr val="C07A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1" name="Rectangle 70"/>
          <p:cNvSpPr/>
          <p:nvPr/>
        </p:nvSpPr>
        <p:spPr>
          <a:xfrm>
            <a:off x="5303520" y="1847088"/>
            <a:ext cx="141732" cy="141732"/>
          </a:xfrm>
          <a:prstGeom prst="rect">
            <a:avLst/>
          </a:prstGeom>
          <a:solidFill>
            <a:srgbClr val="C07A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2" name="Rectangle 71"/>
          <p:cNvSpPr/>
          <p:nvPr/>
        </p:nvSpPr>
        <p:spPr>
          <a:xfrm>
            <a:off x="5486400" y="1847088"/>
            <a:ext cx="141732" cy="141732"/>
          </a:xfrm>
          <a:prstGeom prst="rect">
            <a:avLst/>
          </a:prstGeom>
          <a:solidFill>
            <a:srgbClr val="C07A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3" name="Rectangle 72"/>
          <p:cNvSpPr/>
          <p:nvPr/>
        </p:nvSpPr>
        <p:spPr>
          <a:xfrm>
            <a:off x="5669280" y="1847088"/>
            <a:ext cx="141732" cy="141732"/>
          </a:xfrm>
          <a:prstGeom prst="rect">
            <a:avLst/>
          </a:prstGeom>
          <a:solidFill>
            <a:srgbClr val="C07A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4" name="Rectangle 73"/>
          <p:cNvSpPr/>
          <p:nvPr/>
        </p:nvSpPr>
        <p:spPr>
          <a:xfrm>
            <a:off x="5852160" y="1847088"/>
            <a:ext cx="141732" cy="141732"/>
          </a:xfrm>
          <a:prstGeom prst="rect">
            <a:avLst/>
          </a:prstGeom>
          <a:solidFill>
            <a:srgbClr val="C07A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5" name="Rectangle 74"/>
          <p:cNvSpPr/>
          <p:nvPr/>
        </p:nvSpPr>
        <p:spPr>
          <a:xfrm>
            <a:off x="548640" y="2029968"/>
            <a:ext cx="141732" cy="141732"/>
          </a:xfrm>
          <a:prstGeom prst="rect">
            <a:avLst/>
          </a:prstGeom>
          <a:solidFill>
            <a:srgbClr val="C07A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6" name="Rectangle 75"/>
          <p:cNvSpPr/>
          <p:nvPr/>
        </p:nvSpPr>
        <p:spPr>
          <a:xfrm>
            <a:off x="731520" y="2029968"/>
            <a:ext cx="141732" cy="141732"/>
          </a:xfrm>
          <a:prstGeom prst="rect">
            <a:avLst/>
          </a:prstGeom>
          <a:solidFill>
            <a:srgbClr val="C07A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7" name="Rectangle 76"/>
          <p:cNvSpPr/>
          <p:nvPr/>
        </p:nvSpPr>
        <p:spPr>
          <a:xfrm>
            <a:off x="914400" y="2029968"/>
            <a:ext cx="141732" cy="141732"/>
          </a:xfrm>
          <a:prstGeom prst="rect">
            <a:avLst/>
          </a:prstGeom>
          <a:solidFill>
            <a:srgbClr val="C07A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8" name="Rectangle 77"/>
          <p:cNvSpPr/>
          <p:nvPr/>
        </p:nvSpPr>
        <p:spPr>
          <a:xfrm>
            <a:off x="1097280" y="2029968"/>
            <a:ext cx="141732" cy="141732"/>
          </a:xfrm>
          <a:prstGeom prst="rect">
            <a:avLst/>
          </a:prstGeom>
          <a:solidFill>
            <a:srgbClr val="C07A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9" name="Rectangle 78"/>
          <p:cNvSpPr/>
          <p:nvPr/>
        </p:nvSpPr>
        <p:spPr>
          <a:xfrm>
            <a:off x="1280160" y="2029968"/>
            <a:ext cx="141732" cy="141732"/>
          </a:xfrm>
          <a:prstGeom prst="rect">
            <a:avLst/>
          </a:prstGeom>
          <a:solidFill>
            <a:srgbClr val="C07A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0" name="Rectangle 79"/>
          <p:cNvSpPr/>
          <p:nvPr/>
        </p:nvSpPr>
        <p:spPr>
          <a:xfrm>
            <a:off x="1463040" y="2029968"/>
            <a:ext cx="141732" cy="141732"/>
          </a:xfrm>
          <a:prstGeom prst="rect">
            <a:avLst/>
          </a:prstGeom>
          <a:solidFill>
            <a:srgbClr val="C07A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1" name="Rectangle 80"/>
          <p:cNvSpPr/>
          <p:nvPr/>
        </p:nvSpPr>
        <p:spPr>
          <a:xfrm>
            <a:off x="1645920" y="2029968"/>
            <a:ext cx="141732" cy="141732"/>
          </a:xfrm>
          <a:prstGeom prst="rect">
            <a:avLst/>
          </a:prstGeom>
          <a:solidFill>
            <a:srgbClr val="C07A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2" name="Rectangle 81"/>
          <p:cNvSpPr/>
          <p:nvPr/>
        </p:nvSpPr>
        <p:spPr>
          <a:xfrm>
            <a:off x="1828800" y="2029968"/>
            <a:ext cx="141732" cy="141732"/>
          </a:xfrm>
          <a:prstGeom prst="rect">
            <a:avLst/>
          </a:prstGeom>
          <a:solidFill>
            <a:srgbClr val="C07A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3" name="Rectangle 82"/>
          <p:cNvSpPr/>
          <p:nvPr/>
        </p:nvSpPr>
        <p:spPr>
          <a:xfrm>
            <a:off x="2011680" y="2029968"/>
            <a:ext cx="141732" cy="141732"/>
          </a:xfrm>
          <a:prstGeom prst="rect">
            <a:avLst/>
          </a:prstGeom>
          <a:solidFill>
            <a:srgbClr val="C07A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4" name="Rectangle 83"/>
          <p:cNvSpPr/>
          <p:nvPr/>
        </p:nvSpPr>
        <p:spPr>
          <a:xfrm>
            <a:off x="2194560" y="2029968"/>
            <a:ext cx="141732" cy="141732"/>
          </a:xfrm>
          <a:prstGeom prst="rect">
            <a:avLst/>
          </a:prstGeom>
          <a:solidFill>
            <a:srgbClr val="C07A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5" name="Rectangle 84"/>
          <p:cNvSpPr/>
          <p:nvPr/>
        </p:nvSpPr>
        <p:spPr>
          <a:xfrm>
            <a:off x="2377440" y="2029968"/>
            <a:ext cx="141732" cy="141732"/>
          </a:xfrm>
          <a:prstGeom prst="rect">
            <a:avLst/>
          </a:prstGeom>
          <a:solidFill>
            <a:srgbClr val="C07A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6" name="Rectangle 85"/>
          <p:cNvSpPr/>
          <p:nvPr/>
        </p:nvSpPr>
        <p:spPr>
          <a:xfrm>
            <a:off x="2560320" y="2029968"/>
            <a:ext cx="141732" cy="141732"/>
          </a:xfrm>
          <a:prstGeom prst="rect">
            <a:avLst/>
          </a:prstGeom>
          <a:solidFill>
            <a:srgbClr val="C07A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7" name="Rectangle 86"/>
          <p:cNvSpPr/>
          <p:nvPr/>
        </p:nvSpPr>
        <p:spPr>
          <a:xfrm>
            <a:off x="2743200" y="2029968"/>
            <a:ext cx="141732" cy="141732"/>
          </a:xfrm>
          <a:prstGeom prst="rect">
            <a:avLst/>
          </a:prstGeom>
          <a:solidFill>
            <a:srgbClr val="C07A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8" name="Rectangle 87"/>
          <p:cNvSpPr/>
          <p:nvPr/>
        </p:nvSpPr>
        <p:spPr>
          <a:xfrm>
            <a:off x="2926080" y="2029968"/>
            <a:ext cx="141732" cy="141732"/>
          </a:xfrm>
          <a:prstGeom prst="rect">
            <a:avLst/>
          </a:prstGeom>
          <a:solidFill>
            <a:srgbClr val="C07A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9" name="Rectangle 88"/>
          <p:cNvSpPr/>
          <p:nvPr/>
        </p:nvSpPr>
        <p:spPr>
          <a:xfrm>
            <a:off x="3108960" y="2029968"/>
            <a:ext cx="141732" cy="141732"/>
          </a:xfrm>
          <a:prstGeom prst="rect">
            <a:avLst/>
          </a:prstGeom>
          <a:solidFill>
            <a:srgbClr val="C07A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0" name="Rectangle 89"/>
          <p:cNvSpPr/>
          <p:nvPr/>
        </p:nvSpPr>
        <p:spPr>
          <a:xfrm>
            <a:off x="3291840" y="2029968"/>
            <a:ext cx="141732" cy="141732"/>
          </a:xfrm>
          <a:prstGeom prst="rect">
            <a:avLst/>
          </a:prstGeom>
          <a:solidFill>
            <a:srgbClr val="C07A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1" name="Rectangle 90"/>
          <p:cNvSpPr/>
          <p:nvPr/>
        </p:nvSpPr>
        <p:spPr>
          <a:xfrm>
            <a:off x="3474720" y="2029968"/>
            <a:ext cx="141732" cy="141732"/>
          </a:xfrm>
          <a:prstGeom prst="rect">
            <a:avLst/>
          </a:prstGeom>
          <a:solidFill>
            <a:srgbClr val="C07A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2" name="Rectangle 91"/>
          <p:cNvSpPr/>
          <p:nvPr/>
        </p:nvSpPr>
        <p:spPr>
          <a:xfrm>
            <a:off x="3657600" y="2029968"/>
            <a:ext cx="141732" cy="141732"/>
          </a:xfrm>
          <a:prstGeom prst="rect">
            <a:avLst/>
          </a:prstGeom>
          <a:solidFill>
            <a:srgbClr val="C07A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3" name="Rectangle 92"/>
          <p:cNvSpPr/>
          <p:nvPr/>
        </p:nvSpPr>
        <p:spPr>
          <a:xfrm>
            <a:off x="3840480" y="2029968"/>
            <a:ext cx="141732" cy="141732"/>
          </a:xfrm>
          <a:prstGeom prst="rect">
            <a:avLst/>
          </a:prstGeom>
          <a:solidFill>
            <a:srgbClr val="C07A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4" name="Rectangle 93"/>
          <p:cNvSpPr/>
          <p:nvPr/>
        </p:nvSpPr>
        <p:spPr>
          <a:xfrm>
            <a:off x="4023360" y="2029968"/>
            <a:ext cx="141732" cy="141732"/>
          </a:xfrm>
          <a:prstGeom prst="rect">
            <a:avLst/>
          </a:prstGeom>
          <a:solidFill>
            <a:srgbClr val="C07A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5" name="Rectangle 94"/>
          <p:cNvSpPr/>
          <p:nvPr/>
        </p:nvSpPr>
        <p:spPr>
          <a:xfrm>
            <a:off x="4206240" y="2029968"/>
            <a:ext cx="141732" cy="141732"/>
          </a:xfrm>
          <a:prstGeom prst="rect">
            <a:avLst/>
          </a:prstGeom>
          <a:solidFill>
            <a:srgbClr val="C07A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6" name="Rectangle 95"/>
          <p:cNvSpPr/>
          <p:nvPr/>
        </p:nvSpPr>
        <p:spPr>
          <a:xfrm>
            <a:off x="4389120" y="2029968"/>
            <a:ext cx="141732" cy="141732"/>
          </a:xfrm>
          <a:prstGeom prst="rect">
            <a:avLst/>
          </a:prstGeom>
          <a:solidFill>
            <a:srgbClr val="C07A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7" name="Rectangle 96"/>
          <p:cNvSpPr/>
          <p:nvPr/>
        </p:nvSpPr>
        <p:spPr>
          <a:xfrm>
            <a:off x="4572000" y="2029968"/>
            <a:ext cx="141732" cy="141732"/>
          </a:xfrm>
          <a:prstGeom prst="rect">
            <a:avLst/>
          </a:prstGeom>
          <a:solidFill>
            <a:srgbClr val="C07A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8" name="Rectangle 97"/>
          <p:cNvSpPr/>
          <p:nvPr/>
        </p:nvSpPr>
        <p:spPr>
          <a:xfrm>
            <a:off x="4754880" y="2029968"/>
            <a:ext cx="141732" cy="141732"/>
          </a:xfrm>
          <a:prstGeom prst="rect">
            <a:avLst/>
          </a:prstGeom>
          <a:solidFill>
            <a:srgbClr val="C07A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9" name="Rectangle 98"/>
          <p:cNvSpPr/>
          <p:nvPr/>
        </p:nvSpPr>
        <p:spPr>
          <a:xfrm>
            <a:off x="4937760" y="2029968"/>
            <a:ext cx="141732" cy="141732"/>
          </a:xfrm>
          <a:prstGeom prst="rect">
            <a:avLst/>
          </a:prstGeom>
          <a:solidFill>
            <a:srgbClr val="C07A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0" name="Rectangle 99"/>
          <p:cNvSpPr/>
          <p:nvPr/>
        </p:nvSpPr>
        <p:spPr>
          <a:xfrm>
            <a:off x="5120640" y="2029968"/>
            <a:ext cx="141732" cy="141732"/>
          </a:xfrm>
          <a:prstGeom prst="rect">
            <a:avLst/>
          </a:prstGeom>
          <a:solidFill>
            <a:srgbClr val="C07A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1" name="Rectangle 100"/>
          <p:cNvSpPr/>
          <p:nvPr/>
        </p:nvSpPr>
        <p:spPr>
          <a:xfrm>
            <a:off x="5303520" y="2029968"/>
            <a:ext cx="141732" cy="141732"/>
          </a:xfrm>
          <a:prstGeom prst="rect">
            <a:avLst/>
          </a:prstGeom>
          <a:solidFill>
            <a:srgbClr val="C07A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2" name="Rectangle 101"/>
          <p:cNvSpPr/>
          <p:nvPr/>
        </p:nvSpPr>
        <p:spPr>
          <a:xfrm>
            <a:off x="5486400" y="2029968"/>
            <a:ext cx="141732" cy="141732"/>
          </a:xfrm>
          <a:prstGeom prst="rect">
            <a:avLst/>
          </a:prstGeom>
          <a:solidFill>
            <a:srgbClr val="C07A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3" name="Rectangle 102"/>
          <p:cNvSpPr/>
          <p:nvPr/>
        </p:nvSpPr>
        <p:spPr>
          <a:xfrm>
            <a:off x="5669280" y="2029968"/>
            <a:ext cx="141732" cy="141732"/>
          </a:xfrm>
          <a:prstGeom prst="rect">
            <a:avLst/>
          </a:prstGeom>
          <a:solidFill>
            <a:srgbClr val="C07A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4" name="Rectangle 103"/>
          <p:cNvSpPr/>
          <p:nvPr/>
        </p:nvSpPr>
        <p:spPr>
          <a:xfrm>
            <a:off x="5852160" y="2029968"/>
            <a:ext cx="141732" cy="141732"/>
          </a:xfrm>
          <a:prstGeom prst="rect">
            <a:avLst/>
          </a:prstGeom>
          <a:solidFill>
            <a:srgbClr val="C07A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5" name="Rectangle 104"/>
          <p:cNvSpPr/>
          <p:nvPr/>
        </p:nvSpPr>
        <p:spPr>
          <a:xfrm>
            <a:off x="548640" y="2212848"/>
            <a:ext cx="141732" cy="141732"/>
          </a:xfrm>
          <a:prstGeom prst="rect">
            <a:avLst/>
          </a:prstGeom>
          <a:solidFill>
            <a:srgbClr val="C07A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6" name="Rectangle 105"/>
          <p:cNvSpPr/>
          <p:nvPr/>
        </p:nvSpPr>
        <p:spPr>
          <a:xfrm>
            <a:off x="731520" y="2212848"/>
            <a:ext cx="141732" cy="141732"/>
          </a:xfrm>
          <a:prstGeom prst="rect">
            <a:avLst/>
          </a:prstGeom>
          <a:solidFill>
            <a:srgbClr val="C07A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7" name="Rectangle 106"/>
          <p:cNvSpPr/>
          <p:nvPr/>
        </p:nvSpPr>
        <p:spPr>
          <a:xfrm>
            <a:off x="914400" y="2212848"/>
            <a:ext cx="141732" cy="141732"/>
          </a:xfrm>
          <a:prstGeom prst="rect">
            <a:avLst/>
          </a:prstGeom>
          <a:solidFill>
            <a:srgbClr val="C07A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8" name="Rectangle 107"/>
          <p:cNvSpPr/>
          <p:nvPr/>
        </p:nvSpPr>
        <p:spPr>
          <a:xfrm>
            <a:off x="1097280" y="2212848"/>
            <a:ext cx="141732" cy="141732"/>
          </a:xfrm>
          <a:prstGeom prst="rect">
            <a:avLst/>
          </a:prstGeom>
          <a:solidFill>
            <a:srgbClr val="C07A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9" name="Rectangle 108"/>
          <p:cNvSpPr/>
          <p:nvPr/>
        </p:nvSpPr>
        <p:spPr>
          <a:xfrm>
            <a:off x="1280160" y="2212848"/>
            <a:ext cx="141732" cy="141732"/>
          </a:xfrm>
          <a:prstGeom prst="rect">
            <a:avLst/>
          </a:prstGeom>
          <a:solidFill>
            <a:srgbClr val="C07A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0" name="Rectangle 109"/>
          <p:cNvSpPr/>
          <p:nvPr/>
        </p:nvSpPr>
        <p:spPr>
          <a:xfrm>
            <a:off x="1463040" y="2212848"/>
            <a:ext cx="141732" cy="141732"/>
          </a:xfrm>
          <a:prstGeom prst="rect">
            <a:avLst/>
          </a:prstGeom>
          <a:solidFill>
            <a:srgbClr val="C07A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1" name="Rectangle 110"/>
          <p:cNvSpPr/>
          <p:nvPr/>
        </p:nvSpPr>
        <p:spPr>
          <a:xfrm>
            <a:off x="1645920" y="2212848"/>
            <a:ext cx="141732" cy="141732"/>
          </a:xfrm>
          <a:prstGeom prst="rect">
            <a:avLst/>
          </a:prstGeom>
          <a:solidFill>
            <a:srgbClr val="C07A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2" name="Rectangle 111"/>
          <p:cNvSpPr/>
          <p:nvPr/>
        </p:nvSpPr>
        <p:spPr>
          <a:xfrm>
            <a:off x="1828800" y="2212848"/>
            <a:ext cx="141732" cy="141732"/>
          </a:xfrm>
          <a:prstGeom prst="rect">
            <a:avLst/>
          </a:prstGeom>
          <a:solidFill>
            <a:srgbClr val="C07A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3" name="Rectangle 112"/>
          <p:cNvSpPr/>
          <p:nvPr/>
        </p:nvSpPr>
        <p:spPr>
          <a:xfrm>
            <a:off x="2011680" y="2212848"/>
            <a:ext cx="141732" cy="141732"/>
          </a:xfrm>
          <a:prstGeom prst="rect">
            <a:avLst/>
          </a:prstGeom>
          <a:solidFill>
            <a:srgbClr val="C07A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4" name="Rectangle 113"/>
          <p:cNvSpPr/>
          <p:nvPr/>
        </p:nvSpPr>
        <p:spPr>
          <a:xfrm>
            <a:off x="2194560" y="2212848"/>
            <a:ext cx="141732" cy="141732"/>
          </a:xfrm>
          <a:prstGeom prst="rect">
            <a:avLst/>
          </a:prstGeom>
          <a:solidFill>
            <a:srgbClr val="C07A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5" name="Rectangle 114"/>
          <p:cNvSpPr/>
          <p:nvPr/>
        </p:nvSpPr>
        <p:spPr>
          <a:xfrm>
            <a:off x="2377440" y="2212848"/>
            <a:ext cx="141732" cy="141732"/>
          </a:xfrm>
          <a:prstGeom prst="rect">
            <a:avLst/>
          </a:prstGeom>
          <a:solidFill>
            <a:srgbClr val="C07A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6" name="Rectangle 115"/>
          <p:cNvSpPr/>
          <p:nvPr/>
        </p:nvSpPr>
        <p:spPr>
          <a:xfrm>
            <a:off x="2560320" y="2212848"/>
            <a:ext cx="141732" cy="141732"/>
          </a:xfrm>
          <a:prstGeom prst="rect">
            <a:avLst/>
          </a:prstGeom>
          <a:solidFill>
            <a:srgbClr val="C07A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7" name="Rectangle 116"/>
          <p:cNvSpPr/>
          <p:nvPr/>
        </p:nvSpPr>
        <p:spPr>
          <a:xfrm>
            <a:off x="2743200" y="2212848"/>
            <a:ext cx="141732" cy="141732"/>
          </a:xfrm>
          <a:prstGeom prst="rect">
            <a:avLst/>
          </a:prstGeom>
          <a:solidFill>
            <a:srgbClr val="C07A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8" name="Rectangle 117"/>
          <p:cNvSpPr/>
          <p:nvPr/>
        </p:nvSpPr>
        <p:spPr>
          <a:xfrm>
            <a:off x="2926080" y="2212848"/>
            <a:ext cx="141732" cy="141732"/>
          </a:xfrm>
          <a:prstGeom prst="rect">
            <a:avLst/>
          </a:prstGeom>
          <a:solidFill>
            <a:srgbClr val="C07A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9" name="Rectangle 118"/>
          <p:cNvSpPr/>
          <p:nvPr/>
        </p:nvSpPr>
        <p:spPr>
          <a:xfrm>
            <a:off x="3108960" y="2212848"/>
            <a:ext cx="141732" cy="141732"/>
          </a:xfrm>
          <a:prstGeom prst="rect">
            <a:avLst/>
          </a:prstGeom>
          <a:solidFill>
            <a:srgbClr val="C07A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0" name="Rectangle 119"/>
          <p:cNvSpPr/>
          <p:nvPr/>
        </p:nvSpPr>
        <p:spPr>
          <a:xfrm>
            <a:off x="3291840" y="2212848"/>
            <a:ext cx="141732" cy="141732"/>
          </a:xfrm>
          <a:prstGeom prst="rect">
            <a:avLst/>
          </a:prstGeom>
          <a:solidFill>
            <a:srgbClr val="C07A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1" name="Rectangle 120"/>
          <p:cNvSpPr/>
          <p:nvPr/>
        </p:nvSpPr>
        <p:spPr>
          <a:xfrm>
            <a:off x="3474720" y="2212848"/>
            <a:ext cx="141732" cy="141732"/>
          </a:xfrm>
          <a:prstGeom prst="rect">
            <a:avLst/>
          </a:prstGeom>
          <a:solidFill>
            <a:srgbClr val="C07A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2" name="Rectangle 121"/>
          <p:cNvSpPr/>
          <p:nvPr/>
        </p:nvSpPr>
        <p:spPr>
          <a:xfrm>
            <a:off x="3657600" y="2212848"/>
            <a:ext cx="141732" cy="141732"/>
          </a:xfrm>
          <a:prstGeom prst="rect">
            <a:avLst/>
          </a:prstGeom>
          <a:solidFill>
            <a:srgbClr val="C07A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3" name="Rectangle 122"/>
          <p:cNvSpPr/>
          <p:nvPr/>
        </p:nvSpPr>
        <p:spPr>
          <a:xfrm>
            <a:off x="3840480" y="2212848"/>
            <a:ext cx="141732" cy="141732"/>
          </a:xfrm>
          <a:prstGeom prst="rect">
            <a:avLst/>
          </a:prstGeom>
          <a:solidFill>
            <a:srgbClr val="C07A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4" name="Rectangle 123"/>
          <p:cNvSpPr/>
          <p:nvPr/>
        </p:nvSpPr>
        <p:spPr>
          <a:xfrm>
            <a:off x="4023360" y="2212848"/>
            <a:ext cx="141732" cy="141732"/>
          </a:xfrm>
          <a:prstGeom prst="rect">
            <a:avLst/>
          </a:prstGeom>
          <a:solidFill>
            <a:srgbClr val="C07A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5" name="Rectangle 124"/>
          <p:cNvSpPr/>
          <p:nvPr/>
        </p:nvSpPr>
        <p:spPr>
          <a:xfrm>
            <a:off x="4206240" y="2212848"/>
            <a:ext cx="141732" cy="141732"/>
          </a:xfrm>
          <a:prstGeom prst="rect">
            <a:avLst/>
          </a:prstGeom>
          <a:solidFill>
            <a:srgbClr val="C07A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6" name="Rectangle 125"/>
          <p:cNvSpPr/>
          <p:nvPr/>
        </p:nvSpPr>
        <p:spPr>
          <a:xfrm>
            <a:off x="4389120" y="2212848"/>
            <a:ext cx="141732" cy="141732"/>
          </a:xfrm>
          <a:prstGeom prst="rect">
            <a:avLst/>
          </a:prstGeom>
          <a:solidFill>
            <a:srgbClr val="C07A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7" name="Rectangle 126"/>
          <p:cNvSpPr/>
          <p:nvPr/>
        </p:nvSpPr>
        <p:spPr>
          <a:xfrm>
            <a:off x="4572000" y="2212848"/>
            <a:ext cx="141732" cy="141732"/>
          </a:xfrm>
          <a:prstGeom prst="rect">
            <a:avLst/>
          </a:prstGeom>
          <a:solidFill>
            <a:srgbClr val="C07A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8" name="Rectangle 127"/>
          <p:cNvSpPr/>
          <p:nvPr/>
        </p:nvSpPr>
        <p:spPr>
          <a:xfrm>
            <a:off x="4754880" y="2212848"/>
            <a:ext cx="141732" cy="141732"/>
          </a:xfrm>
          <a:prstGeom prst="rect">
            <a:avLst/>
          </a:prstGeom>
          <a:solidFill>
            <a:srgbClr val="C07A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9" name="Rectangle 128"/>
          <p:cNvSpPr/>
          <p:nvPr/>
        </p:nvSpPr>
        <p:spPr>
          <a:xfrm>
            <a:off x="4937760" y="2212848"/>
            <a:ext cx="141732" cy="141732"/>
          </a:xfrm>
          <a:prstGeom prst="rect">
            <a:avLst/>
          </a:prstGeom>
          <a:solidFill>
            <a:srgbClr val="C07A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0" name="Rectangle 129"/>
          <p:cNvSpPr/>
          <p:nvPr/>
        </p:nvSpPr>
        <p:spPr>
          <a:xfrm>
            <a:off x="5120640" y="2212848"/>
            <a:ext cx="141732" cy="141732"/>
          </a:xfrm>
          <a:prstGeom prst="rect">
            <a:avLst/>
          </a:prstGeom>
          <a:solidFill>
            <a:srgbClr val="C07A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1" name="Rectangle 130"/>
          <p:cNvSpPr/>
          <p:nvPr/>
        </p:nvSpPr>
        <p:spPr>
          <a:xfrm>
            <a:off x="5303520" y="2212848"/>
            <a:ext cx="141732" cy="141732"/>
          </a:xfrm>
          <a:prstGeom prst="rect">
            <a:avLst/>
          </a:prstGeom>
          <a:solidFill>
            <a:srgbClr val="C07A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2" name="Rectangle 131"/>
          <p:cNvSpPr/>
          <p:nvPr/>
        </p:nvSpPr>
        <p:spPr>
          <a:xfrm>
            <a:off x="5486400" y="2212848"/>
            <a:ext cx="141732" cy="141732"/>
          </a:xfrm>
          <a:prstGeom prst="rect">
            <a:avLst/>
          </a:prstGeom>
          <a:solidFill>
            <a:srgbClr val="C07A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3" name="Rectangle 132"/>
          <p:cNvSpPr/>
          <p:nvPr/>
        </p:nvSpPr>
        <p:spPr>
          <a:xfrm>
            <a:off x="5669280" y="2212848"/>
            <a:ext cx="141732" cy="141732"/>
          </a:xfrm>
          <a:prstGeom prst="rect">
            <a:avLst/>
          </a:prstGeom>
          <a:solidFill>
            <a:srgbClr val="C07A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4" name="Rectangle 133"/>
          <p:cNvSpPr/>
          <p:nvPr/>
        </p:nvSpPr>
        <p:spPr>
          <a:xfrm>
            <a:off x="5852160" y="2212848"/>
            <a:ext cx="141732" cy="141732"/>
          </a:xfrm>
          <a:prstGeom prst="rect">
            <a:avLst/>
          </a:prstGeom>
          <a:solidFill>
            <a:srgbClr val="C07A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5" name="Rectangle 134"/>
          <p:cNvSpPr/>
          <p:nvPr/>
        </p:nvSpPr>
        <p:spPr>
          <a:xfrm>
            <a:off x="548640" y="2395728"/>
            <a:ext cx="141732" cy="141732"/>
          </a:xfrm>
          <a:prstGeom prst="rect">
            <a:avLst/>
          </a:prstGeom>
          <a:solidFill>
            <a:srgbClr val="C07A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6" name="Rectangle 135"/>
          <p:cNvSpPr/>
          <p:nvPr/>
        </p:nvSpPr>
        <p:spPr>
          <a:xfrm>
            <a:off x="731520" y="2395728"/>
            <a:ext cx="141732" cy="141732"/>
          </a:xfrm>
          <a:prstGeom prst="rect">
            <a:avLst/>
          </a:prstGeom>
          <a:solidFill>
            <a:srgbClr val="C07A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7" name="Rectangle 136"/>
          <p:cNvSpPr/>
          <p:nvPr/>
        </p:nvSpPr>
        <p:spPr>
          <a:xfrm>
            <a:off x="914400" y="2395728"/>
            <a:ext cx="141732" cy="141732"/>
          </a:xfrm>
          <a:prstGeom prst="rect">
            <a:avLst/>
          </a:prstGeom>
          <a:solidFill>
            <a:srgbClr val="C07A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8" name="Rectangle 137"/>
          <p:cNvSpPr/>
          <p:nvPr/>
        </p:nvSpPr>
        <p:spPr>
          <a:xfrm>
            <a:off x="1097280" y="2395728"/>
            <a:ext cx="141732" cy="141732"/>
          </a:xfrm>
          <a:prstGeom prst="rect">
            <a:avLst/>
          </a:prstGeom>
          <a:solidFill>
            <a:srgbClr val="C07A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9" name="Rectangle 138"/>
          <p:cNvSpPr/>
          <p:nvPr/>
        </p:nvSpPr>
        <p:spPr>
          <a:xfrm>
            <a:off x="1280160" y="2395728"/>
            <a:ext cx="141732" cy="141732"/>
          </a:xfrm>
          <a:prstGeom prst="rect">
            <a:avLst/>
          </a:prstGeom>
          <a:solidFill>
            <a:srgbClr val="C07A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0" name="Rectangle 139"/>
          <p:cNvSpPr/>
          <p:nvPr/>
        </p:nvSpPr>
        <p:spPr>
          <a:xfrm>
            <a:off x="1463040" y="2395728"/>
            <a:ext cx="141732" cy="141732"/>
          </a:xfrm>
          <a:prstGeom prst="rect">
            <a:avLst/>
          </a:prstGeom>
          <a:solidFill>
            <a:srgbClr val="C07A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1" name="Rectangle 140"/>
          <p:cNvSpPr/>
          <p:nvPr/>
        </p:nvSpPr>
        <p:spPr>
          <a:xfrm>
            <a:off x="1645920" y="2395728"/>
            <a:ext cx="141732" cy="141732"/>
          </a:xfrm>
          <a:prstGeom prst="rect">
            <a:avLst/>
          </a:prstGeom>
          <a:solidFill>
            <a:srgbClr val="C07A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2" name="Rectangle 141"/>
          <p:cNvSpPr/>
          <p:nvPr/>
        </p:nvSpPr>
        <p:spPr>
          <a:xfrm>
            <a:off x="1828800" y="2395728"/>
            <a:ext cx="141732" cy="141732"/>
          </a:xfrm>
          <a:prstGeom prst="rect">
            <a:avLst/>
          </a:prstGeom>
          <a:solidFill>
            <a:srgbClr val="C07A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3" name="Rectangle 142"/>
          <p:cNvSpPr/>
          <p:nvPr/>
        </p:nvSpPr>
        <p:spPr>
          <a:xfrm>
            <a:off x="2011680" y="2395728"/>
            <a:ext cx="141732" cy="141732"/>
          </a:xfrm>
          <a:prstGeom prst="rect">
            <a:avLst/>
          </a:prstGeom>
          <a:solidFill>
            <a:srgbClr val="C07A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4" name="Rectangle 143"/>
          <p:cNvSpPr/>
          <p:nvPr/>
        </p:nvSpPr>
        <p:spPr>
          <a:xfrm>
            <a:off x="2194560" y="2395728"/>
            <a:ext cx="141732" cy="141732"/>
          </a:xfrm>
          <a:prstGeom prst="rect">
            <a:avLst/>
          </a:prstGeom>
          <a:solidFill>
            <a:srgbClr val="C07A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5" name="Rectangle 144"/>
          <p:cNvSpPr/>
          <p:nvPr/>
        </p:nvSpPr>
        <p:spPr>
          <a:xfrm>
            <a:off x="2377440" y="2395728"/>
            <a:ext cx="141732" cy="141732"/>
          </a:xfrm>
          <a:prstGeom prst="rect">
            <a:avLst/>
          </a:prstGeom>
          <a:solidFill>
            <a:srgbClr val="C07A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6" name="Rectangle 145"/>
          <p:cNvSpPr/>
          <p:nvPr/>
        </p:nvSpPr>
        <p:spPr>
          <a:xfrm>
            <a:off x="2560320" y="2395728"/>
            <a:ext cx="141732" cy="141732"/>
          </a:xfrm>
          <a:prstGeom prst="rect">
            <a:avLst/>
          </a:prstGeom>
          <a:solidFill>
            <a:srgbClr val="C07A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7" name="Rectangle 146"/>
          <p:cNvSpPr/>
          <p:nvPr/>
        </p:nvSpPr>
        <p:spPr>
          <a:xfrm>
            <a:off x="2743200" y="2395728"/>
            <a:ext cx="141732" cy="141732"/>
          </a:xfrm>
          <a:prstGeom prst="rect">
            <a:avLst/>
          </a:prstGeom>
          <a:solidFill>
            <a:srgbClr val="C07A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8" name="Rectangle 147"/>
          <p:cNvSpPr/>
          <p:nvPr/>
        </p:nvSpPr>
        <p:spPr>
          <a:xfrm>
            <a:off x="2926080" y="2395728"/>
            <a:ext cx="141732" cy="141732"/>
          </a:xfrm>
          <a:prstGeom prst="rect">
            <a:avLst/>
          </a:prstGeom>
          <a:solidFill>
            <a:srgbClr val="C07A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9" name="Rectangle 148"/>
          <p:cNvSpPr/>
          <p:nvPr/>
        </p:nvSpPr>
        <p:spPr>
          <a:xfrm>
            <a:off x="3108960" y="2395728"/>
            <a:ext cx="141732" cy="141732"/>
          </a:xfrm>
          <a:prstGeom prst="rect">
            <a:avLst/>
          </a:prstGeom>
          <a:solidFill>
            <a:srgbClr val="C07A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0" name="Rectangle 149"/>
          <p:cNvSpPr/>
          <p:nvPr/>
        </p:nvSpPr>
        <p:spPr>
          <a:xfrm>
            <a:off x="3291840" y="2395728"/>
            <a:ext cx="141732" cy="141732"/>
          </a:xfrm>
          <a:prstGeom prst="rect">
            <a:avLst/>
          </a:prstGeom>
          <a:solidFill>
            <a:srgbClr val="C07A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1" name="Rectangle 150"/>
          <p:cNvSpPr/>
          <p:nvPr/>
        </p:nvSpPr>
        <p:spPr>
          <a:xfrm>
            <a:off x="3474720" y="2395728"/>
            <a:ext cx="141732" cy="141732"/>
          </a:xfrm>
          <a:prstGeom prst="rect">
            <a:avLst/>
          </a:prstGeom>
          <a:solidFill>
            <a:srgbClr val="C07A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2" name="Rectangle 151"/>
          <p:cNvSpPr/>
          <p:nvPr/>
        </p:nvSpPr>
        <p:spPr>
          <a:xfrm>
            <a:off x="3657600" y="2395728"/>
            <a:ext cx="141732" cy="141732"/>
          </a:xfrm>
          <a:prstGeom prst="rect">
            <a:avLst/>
          </a:prstGeom>
          <a:solidFill>
            <a:srgbClr val="C07A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3" name="Rectangle 152"/>
          <p:cNvSpPr/>
          <p:nvPr/>
        </p:nvSpPr>
        <p:spPr>
          <a:xfrm>
            <a:off x="3840480" y="2395728"/>
            <a:ext cx="141732" cy="141732"/>
          </a:xfrm>
          <a:prstGeom prst="rect">
            <a:avLst/>
          </a:prstGeom>
          <a:solidFill>
            <a:srgbClr val="C07A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4" name="Rectangle 153"/>
          <p:cNvSpPr/>
          <p:nvPr/>
        </p:nvSpPr>
        <p:spPr>
          <a:xfrm>
            <a:off x="4023360" y="2395728"/>
            <a:ext cx="141732" cy="141732"/>
          </a:xfrm>
          <a:prstGeom prst="rect">
            <a:avLst/>
          </a:prstGeom>
          <a:solidFill>
            <a:srgbClr val="C07A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5" name="Rectangle 154"/>
          <p:cNvSpPr/>
          <p:nvPr/>
        </p:nvSpPr>
        <p:spPr>
          <a:xfrm>
            <a:off x="4206240" y="2395728"/>
            <a:ext cx="141732" cy="141732"/>
          </a:xfrm>
          <a:prstGeom prst="rect">
            <a:avLst/>
          </a:prstGeom>
          <a:solidFill>
            <a:srgbClr val="C07A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6" name="Rectangle 155"/>
          <p:cNvSpPr/>
          <p:nvPr/>
        </p:nvSpPr>
        <p:spPr>
          <a:xfrm>
            <a:off x="4389120" y="2395728"/>
            <a:ext cx="141732" cy="141732"/>
          </a:xfrm>
          <a:prstGeom prst="rect">
            <a:avLst/>
          </a:prstGeom>
          <a:solidFill>
            <a:srgbClr val="C07A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7" name="Rectangle 156"/>
          <p:cNvSpPr/>
          <p:nvPr/>
        </p:nvSpPr>
        <p:spPr>
          <a:xfrm>
            <a:off x="4572000" y="2395728"/>
            <a:ext cx="141732" cy="141732"/>
          </a:xfrm>
          <a:prstGeom prst="rect">
            <a:avLst/>
          </a:prstGeom>
          <a:solidFill>
            <a:srgbClr val="C07A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8" name="Rectangle 157"/>
          <p:cNvSpPr/>
          <p:nvPr/>
        </p:nvSpPr>
        <p:spPr>
          <a:xfrm>
            <a:off x="4754880" y="2395728"/>
            <a:ext cx="141732" cy="141732"/>
          </a:xfrm>
          <a:prstGeom prst="rect">
            <a:avLst/>
          </a:prstGeom>
          <a:solidFill>
            <a:srgbClr val="C07A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9" name="Rectangle 158"/>
          <p:cNvSpPr/>
          <p:nvPr/>
        </p:nvSpPr>
        <p:spPr>
          <a:xfrm>
            <a:off x="4937760" y="2395728"/>
            <a:ext cx="141732" cy="141732"/>
          </a:xfrm>
          <a:prstGeom prst="rect">
            <a:avLst/>
          </a:prstGeom>
          <a:solidFill>
            <a:srgbClr val="C07A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0" name="Rectangle 159"/>
          <p:cNvSpPr/>
          <p:nvPr/>
        </p:nvSpPr>
        <p:spPr>
          <a:xfrm>
            <a:off x="5120640" y="2395728"/>
            <a:ext cx="141732" cy="141732"/>
          </a:xfrm>
          <a:prstGeom prst="rect">
            <a:avLst/>
          </a:prstGeom>
          <a:solidFill>
            <a:srgbClr val="C07A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1" name="Rectangle 160"/>
          <p:cNvSpPr/>
          <p:nvPr/>
        </p:nvSpPr>
        <p:spPr>
          <a:xfrm>
            <a:off x="5303520" y="2395728"/>
            <a:ext cx="141732" cy="141732"/>
          </a:xfrm>
          <a:prstGeom prst="rect">
            <a:avLst/>
          </a:prstGeom>
          <a:solidFill>
            <a:srgbClr val="C07A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2" name="Rectangle 161"/>
          <p:cNvSpPr/>
          <p:nvPr/>
        </p:nvSpPr>
        <p:spPr>
          <a:xfrm>
            <a:off x="5486400" y="2395728"/>
            <a:ext cx="141732" cy="141732"/>
          </a:xfrm>
          <a:prstGeom prst="rect">
            <a:avLst/>
          </a:prstGeom>
          <a:solidFill>
            <a:srgbClr val="C07A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3" name="Rectangle 162"/>
          <p:cNvSpPr/>
          <p:nvPr/>
        </p:nvSpPr>
        <p:spPr>
          <a:xfrm>
            <a:off x="5669280" y="2395728"/>
            <a:ext cx="141732" cy="141732"/>
          </a:xfrm>
          <a:prstGeom prst="rect">
            <a:avLst/>
          </a:prstGeom>
          <a:solidFill>
            <a:srgbClr val="C07A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4" name="Rectangle 163"/>
          <p:cNvSpPr/>
          <p:nvPr/>
        </p:nvSpPr>
        <p:spPr>
          <a:xfrm>
            <a:off x="5852160" y="2395728"/>
            <a:ext cx="141732" cy="141732"/>
          </a:xfrm>
          <a:prstGeom prst="rect">
            <a:avLst/>
          </a:prstGeom>
          <a:solidFill>
            <a:srgbClr val="C07A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5" name="Rectangle 164"/>
          <p:cNvSpPr/>
          <p:nvPr/>
        </p:nvSpPr>
        <p:spPr>
          <a:xfrm>
            <a:off x="548640" y="2578608"/>
            <a:ext cx="141732" cy="141732"/>
          </a:xfrm>
          <a:prstGeom prst="rect">
            <a:avLst/>
          </a:prstGeom>
          <a:solidFill>
            <a:srgbClr val="C07A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6" name="Rectangle 165"/>
          <p:cNvSpPr/>
          <p:nvPr/>
        </p:nvSpPr>
        <p:spPr>
          <a:xfrm>
            <a:off x="731520" y="2578608"/>
            <a:ext cx="141732" cy="141732"/>
          </a:xfrm>
          <a:prstGeom prst="rect">
            <a:avLst/>
          </a:prstGeom>
          <a:solidFill>
            <a:srgbClr val="C07A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7" name="Rectangle 166"/>
          <p:cNvSpPr/>
          <p:nvPr/>
        </p:nvSpPr>
        <p:spPr>
          <a:xfrm>
            <a:off x="914400" y="2578608"/>
            <a:ext cx="141732" cy="141732"/>
          </a:xfrm>
          <a:prstGeom prst="rect">
            <a:avLst/>
          </a:prstGeom>
          <a:solidFill>
            <a:srgbClr val="C07A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8" name="Rectangle 167"/>
          <p:cNvSpPr/>
          <p:nvPr/>
        </p:nvSpPr>
        <p:spPr>
          <a:xfrm>
            <a:off x="1097280" y="2578608"/>
            <a:ext cx="141732" cy="141732"/>
          </a:xfrm>
          <a:prstGeom prst="rect">
            <a:avLst/>
          </a:prstGeom>
          <a:solidFill>
            <a:srgbClr val="C07A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9" name="Rectangle 168"/>
          <p:cNvSpPr/>
          <p:nvPr/>
        </p:nvSpPr>
        <p:spPr>
          <a:xfrm>
            <a:off x="1280160" y="2578608"/>
            <a:ext cx="141732" cy="141732"/>
          </a:xfrm>
          <a:prstGeom prst="rect">
            <a:avLst/>
          </a:prstGeom>
          <a:solidFill>
            <a:srgbClr val="C07A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0" name="Rectangle 169"/>
          <p:cNvSpPr/>
          <p:nvPr/>
        </p:nvSpPr>
        <p:spPr>
          <a:xfrm>
            <a:off x="1463040" y="2578608"/>
            <a:ext cx="141732" cy="141732"/>
          </a:xfrm>
          <a:prstGeom prst="rect">
            <a:avLst/>
          </a:prstGeom>
          <a:solidFill>
            <a:srgbClr val="C07A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1" name="Rectangle 170"/>
          <p:cNvSpPr/>
          <p:nvPr/>
        </p:nvSpPr>
        <p:spPr>
          <a:xfrm>
            <a:off x="1645920" y="2578608"/>
            <a:ext cx="141732" cy="141732"/>
          </a:xfrm>
          <a:prstGeom prst="rect">
            <a:avLst/>
          </a:prstGeom>
          <a:solidFill>
            <a:srgbClr val="C07A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2" name="Rectangle 171"/>
          <p:cNvSpPr/>
          <p:nvPr/>
        </p:nvSpPr>
        <p:spPr>
          <a:xfrm>
            <a:off x="1828800" y="2578608"/>
            <a:ext cx="141732" cy="141732"/>
          </a:xfrm>
          <a:prstGeom prst="rect">
            <a:avLst/>
          </a:prstGeom>
          <a:solidFill>
            <a:srgbClr val="C07A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3" name="Rectangle 172"/>
          <p:cNvSpPr/>
          <p:nvPr/>
        </p:nvSpPr>
        <p:spPr>
          <a:xfrm>
            <a:off x="2011680" y="2578608"/>
            <a:ext cx="141732" cy="141732"/>
          </a:xfrm>
          <a:prstGeom prst="rect">
            <a:avLst/>
          </a:prstGeom>
          <a:solidFill>
            <a:srgbClr val="C07A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4" name="Rectangle 173"/>
          <p:cNvSpPr/>
          <p:nvPr/>
        </p:nvSpPr>
        <p:spPr>
          <a:xfrm>
            <a:off x="2194560" y="2578608"/>
            <a:ext cx="141732" cy="141732"/>
          </a:xfrm>
          <a:prstGeom prst="rect">
            <a:avLst/>
          </a:prstGeom>
          <a:solidFill>
            <a:srgbClr val="C07A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5" name="Rectangle 174"/>
          <p:cNvSpPr/>
          <p:nvPr/>
        </p:nvSpPr>
        <p:spPr>
          <a:xfrm>
            <a:off x="2377440" y="2578608"/>
            <a:ext cx="141732" cy="141732"/>
          </a:xfrm>
          <a:prstGeom prst="rect">
            <a:avLst/>
          </a:prstGeom>
          <a:solidFill>
            <a:srgbClr val="C07A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6" name="Rectangle 175"/>
          <p:cNvSpPr/>
          <p:nvPr/>
        </p:nvSpPr>
        <p:spPr>
          <a:xfrm>
            <a:off x="2560320" y="2578608"/>
            <a:ext cx="141732" cy="141732"/>
          </a:xfrm>
          <a:prstGeom prst="rect">
            <a:avLst/>
          </a:prstGeom>
          <a:solidFill>
            <a:srgbClr val="C07A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7" name="Rectangle 176"/>
          <p:cNvSpPr/>
          <p:nvPr/>
        </p:nvSpPr>
        <p:spPr>
          <a:xfrm>
            <a:off x="2743200" y="2578608"/>
            <a:ext cx="141732" cy="141732"/>
          </a:xfrm>
          <a:prstGeom prst="rect">
            <a:avLst/>
          </a:prstGeom>
          <a:solidFill>
            <a:srgbClr val="C07A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8" name="Rectangle 177"/>
          <p:cNvSpPr/>
          <p:nvPr/>
        </p:nvSpPr>
        <p:spPr>
          <a:xfrm>
            <a:off x="2926080" y="2578608"/>
            <a:ext cx="141732" cy="141732"/>
          </a:xfrm>
          <a:prstGeom prst="rect">
            <a:avLst/>
          </a:prstGeom>
          <a:solidFill>
            <a:srgbClr val="C07A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9" name="Rectangle 178"/>
          <p:cNvSpPr/>
          <p:nvPr/>
        </p:nvSpPr>
        <p:spPr>
          <a:xfrm>
            <a:off x="3108960" y="2578608"/>
            <a:ext cx="141732" cy="141732"/>
          </a:xfrm>
          <a:prstGeom prst="rect">
            <a:avLst/>
          </a:prstGeom>
          <a:solidFill>
            <a:srgbClr val="C07A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0" name="Rectangle 179"/>
          <p:cNvSpPr/>
          <p:nvPr/>
        </p:nvSpPr>
        <p:spPr>
          <a:xfrm>
            <a:off x="3291840" y="2578608"/>
            <a:ext cx="141732" cy="141732"/>
          </a:xfrm>
          <a:prstGeom prst="rect">
            <a:avLst/>
          </a:prstGeom>
          <a:solidFill>
            <a:srgbClr val="C07A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1" name="Rectangle 180"/>
          <p:cNvSpPr/>
          <p:nvPr/>
        </p:nvSpPr>
        <p:spPr>
          <a:xfrm>
            <a:off x="3474720" y="2578608"/>
            <a:ext cx="141732" cy="141732"/>
          </a:xfrm>
          <a:prstGeom prst="rect">
            <a:avLst/>
          </a:prstGeom>
          <a:solidFill>
            <a:srgbClr val="C07A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2" name="Rectangle 181"/>
          <p:cNvSpPr/>
          <p:nvPr/>
        </p:nvSpPr>
        <p:spPr>
          <a:xfrm>
            <a:off x="3657600" y="2578608"/>
            <a:ext cx="141732" cy="141732"/>
          </a:xfrm>
          <a:prstGeom prst="rect">
            <a:avLst/>
          </a:prstGeom>
          <a:solidFill>
            <a:srgbClr val="C07A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3" name="Rectangle 182"/>
          <p:cNvSpPr/>
          <p:nvPr/>
        </p:nvSpPr>
        <p:spPr>
          <a:xfrm>
            <a:off x="3840480" y="2578608"/>
            <a:ext cx="141732" cy="141732"/>
          </a:xfrm>
          <a:prstGeom prst="rect">
            <a:avLst/>
          </a:prstGeom>
          <a:solidFill>
            <a:srgbClr val="C07A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4" name="Rectangle 183"/>
          <p:cNvSpPr/>
          <p:nvPr/>
        </p:nvSpPr>
        <p:spPr>
          <a:xfrm>
            <a:off x="4023360" y="2578608"/>
            <a:ext cx="141732" cy="141732"/>
          </a:xfrm>
          <a:prstGeom prst="rect">
            <a:avLst/>
          </a:prstGeom>
          <a:solidFill>
            <a:srgbClr val="C07A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5" name="Rectangle 184"/>
          <p:cNvSpPr/>
          <p:nvPr/>
        </p:nvSpPr>
        <p:spPr>
          <a:xfrm>
            <a:off x="4206240" y="2578608"/>
            <a:ext cx="141732" cy="141732"/>
          </a:xfrm>
          <a:prstGeom prst="rect">
            <a:avLst/>
          </a:prstGeom>
          <a:solidFill>
            <a:srgbClr val="C07A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6" name="Rectangle 185"/>
          <p:cNvSpPr/>
          <p:nvPr/>
        </p:nvSpPr>
        <p:spPr>
          <a:xfrm>
            <a:off x="4389120" y="2578608"/>
            <a:ext cx="141732" cy="141732"/>
          </a:xfrm>
          <a:prstGeom prst="rect">
            <a:avLst/>
          </a:prstGeom>
          <a:solidFill>
            <a:srgbClr val="C07A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7" name="Rectangle 186"/>
          <p:cNvSpPr/>
          <p:nvPr/>
        </p:nvSpPr>
        <p:spPr>
          <a:xfrm>
            <a:off x="4572000" y="2578608"/>
            <a:ext cx="141732" cy="141732"/>
          </a:xfrm>
          <a:prstGeom prst="rect">
            <a:avLst/>
          </a:prstGeom>
          <a:solidFill>
            <a:srgbClr val="C07A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8" name="Rectangle 187"/>
          <p:cNvSpPr/>
          <p:nvPr/>
        </p:nvSpPr>
        <p:spPr>
          <a:xfrm>
            <a:off x="4754880" y="2578608"/>
            <a:ext cx="141732" cy="141732"/>
          </a:xfrm>
          <a:prstGeom prst="rect">
            <a:avLst/>
          </a:prstGeom>
          <a:solidFill>
            <a:srgbClr val="C07A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9" name="Rectangle 188"/>
          <p:cNvSpPr/>
          <p:nvPr/>
        </p:nvSpPr>
        <p:spPr>
          <a:xfrm>
            <a:off x="4937760" y="2578608"/>
            <a:ext cx="141732" cy="141732"/>
          </a:xfrm>
          <a:prstGeom prst="rect">
            <a:avLst/>
          </a:prstGeom>
          <a:solidFill>
            <a:srgbClr val="C07A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0" name="Rectangle 189"/>
          <p:cNvSpPr/>
          <p:nvPr/>
        </p:nvSpPr>
        <p:spPr>
          <a:xfrm>
            <a:off x="5120640" y="2578608"/>
            <a:ext cx="141732" cy="141732"/>
          </a:xfrm>
          <a:prstGeom prst="rect">
            <a:avLst/>
          </a:prstGeom>
          <a:solidFill>
            <a:srgbClr val="C07A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1" name="Rectangle 190"/>
          <p:cNvSpPr/>
          <p:nvPr/>
        </p:nvSpPr>
        <p:spPr>
          <a:xfrm>
            <a:off x="5303520" y="2578608"/>
            <a:ext cx="141732" cy="141732"/>
          </a:xfrm>
          <a:prstGeom prst="rect">
            <a:avLst/>
          </a:prstGeom>
          <a:solidFill>
            <a:srgbClr val="C07A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2" name="Rectangle 191"/>
          <p:cNvSpPr/>
          <p:nvPr/>
        </p:nvSpPr>
        <p:spPr>
          <a:xfrm>
            <a:off x="5486400" y="2578608"/>
            <a:ext cx="141732" cy="141732"/>
          </a:xfrm>
          <a:prstGeom prst="rect">
            <a:avLst/>
          </a:prstGeom>
          <a:solidFill>
            <a:srgbClr val="C07A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3" name="Rectangle 192"/>
          <p:cNvSpPr/>
          <p:nvPr/>
        </p:nvSpPr>
        <p:spPr>
          <a:xfrm>
            <a:off x="5669280" y="2578608"/>
            <a:ext cx="141732" cy="141732"/>
          </a:xfrm>
          <a:prstGeom prst="rect">
            <a:avLst/>
          </a:prstGeom>
          <a:solidFill>
            <a:srgbClr val="C07A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4" name="Rectangle 193"/>
          <p:cNvSpPr/>
          <p:nvPr/>
        </p:nvSpPr>
        <p:spPr>
          <a:xfrm>
            <a:off x="5852160" y="2578608"/>
            <a:ext cx="141732" cy="141732"/>
          </a:xfrm>
          <a:prstGeom prst="rect">
            <a:avLst/>
          </a:prstGeom>
          <a:solidFill>
            <a:srgbClr val="C07A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5" name="Rectangle 194"/>
          <p:cNvSpPr/>
          <p:nvPr/>
        </p:nvSpPr>
        <p:spPr>
          <a:xfrm>
            <a:off x="548640" y="2761488"/>
            <a:ext cx="141732" cy="141732"/>
          </a:xfrm>
          <a:prstGeom prst="rect">
            <a:avLst/>
          </a:prstGeom>
          <a:solidFill>
            <a:srgbClr val="C07A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6" name="Rectangle 195"/>
          <p:cNvSpPr/>
          <p:nvPr/>
        </p:nvSpPr>
        <p:spPr>
          <a:xfrm>
            <a:off x="731520" y="2761488"/>
            <a:ext cx="141732" cy="141732"/>
          </a:xfrm>
          <a:prstGeom prst="rect">
            <a:avLst/>
          </a:prstGeom>
          <a:solidFill>
            <a:srgbClr val="C07A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7" name="Rectangle 196"/>
          <p:cNvSpPr/>
          <p:nvPr/>
        </p:nvSpPr>
        <p:spPr>
          <a:xfrm>
            <a:off x="914400" y="2761488"/>
            <a:ext cx="141732" cy="141732"/>
          </a:xfrm>
          <a:prstGeom prst="rect">
            <a:avLst/>
          </a:prstGeom>
          <a:solidFill>
            <a:srgbClr val="C07A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8" name="Rectangle 197"/>
          <p:cNvSpPr/>
          <p:nvPr/>
        </p:nvSpPr>
        <p:spPr>
          <a:xfrm>
            <a:off x="1097280" y="2761488"/>
            <a:ext cx="141732" cy="141732"/>
          </a:xfrm>
          <a:prstGeom prst="rect">
            <a:avLst/>
          </a:prstGeom>
          <a:solidFill>
            <a:srgbClr val="C07A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9" name="Rectangle 198"/>
          <p:cNvSpPr/>
          <p:nvPr/>
        </p:nvSpPr>
        <p:spPr>
          <a:xfrm>
            <a:off x="1280160" y="2761488"/>
            <a:ext cx="141732" cy="141732"/>
          </a:xfrm>
          <a:prstGeom prst="rect">
            <a:avLst/>
          </a:prstGeom>
          <a:solidFill>
            <a:srgbClr val="C07A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00" name="Rectangle 199"/>
          <p:cNvSpPr/>
          <p:nvPr/>
        </p:nvSpPr>
        <p:spPr>
          <a:xfrm>
            <a:off x="1463040" y="2761488"/>
            <a:ext cx="141732" cy="141732"/>
          </a:xfrm>
          <a:prstGeom prst="rect">
            <a:avLst/>
          </a:prstGeom>
          <a:solidFill>
            <a:srgbClr val="C07A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01" name="Rectangle 200"/>
          <p:cNvSpPr/>
          <p:nvPr/>
        </p:nvSpPr>
        <p:spPr>
          <a:xfrm>
            <a:off x="1645920" y="2761488"/>
            <a:ext cx="141732" cy="141732"/>
          </a:xfrm>
          <a:prstGeom prst="rect">
            <a:avLst/>
          </a:prstGeom>
          <a:solidFill>
            <a:srgbClr val="C07A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02" name="Rectangle 201"/>
          <p:cNvSpPr/>
          <p:nvPr/>
        </p:nvSpPr>
        <p:spPr>
          <a:xfrm>
            <a:off x="1828800" y="2761488"/>
            <a:ext cx="141732" cy="141732"/>
          </a:xfrm>
          <a:prstGeom prst="rect">
            <a:avLst/>
          </a:prstGeom>
          <a:solidFill>
            <a:srgbClr val="C07A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03" name="Rectangle 202"/>
          <p:cNvSpPr/>
          <p:nvPr/>
        </p:nvSpPr>
        <p:spPr>
          <a:xfrm>
            <a:off x="2011680" y="2761488"/>
            <a:ext cx="141732" cy="141732"/>
          </a:xfrm>
          <a:prstGeom prst="rect">
            <a:avLst/>
          </a:prstGeom>
          <a:solidFill>
            <a:srgbClr val="C07A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04" name="Rectangle 203"/>
          <p:cNvSpPr/>
          <p:nvPr/>
        </p:nvSpPr>
        <p:spPr>
          <a:xfrm>
            <a:off x="2194560" y="2761488"/>
            <a:ext cx="141732" cy="141732"/>
          </a:xfrm>
          <a:prstGeom prst="rect">
            <a:avLst/>
          </a:prstGeom>
          <a:solidFill>
            <a:srgbClr val="C07A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05" name="Rectangle 204"/>
          <p:cNvSpPr/>
          <p:nvPr/>
        </p:nvSpPr>
        <p:spPr>
          <a:xfrm>
            <a:off x="2377440" y="2761488"/>
            <a:ext cx="141732" cy="141732"/>
          </a:xfrm>
          <a:prstGeom prst="rect">
            <a:avLst/>
          </a:prstGeom>
          <a:solidFill>
            <a:srgbClr val="C07A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06" name="Rectangle 205"/>
          <p:cNvSpPr/>
          <p:nvPr/>
        </p:nvSpPr>
        <p:spPr>
          <a:xfrm>
            <a:off x="2560320" y="2761488"/>
            <a:ext cx="141732" cy="141732"/>
          </a:xfrm>
          <a:prstGeom prst="rect">
            <a:avLst/>
          </a:prstGeom>
          <a:solidFill>
            <a:srgbClr val="C07A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07" name="Rectangle 206"/>
          <p:cNvSpPr/>
          <p:nvPr/>
        </p:nvSpPr>
        <p:spPr>
          <a:xfrm>
            <a:off x="2743200" y="2761488"/>
            <a:ext cx="141732" cy="141732"/>
          </a:xfrm>
          <a:prstGeom prst="rect">
            <a:avLst/>
          </a:prstGeom>
          <a:solidFill>
            <a:srgbClr val="C07A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08" name="Rectangle 207"/>
          <p:cNvSpPr/>
          <p:nvPr/>
        </p:nvSpPr>
        <p:spPr>
          <a:xfrm>
            <a:off x="2926080" y="2761488"/>
            <a:ext cx="141732" cy="141732"/>
          </a:xfrm>
          <a:prstGeom prst="rect">
            <a:avLst/>
          </a:prstGeom>
          <a:solidFill>
            <a:srgbClr val="C07A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09" name="Rectangle 208"/>
          <p:cNvSpPr/>
          <p:nvPr/>
        </p:nvSpPr>
        <p:spPr>
          <a:xfrm>
            <a:off x="3108960" y="2761488"/>
            <a:ext cx="141732" cy="141732"/>
          </a:xfrm>
          <a:prstGeom prst="rect">
            <a:avLst/>
          </a:prstGeom>
          <a:solidFill>
            <a:srgbClr val="C07A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0" name="Rectangle 209"/>
          <p:cNvSpPr/>
          <p:nvPr/>
        </p:nvSpPr>
        <p:spPr>
          <a:xfrm>
            <a:off x="3291840" y="2761488"/>
            <a:ext cx="141732" cy="141732"/>
          </a:xfrm>
          <a:prstGeom prst="rect">
            <a:avLst/>
          </a:prstGeom>
          <a:solidFill>
            <a:srgbClr val="C07A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1" name="Rectangle 210"/>
          <p:cNvSpPr/>
          <p:nvPr/>
        </p:nvSpPr>
        <p:spPr>
          <a:xfrm>
            <a:off x="3474720" y="2761488"/>
            <a:ext cx="141732" cy="141732"/>
          </a:xfrm>
          <a:prstGeom prst="rect">
            <a:avLst/>
          </a:prstGeom>
          <a:solidFill>
            <a:srgbClr val="C07A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2" name="Rectangle 211"/>
          <p:cNvSpPr/>
          <p:nvPr/>
        </p:nvSpPr>
        <p:spPr>
          <a:xfrm>
            <a:off x="3657600" y="2761488"/>
            <a:ext cx="141732" cy="141732"/>
          </a:xfrm>
          <a:prstGeom prst="rect">
            <a:avLst/>
          </a:prstGeom>
          <a:solidFill>
            <a:srgbClr val="C07A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3" name="Rectangle 212"/>
          <p:cNvSpPr/>
          <p:nvPr/>
        </p:nvSpPr>
        <p:spPr>
          <a:xfrm>
            <a:off x="3840480" y="2761488"/>
            <a:ext cx="141732" cy="141732"/>
          </a:xfrm>
          <a:prstGeom prst="rect">
            <a:avLst/>
          </a:prstGeom>
          <a:solidFill>
            <a:srgbClr val="2F5D9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4" name="Rectangle 213"/>
          <p:cNvSpPr/>
          <p:nvPr/>
        </p:nvSpPr>
        <p:spPr>
          <a:xfrm>
            <a:off x="4023360" y="2761488"/>
            <a:ext cx="141732" cy="141732"/>
          </a:xfrm>
          <a:prstGeom prst="rect">
            <a:avLst/>
          </a:prstGeom>
          <a:solidFill>
            <a:srgbClr val="2F5D9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5" name="Rectangle 214"/>
          <p:cNvSpPr/>
          <p:nvPr/>
        </p:nvSpPr>
        <p:spPr>
          <a:xfrm>
            <a:off x="4206240" y="2761488"/>
            <a:ext cx="141732" cy="141732"/>
          </a:xfrm>
          <a:prstGeom prst="rect">
            <a:avLst/>
          </a:prstGeom>
          <a:solidFill>
            <a:srgbClr val="2F5D9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6" name="Rectangle 215"/>
          <p:cNvSpPr/>
          <p:nvPr/>
        </p:nvSpPr>
        <p:spPr>
          <a:xfrm>
            <a:off x="4389120" y="2761488"/>
            <a:ext cx="141732" cy="141732"/>
          </a:xfrm>
          <a:prstGeom prst="rect">
            <a:avLst/>
          </a:prstGeom>
          <a:solidFill>
            <a:srgbClr val="2F5D9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7" name="Rectangle 216"/>
          <p:cNvSpPr/>
          <p:nvPr/>
        </p:nvSpPr>
        <p:spPr>
          <a:xfrm>
            <a:off x="4572000" y="2761488"/>
            <a:ext cx="141732" cy="141732"/>
          </a:xfrm>
          <a:prstGeom prst="rect">
            <a:avLst/>
          </a:prstGeom>
          <a:solidFill>
            <a:srgbClr val="2F5D9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8" name="Rectangle 217"/>
          <p:cNvSpPr/>
          <p:nvPr/>
        </p:nvSpPr>
        <p:spPr>
          <a:xfrm>
            <a:off x="4754880" y="2761488"/>
            <a:ext cx="141732" cy="141732"/>
          </a:xfrm>
          <a:prstGeom prst="rect">
            <a:avLst/>
          </a:prstGeom>
          <a:solidFill>
            <a:srgbClr val="2F5D9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9" name="Rectangle 218"/>
          <p:cNvSpPr/>
          <p:nvPr/>
        </p:nvSpPr>
        <p:spPr>
          <a:xfrm>
            <a:off x="4937760" y="2761488"/>
            <a:ext cx="141732" cy="141732"/>
          </a:xfrm>
          <a:prstGeom prst="rect">
            <a:avLst/>
          </a:prstGeom>
          <a:solidFill>
            <a:srgbClr val="2F5D9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0" name="Rectangle 219"/>
          <p:cNvSpPr/>
          <p:nvPr/>
        </p:nvSpPr>
        <p:spPr>
          <a:xfrm>
            <a:off x="5120640" y="2761488"/>
            <a:ext cx="141732" cy="141732"/>
          </a:xfrm>
          <a:prstGeom prst="rect">
            <a:avLst/>
          </a:prstGeom>
          <a:solidFill>
            <a:srgbClr val="2F5D9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1" name="Rectangle 220"/>
          <p:cNvSpPr/>
          <p:nvPr/>
        </p:nvSpPr>
        <p:spPr>
          <a:xfrm>
            <a:off x="5303520" y="2761488"/>
            <a:ext cx="141732" cy="141732"/>
          </a:xfrm>
          <a:prstGeom prst="rect">
            <a:avLst/>
          </a:prstGeom>
          <a:solidFill>
            <a:srgbClr val="2F5D9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2" name="Rectangle 221"/>
          <p:cNvSpPr/>
          <p:nvPr/>
        </p:nvSpPr>
        <p:spPr>
          <a:xfrm>
            <a:off x="5486400" y="2761488"/>
            <a:ext cx="141732" cy="141732"/>
          </a:xfrm>
          <a:prstGeom prst="rect">
            <a:avLst/>
          </a:prstGeom>
          <a:solidFill>
            <a:srgbClr val="2F5D9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3" name="Rectangle 222"/>
          <p:cNvSpPr/>
          <p:nvPr/>
        </p:nvSpPr>
        <p:spPr>
          <a:xfrm>
            <a:off x="5669280" y="2761488"/>
            <a:ext cx="141732" cy="141732"/>
          </a:xfrm>
          <a:prstGeom prst="rect">
            <a:avLst/>
          </a:prstGeom>
          <a:solidFill>
            <a:srgbClr val="2F5D9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4" name="Rectangle 223"/>
          <p:cNvSpPr/>
          <p:nvPr/>
        </p:nvSpPr>
        <p:spPr>
          <a:xfrm>
            <a:off x="5852160" y="2761488"/>
            <a:ext cx="141732" cy="141732"/>
          </a:xfrm>
          <a:prstGeom prst="rect">
            <a:avLst/>
          </a:prstGeom>
          <a:solidFill>
            <a:srgbClr val="2F5D9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5" name="Rectangle 224"/>
          <p:cNvSpPr/>
          <p:nvPr/>
        </p:nvSpPr>
        <p:spPr>
          <a:xfrm>
            <a:off x="548640" y="2944368"/>
            <a:ext cx="141732" cy="141732"/>
          </a:xfrm>
          <a:prstGeom prst="rect">
            <a:avLst/>
          </a:prstGeom>
          <a:solidFill>
            <a:srgbClr val="2F5D9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6" name="Rectangle 225"/>
          <p:cNvSpPr/>
          <p:nvPr/>
        </p:nvSpPr>
        <p:spPr>
          <a:xfrm>
            <a:off x="731520" y="2944368"/>
            <a:ext cx="141732" cy="141732"/>
          </a:xfrm>
          <a:prstGeom prst="rect">
            <a:avLst/>
          </a:prstGeom>
          <a:solidFill>
            <a:srgbClr val="2F5D9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7" name="Rectangle 226"/>
          <p:cNvSpPr/>
          <p:nvPr/>
        </p:nvSpPr>
        <p:spPr>
          <a:xfrm>
            <a:off x="914400" y="2944368"/>
            <a:ext cx="141732" cy="141732"/>
          </a:xfrm>
          <a:prstGeom prst="rect">
            <a:avLst/>
          </a:prstGeom>
          <a:solidFill>
            <a:srgbClr val="2F5D9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8" name="Rectangle 227"/>
          <p:cNvSpPr/>
          <p:nvPr/>
        </p:nvSpPr>
        <p:spPr>
          <a:xfrm>
            <a:off x="1097280" y="2944368"/>
            <a:ext cx="141732" cy="141732"/>
          </a:xfrm>
          <a:prstGeom prst="rect">
            <a:avLst/>
          </a:prstGeom>
          <a:solidFill>
            <a:srgbClr val="2F5D9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9" name="Rectangle 228"/>
          <p:cNvSpPr/>
          <p:nvPr/>
        </p:nvSpPr>
        <p:spPr>
          <a:xfrm>
            <a:off x="1280160" y="2944368"/>
            <a:ext cx="141732" cy="141732"/>
          </a:xfrm>
          <a:prstGeom prst="rect">
            <a:avLst/>
          </a:prstGeom>
          <a:solidFill>
            <a:srgbClr val="2F5D9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0" name="Rectangle 229"/>
          <p:cNvSpPr/>
          <p:nvPr/>
        </p:nvSpPr>
        <p:spPr>
          <a:xfrm>
            <a:off x="1463040" y="2944368"/>
            <a:ext cx="141732" cy="141732"/>
          </a:xfrm>
          <a:prstGeom prst="rect">
            <a:avLst/>
          </a:prstGeom>
          <a:solidFill>
            <a:srgbClr val="2F5D9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1" name="Rectangle 230"/>
          <p:cNvSpPr/>
          <p:nvPr/>
        </p:nvSpPr>
        <p:spPr>
          <a:xfrm>
            <a:off x="1645920" y="2944368"/>
            <a:ext cx="141732" cy="141732"/>
          </a:xfrm>
          <a:prstGeom prst="rect">
            <a:avLst/>
          </a:prstGeom>
          <a:solidFill>
            <a:srgbClr val="2F5D9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2" name="Rectangle 231"/>
          <p:cNvSpPr/>
          <p:nvPr/>
        </p:nvSpPr>
        <p:spPr>
          <a:xfrm>
            <a:off x="1828800" y="2944368"/>
            <a:ext cx="141732" cy="141732"/>
          </a:xfrm>
          <a:prstGeom prst="rect">
            <a:avLst/>
          </a:prstGeom>
          <a:solidFill>
            <a:srgbClr val="2F5D9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3" name="Rectangle 232"/>
          <p:cNvSpPr/>
          <p:nvPr/>
        </p:nvSpPr>
        <p:spPr>
          <a:xfrm>
            <a:off x="2011680" y="2944368"/>
            <a:ext cx="141732" cy="141732"/>
          </a:xfrm>
          <a:prstGeom prst="rect">
            <a:avLst/>
          </a:prstGeom>
          <a:solidFill>
            <a:srgbClr val="2F5D9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4" name="Rectangle 233"/>
          <p:cNvSpPr/>
          <p:nvPr/>
        </p:nvSpPr>
        <p:spPr>
          <a:xfrm>
            <a:off x="2194560" y="2944368"/>
            <a:ext cx="141732" cy="141732"/>
          </a:xfrm>
          <a:prstGeom prst="rect">
            <a:avLst/>
          </a:prstGeom>
          <a:solidFill>
            <a:srgbClr val="2F5D9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5" name="Rectangle 234"/>
          <p:cNvSpPr/>
          <p:nvPr/>
        </p:nvSpPr>
        <p:spPr>
          <a:xfrm>
            <a:off x="2377440" y="2944368"/>
            <a:ext cx="141732" cy="141732"/>
          </a:xfrm>
          <a:prstGeom prst="rect">
            <a:avLst/>
          </a:prstGeom>
          <a:solidFill>
            <a:srgbClr val="2F5D9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6" name="Rectangle 235"/>
          <p:cNvSpPr/>
          <p:nvPr/>
        </p:nvSpPr>
        <p:spPr>
          <a:xfrm>
            <a:off x="2560320" y="2944368"/>
            <a:ext cx="141732" cy="141732"/>
          </a:xfrm>
          <a:prstGeom prst="rect">
            <a:avLst/>
          </a:prstGeom>
          <a:solidFill>
            <a:srgbClr val="2F5D9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7" name="Rectangle 236"/>
          <p:cNvSpPr/>
          <p:nvPr/>
        </p:nvSpPr>
        <p:spPr>
          <a:xfrm>
            <a:off x="2743200" y="2944368"/>
            <a:ext cx="141732" cy="141732"/>
          </a:xfrm>
          <a:prstGeom prst="rect">
            <a:avLst/>
          </a:prstGeom>
          <a:solidFill>
            <a:srgbClr val="2F5D9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8" name="Rectangle 237"/>
          <p:cNvSpPr/>
          <p:nvPr/>
        </p:nvSpPr>
        <p:spPr>
          <a:xfrm>
            <a:off x="2926080" y="2944368"/>
            <a:ext cx="141732" cy="141732"/>
          </a:xfrm>
          <a:prstGeom prst="rect">
            <a:avLst/>
          </a:prstGeom>
          <a:solidFill>
            <a:srgbClr val="2F5D9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9" name="Rectangle 238"/>
          <p:cNvSpPr/>
          <p:nvPr/>
        </p:nvSpPr>
        <p:spPr>
          <a:xfrm>
            <a:off x="3108960" y="2944368"/>
            <a:ext cx="141732" cy="141732"/>
          </a:xfrm>
          <a:prstGeom prst="rect">
            <a:avLst/>
          </a:prstGeom>
          <a:solidFill>
            <a:srgbClr val="2F5D9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0" name="Rectangle 239"/>
          <p:cNvSpPr/>
          <p:nvPr/>
        </p:nvSpPr>
        <p:spPr>
          <a:xfrm>
            <a:off x="3291840" y="2944368"/>
            <a:ext cx="141732" cy="141732"/>
          </a:xfrm>
          <a:prstGeom prst="rect">
            <a:avLst/>
          </a:prstGeom>
          <a:solidFill>
            <a:srgbClr val="2F5D9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1" name="Rectangle 240"/>
          <p:cNvSpPr/>
          <p:nvPr/>
        </p:nvSpPr>
        <p:spPr>
          <a:xfrm>
            <a:off x="3474720" y="2944368"/>
            <a:ext cx="141732" cy="141732"/>
          </a:xfrm>
          <a:prstGeom prst="rect">
            <a:avLst/>
          </a:prstGeom>
          <a:solidFill>
            <a:srgbClr val="2F5D9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2" name="Rectangle 241"/>
          <p:cNvSpPr/>
          <p:nvPr/>
        </p:nvSpPr>
        <p:spPr>
          <a:xfrm>
            <a:off x="3657600" y="2944368"/>
            <a:ext cx="141732" cy="141732"/>
          </a:xfrm>
          <a:prstGeom prst="rect">
            <a:avLst/>
          </a:prstGeom>
          <a:solidFill>
            <a:srgbClr val="2F5D9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3" name="Rectangle 242"/>
          <p:cNvSpPr/>
          <p:nvPr/>
        </p:nvSpPr>
        <p:spPr>
          <a:xfrm>
            <a:off x="3840480" y="2944368"/>
            <a:ext cx="141732" cy="141732"/>
          </a:xfrm>
          <a:prstGeom prst="rect">
            <a:avLst/>
          </a:prstGeom>
          <a:solidFill>
            <a:srgbClr val="2F5D9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4" name="Rectangle 243"/>
          <p:cNvSpPr/>
          <p:nvPr/>
        </p:nvSpPr>
        <p:spPr>
          <a:xfrm>
            <a:off x="4023360" y="2944368"/>
            <a:ext cx="141732" cy="141732"/>
          </a:xfrm>
          <a:prstGeom prst="rect">
            <a:avLst/>
          </a:prstGeom>
          <a:solidFill>
            <a:srgbClr val="2F5D9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5" name="Rectangle 244"/>
          <p:cNvSpPr/>
          <p:nvPr/>
        </p:nvSpPr>
        <p:spPr>
          <a:xfrm>
            <a:off x="4206240" y="2944368"/>
            <a:ext cx="141732" cy="141732"/>
          </a:xfrm>
          <a:prstGeom prst="rect">
            <a:avLst/>
          </a:prstGeom>
          <a:solidFill>
            <a:srgbClr val="2F5D9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6" name="Rectangle 245"/>
          <p:cNvSpPr/>
          <p:nvPr/>
        </p:nvSpPr>
        <p:spPr>
          <a:xfrm>
            <a:off x="4389120" y="2944368"/>
            <a:ext cx="141732" cy="141732"/>
          </a:xfrm>
          <a:prstGeom prst="rect">
            <a:avLst/>
          </a:prstGeom>
          <a:solidFill>
            <a:srgbClr val="2F5D9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7" name="Rectangle 246"/>
          <p:cNvSpPr/>
          <p:nvPr/>
        </p:nvSpPr>
        <p:spPr>
          <a:xfrm>
            <a:off x="4572000" y="2944368"/>
            <a:ext cx="141732" cy="141732"/>
          </a:xfrm>
          <a:prstGeom prst="rect">
            <a:avLst/>
          </a:prstGeom>
          <a:solidFill>
            <a:srgbClr val="2F5D9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8" name="Rectangle 247"/>
          <p:cNvSpPr/>
          <p:nvPr/>
        </p:nvSpPr>
        <p:spPr>
          <a:xfrm>
            <a:off x="4754880" y="2944368"/>
            <a:ext cx="141732" cy="141732"/>
          </a:xfrm>
          <a:prstGeom prst="rect">
            <a:avLst/>
          </a:prstGeom>
          <a:solidFill>
            <a:srgbClr val="2F5D9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9" name="Rectangle 248"/>
          <p:cNvSpPr/>
          <p:nvPr/>
        </p:nvSpPr>
        <p:spPr>
          <a:xfrm>
            <a:off x="4937760" y="2944368"/>
            <a:ext cx="141732" cy="141732"/>
          </a:xfrm>
          <a:prstGeom prst="rect">
            <a:avLst/>
          </a:prstGeom>
          <a:solidFill>
            <a:srgbClr val="2F5D9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0" name="Rectangle 249"/>
          <p:cNvSpPr/>
          <p:nvPr/>
        </p:nvSpPr>
        <p:spPr>
          <a:xfrm>
            <a:off x="5120640" y="2944368"/>
            <a:ext cx="141732" cy="141732"/>
          </a:xfrm>
          <a:prstGeom prst="rect">
            <a:avLst/>
          </a:prstGeom>
          <a:solidFill>
            <a:srgbClr val="2F5D9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1" name="Rectangle 250"/>
          <p:cNvSpPr/>
          <p:nvPr/>
        </p:nvSpPr>
        <p:spPr>
          <a:xfrm>
            <a:off x="5303520" y="2944368"/>
            <a:ext cx="141732" cy="141732"/>
          </a:xfrm>
          <a:prstGeom prst="rect">
            <a:avLst/>
          </a:prstGeom>
          <a:solidFill>
            <a:srgbClr val="2F5D9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2" name="Rectangle 251"/>
          <p:cNvSpPr/>
          <p:nvPr/>
        </p:nvSpPr>
        <p:spPr>
          <a:xfrm>
            <a:off x="5486400" y="2944368"/>
            <a:ext cx="141732" cy="141732"/>
          </a:xfrm>
          <a:prstGeom prst="rect">
            <a:avLst/>
          </a:prstGeom>
          <a:solidFill>
            <a:srgbClr val="2F5D9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3" name="Rectangle 252"/>
          <p:cNvSpPr/>
          <p:nvPr/>
        </p:nvSpPr>
        <p:spPr>
          <a:xfrm>
            <a:off x="5669280" y="2944368"/>
            <a:ext cx="141732" cy="141732"/>
          </a:xfrm>
          <a:prstGeom prst="rect">
            <a:avLst/>
          </a:prstGeom>
          <a:solidFill>
            <a:srgbClr val="2F5D9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4" name="Rectangle 253"/>
          <p:cNvSpPr/>
          <p:nvPr/>
        </p:nvSpPr>
        <p:spPr>
          <a:xfrm>
            <a:off x="5852160" y="2944368"/>
            <a:ext cx="141732" cy="141732"/>
          </a:xfrm>
          <a:prstGeom prst="rect">
            <a:avLst/>
          </a:prstGeom>
          <a:solidFill>
            <a:srgbClr val="2F5D9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5" name="Rectangle 254"/>
          <p:cNvSpPr/>
          <p:nvPr/>
        </p:nvSpPr>
        <p:spPr>
          <a:xfrm>
            <a:off x="548640" y="3127248"/>
            <a:ext cx="141732" cy="141732"/>
          </a:xfrm>
          <a:prstGeom prst="rect">
            <a:avLst/>
          </a:prstGeom>
          <a:solidFill>
            <a:srgbClr val="2F5D9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6" name="Rectangle 255"/>
          <p:cNvSpPr/>
          <p:nvPr/>
        </p:nvSpPr>
        <p:spPr>
          <a:xfrm>
            <a:off x="731520" y="3127248"/>
            <a:ext cx="141732" cy="141732"/>
          </a:xfrm>
          <a:prstGeom prst="rect">
            <a:avLst/>
          </a:prstGeom>
          <a:solidFill>
            <a:srgbClr val="2F5D9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7" name="Rectangle 256"/>
          <p:cNvSpPr/>
          <p:nvPr/>
        </p:nvSpPr>
        <p:spPr>
          <a:xfrm>
            <a:off x="914400" y="3127248"/>
            <a:ext cx="141732" cy="141732"/>
          </a:xfrm>
          <a:prstGeom prst="rect">
            <a:avLst/>
          </a:prstGeom>
          <a:solidFill>
            <a:srgbClr val="2F5D9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8" name="Rectangle 257"/>
          <p:cNvSpPr/>
          <p:nvPr/>
        </p:nvSpPr>
        <p:spPr>
          <a:xfrm>
            <a:off x="1097280" y="3127248"/>
            <a:ext cx="141732" cy="141732"/>
          </a:xfrm>
          <a:prstGeom prst="rect">
            <a:avLst/>
          </a:prstGeom>
          <a:solidFill>
            <a:srgbClr val="2F5D9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9" name="Rectangle 258"/>
          <p:cNvSpPr/>
          <p:nvPr/>
        </p:nvSpPr>
        <p:spPr>
          <a:xfrm>
            <a:off x="1280160" y="3127248"/>
            <a:ext cx="141732" cy="141732"/>
          </a:xfrm>
          <a:prstGeom prst="rect">
            <a:avLst/>
          </a:prstGeom>
          <a:solidFill>
            <a:srgbClr val="2F5D9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0" name="Rectangle 259"/>
          <p:cNvSpPr/>
          <p:nvPr/>
        </p:nvSpPr>
        <p:spPr>
          <a:xfrm>
            <a:off x="1463040" y="3127248"/>
            <a:ext cx="141732" cy="141732"/>
          </a:xfrm>
          <a:prstGeom prst="rect">
            <a:avLst/>
          </a:prstGeom>
          <a:solidFill>
            <a:srgbClr val="2F5D9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1" name="Rectangle 260"/>
          <p:cNvSpPr/>
          <p:nvPr/>
        </p:nvSpPr>
        <p:spPr>
          <a:xfrm>
            <a:off x="1645920" y="3127248"/>
            <a:ext cx="141732" cy="141732"/>
          </a:xfrm>
          <a:prstGeom prst="rect">
            <a:avLst/>
          </a:prstGeom>
          <a:solidFill>
            <a:srgbClr val="2F5D9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2" name="Rectangle 261"/>
          <p:cNvSpPr/>
          <p:nvPr/>
        </p:nvSpPr>
        <p:spPr>
          <a:xfrm>
            <a:off x="1828800" y="3127248"/>
            <a:ext cx="141732" cy="141732"/>
          </a:xfrm>
          <a:prstGeom prst="rect">
            <a:avLst/>
          </a:prstGeom>
          <a:solidFill>
            <a:srgbClr val="2F5D9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3" name="Rectangle 262"/>
          <p:cNvSpPr/>
          <p:nvPr/>
        </p:nvSpPr>
        <p:spPr>
          <a:xfrm>
            <a:off x="2011680" y="3127248"/>
            <a:ext cx="141732" cy="141732"/>
          </a:xfrm>
          <a:prstGeom prst="rect">
            <a:avLst/>
          </a:prstGeom>
          <a:solidFill>
            <a:srgbClr val="2F5D9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4" name="Rectangle 263"/>
          <p:cNvSpPr/>
          <p:nvPr/>
        </p:nvSpPr>
        <p:spPr>
          <a:xfrm>
            <a:off x="2194560" y="3127248"/>
            <a:ext cx="141732" cy="141732"/>
          </a:xfrm>
          <a:prstGeom prst="rect">
            <a:avLst/>
          </a:prstGeom>
          <a:solidFill>
            <a:srgbClr val="2F5D9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5" name="Rectangle 264"/>
          <p:cNvSpPr/>
          <p:nvPr/>
        </p:nvSpPr>
        <p:spPr>
          <a:xfrm>
            <a:off x="2377440" y="3127248"/>
            <a:ext cx="141732" cy="141732"/>
          </a:xfrm>
          <a:prstGeom prst="rect">
            <a:avLst/>
          </a:prstGeom>
          <a:solidFill>
            <a:srgbClr val="2F5D9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6" name="Rectangle 265"/>
          <p:cNvSpPr/>
          <p:nvPr/>
        </p:nvSpPr>
        <p:spPr>
          <a:xfrm>
            <a:off x="2560320" y="3127248"/>
            <a:ext cx="141732" cy="141732"/>
          </a:xfrm>
          <a:prstGeom prst="rect">
            <a:avLst/>
          </a:prstGeom>
          <a:solidFill>
            <a:srgbClr val="2F5D9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7" name="Rectangle 266"/>
          <p:cNvSpPr/>
          <p:nvPr/>
        </p:nvSpPr>
        <p:spPr>
          <a:xfrm>
            <a:off x="2743200" y="3127248"/>
            <a:ext cx="141732" cy="141732"/>
          </a:xfrm>
          <a:prstGeom prst="rect">
            <a:avLst/>
          </a:prstGeom>
          <a:solidFill>
            <a:srgbClr val="2F5D9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8" name="Rectangle 267"/>
          <p:cNvSpPr/>
          <p:nvPr/>
        </p:nvSpPr>
        <p:spPr>
          <a:xfrm>
            <a:off x="2926080" y="3127248"/>
            <a:ext cx="141732" cy="141732"/>
          </a:xfrm>
          <a:prstGeom prst="rect">
            <a:avLst/>
          </a:prstGeom>
          <a:solidFill>
            <a:srgbClr val="2F5D9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9" name="Rectangle 268"/>
          <p:cNvSpPr/>
          <p:nvPr/>
        </p:nvSpPr>
        <p:spPr>
          <a:xfrm>
            <a:off x="3108960" y="3127248"/>
            <a:ext cx="141732" cy="141732"/>
          </a:xfrm>
          <a:prstGeom prst="rect">
            <a:avLst/>
          </a:prstGeom>
          <a:solidFill>
            <a:srgbClr val="2F5D9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0" name="Rectangle 269"/>
          <p:cNvSpPr/>
          <p:nvPr/>
        </p:nvSpPr>
        <p:spPr>
          <a:xfrm>
            <a:off x="3291840" y="3127248"/>
            <a:ext cx="141732" cy="141732"/>
          </a:xfrm>
          <a:prstGeom prst="rect">
            <a:avLst/>
          </a:prstGeom>
          <a:solidFill>
            <a:srgbClr val="2F5D9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1" name="Rectangle 270"/>
          <p:cNvSpPr/>
          <p:nvPr/>
        </p:nvSpPr>
        <p:spPr>
          <a:xfrm>
            <a:off x="3474720" y="3127248"/>
            <a:ext cx="141732" cy="141732"/>
          </a:xfrm>
          <a:prstGeom prst="rect">
            <a:avLst/>
          </a:prstGeom>
          <a:solidFill>
            <a:srgbClr val="2F5D9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2" name="Rectangle 271"/>
          <p:cNvSpPr/>
          <p:nvPr/>
        </p:nvSpPr>
        <p:spPr>
          <a:xfrm>
            <a:off x="3657600" y="3127248"/>
            <a:ext cx="141732" cy="141732"/>
          </a:xfrm>
          <a:prstGeom prst="rect">
            <a:avLst/>
          </a:prstGeom>
          <a:solidFill>
            <a:srgbClr val="2F5D9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3" name="Rectangle 272"/>
          <p:cNvSpPr/>
          <p:nvPr/>
        </p:nvSpPr>
        <p:spPr>
          <a:xfrm>
            <a:off x="3840480" y="3127248"/>
            <a:ext cx="141732" cy="141732"/>
          </a:xfrm>
          <a:prstGeom prst="rect">
            <a:avLst/>
          </a:prstGeom>
          <a:solidFill>
            <a:srgbClr val="2F5D9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4" name="Rectangle 273"/>
          <p:cNvSpPr/>
          <p:nvPr/>
        </p:nvSpPr>
        <p:spPr>
          <a:xfrm>
            <a:off x="4023360" y="3127248"/>
            <a:ext cx="141732" cy="141732"/>
          </a:xfrm>
          <a:prstGeom prst="rect">
            <a:avLst/>
          </a:prstGeom>
          <a:solidFill>
            <a:srgbClr val="2F5D9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5" name="Rectangle 274"/>
          <p:cNvSpPr/>
          <p:nvPr/>
        </p:nvSpPr>
        <p:spPr>
          <a:xfrm>
            <a:off x="4206240" y="3127248"/>
            <a:ext cx="141732" cy="141732"/>
          </a:xfrm>
          <a:prstGeom prst="rect">
            <a:avLst/>
          </a:prstGeom>
          <a:solidFill>
            <a:srgbClr val="2F5D9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6" name="Rectangle 275"/>
          <p:cNvSpPr/>
          <p:nvPr/>
        </p:nvSpPr>
        <p:spPr>
          <a:xfrm>
            <a:off x="4389120" y="3127248"/>
            <a:ext cx="141732" cy="141732"/>
          </a:xfrm>
          <a:prstGeom prst="rect">
            <a:avLst/>
          </a:prstGeom>
          <a:solidFill>
            <a:srgbClr val="2F5D9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7" name="Rectangle 276"/>
          <p:cNvSpPr/>
          <p:nvPr/>
        </p:nvSpPr>
        <p:spPr>
          <a:xfrm>
            <a:off x="4572000" y="3127248"/>
            <a:ext cx="141732" cy="141732"/>
          </a:xfrm>
          <a:prstGeom prst="rect">
            <a:avLst/>
          </a:prstGeom>
          <a:solidFill>
            <a:srgbClr val="2F5D9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8" name="Rectangle 277"/>
          <p:cNvSpPr/>
          <p:nvPr/>
        </p:nvSpPr>
        <p:spPr>
          <a:xfrm>
            <a:off x="4754880" y="3127248"/>
            <a:ext cx="141732" cy="141732"/>
          </a:xfrm>
          <a:prstGeom prst="rect">
            <a:avLst/>
          </a:prstGeom>
          <a:solidFill>
            <a:srgbClr val="2F5D9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9" name="Rectangle 278"/>
          <p:cNvSpPr/>
          <p:nvPr/>
        </p:nvSpPr>
        <p:spPr>
          <a:xfrm>
            <a:off x="4937760" y="3127248"/>
            <a:ext cx="141732" cy="141732"/>
          </a:xfrm>
          <a:prstGeom prst="rect">
            <a:avLst/>
          </a:prstGeom>
          <a:solidFill>
            <a:srgbClr val="2F5D9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0" name="Rectangle 279"/>
          <p:cNvSpPr/>
          <p:nvPr/>
        </p:nvSpPr>
        <p:spPr>
          <a:xfrm>
            <a:off x="5120640" y="3127248"/>
            <a:ext cx="141732" cy="141732"/>
          </a:xfrm>
          <a:prstGeom prst="rect">
            <a:avLst/>
          </a:prstGeom>
          <a:solidFill>
            <a:srgbClr val="2F5D9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1" name="Rectangle 280"/>
          <p:cNvSpPr/>
          <p:nvPr/>
        </p:nvSpPr>
        <p:spPr>
          <a:xfrm>
            <a:off x="5303520" y="3127248"/>
            <a:ext cx="141732" cy="141732"/>
          </a:xfrm>
          <a:prstGeom prst="rect">
            <a:avLst/>
          </a:prstGeom>
          <a:solidFill>
            <a:srgbClr val="2F5D9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2" name="Rectangle 281"/>
          <p:cNvSpPr/>
          <p:nvPr/>
        </p:nvSpPr>
        <p:spPr>
          <a:xfrm>
            <a:off x="5486400" y="3127248"/>
            <a:ext cx="141732" cy="141732"/>
          </a:xfrm>
          <a:prstGeom prst="rect">
            <a:avLst/>
          </a:prstGeom>
          <a:solidFill>
            <a:srgbClr val="2F5D9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3" name="Rectangle 282"/>
          <p:cNvSpPr/>
          <p:nvPr/>
        </p:nvSpPr>
        <p:spPr>
          <a:xfrm>
            <a:off x="5669280" y="3127248"/>
            <a:ext cx="141732" cy="141732"/>
          </a:xfrm>
          <a:prstGeom prst="rect">
            <a:avLst/>
          </a:prstGeom>
          <a:solidFill>
            <a:srgbClr val="2F5D9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4" name="Rectangle 283"/>
          <p:cNvSpPr/>
          <p:nvPr/>
        </p:nvSpPr>
        <p:spPr>
          <a:xfrm>
            <a:off x="5852160" y="3127248"/>
            <a:ext cx="141732" cy="141732"/>
          </a:xfrm>
          <a:prstGeom prst="rect">
            <a:avLst/>
          </a:prstGeom>
          <a:solidFill>
            <a:srgbClr val="2F5D9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5" name="Rectangle 284"/>
          <p:cNvSpPr/>
          <p:nvPr/>
        </p:nvSpPr>
        <p:spPr>
          <a:xfrm>
            <a:off x="548640" y="3310128"/>
            <a:ext cx="141732" cy="141732"/>
          </a:xfrm>
          <a:prstGeom prst="rect">
            <a:avLst/>
          </a:prstGeom>
          <a:solidFill>
            <a:srgbClr val="2F5D9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6" name="Rectangle 285"/>
          <p:cNvSpPr/>
          <p:nvPr/>
        </p:nvSpPr>
        <p:spPr>
          <a:xfrm>
            <a:off x="731520" y="3310128"/>
            <a:ext cx="141732" cy="141732"/>
          </a:xfrm>
          <a:prstGeom prst="rect">
            <a:avLst/>
          </a:prstGeom>
          <a:solidFill>
            <a:srgbClr val="2F5D9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7" name="Rectangle 286"/>
          <p:cNvSpPr/>
          <p:nvPr/>
        </p:nvSpPr>
        <p:spPr>
          <a:xfrm>
            <a:off x="914400" y="3310128"/>
            <a:ext cx="141732" cy="141732"/>
          </a:xfrm>
          <a:prstGeom prst="rect">
            <a:avLst/>
          </a:prstGeom>
          <a:solidFill>
            <a:srgbClr val="2F5D9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8" name="Rectangle 287"/>
          <p:cNvSpPr/>
          <p:nvPr/>
        </p:nvSpPr>
        <p:spPr>
          <a:xfrm>
            <a:off x="1097280" y="3310128"/>
            <a:ext cx="141732" cy="141732"/>
          </a:xfrm>
          <a:prstGeom prst="rect">
            <a:avLst/>
          </a:prstGeom>
          <a:solidFill>
            <a:srgbClr val="2F5D9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9" name="Rectangle 288"/>
          <p:cNvSpPr/>
          <p:nvPr/>
        </p:nvSpPr>
        <p:spPr>
          <a:xfrm>
            <a:off x="1280160" y="3310128"/>
            <a:ext cx="141732" cy="141732"/>
          </a:xfrm>
          <a:prstGeom prst="rect">
            <a:avLst/>
          </a:prstGeom>
          <a:solidFill>
            <a:srgbClr val="2F5D9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0" name="Rectangle 289"/>
          <p:cNvSpPr/>
          <p:nvPr/>
        </p:nvSpPr>
        <p:spPr>
          <a:xfrm>
            <a:off x="1463040" y="3310128"/>
            <a:ext cx="141732" cy="141732"/>
          </a:xfrm>
          <a:prstGeom prst="rect">
            <a:avLst/>
          </a:prstGeom>
          <a:solidFill>
            <a:srgbClr val="2F5D9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1" name="Rectangle 290"/>
          <p:cNvSpPr/>
          <p:nvPr/>
        </p:nvSpPr>
        <p:spPr>
          <a:xfrm>
            <a:off x="1645920" y="3310128"/>
            <a:ext cx="141732" cy="141732"/>
          </a:xfrm>
          <a:prstGeom prst="rect">
            <a:avLst/>
          </a:prstGeom>
          <a:solidFill>
            <a:srgbClr val="2F5D9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2" name="Rectangle 291"/>
          <p:cNvSpPr/>
          <p:nvPr/>
        </p:nvSpPr>
        <p:spPr>
          <a:xfrm>
            <a:off x="1828800" y="3310128"/>
            <a:ext cx="141732" cy="141732"/>
          </a:xfrm>
          <a:prstGeom prst="rect">
            <a:avLst/>
          </a:prstGeom>
          <a:solidFill>
            <a:srgbClr val="2F5D9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3" name="Rectangle 292"/>
          <p:cNvSpPr/>
          <p:nvPr/>
        </p:nvSpPr>
        <p:spPr>
          <a:xfrm>
            <a:off x="2011680" y="3310128"/>
            <a:ext cx="141732" cy="141732"/>
          </a:xfrm>
          <a:prstGeom prst="rect">
            <a:avLst/>
          </a:prstGeom>
          <a:solidFill>
            <a:srgbClr val="2F5D9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4" name="Rectangle 293"/>
          <p:cNvSpPr/>
          <p:nvPr/>
        </p:nvSpPr>
        <p:spPr>
          <a:xfrm>
            <a:off x="2194560" y="3310128"/>
            <a:ext cx="141732" cy="141732"/>
          </a:xfrm>
          <a:prstGeom prst="rect">
            <a:avLst/>
          </a:prstGeom>
          <a:solidFill>
            <a:srgbClr val="2F5D9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5" name="Rectangle 294"/>
          <p:cNvSpPr/>
          <p:nvPr/>
        </p:nvSpPr>
        <p:spPr>
          <a:xfrm>
            <a:off x="2377440" y="3310128"/>
            <a:ext cx="141732" cy="141732"/>
          </a:xfrm>
          <a:prstGeom prst="rect">
            <a:avLst/>
          </a:prstGeom>
          <a:solidFill>
            <a:srgbClr val="2F5D9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6" name="Rectangle 295"/>
          <p:cNvSpPr/>
          <p:nvPr/>
        </p:nvSpPr>
        <p:spPr>
          <a:xfrm>
            <a:off x="2560320" y="3310128"/>
            <a:ext cx="141732" cy="141732"/>
          </a:xfrm>
          <a:prstGeom prst="rect">
            <a:avLst/>
          </a:prstGeom>
          <a:solidFill>
            <a:srgbClr val="2F5D9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7" name="Rectangle 296"/>
          <p:cNvSpPr/>
          <p:nvPr/>
        </p:nvSpPr>
        <p:spPr>
          <a:xfrm>
            <a:off x="2743200" y="3310128"/>
            <a:ext cx="141732" cy="141732"/>
          </a:xfrm>
          <a:prstGeom prst="rect">
            <a:avLst/>
          </a:prstGeom>
          <a:solidFill>
            <a:srgbClr val="2F5D9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8" name="Rectangle 297"/>
          <p:cNvSpPr/>
          <p:nvPr/>
        </p:nvSpPr>
        <p:spPr>
          <a:xfrm>
            <a:off x="2926080" y="3310128"/>
            <a:ext cx="141732" cy="141732"/>
          </a:xfrm>
          <a:prstGeom prst="rect">
            <a:avLst/>
          </a:prstGeom>
          <a:solidFill>
            <a:srgbClr val="2F5D9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9" name="Rectangle 298"/>
          <p:cNvSpPr/>
          <p:nvPr/>
        </p:nvSpPr>
        <p:spPr>
          <a:xfrm>
            <a:off x="3108960" y="3310128"/>
            <a:ext cx="141732" cy="141732"/>
          </a:xfrm>
          <a:prstGeom prst="rect">
            <a:avLst/>
          </a:prstGeom>
          <a:solidFill>
            <a:srgbClr val="2F5D9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0" name="Rectangle 299"/>
          <p:cNvSpPr/>
          <p:nvPr/>
        </p:nvSpPr>
        <p:spPr>
          <a:xfrm>
            <a:off x="3291840" y="3310128"/>
            <a:ext cx="141732" cy="141732"/>
          </a:xfrm>
          <a:prstGeom prst="rect">
            <a:avLst/>
          </a:prstGeom>
          <a:solidFill>
            <a:srgbClr val="2F5D9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1" name="Rectangle 300"/>
          <p:cNvSpPr/>
          <p:nvPr/>
        </p:nvSpPr>
        <p:spPr>
          <a:xfrm>
            <a:off x="3474720" y="3310128"/>
            <a:ext cx="141732" cy="141732"/>
          </a:xfrm>
          <a:prstGeom prst="rect">
            <a:avLst/>
          </a:prstGeom>
          <a:solidFill>
            <a:srgbClr val="2F5D9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2" name="Rectangle 301"/>
          <p:cNvSpPr/>
          <p:nvPr/>
        </p:nvSpPr>
        <p:spPr>
          <a:xfrm>
            <a:off x="3657600" y="3310128"/>
            <a:ext cx="141732" cy="141732"/>
          </a:xfrm>
          <a:prstGeom prst="rect">
            <a:avLst/>
          </a:prstGeom>
          <a:solidFill>
            <a:srgbClr val="2F5D9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3" name="Rectangle 302"/>
          <p:cNvSpPr/>
          <p:nvPr/>
        </p:nvSpPr>
        <p:spPr>
          <a:xfrm>
            <a:off x="3840480" y="3310128"/>
            <a:ext cx="141732" cy="141732"/>
          </a:xfrm>
          <a:prstGeom prst="rect">
            <a:avLst/>
          </a:prstGeom>
          <a:solidFill>
            <a:srgbClr val="2F5D9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4" name="Rectangle 303"/>
          <p:cNvSpPr/>
          <p:nvPr/>
        </p:nvSpPr>
        <p:spPr>
          <a:xfrm>
            <a:off x="4023360" y="3310128"/>
            <a:ext cx="141732" cy="141732"/>
          </a:xfrm>
          <a:prstGeom prst="rect">
            <a:avLst/>
          </a:prstGeom>
          <a:solidFill>
            <a:srgbClr val="2F5D9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5" name="Rectangle 304"/>
          <p:cNvSpPr/>
          <p:nvPr/>
        </p:nvSpPr>
        <p:spPr>
          <a:xfrm>
            <a:off x="4206240" y="3310128"/>
            <a:ext cx="141732" cy="141732"/>
          </a:xfrm>
          <a:prstGeom prst="rect">
            <a:avLst/>
          </a:prstGeom>
          <a:solidFill>
            <a:srgbClr val="2F5D9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6" name="Rectangle 305"/>
          <p:cNvSpPr/>
          <p:nvPr/>
        </p:nvSpPr>
        <p:spPr>
          <a:xfrm>
            <a:off x="4389120" y="3310128"/>
            <a:ext cx="141732" cy="141732"/>
          </a:xfrm>
          <a:prstGeom prst="rect">
            <a:avLst/>
          </a:prstGeom>
          <a:solidFill>
            <a:srgbClr val="2F5D9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7" name="Rectangle 306"/>
          <p:cNvSpPr/>
          <p:nvPr/>
        </p:nvSpPr>
        <p:spPr>
          <a:xfrm>
            <a:off x="4572000" y="3310128"/>
            <a:ext cx="141732" cy="141732"/>
          </a:xfrm>
          <a:prstGeom prst="rect">
            <a:avLst/>
          </a:prstGeom>
          <a:solidFill>
            <a:srgbClr val="2F5D9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8" name="Rectangle 307"/>
          <p:cNvSpPr/>
          <p:nvPr/>
        </p:nvSpPr>
        <p:spPr>
          <a:xfrm>
            <a:off x="4754880" y="3310128"/>
            <a:ext cx="141732" cy="141732"/>
          </a:xfrm>
          <a:prstGeom prst="rect">
            <a:avLst/>
          </a:prstGeom>
          <a:solidFill>
            <a:srgbClr val="2F5D9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9" name="Rectangle 308"/>
          <p:cNvSpPr/>
          <p:nvPr/>
        </p:nvSpPr>
        <p:spPr>
          <a:xfrm>
            <a:off x="4937760" y="3310128"/>
            <a:ext cx="141732" cy="141732"/>
          </a:xfrm>
          <a:prstGeom prst="rect">
            <a:avLst/>
          </a:prstGeom>
          <a:solidFill>
            <a:srgbClr val="2F5D9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10" name="Rectangle 309"/>
          <p:cNvSpPr/>
          <p:nvPr/>
        </p:nvSpPr>
        <p:spPr>
          <a:xfrm>
            <a:off x="5120640" y="3310128"/>
            <a:ext cx="141732" cy="141732"/>
          </a:xfrm>
          <a:prstGeom prst="rect">
            <a:avLst/>
          </a:prstGeom>
          <a:solidFill>
            <a:srgbClr val="2F5D9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11" name="Rectangle 310"/>
          <p:cNvSpPr/>
          <p:nvPr/>
        </p:nvSpPr>
        <p:spPr>
          <a:xfrm>
            <a:off x="5303520" y="3310128"/>
            <a:ext cx="141732" cy="141732"/>
          </a:xfrm>
          <a:prstGeom prst="rect">
            <a:avLst/>
          </a:prstGeom>
          <a:solidFill>
            <a:srgbClr val="2F5D9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12" name="Rectangle 311"/>
          <p:cNvSpPr/>
          <p:nvPr/>
        </p:nvSpPr>
        <p:spPr>
          <a:xfrm>
            <a:off x="5486400" y="3310128"/>
            <a:ext cx="141732" cy="141732"/>
          </a:xfrm>
          <a:prstGeom prst="rect">
            <a:avLst/>
          </a:prstGeom>
          <a:solidFill>
            <a:srgbClr val="2F5D9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13" name="Rectangle 312"/>
          <p:cNvSpPr/>
          <p:nvPr/>
        </p:nvSpPr>
        <p:spPr>
          <a:xfrm>
            <a:off x="5669280" y="3310128"/>
            <a:ext cx="141732" cy="141732"/>
          </a:xfrm>
          <a:prstGeom prst="rect">
            <a:avLst/>
          </a:prstGeom>
          <a:solidFill>
            <a:srgbClr val="2F5D9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14" name="Rectangle 313"/>
          <p:cNvSpPr/>
          <p:nvPr/>
        </p:nvSpPr>
        <p:spPr>
          <a:xfrm>
            <a:off x="5852160" y="3310128"/>
            <a:ext cx="141732" cy="141732"/>
          </a:xfrm>
          <a:prstGeom prst="rect">
            <a:avLst/>
          </a:prstGeom>
          <a:solidFill>
            <a:srgbClr val="2F5D9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15" name="Rectangle 314"/>
          <p:cNvSpPr/>
          <p:nvPr/>
        </p:nvSpPr>
        <p:spPr>
          <a:xfrm>
            <a:off x="548640" y="3493008"/>
            <a:ext cx="141732" cy="141732"/>
          </a:xfrm>
          <a:prstGeom prst="rect">
            <a:avLst/>
          </a:prstGeom>
          <a:solidFill>
            <a:srgbClr val="2F5D9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16" name="Rectangle 315"/>
          <p:cNvSpPr/>
          <p:nvPr/>
        </p:nvSpPr>
        <p:spPr>
          <a:xfrm>
            <a:off x="731520" y="3493008"/>
            <a:ext cx="141732" cy="141732"/>
          </a:xfrm>
          <a:prstGeom prst="rect">
            <a:avLst/>
          </a:prstGeom>
          <a:solidFill>
            <a:srgbClr val="2F5D9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17" name="Rectangle 316"/>
          <p:cNvSpPr/>
          <p:nvPr/>
        </p:nvSpPr>
        <p:spPr>
          <a:xfrm>
            <a:off x="914400" y="3493008"/>
            <a:ext cx="141732" cy="141732"/>
          </a:xfrm>
          <a:prstGeom prst="rect">
            <a:avLst/>
          </a:prstGeom>
          <a:solidFill>
            <a:srgbClr val="2F5D9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18" name="Rectangle 317"/>
          <p:cNvSpPr/>
          <p:nvPr/>
        </p:nvSpPr>
        <p:spPr>
          <a:xfrm>
            <a:off x="1097280" y="3493008"/>
            <a:ext cx="141732" cy="141732"/>
          </a:xfrm>
          <a:prstGeom prst="rect">
            <a:avLst/>
          </a:prstGeom>
          <a:solidFill>
            <a:srgbClr val="2F5D9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19" name="Rectangle 318"/>
          <p:cNvSpPr/>
          <p:nvPr/>
        </p:nvSpPr>
        <p:spPr>
          <a:xfrm>
            <a:off x="1280160" y="3493008"/>
            <a:ext cx="141732" cy="141732"/>
          </a:xfrm>
          <a:prstGeom prst="rect">
            <a:avLst/>
          </a:prstGeom>
          <a:solidFill>
            <a:srgbClr val="2F5D9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20" name="Rectangle 319"/>
          <p:cNvSpPr/>
          <p:nvPr/>
        </p:nvSpPr>
        <p:spPr>
          <a:xfrm>
            <a:off x="1463040" y="3493008"/>
            <a:ext cx="141732" cy="141732"/>
          </a:xfrm>
          <a:prstGeom prst="rect">
            <a:avLst/>
          </a:prstGeom>
          <a:solidFill>
            <a:srgbClr val="2F5D9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21" name="Rectangle 320"/>
          <p:cNvSpPr/>
          <p:nvPr/>
        </p:nvSpPr>
        <p:spPr>
          <a:xfrm>
            <a:off x="1645920" y="3493008"/>
            <a:ext cx="141732" cy="141732"/>
          </a:xfrm>
          <a:prstGeom prst="rect">
            <a:avLst/>
          </a:prstGeom>
          <a:solidFill>
            <a:srgbClr val="2F5D9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22" name="Rectangle 321"/>
          <p:cNvSpPr/>
          <p:nvPr/>
        </p:nvSpPr>
        <p:spPr>
          <a:xfrm>
            <a:off x="1828800" y="3493008"/>
            <a:ext cx="141732" cy="141732"/>
          </a:xfrm>
          <a:prstGeom prst="rect">
            <a:avLst/>
          </a:prstGeom>
          <a:solidFill>
            <a:srgbClr val="2F5D9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23" name="Rectangle 322"/>
          <p:cNvSpPr/>
          <p:nvPr/>
        </p:nvSpPr>
        <p:spPr>
          <a:xfrm>
            <a:off x="2011680" y="3493008"/>
            <a:ext cx="141732" cy="141732"/>
          </a:xfrm>
          <a:prstGeom prst="rect">
            <a:avLst/>
          </a:prstGeom>
          <a:solidFill>
            <a:srgbClr val="2F5D9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24" name="Rectangle 323"/>
          <p:cNvSpPr/>
          <p:nvPr/>
        </p:nvSpPr>
        <p:spPr>
          <a:xfrm>
            <a:off x="2194560" y="3493008"/>
            <a:ext cx="141732" cy="141732"/>
          </a:xfrm>
          <a:prstGeom prst="rect">
            <a:avLst/>
          </a:prstGeom>
          <a:solidFill>
            <a:srgbClr val="2F5D9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25" name="Rectangle 324"/>
          <p:cNvSpPr/>
          <p:nvPr/>
        </p:nvSpPr>
        <p:spPr>
          <a:xfrm>
            <a:off x="2377440" y="3493008"/>
            <a:ext cx="141732" cy="141732"/>
          </a:xfrm>
          <a:prstGeom prst="rect">
            <a:avLst/>
          </a:prstGeom>
          <a:solidFill>
            <a:srgbClr val="2F5D9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26" name="Rectangle 325"/>
          <p:cNvSpPr/>
          <p:nvPr/>
        </p:nvSpPr>
        <p:spPr>
          <a:xfrm>
            <a:off x="2560320" y="3493008"/>
            <a:ext cx="141732" cy="141732"/>
          </a:xfrm>
          <a:prstGeom prst="rect">
            <a:avLst/>
          </a:prstGeom>
          <a:solidFill>
            <a:srgbClr val="2F5D9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27" name="Rectangle 326"/>
          <p:cNvSpPr/>
          <p:nvPr/>
        </p:nvSpPr>
        <p:spPr>
          <a:xfrm>
            <a:off x="2743200" y="3493008"/>
            <a:ext cx="141732" cy="141732"/>
          </a:xfrm>
          <a:prstGeom prst="rect">
            <a:avLst/>
          </a:prstGeom>
          <a:solidFill>
            <a:srgbClr val="2F5D9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28" name="Rectangle 327"/>
          <p:cNvSpPr/>
          <p:nvPr/>
        </p:nvSpPr>
        <p:spPr>
          <a:xfrm>
            <a:off x="2926080" y="3493008"/>
            <a:ext cx="141732" cy="141732"/>
          </a:xfrm>
          <a:prstGeom prst="rect">
            <a:avLst/>
          </a:prstGeom>
          <a:solidFill>
            <a:srgbClr val="2F5D9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29" name="Rectangle 328"/>
          <p:cNvSpPr/>
          <p:nvPr/>
        </p:nvSpPr>
        <p:spPr>
          <a:xfrm>
            <a:off x="3108960" y="3493008"/>
            <a:ext cx="141732" cy="141732"/>
          </a:xfrm>
          <a:prstGeom prst="rect">
            <a:avLst/>
          </a:prstGeom>
          <a:solidFill>
            <a:srgbClr val="2F5D9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30" name="Rectangle 329"/>
          <p:cNvSpPr/>
          <p:nvPr/>
        </p:nvSpPr>
        <p:spPr>
          <a:xfrm>
            <a:off x="3291840" y="3493008"/>
            <a:ext cx="141732" cy="141732"/>
          </a:xfrm>
          <a:prstGeom prst="rect">
            <a:avLst/>
          </a:prstGeom>
          <a:solidFill>
            <a:srgbClr val="2F5D9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31" name="Rectangle 330"/>
          <p:cNvSpPr/>
          <p:nvPr/>
        </p:nvSpPr>
        <p:spPr>
          <a:xfrm>
            <a:off x="3474720" y="3493008"/>
            <a:ext cx="141732" cy="141732"/>
          </a:xfrm>
          <a:prstGeom prst="rect">
            <a:avLst/>
          </a:prstGeom>
          <a:solidFill>
            <a:srgbClr val="2F5D9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32" name="Rectangle 331"/>
          <p:cNvSpPr/>
          <p:nvPr/>
        </p:nvSpPr>
        <p:spPr>
          <a:xfrm>
            <a:off x="3657600" y="3493008"/>
            <a:ext cx="141732" cy="141732"/>
          </a:xfrm>
          <a:prstGeom prst="rect">
            <a:avLst/>
          </a:prstGeom>
          <a:solidFill>
            <a:srgbClr val="2F5D9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33" name="Rectangle 332"/>
          <p:cNvSpPr/>
          <p:nvPr/>
        </p:nvSpPr>
        <p:spPr>
          <a:xfrm>
            <a:off x="3840480" y="3493008"/>
            <a:ext cx="141732" cy="141732"/>
          </a:xfrm>
          <a:prstGeom prst="rect">
            <a:avLst/>
          </a:prstGeom>
          <a:solidFill>
            <a:srgbClr val="2F5D9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34" name="Rectangle 333"/>
          <p:cNvSpPr/>
          <p:nvPr/>
        </p:nvSpPr>
        <p:spPr>
          <a:xfrm>
            <a:off x="4023360" y="3493008"/>
            <a:ext cx="141732" cy="141732"/>
          </a:xfrm>
          <a:prstGeom prst="rect">
            <a:avLst/>
          </a:prstGeom>
          <a:solidFill>
            <a:srgbClr val="2F5D9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35" name="Rectangle 334"/>
          <p:cNvSpPr/>
          <p:nvPr/>
        </p:nvSpPr>
        <p:spPr>
          <a:xfrm>
            <a:off x="4206240" y="3493008"/>
            <a:ext cx="141732" cy="141732"/>
          </a:xfrm>
          <a:prstGeom prst="rect">
            <a:avLst/>
          </a:prstGeom>
          <a:solidFill>
            <a:srgbClr val="2F5D9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36" name="Rectangle 335"/>
          <p:cNvSpPr/>
          <p:nvPr/>
        </p:nvSpPr>
        <p:spPr>
          <a:xfrm>
            <a:off x="4389120" y="3493008"/>
            <a:ext cx="141732" cy="141732"/>
          </a:xfrm>
          <a:prstGeom prst="rect">
            <a:avLst/>
          </a:prstGeom>
          <a:solidFill>
            <a:srgbClr val="2F5D9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37" name="Rectangle 336"/>
          <p:cNvSpPr/>
          <p:nvPr/>
        </p:nvSpPr>
        <p:spPr>
          <a:xfrm>
            <a:off x="4572000" y="3493008"/>
            <a:ext cx="141732" cy="141732"/>
          </a:xfrm>
          <a:prstGeom prst="rect">
            <a:avLst/>
          </a:prstGeom>
          <a:solidFill>
            <a:srgbClr val="2F5D9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38" name="Rectangle 337"/>
          <p:cNvSpPr/>
          <p:nvPr/>
        </p:nvSpPr>
        <p:spPr>
          <a:xfrm>
            <a:off x="4754880" y="3493008"/>
            <a:ext cx="141732" cy="141732"/>
          </a:xfrm>
          <a:prstGeom prst="rect">
            <a:avLst/>
          </a:prstGeom>
          <a:solidFill>
            <a:srgbClr val="2F5D9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39" name="Rectangle 338"/>
          <p:cNvSpPr/>
          <p:nvPr/>
        </p:nvSpPr>
        <p:spPr>
          <a:xfrm>
            <a:off x="4937760" y="3493008"/>
            <a:ext cx="141732" cy="141732"/>
          </a:xfrm>
          <a:prstGeom prst="rect">
            <a:avLst/>
          </a:prstGeom>
          <a:solidFill>
            <a:srgbClr val="2F5D9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40" name="Rectangle 339"/>
          <p:cNvSpPr/>
          <p:nvPr/>
        </p:nvSpPr>
        <p:spPr>
          <a:xfrm>
            <a:off x="5120640" y="3493008"/>
            <a:ext cx="141732" cy="141732"/>
          </a:xfrm>
          <a:prstGeom prst="rect">
            <a:avLst/>
          </a:prstGeom>
          <a:solidFill>
            <a:srgbClr val="2F5D9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41" name="Rectangle 340"/>
          <p:cNvSpPr/>
          <p:nvPr/>
        </p:nvSpPr>
        <p:spPr>
          <a:xfrm>
            <a:off x="5303520" y="3493008"/>
            <a:ext cx="141732" cy="141732"/>
          </a:xfrm>
          <a:prstGeom prst="rect">
            <a:avLst/>
          </a:prstGeom>
          <a:solidFill>
            <a:srgbClr val="2F5D9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42" name="Rectangle 341"/>
          <p:cNvSpPr/>
          <p:nvPr/>
        </p:nvSpPr>
        <p:spPr>
          <a:xfrm>
            <a:off x="5486400" y="3493008"/>
            <a:ext cx="141732" cy="141732"/>
          </a:xfrm>
          <a:prstGeom prst="rect">
            <a:avLst/>
          </a:prstGeom>
          <a:solidFill>
            <a:srgbClr val="2F5D9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43" name="Rectangle 342"/>
          <p:cNvSpPr/>
          <p:nvPr/>
        </p:nvSpPr>
        <p:spPr>
          <a:xfrm>
            <a:off x="5669280" y="3493008"/>
            <a:ext cx="141732" cy="141732"/>
          </a:xfrm>
          <a:prstGeom prst="rect">
            <a:avLst/>
          </a:prstGeom>
          <a:solidFill>
            <a:srgbClr val="2F5D9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44" name="Rectangle 343"/>
          <p:cNvSpPr/>
          <p:nvPr/>
        </p:nvSpPr>
        <p:spPr>
          <a:xfrm>
            <a:off x="5852160" y="3493008"/>
            <a:ext cx="141732" cy="141732"/>
          </a:xfrm>
          <a:prstGeom prst="rect">
            <a:avLst/>
          </a:prstGeom>
          <a:solidFill>
            <a:srgbClr val="2F5D9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45" name="Rectangle 344"/>
          <p:cNvSpPr/>
          <p:nvPr/>
        </p:nvSpPr>
        <p:spPr>
          <a:xfrm>
            <a:off x="548640" y="3675888"/>
            <a:ext cx="141732" cy="141732"/>
          </a:xfrm>
          <a:prstGeom prst="rect">
            <a:avLst/>
          </a:prstGeom>
          <a:solidFill>
            <a:srgbClr val="2F5D9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46" name="Rectangle 345"/>
          <p:cNvSpPr/>
          <p:nvPr/>
        </p:nvSpPr>
        <p:spPr>
          <a:xfrm>
            <a:off x="731520" y="3675888"/>
            <a:ext cx="141732" cy="141732"/>
          </a:xfrm>
          <a:prstGeom prst="rect">
            <a:avLst/>
          </a:prstGeom>
          <a:solidFill>
            <a:srgbClr val="2F5D9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47" name="Rectangle 346"/>
          <p:cNvSpPr/>
          <p:nvPr/>
        </p:nvSpPr>
        <p:spPr>
          <a:xfrm>
            <a:off x="914400" y="3675888"/>
            <a:ext cx="141732" cy="141732"/>
          </a:xfrm>
          <a:prstGeom prst="rect">
            <a:avLst/>
          </a:prstGeom>
          <a:solidFill>
            <a:srgbClr val="2F5D9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48" name="Rectangle 347"/>
          <p:cNvSpPr/>
          <p:nvPr/>
        </p:nvSpPr>
        <p:spPr>
          <a:xfrm>
            <a:off x="1097280" y="3675888"/>
            <a:ext cx="141732" cy="141732"/>
          </a:xfrm>
          <a:prstGeom prst="rect">
            <a:avLst/>
          </a:prstGeom>
          <a:solidFill>
            <a:srgbClr val="2F5D9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49" name="Rectangle 348"/>
          <p:cNvSpPr/>
          <p:nvPr/>
        </p:nvSpPr>
        <p:spPr>
          <a:xfrm>
            <a:off x="1280160" y="3675888"/>
            <a:ext cx="141732" cy="141732"/>
          </a:xfrm>
          <a:prstGeom prst="rect">
            <a:avLst/>
          </a:prstGeom>
          <a:solidFill>
            <a:srgbClr val="2F5D9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50" name="Rectangle 349"/>
          <p:cNvSpPr/>
          <p:nvPr/>
        </p:nvSpPr>
        <p:spPr>
          <a:xfrm>
            <a:off x="1463040" y="3675888"/>
            <a:ext cx="141732" cy="141732"/>
          </a:xfrm>
          <a:prstGeom prst="rect">
            <a:avLst/>
          </a:prstGeom>
          <a:solidFill>
            <a:srgbClr val="2F5D9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51" name="Rectangle 350"/>
          <p:cNvSpPr/>
          <p:nvPr/>
        </p:nvSpPr>
        <p:spPr>
          <a:xfrm>
            <a:off x="1645920" y="3675888"/>
            <a:ext cx="141732" cy="141732"/>
          </a:xfrm>
          <a:prstGeom prst="rect">
            <a:avLst/>
          </a:prstGeom>
          <a:solidFill>
            <a:srgbClr val="2F5D9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52" name="Rectangle 351"/>
          <p:cNvSpPr/>
          <p:nvPr/>
        </p:nvSpPr>
        <p:spPr>
          <a:xfrm>
            <a:off x="1828800" y="3675888"/>
            <a:ext cx="141732" cy="141732"/>
          </a:xfrm>
          <a:prstGeom prst="rect">
            <a:avLst/>
          </a:prstGeom>
          <a:solidFill>
            <a:srgbClr val="2F5D9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53" name="Rectangle 352"/>
          <p:cNvSpPr/>
          <p:nvPr/>
        </p:nvSpPr>
        <p:spPr>
          <a:xfrm>
            <a:off x="2011680" y="3675888"/>
            <a:ext cx="141732" cy="141732"/>
          </a:xfrm>
          <a:prstGeom prst="rect">
            <a:avLst/>
          </a:prstGeom>
          <a:solidFill>
            <a:srgbClr val="2F5D9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54" name="Rectangle 353"/>
          <p:cNvSpPr/>
          <p:nvPr/>
        </p:nvSpPr>
        <p:spPr>
          <a:xfrm>
            <a:off x="2194560" y="3675888"/>
            <a:ext cx="141732" cy="141732"/>
          </a:xfrm>
          <a:prstGeom prst="rect">
            <a:avLst/>
          </a:prstGeom>
          <a:solidFill>
            <a:srgbClr val="2F5D9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55" name="Rectangle 354"/>
          <p:cNvSpPr/>
          <p:nvPr/>
        </p:nvSpPr>
        <p:spPr>
          <a:xfrm>
            <a:off x="2377440" y="3675888"/>
            <a:ext cx="141732" cy="141732"/>
          </a:xfrm>
          <a:prstGeom prst="rect">
            <a:avLst/>
          </a:prstGeom>
          <a:solidFill>
            <a:srgbClr val="2F5D9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56" name="Rectangle 355"/>
          <p:cNvSpPr/>
          <p:nvPr/>
        </p:nvSpPr>
        <p:spPr>
          <a:xfrm>
            <a:off x="2560320" y="3675888"/>
            <a:ext cx="141732" cy="141732"/>
          </a:xfrm>
          <a:prstGeom prst="rect">
            <a:avLst/>
          </a:prstGeom>
          <a:solidFill>
            <a:srgbClr val="2F5D9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57" name="Rectangle 356"/>
          <p:cNvSpPr/>
          <p:nvPr/>
        </p:nvSpPr>
        <p:spPr>
          <a:xfrm>
            <a:off x="2743200" y="3675888"/>
            <a:ext cx="141732" cy="141732"/>
          </a:xfrm>
          <a:prstGeom prst="rect">
            <a:avLst/>
          </a:prstGeom>
          <a:solidFill>
            <a:srgbClr val="2F5D9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58" name="Rectangle 357"/>
          <p:cNvSpPr/>
          <p:nvPr/>
        </p:nvSpPr>
        <p:spPr>
          <a:xfrm>
            <a:off x="2926080" y="3675888"/>
            <a:ext cx="141732" cy="141732"/>
          </a:xfrm>
          <a:prstGeom prst="rect">
            <a:avLst/>
          </a:prstGeom>
          <a:solidFill>
            <a:srgbClr val="2F5D9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59" name="Rectangle 358"/>
          <p:cNvSpPr/>
          <p:nvPr/>
        </p:nvSpPr>
        <p:spPr>
          <a:xfrm>
            <a:off x="3108960" y="3675888"/>
            <a:ext cx="141732" cy="141732"/>
          </a:xfrm>
          <a:prstGeom prst="rect">
            <a:avLst/>
          </a:prstGeom>
          <a:solidFill>
            <a:srgbClr val="2F5D9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0" name="Rectangle 359"/>
          <p:cNvSpPr/>
          <p:nvPr/>
        </p:nvSpPr>
        <p:spPr>
          <a:xfrm>
            <a:off x="3291840" y="3675888"/>
            <a:ext cx="141732" cy="141732"/>
          </a:xfrm>
          <a:prstGeom prst="rect">
            <a:avLst/>
          </a:prstGeom>
          <a:solidFill>
            <a:srgbClr val="2F5D9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1" name="Rectangle 360"/>
          <p:cNvSpPr/>
          <p:nvPr/>
        </p:nvSpPr>
        <p:spPr>
          <a:xfrm>
            <a:off x="3474720" y="3675888"/>
            <a:ext cx="141732" cy="141732"/>
          </a:xfrm>
          <a:prstGeom prst="rect">
            <a:avLst/>
          </a:prstGeom>
          <a:solidFill>
            <a:srgbClr val="2F5D9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2" name="Rectangle 361"/>
          <p:cNvSpPr/>
          <p:nvPr/>
        </p:nvSpPr>
        <p:spPr>
          <a:xfrm>
            <a:off x="3657600" y="3675888"/>
            <a:ext cx="141732" cy="141732"/>
          </a:xfrm>
          <a:prstGeom prst="rect">
            <a:avLst/>
          </a:prstGeom>
          <a:solidFill>
            <a:srgbClr val="2F5D9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3" name="Rectangle 362"/>
          <p:cNvSpPr/>
          <p:nvPr/>
        </p:nvSpPr>
        <p:spPr>
          <a:xfrm>
            <a:off x="3840480" y="3675888"/>
            <a:ext cx="141732" cy="141732"/>
          </a:xfrm>
          <a:prstGeom prst="rect">
            <a:avLst/>
          </a:prstGeom>
          <a:solidFill>
            <a:srgbClr val="2F5D9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4" name="Rectangle 363"/>
          <p:cNvSpPr/>
          <p:nvPr/>
        </p:nvSpPr>
        <p:spPr>
          <a:xfrm>
            <a:off x="4023360" y="3675888"/>
            <a:ext cx="141732" cy="141732"/>
          </a:xfrm>
          <a:prstGeom prst="rect">
            <a:avLst/>
          </a:prstGeom>
          <a:solidFill>
            <a:srgbClr val="2F5D9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5" name="Rectangle 364"/>
          <p:cNvSpPr/>
          <p:nvPr/>
        </p:nvSpPr>
        <p:spPr>
          <a:xfrm>
            <a:off x="4206240" y="3675888"/>
            <a:ext cx="141732" cy="141732"/>
          </a:xfrm>
          <a:prstGeom prst="rect">
            <a:avLst/>
          </a:prstGeom>
          <a:solidFill>
            <a:srgbClr val="2F5D9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6" name="Rectangle 365"/>
          <p:cNvSpPr/>
          <p:nvPr/>
        </p:nvSpPr>
        <p:spPr>
          <a:xfrm>
            <a:off x="4389120" y="3675888"/>
            <a:ext cx="141732" cy="141732"/>
          </a:xfrm>
          <a:prstGeom prst="rect">
            <a:avLst/>
          </a:prstGeom>
          <a:solidFill>
            <a:srgbClr val="2F5D9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7" name="Rectangle 366"/>
          <p:cNvSpPr/>
          <p:nvPr/>
        </p:nvSpPr>
        <p:spPr>
          <a:xfrm>
            <a:off x="4572000" y="3675888"/>
            <a:ext cx="141732" cy="141732"/>
          </a:xfrm>
          <a:prstGeom prst="rect">
            <a:avLst/>
          </a:prstGeom>
          <a:solidFill>
            <a:srgbClr val="2F5D9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8" name="Rectangle 367"/>
          <p:cNvSpPr/>
          <p:nvPr/>
        </p:nvSpPr>
        <p:spPr>
          <a:xfrm>
            <a:off x="4754880" y="3675888"/>
            <a:ext cx="141732" cy="141732"/>
          </a:xfrm>
          <a:prstGeom prst="rect">
            <a:avLst/>
          </a:prstGeom>
          <a:solidFill>
            <a:srgbClr val="2F5D9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9" name="Rectangle 368"/>
          <p:cNvSpPr/>
          <p:nvPr/>
        </p:nvSpPr>
        <p:spPr>
          <a:xfrm>
            <a:off x="4937760" y="3675888"/>
            <a:ext cx="141732" cy="141732"/>
          </a:xfrm>
          <a:prstGeom prst="rect">
            <a:avLst/>
          </a:prstGeom>
          <a:solidFill>
            <a:srgbClr val="2F5D9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70" name="Rectangle 369"/>
          <p:cNvSpPr/>
          <p:nvPr/>
        </p:nvSpPr>
        <p:spPr>
          <a:xfrm>
            <a:off x="5120640" y="3675888"/>
            <a:ext cx="141732" cy="141732"/>
          </a:xfrm>
          <a:prstGeom prst="rect">
            <a:avLst/>
          </a:prstGeom>
          <a:solidFill>
            <a:srgbClr val="2F5D9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71" name="Rectangle 370"/>
          <p:cNvSpPr/>
          <p:nvPr/>
        </p:nvSpPr>
        <p:spPr>
          <a:xfrm>
            <a:off x="5303520" y="3675888"/>
            <a:ext cx="141732" cy="141732"/>
          </a:xfrm>
          <a:prstGeom prst="rect">
            <a:avLst/>
          </a:prstGeom>
          <a:solidFill>
            <a:srgbClr val="2F5D9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72" name="Rectangle 371"/>
          <p:cNvSpPr/>
          <p:nvPr/>
        </p:nvSpPr>
        <p:spPr>
          <a:xfrm>
            <a:off x="5486400" y="3675888"/>
            <a:ext cx="141732" cy="141732"/>
          </a:xfrm>
          <a:prstGeom prst="rect">
            <a:avLst/>
          </a:prstGeom>
          <a:solidFill>
            <a:srgbClr val="2F5D9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73" name="Rectangle 372"/>
          <p:cNvSpPr/>
          <p:nvPr/>
        </p:nvSpPr>
        <p:spPr>
          <a:xfrm>
            <a:off x="5669280" y="3675888"/>
            <a:ext cx="141732" cy="141732"/>
          </a:xfrm>
          <a:prstGeom prst="rect">
            <a:avLst/>
          </a:prstGeom>
          <a:solidFill>
            <a:srgbClr val="2F5D9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74" name="Rectangle 373"/>
          <p:cNvSpPr/>
          <p:nvPr/>
        </p:nvSpPr>
        <p:spPr>
          <a:xfrm>
            <a:off x="5852160" y="3675888"/>
            <a:ext cx="141732" cy="141732"/>
          </a:xfrm>
          <a:prstGeom prst="rect">
            <a:avLst/>
          </a:prstGeom>
          <a:solidFill>
            <a:srgbClr val="2F5D9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75" name="Rectangle 374"/>
          <p:cNvSpPr/>
          <p:nvPr/>
        </p:nvSpPr>
        <p:spPr>
          <a:xfrm>
            <a:off x="548640" y="3858768"/>
            <a:ext cx="141732" cy="141732"/>
          </a:xfrm>
          <a:prstGeom prst="rect">
            <a:avLst/>
          </a:prstGeom>
          <a:solidFill>
            <a:srgbClr val="2F5D9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76" name="Rectangle 375"/>
          <p:cNvSpPr/>
          <p:nvPr/>
        </p:nvSpPr>
        <p:spPr>
          <a:xfrm>
            <a:off x="731520" y="3858768"/>
            <a:ext cx="141732" cy="141732"/>
          </a:xfrm>
          <a:prstGeom prst="rect">
            <a:avLst/>
          </a:prstGeom>
          <a:solidFill>
            <a:srgbClr val="2F5D9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77" name="Rectangle 376"/>
          <p:cNvSpPr/>
          <p:nvPr/>
        </p:nvSpPr>
        <p:spPr>
          <a:xfrm>
            <a:off x="914400" y="3858768"/>
            <a:ext cx="141732" cy="141732"/>
          </a:xfrm>
          <a:prstGeom prst="rect">
            <a:avLst/>
          </a:prstGeom>
          <a:solidFill>
            <a:srgbClr val="2F5D9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78" name="Rectangle 377"/>
          <p:cNvSpPr/>
          <p:nvPr/>
        </p:nvSpPr>
        <p:spPr>
          <a:xfrm>
            <a:off x="1097280" y="3858768"/>
            <a:ext cx="141732" cy="141732"/>
          </a:xfrm>
          <a:prstGeom prst="rect">
            <a:avLst/>
          </a:prstGeom>
          <a:solidFill>
            <a:srgbClr val="2F5D9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79" name="Rectangle 378"/>
          <p:cNvSpPr/>
          <p:nvPr/>
        </p:nvSpPr>
        <p:spPr>
          <a:xfrm>
            <a:off x="1280160" y="3858768"/>
            <a:ext cx="141732" cy="141732"/>
          </a:xfrm>
          <a:prstGeom prst="rect">
            <a:avLst/>
          </a:prstGeom>
          <a:solidFill>
            <a:srgbClr val="2F5D9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80" name="Rectangle 379"/>
          <p:cNvSpPr/>
          <p:nvPr/>
        </p:nvSpPr>
        <p:spPr>
          <a:xfrm>
            <a:off x="1463040" y="3858768"/>
            <a:ext cx="141732" cy="141732"/>
          </a:xfrm>
          <a:prstGeom prst="rect">
            <a:avLst/>
          </a:prstGeom>
          <a:solidFill>
            <a:srgbClr val="2F5D9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81" name="Rectangle 380"/>
          <p:cNvSpPr/>
          <p:nvPr/>
        </p:nvSpPr>
        <p:spPr>
          <a:xfrm>
            <a:off x="1645920" y="3858768"/>
            <a:ext cx="141732" cy="141732"/>
          </a:xfrm>
          <a:prstGeom prst="rect">
            <a:avLst/>
          </a:prstGeom>
          <a:solidFill>
            <a:srgbClr val="2F5D9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82" name="Rectangle 381"/>
          <p:cNvSpPr/>
          <p:nvPr/>
        </p:nvSpPr>
        <p:spPr>
          <a:xfrm>
            <a:off x="1828800" y="3858768"/>
            <a:ext cx="141732" cy="141732"/>
          </a:xfrm>
          <a:prstGeom prst="rect">
            <a:avLst/>
          </a:prstGeom>
          <a:solidFill>
            <a:srgbClr val="2F5D9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83" name="Rectangle 382"/>
          <p:cNvSpPr/>
          <p:nvPr/>
        </p:nvSpPr>
        <p:spPr>
          <a:xfrm>
            <a:off x="2011680" y="3858768"/>
            <a:ext cx="141732" cy="141732"/>
          </a:xfrm>
          <a:prstGeom prst="rect">
            <a:avLst/>
          </a:prstGeom>
          <a:solidFill>
            <a:srgbClr val="2F5D9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84" name="Rectangle 383"/>
          <p:cNvSpPr/>
          <p:nvPr/>
        </p:nvSpPr>
        <p:spPr>
          <a:xfrm>
            <a:off x="2194560" y="3858768"/>
            <a:ext cx="141732" cy="141732"/>
          </a:xfrm>
          <a:prstGeom prst="rect">
            <a:avLst/>
          </a:prstGeom>
          <a:solidFill>
            <a:srgbClr val="2F5D9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85" name="Rectangle 384"/>
          <p:cNvSpPr/>
          <p:nvPr/>
        </p:nvSpPr>
        <p:spPr>
          <a:xfrm>
            <a:off x="2377440" y="3858768"/>
            <a:ext cx="141732" cy="141732"/>
          </a:xfrm>
          <a:prstGeom prst="rect">
            <a:avLst/>
          </a:prstGeom>
          <a:solidFill>
            <a:srgbClr val="2F5D9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86" name="Rectangle 385"/>
          <p:cNvSpPr/>
          <p:nvPr/>
        </p:nvSpPr>
        <p:spPr>
          <a:xfrm>
            <a:off x="2560320" y="3858768"/>
            <a:ext cx="141732" cy="141732"/>
          </a:xfrm>
          <a:prstGeom prst="rect">
            <a:avLst/>
          </a:prstGeom>
          <a:solidFill>
            <a:srgbClr val="2F5D9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87" name="Rectangle 386"/>
          <p:cNvSpPr/>
          <p:nvPr/>
        </p:nvSpPr>
        <p:spPr>
          <a:xfrm>
            <a:off x="2743200" y="3858768"/>
            <a:ext cx="141732" cy="141732"/>
          </a:xfrm>
          <a:prstGeom prst="rect">
            <a:avLst/>
          </a:prstGeom>
          <a:solidFill>
            <a:srgbClr val="2F5D9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88" name="Rectangle 387"/>
          <p:cNvSpPr/>
          <p:nvPr/>
        </p:nvSpPr>
        <p:spPr>
          <a:xfrm>
            <a:off x="2926080" y="3858768"/>
            <a:ext cx="141732" cy="141732"/>
          </a:xfrm>
          <a:prstGeom prst="rect">
            <a:avLst/>
          </a:prstGeom>
          <a:solidFill>
            <a:srgbClr val="6D4C9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89" name="Rectangle 388"/>
          <p:cNvSpPr/>
          <p:nvPr/>
        </p:nvSpPr>
        <p:spPr>
          <a:xfrm>
            <a:off x="3108960" y="3858768"/>
            <a:ext cx="141732" cy="141732"/>
          </a:xfrm>
          <a:prstGeom prst="rect">
            <a:avLst/>
          </a:prstGeom>
          <a:solidFill>
            <a:srgbClr val="6D4C9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90" name="Rectangle 389"/>
          <p:cNvSpPr/>
          <p:nvPr/>
        </p:nvSpPr>
        <p:spPr>
          <a:xfrm>
            <a:off x="3291840" y="3858768"/>
            <a:ext cx="141732" cy="141732"/>
          </a:xfrm>
          <a:prstGeom prst="rect">
            <a:avLst/>
          </a:prstGeom>
          <a:solidFill>
            <a:srgbClr val="6D4C9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91" name="Rectangle 390"/>
          <p:cNvSpPr/>
          <p:nvPr/>
        </p:nvSpPr>
        <p:spPr>
          <a:xfrm>
            <a:off x="3474720" y="3858768"/>
            <a:ext cx="141732" cy="141732"/>
          </a:xfrm>
          <a:prstGeom prst="rect">
            <a:avLst/>
          </a:prstGeom>
          <a:solidFill>
            <a:srgbClr val="6D4C9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92" name="Rectangle 391"/>
          <p:cNvSpPr/>
          <p:nvPr/>
        </p:nvSpPr>
        <p:spPr>
          <a:xfrm>
            <a:off x="3657600" y="3858768"/>
            <a:ext cx="141732" cy="141732"/>
          </a:xfrm>
          <a:prstGeom prst="rect">
            <a:avLst/>
          </a:prstGeom>
          <a:solidFill>
            <a:srgbClr val="6D4C9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93" name="Rectangle 392"/>
          <p:cNvSpPr/>
          <p:nvPr/>
        </p:nvSpPr>
        <p:spPr>
          <a:xfrm>
            <a:off x="3840480" y="3858768"/>
            <a:ext cx="141732" cy="141732"/>
          </a:xfrm>
          <a:prstGeom prst="rect">
            <a:avLst/>
          </a:prstGeom>
          <a:solidFill>
            <a:srgbClr val="6D4C9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94" name="Rectangle 393"/>
          <p:cNvSpPr/>
          <p:nvPr/>
        </p:nvSpPr>
        <p:spPr>
          <a:xfrm>
            <a:off x="4023360" y="3858768"/>
            <a:ext cx="141732" cy="141732"/>
          </a:xfrm>
          <a:prstGeom prst="rect">
            <a:avLst/>
          </a:prstGeom>
          <a:solidFill>
            <a:srgbClr val="6D4C9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95" name="Rectangle 394"/>
          <p:cNvSpPr/>
          <p:nvPr/>
        </p:nvSpPr>
        <p:spPr>
          <a:xfrm>
            <a:off x="4206240" y="3858768"/>
            <a:ext cx="141732" cy="141732"/>
          </a:xfrm>
          <a:prstGeom prst="rect">
            <a:avLst/>
          </a:prstGeom>
          <a:solidFill>
            <a:srgbClr val="6D4C9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96" name="Rectangle 395"/>
          <p:cNvSpPr/>
          <p:nvPr/>
        </p:nvSpPr>
        <p:spPr>
          <a:xfrm>
            <a:off x="4389120" y="3858768"/>
            <a:ext cx="141732" cy="141732"/>
          </a:xfrm>
          <a:prstGeom prst="rect">
            <a:avLst/>
          </a:prstGeom>
          <a:solidFill>
            <a:srgbClr val="6D4C9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97" name="Rectangle 396"/>
          <p:cNvSpPr/>
          <p:nvPr/>
        </p:nvSpPr>
        <p:spPr>
          <a:xfrm>
            <a:off x="4572000" y="3858768"/>
            <a:ext cx="141732" cy="141732"/>
          </a:xfrm>
          <a:prstGeom prst="rect">
            <a:avLst/>
          </a:prstGeom>
          <a:solidFill>
            <a:srgbClr val="6D4C9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98" name="Rectangle 397"/>
          <p:cNvSpPr/>
          <p:nvPr/>
        </p:nvSpPr>
        <p:spPr>
          <a:xfrm>
            <a:off x="4754880" y="3858768"/>
            <a:ext cx="141732" cy="141732"/>
          </a:xfrm>
          <a:prstGeom prst="rect">
            <a:avLst/>
          </a:prstGeom>
          <a:solidFill>
            <a:srgbClr val="6D4C9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99" name="Rectangle 398"/>
          <p:cNvSpPr/>
          <p:nvPr/>
        </p:nvSpPr>
        <p:spPr>
          <a:xfrm>
            <a:off x="4937760" y="3858768"/>
            <a:ext cx="141732" cy="141732"/>
          </a:xfrm>
          <a:prstGeom prst="rect">
            <a:avLst/>
          </a:prstGeom>
          <a:solidFill>
            <a:srgbClr val="6D4C9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00" name="Rectangle 399"/>
          <p:cNvSpPr/>
          <p:nvPr/>
        </p:nvSpPr>
        <p:spPr>
          <a:xfrm>
            <a:off x="5120640" y="3858768"/>
            <a:ext cx="141732" cy="141732"/>
          </a:xfrm>
          <a:prstGeom prst="rect">
            <a:avLst/>
          </a:prstGeom>
          <a:solidFill>
            <a:srgbClr val="6D4C9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01" name="Rectangle 400"/>
          <p:cNvSpPr/>
          <p:nvPr/>
        </p:nvSpPr>
        <p:spPr>
          <a:xfrm>
            <a:off x="5303520" y="3858768"/>
            <a:ext cx="141732" cy="141732"/>
          </a:xfrm>
          <a:prstGeom prst="rect">
            <a:avLst/>
          </a:prstGeom>
          <a:solidFill>
            <a:srgbClr val="6D4C9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02" name="Rectangle 401"/>
          <p:cNvSpPr/>
          <p:nvPr/>
        </p:nvSpPr>
        <p:spPr>
          <a:xfrm>
            <a:off x="5486400" y="3858768"/>
            <a:ext cx="141732" cy="141732"/>
          </a:xfrm>
          <a:prstGeom prst="rect">
            <a:avLst/>
          </a:prstGeom>
          <a:solidFill>
            <a:srgbClr val="6D4C9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03" name="Rectangle 402"/>
          <p:cNvSpPr/>
          <p:nvPr/>
        </p:nvSpPr>
        <p:spPr>
          <a:xfrm>
            <a:off x="5669280" y="3858768"/>
            <a:ext cx="141732" cy="141732"/>
          </a:xfrm>
          <a:prstGeom prst="rect">
            <a:avLst/>
          </a:prstGeom>
          <a:solidFill>
            <a:srgbClr val="6D4C9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04" name="Rectangle 403"/>
          <p:cNvSpPr/>
          <p:nvPr/>
        </p:nvSpPr>
        <p:spPr>
          <a:xfrm>
            <a:off x="5852160" y="3858768"/>
            <a:ext cx="141732" cy="141732"/>
          </a:xfrm>
          <a:prstGeom prst="rect">
            <a:avLst/>
          </a:prstGeom>
          <a:solidFill>
            <a:srgbClr val="6D4C9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05" name="Rectangle 404"/>
          <p:cNvSpPr/>
          <p:nvPr/>
        </p:nvSpPr>
        <p:spPr>
          <a:xfrm>
            <a:off x="548640" y="4041648"/>
            <a:ext cx="141732" cy="141732"/>
          </a:xfrm>
          <a:prstGeom prst="rect">
            <a:avLst/>
          </a:prstGeom>
          <a:solidFill>
            <a:srgbClr val="6D4C9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06" name="Rectangle 405"/>
          <p:cNvSpPr/>
          <p:nvPr/>
        </p:nvSpPr>
        <p:spPr>
          <a:xfrm>
            <a:off x="731520" y="4041648"/>
            <a:ext cx="141732" cy="141732"/>
          </a:xfrm>
          <a:prstGeom prst="rect">
            <a:avLst/>
          </a:prstGeom>
          <a:solidFill>
            <a:srgbClr val="6D4C9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07" name="Rectangle 406"/>
          <p:cNvSpPr/>
          <p:nvPr/>
        </p:nvSpPr>
        <p:spPr>
          <a:xfrm>
            <a:off x="914400" y="4041648"/>
            <a:ext cx="141732" cy="141732"/>
          </a:xfrm>
          <a:prstGeom prst="rect">
            <a:avLst/>
          </a:prstGeom>
          <a:solidFill>
            <a:srgbClr val="6D4C9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08" name="Rectangle 407"/>
          <p:cNvSpPr/>
          <p:nvPr/>
        </p:nvSpPr>
        <p:spPr>
          <a:xfrm>
            <a:off x="1097280" y="4041648"/>
            <a:ext cx="141732" cy="141732"/>
          </a:xfrm>
          <a:prstGeom prst="rect">
            <a:avLst/>
          </a:prstGeom>
          <a:solidFill>
            <a:srgbClr val="6D4C9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09" name="Rectangle 408"/>
          <p:cNvSpPr/>
          <p:nvPr/>
        </p:nvSpPr>
        <p:spPr>
          <a:xfrm>
            <a:off x="1280160" y="4041648"/>
            <a:ext cx="141732" cy="141732"/>
          </a:xfrm>
          <a:prstGeom prst="rect">
            <a:avLst/>
          </a:prstGeom>
          <a:solidFill>
            <a:srgbClr val="6D4C9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10" name="Rectangle 409"/>
          <p:cNvSpPr/>
          <p:nvPr/>
        </p:nvSpPr>
        <p:spPr>
          <a:xfrm>
            <a:off x="1463040" y="4041648"/>
            <a:ext cx="141732" cy="141732"/>
          </a:xfrm>
          <a:prstGeom prst="rect">
            <a:avLst/>
          </a:prstGeom>
          <a:solidFill>
            <a:srgbClr val="6D4C9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11" name="Rectangle 410"/>
          <p:cNvSpPr/>
          <p:nvPr/>
        </p:nvSpPr>
        <p:spPr>
          <a:xfrm>
            <a:off x="1645920" y="4041648"/>
            <a:ext cx="141732" cy="141732"/>
          </a:xfrm>
          <a:prstGeom prst="rect">
            <a:avLst/>
          </a:prstGeom>
          <a:solidFill>
            <a:srgbClr val="6D4C9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12" name="Rectangle 411"/>
          <p:cNvSpPr/>
          <p:nvPr/>
        </p:nvSpPr>
        <p:spPr>
          <a:xfrm>
            <a:off x="1828800" y="4041648"/>
            <a:ext cx="141732" cy="141732"/>
          </a:xfrm>
          <a:prstGeom prst="rect">
            <a:avLst/>
          </a:prstGeom>
          <a:solidFill>
            <a:srgbClr val="6D4C9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13" name="Rectangle 412"/>
          <p:cNvSpPr/>
          <p:nvPr/>
        </p:nvSpPr>
        <p:spPr>
          <a:xfrm>
            <a:off x="2011680" y="4041648"/>
            <a:ext cx="141732" cy="141732"/>
          </a:xfrm>
          <a:prstGeom prst="rect">
            <a:avLst/>
          </a:prstGeom>
          <a:solidFill>
            <a:srgbClr val="6D4C9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14" name="Rectangle 413"/>
          <p:cNvSpPr/>
          <p:nvPr/>
        </p:nvSpPr>
        <p:spPr>
          <a:xfrm>
            <a:off x="2194560" y="4041648"/>
            <a:ext cx="141732" cy="141732"/>
          </a:xfrm>
          <a:prstGeom prst="rect">
            <a:avLst/>
          </a:prstGeom>
          <a:solidFill>
            <a:srgbClr val="6D4C9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15" name="Rectangle 414"/>
          <p:cNvSpPr/>
          <p:nvPr/>
        </p:nvSpPr>
        <p:spPr>
          <a:xfrm>
            <a:off x="2377440" y="4041648"/>
            <a:ext cx="141732" cy="141732"/>
          </a:xfrm>
          <a:prstGeom prst="rect">
            <a:avLst/>
          </a:prstGeom>
          <a:solidFill>
            <a:srgbClr val="6D4C9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16" name="Rectangle 415"/>
          <p:cNvSpPr/>
          <p:nvPr/>
        </p:nvSpPr>
        <p:spPr>
          <a:xfrm>
            <a:off x="2560320" y="4041648"/>
            <a:ext cx="141732" cy="141732"/>
          </a:xfrm>
          <a:prstGeom prst="rect">
            <a:avLst/>
          </a:prstGeom>
          <a:solidFill>
            <a:srgbClr val="8A6E5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17" name="Rectangle 416"/>
          <p:cNvSpPr/>
          <p:nvPr/>
        </p:nvSpPr>
        <p:spPr>
          <a:xfrm>
            <a:off x="2743200" y="4041648"/>
            <a:ext cx="141732" cy="141732"/>
          </a:xfrm>
          <a:prstGeom prst="rect">
            <a:avLst/>
          </a:prstGeom>
          <a:solidFill>
            <a:srgbClr val="8A6E5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18" name="Rectangle 417"/>
          <p:cNvSpPr/>
          <p:nvPr/>
        </p:nvSpPr>
        <p:spPr>
          <a:xfrm>
            <a:off x="2926080" y="4041648"/>
            <a:ext cx="141732" cy="141732"/>
          </a:xfrm>
          <a:prstGeom prst="rect">
            <a:avLst/>
          </a:prstGeom>
          <a:solidFill>
            <a:srgbClr val="8A6E5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19" name="Rectangle 418"/>
          <p:cNvSpPr/>
          <p:nvPr/>
        </p:nvSpPr>
        <p:spPr>
          <a:xfrm>
            <a:off x="3108960" y="4041648"/>
            <a:ext cx="141732" cy="141732"/>
          </a:xfrm>
          <a:prstGeom prst="rect">
            <a:avLst/>
          </a:prstGeom>
          <a:solidFill>
            <a:srgbClr val="8A6E5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20" name="Rectangle 419"/>
          <p:cNvSpPr/>
          <p:nvPr/>
        </p:nvSpPr>
        <p:spPr>
          <a:xfrm>
            <a:off x="3291840" y="4041648"/>
            <a:ext cx="141732" cy="141732"/>
          </a:xfrm>
          <a:prstGeom prst="rect">
            <a:avLst/>
          </a:prstGeom>
          <a:solidFill>
            <a:srgbClr val="8A6E5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21" name="Rectangle 420"/>
          <p:cNvSpPr/>
          <p:nvPr/>
        </p:nvSpPr>
        <p:spPr>
          <a:xfrm>
            <a:off x="3474720" y="4041648"/>
            <a:ext cx="141732" cy="141732"/>
          </a:xfrm>
          <a:prstGeom prst="rect">
            <a:avLst/>
          </a:prstGeom>
          <a:solidFill>
            <a:srgbClr val="9B3D4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22" name="Rectangle 421"/>
          <p:cNvSpPr/>
          <p:nvPr/>
        </p:nvSpPr>
        <p:spPr>
          <a:xfrm>
            <a:off x="3657600" y="4041648"/>
            <a:ext cx="141732" cy="141732"/>
          </a:xfrm>
          <a:prstGeom prst="rect">
            <a:avLst/>
          </a:prstGeom>
          <a:solidFill>
            <a:srgbClr val="9B3D4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23" name="Rectangle 422"/>
          <p:cNvSpPr/>
          <p:nvPr/>
        </p:nvSpPr>
        <p:spPr>
          <a:xfrm>
            <a:off x="3840480" y="4041648"/>
            <a:ext cx="141732" cy="141732"/>
          </a:xfrm>
          <a:prstGeom prst="rect">
            <a:avLst/>
          </a:prstGeom>
          <a:solidFill>
            <a:srgbClr val="9B3D4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24" name="Rectangle 423"/>
          <p:cNvSpPr/>
          <p:nvPr/>
        </p:nvSpPr>
        <p:spPr>
          <a:xfrm>
            <a:off x="4023360" y="4041648"/>
            <a:ext cx="141732" cy="141732"/>
          </a:xfrm>
          <a:prstGeom prst="rect">
            <a:avLst/>
          </a:prstGeom>
          <a:solidFill>
            <a:srgbClr val="2B7F7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25" name="Rectangle 424"/>
          <p:cNvSpPr/>
          <p:nvPr/>
        </p:nvSpPr>
        <p:spPr>
          <a:xfrm>
            <a:off x="548640" y="4462272"/>
            <a:ext cx="201168" cy="201168"/>
          </a:xfrm>
          <a:prstGeom prst="rect">
            <a:avLst/>
          </a:prstGeom>
          <a:solidFill>
            <a:srgbClr val="C07A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26" name="TextBox 425"/>
          <p:cNvSpPr txBox="1"/>
          <p:nvPr/>
        </p:nvSpPr>
        <p:spPr>
          <a:xfrm>
            <a:off x="841247" y="4389120"/>
            <a:ext cx="3108960" cy="347472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600" b="0" i="0">
                <a:solidFill>
                  <a:srgbClr val="1C2128"/>
                </a:solidFill>
                <a:latin typeface="Source Sans 3"/>
              </a:rPr>
              <a:t>Checking  48.3%</a:t>
            </a:r>
          </a:p>
        </p:txBody>
      </p:sp>
      <p:sp>
        <p:nvSpPr>
          <p:cNvPr id="427" name="Rectangle 426"/>
          <p:cNvSpPr/>
          <p:nvPr/>
        </p:nvSpPr>
        <p:spPr>
          <a:xfrm>
            <a:off x="4023359" y="4462272"/>
            <a:ext cx="201168" cy="201168"/>
          </a:xfrm>
          <a:prstGeom prst="rect">
            <a:avLst/>
          </a:prstGeom>
          <a:solidFill>
            <a:srgbClr val="2F5D9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28" name="TextBox 427"/>
          <p:cNvSpPr txBox="1"/>
          <p:nvPr/>
        </p:nvSpPr>
        <p:spPr>
          <a:xfrm>
            <a:off x="4315968" y="4389120"/>
            <a:ext cx="3108960" cy="347472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600" b="0" i="0">
                <a:solidFill>
                  <a:srgbClr val="1C2128"/>
                </a:solidFill>
                <a:latin typeface="Source Sans 3"/>
              </a:rPr>
              <a:t>Algorithm/Method  42.7%</a:t>
            </a:r>
          </a:p>
        </p:txBody>
      </p:sp>
      <p:sp>
        <p:nvSpPr>
          <p:cNvPr id="429" name="Rectangle 428"/>
          <p:cNvSpPr/>
          <p:nvPr/>
        </p:nvSpPr>
        <p:spPr>
          <a:xfrm>
            <a:off x="548640" y="4864608"/>
            <a:ext cx="201168" cy="201168"/>
          </a:xfrm>
          <a:prstGeom prst="rect">
            <a:avLst/>
          </a:prstGeom>
          <a:solidFill>
            <a:srgbClr val="6D4C9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30" name="TextBox 429"/>
          <p:cNvSpPr txBox="1"/>
          <p:nvPr/>
        </p:nvSpPr>
        <p:spPr>
          <a:xfrm>
            <a:off x="841247" y="4791456"/>
            <a:ext cx="3108960" cy="347472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600" b="0" i="0">
                <a:solidFill>
                  <a:srgbClr val="1C2128"/>
                </a:solidFill>
                <a:latin typeface="Source Sans 3"/>
              </a:rPr>
              <a:t>Assignment  6.8%</a:t>
            </a:r>
          </a:p>
        </p:txBody>
      </p:sp>
      <p:sp>
        <p:nvSpPr>
          <p:cNvPr id="431" name="Rectangle 430"/>
          <p:cNvSpPr/>
          <p:nvPr/>
        </p:nvSpPr>
        <p:spPr>
          <a:xfrm>
            <a:off x="4023359" y="4864608"/>
            <a:ext cx="201168" cy="201168"/>
          </a:xfrm>
          <a:prstGeom prst="rect">
            <a:avLst/>
          </a:prstGeom>
          <a:solidFill>
            <a:srgbClr val="8A6E5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32" name="TextBox 431"/>
          <p:cNvSpPr txBox="1"/>
          <p:nvPr/>
        </p:nvSpPr>
        <p:spPr>
          <a:xfrm>
            <a:off x="4315968" y="4791456"/>
            <a:ext cx="3108960" cy="347472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600" b="0" i="0">
                <a:solidFill>
                  <a:srgbClr val="1C2128"/>
                </a:solidFill>
                <a:latin typeface="Source Sans 3"/>
              </a:rPr>
              <a:t>Relationship  1.2%</a:t>
            </a:r>
          </a:p>
        </p:txBody>
      </p:sp>
      <p:sp>
        <p:nvSpPr>
          <p:cNvPr id="433" name="Rectangle 432"/>
          <p:cNvSpPr/>
          <p:nvPr/>
        </p:nvSpPr>
        <p:spPr>
          <a:xfrm>
            <a:off x="548640" y="5266944"/>
            <a:ext cx="201168" cy="201168"/>
          </a:xfrm>
          <a:prstGeom prst="rect">
            <a:avLst/>
          </a:prstGeom>
          <a:solidFill>
            <a:srgbClr val="9B3D4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34" name="TextBox 433"/>
          <p:cNvSpPr txBox="1"/>
          <p:nvPr/>
        </p:nvSpPr>
        <p:spPr>
          <a:xfrm>
            <a:off x="841247" y="5193792"/>
            <a:ext cx="3108960" cy="347472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600" b="0" i="0">
                <a:solidFill>
                  <a:srgbClr val="1C2128"/>
                </a:solidFill>
                <a:latin typeface="Source Sans 3"/>
              </a:rPr>
              <a:t>Function/Class  0.7%</a:t>
            </a:r>
          </a:p>
        </p:txBody>
      </p:sp>
      <p:sp>
        <p:nvSpPr>
          <p:cNvPr id="435" name="Rectangle 434"/>
          <p:cNvSpPr/>
          <p:nvPr/>
        </p:nvSpPr>
        <p:spPr>
          <a:xfrm>
            <a:off x="4023359" y="5266944"/>
            <a:ext cx="201168" cy="201168"/>
          </a:xfrm>
          <a:prstGeom prst="rect">
            <a:avLst/>
          </a:prstGeom>
          <a:solidFill>
            <a:srgbClr val="2B7F7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36" name="TextBox 435"/>
          <p:cNvSpPr txBox="1"/>
          <p:nvPr/>
        </p:nvSpPr>
        <p:spPr>
          <a:xfrm>
            <a:off x="4315968" y="5193792"/>
            <a:ext cx="3108960" cy="347472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600" b="0" i="0">
                <a:solidFill>
                  <a:srgbClr val="1C2128"/>
                </a:solidFill>
                <a:latin typeface="Source Sans 3"/>
              </a:rPr>
              <a:t>Interface  0.2%</a:t>
            </a:r>
          </a:p>
        </p:txBody>
      </p:sp>
      <p:sp>
        <p:nvSpPr>
          <p:cNvPr id="437" name="TextBox 436"/>
          <p:cNvSpPr txBox="1"/>
          <p:nvPr/>
        </p:nvSpPr>
        <p:spPr>
          <a:xfrm>
            <a:off x="548640" y="5669280"/>
            <a:ext cx="6675120" cy="777240"/>
          </a:xfrm>
          <a:prstGeom prst="rect">
            <a:avLst/>
          </a:prstGeom>
          <a:noFill/>
        </p:spPr>
        <p:txBody>
          <a:bodyPr wrap="square" lIns="27432" rIns="27432" tIns="27432" bIns="27432" anchor="t">
            <a:noAutofit/>
          </a:bodyPr>
          <a:lstStyle/>
          <a:p>
            <a:pPr algn="l">
              <a:lnSpc>
                <a:spcPct val="106000"/>
              </a:lnSpc>
              <a:spcAft>
                <a:spcPts val="0"/>
              </a:spcAft>
            </a:pPr>
            <a:r>
              <a:rPr sz="1600" b="1" i="0">
                <a:solidFill>
                  <a:srgbClr val="12284C"/>
                </a:solidFill>
                <a:latin typeface="Source Sans 3"/>
              </a:rPr>
              <a:t>97.8%</a:t>
            </a:r>
            <a:r>
              <a:rPr sz="1600" b="0" i="0">
                <a:solidFill>
                  <a:srgbClr val="1C2128"/>
                </a:solidFill>
                <a:latin typeface="Source Sans 3"/>
              </a:rPr>
              <a:t> in three Control and Data Flow types; Timing never occurs. Scientific </a:t>
            </a:r>
            <a:r>
              <a:rPr sz="1600" b="1" i="0">
                <a:solidFill>
                  <a:srgbClr val="1C2128"/>
                </a:solidFill>
                <a:latin typeface="Source Sans 3"/>
              </a:rPr>
              <a:t>keeps the same mix in every project</a:t>
            </a:r>
            <a:r>
              <a:rPr sz="1600" b="0" i="0">
                <a:solidFill>
                  <a:srgbClr val="1C2128"/>
                </a:solidFill>
                <a:latin typeface="Source Sans 3"/>
              </a:rPr>
              <a:t>; few-shot’s mix shifts by project.</a:t>
            </a:r>
          </a:p>
        </p:txBody>
      </p:sp>
      <p:sp>
        <p:nvSpPr>
          <p:cNvPr id="438" name="Rectangle 437"/>
          <p:cNvSpPr/>
          <p:nvPr/>
        </p:nvSpPr>
        <p:spPr>
          <a:xfrm>
            <a:off x="7635240" y="1280160"/>
            <a:ext cx="4005072" cy="4617720"/>
          </a:xfrm>
          <a:prstGeom prst="rect">
            <a:avLst/>
          </a:prstGeom>
          <a:solidFill>
            <a:srgbClr val="F4F5F7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39" name="TextBox 438"/>
          <p:cNvSpPr txBox="1"/>
          <p:nvPr/>
        </p:nvSpPr>
        <p:spPr>
          <a:xfrm>
            <a:off x="7909560" y="1417320"/>
            <a:ext cx="3547872" cy="329184"/>
          </a:xfrm>
          <a:prstGeom prst="rect">
            <a:avLst/>
          </a:prstGeom>
          <a:noFill/>
        </p:spPr>
        <p:txBody>
          <a:bodyPr wrap="square" lIns="27432" rIns="27432" tIns="27432" bIns="27432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00" b="1" i="0">
                <a:solidFill>
                  <a:srgbClr val="5A6270"/>
                </a:solidFill>
                <a:latin typeface="Source Sans 3"/>
              </a:rPr>
              <a:t>RQ2  ·  THE “OTHER” CATEGORY</a:t>
            </a:r>
          </a:p>
        </p:txBody>
      </p:sp>
      <p:sp>
        <p:nvSpPr>
          <p:cNvPr id="440" name="TextBox 439"/>
          <p:cNvSpPr txBox="1"/>
          <p:nvPr/>
        </p:nvSpPr>
        <p:spPr>
          <a:xfrm>
            <a:off x="7909560" y="1737360"/>
            <a:ext cx="3547872" cy="1051560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5800" b="1" i="0">
                <a:solidFill>
                  <a:srgbClr val="12284C"/>
                </a:solidFill>
                <a:latin typeface="Source Sans 3"/>
              </a:rPr>
              <a:t>0</a:t>
            </a:r>
            <a:r>
              <a:rPr sz="2400" b="0" i="0">
                <a:solidFill>
                  <a:srgbClr val="5A6270"/>
                </a:solidFill>
                <a:latin typeface="Source Sans 3"/>
              </a:rPr>
              <a:t>  of 1,640</a:t>
            </a:r>
          </a:p>
        </p:txBody>
      </p:sp>
      <p:sp>
        <p:nvSpPr>
          <p:cNvPr id="441" name="TextBox 440"/>
          <p:cNvSpPr txBox="1"/>
          <p:nvPr/>
        </p:nvSpPr>
        <p:spPr>
          <a:xfrm>
            <a:off x="7909560" y="2788920"/>
            <a:ext cx="3547872" cy="731520"/>
          </a:xfrm>
          <a:prstGeom prst="rect">
            <a:avLst/>
          </a:prstGeom>
          <a:noFill/>
        </p:spPr>
        <p:txBody>
          <a:bodyPr wrap="square" lIns="27432" rIns="27432" tIns="27432" bIns="27432" anchor="t">
            <a:no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600" b="0" i="0">
                <a:solidFill>
                  <a:srgbClr val="1C2128"/>
                </a:solidFill>
                <a:latin typeface="Source Sans 3"/>
              </a:rPr>
              <a:t>classifications chose “Other”, although it was offered every time.</a:t>
            </a:r>
          </a:p>
        </p:txBody>
      </p:sp>
      <p:cxnSp>
        <p:nvCxnSpPr>
          <p:cNvPr id="442" name="Connector 441"/>
          <p:cNvCxnSpPr/>
          <p:nvPr/>
        </p:nvCxnSpPr>
        <p:spPr>
          <a:xfrm>
            <a:off x="7909560" y="3566160"/>
            <a:ext cx="3456432" cy="0"/>
          </a:xfrm>
          <a:prstGeom prst="line">
            <a:avLst/>
          </a:prstGeom>
          <a:ln w="9525">
            <a:solidFill>
              <a:srgbClr val="D5D9DF"/>
            </a:solidFill>
          </a:ln>
        </p:spPr>
      </p:cxnSp>
      <p:sp>
        <p:nvSpPr>
          <p:cNvPr id="443" name="TextBox 442"/>
          <p:cNvSpPr txBox="1"/>
          <p:nvPr/>
        </p:nvSpPr>
        <p:spPr>
          <a:xfrm>
            <a:off x="7909560" y="3886200"/>
            <a:ext cx="1417320" cy="640080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900" b="1" i="0">
                <a:solidFill>
                  <a:srgbClr val="12284C"/>
                </a:solidFill>
                <a:latin typeface="Source Sans 3"/>
              </a:rPr>
              <a:t>&lt; 1 in 500</a:t>
            </a:r>
          </a:p>
        </p:txBody>
      </p:sp>
      <p:sp>
        <p:nvSpPr>
          <p:cNvPr id="444" name="TextBox 443"/>
          <p:cNvSpPr txBox="1"/>
          <p:nvPr/>
        </p:nvSpPr>
        <p:spPr>
          <a:xfrm>
            <a:off x="9372600" y="3886200"/>
            <a:ext cx="1993391" cy="640080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l">
              <a:lnSpc>
                <a:spcPct val="98000"/>
              </a:lnSpc>
              <a:spcAft>
                <a:spcPts val="0"/>
              </a:spcAft>
            </a:pPr>
            <a:r>
              <a:rPr sz="1500" b="0" i="0">
                <a:solidFill>
                  <a:srgbClr val="5A6270"/>
                </a:solidFill>
                <a:latin typeface="Source Sans 3"/>
              </a:rPr>
              <a:t>bugs could need “Other”, even in the worst case</a:t>
            </a:r>
          </a:p>
        </p:txBody>
      </p:sp>
      <p:sp>
        <p:nvSpPr>
          <p:cNvPr id="445" name="TextBox 444"/>
          <p:cNvSpPr txBox="1"/>
          <p:nvPr/>
        </p:nvSpPr>
        <p:spPr>
          <a:xfrm>
            <a:off x="7909560" y="4754880"/>
            <a:ext cx="1417320" cy="640080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900" b="1" i="0">
                <a:solidFill>
                  <a:srgbClr val="12284C"/>
                </a:solidFill>
                <a:latin typeface="Source Sans 3"/>
              </a:rPr>
              <a:t>6 of 7</a:t>
            </a:r>
          </a:p>
        </p:txBody>
      </p:sp>
      <p:sp>
        <p:nvSpPr>
          <p:cNvPr id="446" name="TextBox 445"/>
          <p:cNvSpPr txBox="1"/>
          <p:nvPr/>
        </p:nvSpPr>
        <p:spPr>
          <a:xfrm>
            <a:off x="9372600" y="4754880"/>
            <a:ext cx="1993391" cy="640080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l">
              <a:lnSpc>
                <a:spcPct val="98000"/>
              </a:lnSpc>
              <a:spcAft>
                <a:spcPts val="0"/>
              </a:spcAft>
            </a:pPr>
            <a:r>
              <a:rPr sz="1500" b="0" i="0">
                <a:solidFill>
                  <a:srgbClr val="5A6270"/>
                </a:solidFill>
                <a:latin typeface="Source Sans 3"/>
              </a:rPr>
              <a:t>ODC types actually used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74320"/>
            <a:ext cx="10332720" cy="731520"/>
          </a:xfrm>
          <a:prstGeom prst="rect">
            <a:avLst/>
          </a:prstGeom>
          <a:noFill/>
        </p:spPr>
        <p:txBody>
          <a:bodyPr wrap="square" lIns="27432" rIns="27432" tIns="27432" bIns="27432" anchor="b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000" b="1" i="0">
                <a:solidFill>
                  <a:srgbClr val="12284C"/>
                </a:solidFill>
                <a:latin typeface="Source Sans 3"/>
              </a:rPr>
              <a:t>RQ3: Agreement with the Post-Fix Reference</a:t>
            </a:r>
          </a:p>
        </p:txBody>
      </p:sp>
      <p:pic>
        <p:nvPicPr>
          <p:cNvPr id="4" name="Picture 3" descr="iut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228832" y="292608"/>
            <a:ext cx="433472" cy="713232"/>
          </a:xfrm>
          <a:prstGeom prst="rect">
            <a:avLst/>
          </a:prstGeom>
        </p:spPr>
      </p:pic>
      <p:cxnSp>
        <p:nvCxnSpPr>
          <p:cNvPr id="5" name="Connector 4"/>
          <p:cNvCxnSpPr/>
          <p:nvPr/>
        </p:nvCxnSpPr>
        <p:spPr>
          <a:xfrm>
            <a:off x="548640" y="1078992"/>
            <a:ext cx="11091672" cy="0"/>
          </a:xfrm>
          <a:prstGeom prst="line">
            <a:avLst/>
          </a:prstGeom>
          <a:ln w="9525">
            <a:solidFill>
              <a:srgbClr val="D5D9DF"/>
            </a:solidFill>
          </a:ln>
        </p:spPr>
      </p:cxnSp>
      <p:sp>
        <p:nvSpPr>
          <p:cNvPr id="6" name="Rectangle 5"/>
          <p:cNvSpPr/>
          <p:nvPr/>
        </p:nvSpPr>
        <p:spPr>
          <a:xfrm>
            <a:off x="548640" y="1060704"/>
            <a:ext cx="914400" cy="41148"/>
          </a:xfrm>
          <a:prstGeom prst="rect">
            <a:avLst/>
          </a:prstGeom>
          <a:solidFill>
            <a:srgbClr val="12284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>
            <a:off x="548640" y="6400800"/>
            <a:ext cx="11091672" cy="0"/>
          </a:xfrm>
          <a:prstGeom prst="line">
            <a:avLst/>
          </a:prstGeom>
          <a:ln w="9525">
            <a:solidFill>
              <a:srgbClr val="D5D9DF"/>
            </a:solidFill>
          </a:ln>
        </p:spPr>
      </p:cxnSp>
      <p:sp>
        <p:nvSpPr>
          <p:cNvPr id="8" name="TextBox 7"/>
          <p:cNvSpPr txBox="1"/>
          <p:nvPr/>
        </p:nvSpPr>
        <p:spPr>
          <a:xfrm>
            <a:off x="548640" y="6437376"/>
            <a:ext cx="3931920" cy="365760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00" b="0" i="0">
                <a:solidFill>
                  <a:srgbClr val="8A919C"/>
                </a:solidFill>
                <a:latin typeface="Source Sans 3"/>
              </a:rPr>
              <a:t>ODC on Defects4J  ·  Thesis Defence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0" y="6437376"/>
            <a:ext cx="854964" cy="365760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400" b="0" i="0">
                <a:solidFill>
                  <a:srgbClr val="8A919C"/>
                </a:solidFill>
                <a:latin typeface="Source Sans 3"/>
              </a:rPr>
              <a:t>Context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55564" y="6437376"/>
            <a:ext cx="1239012" cy="365760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400" b="0" i="0">
                <a:solidFill>
                  <a:srgbClr val="8A919C"/>
                </a:solidFill>
                <a:latin typeface="Source Sans 3"/>
              </a:rPr>
              <a:t>Methodology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123176" y="6437376"/>
            <a:ext cx="854964" cy="365760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400" b="1" i="0">
                <a:solidFill>
                  <a:srgbClr val="12284C"/>
                </a:solidFill>
                <a:latin typeface="Source Sans 3"/>
              </a:rPr>
              <a:t>Results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214616" y="6757416"/>
            <a:ext cx="672084" cy="32004"/>
          </a:xfrm>
          <a:prstGeom prst="rect">
            <a:avLst/>
          </a:prstGeom>
          <a:solidFill>
            <a:srgbClr val="12284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966960" y="6419088"/>
            <a:ext cx="1673352" cy="402336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800" b="1" i="0">
                <a:solidFill>
                  <a:srgbClr val="12284C"/>
                </a:solidFill>
                <a:latin typeface="Source Sans 3"/>
              </a:rPr>
              <a:t>17 / 24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1188720"/>
            <a:ext cx="2651760" cy="914400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5400" b="1" i="0">
                <a:solidFill>
                  <a:srgbClr val="12284C"/>
                </a:solidFill>
                <a:latin typeface="Source Sans 3"/>
              </a:rPr>
              <a:t>70.2%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246120" y="1234440"/>
            <a:ext cx="8394192" cy="822960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2000" b="1" i="0">
                <a:solidFill>
                  <a:srgbClr val="12284C"/>
                </a:solidFill>
                <a:latin typeface="Source Sans 3"/>
              </a:rPr>
              <a:t>288 of 410</a:t>
            </a:r>
            <a:r>
              <a:rPr sz="2000" b="0" i="0">
                <a:solidFill>
                  <a:srgbClr val="1C2128"/>
                </a:solidFill>
                <a:latin typeface="Source Sans 3"/>
              </a:rPr>
              <a:t> pre-fix labels match the post-fix label exactly</a:t>
            </a:r>
          </a:p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500" b="0" i="0">
                <a:solidFill>
                  <a:srgbClr val="5A6270"/>
                </a:solidFill>
                <a:latin typeface="Source Sans 3"/>
              </a:rPr>
              <a:t>scientific strategy, the pipeline default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" y="2212848"/>
            <a:ext cx="11091672" cy="329184"/>
          </a:xfrm>
          <a:prstGeom prst="rect">
            <a:avLst/>
          </a:prstGeom>
          <a:noFill/>
        </p:spPr>
        <p:txBody>
          <a:bodyPr wrap="square" lIns="27432" rIns="27432" tIns="27432" bIns="27432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00" b="1" i="0">
                <a:solidFill>
                  <a:srgbClr val="5A6270"/>
                </a:solidFill>
                <a:latin typeface="Source Sans 3"/>
              </a:rPr>
              <a:t>ALL 410 BUGS  ·  HOW CLOSE IS THE PRE-FIX LABEL?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48640" y="2560320"/>
            <a:ext cx="7791223" cy="603504"/>
          </a:xfrm>
          <a:prstGeom prst="rect">
            <a:avLst/>
          </a:prstGeom>
          <a:solidFill>
            <a:srgbClr val="2F7D4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48640" y="2560320"/>
            <a:ext cx="7791223" cy="603504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800" b="1" i="0">
                <a:solidFill>
                  <a:srgbClr val="FFFFFF"/>
                </a:solidFill>
                <a:latin typeface="Source Sans 3"/>
              </a:rPr>
              <a:t>exact match  288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339863" y="2560320"/>
            <a:ext cx="3029920" cy="603504"/>
          </a:xfrm>
          <a:prstGeom prst="rect">
            <a:avLst/>
          </a:prstGeom>
          <a:solidFill>
            <a:srgbClr val="B7791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339863" y="2560320"/>
            <a:ext cx="3029920" cy="603504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800" b="1" i="0">
                <a:solidFill>
                  <a:srgbClr val="FFFFFF"/>
                </a:solidFill>
                <a:latin typeface="Source Sans 3"/>
              </a:rPr>
              <a:t>near miss  112</a:t>
            </a:r>
          </a:p>
        </p:txBody>
      </p:sp>
      <p:sp>
        <p:nvSpPr>
          <p:cNvPr id="21" name="Rectangle 20"/>
          <p:cNvSpPr/>
          <p:nvPr/>
        </p:nvSpPr>
        <p:spPr>
          <a:xfrm>
            <a:off x="11369783" y="2560320"/>
            <a:ext cx="270528" cy="603504"/>
          </a:xfrm>
          <a:prstGeom prst="rect">
            <a:avLst/>
          </a:prstGeom>
          <a:solidFill>
            <a:srgbClr val="A23B3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48640" y="3200400"/>
            <a:ext cx="8778240" cy="365760"/>
          </a:xfrm>
          <a:prstGeom prst="rect">
            <a:avLst/>
          </a:prstGeom>
          <a:noFill/>
        </p:spPr>
        <p:txBody>
          <a:bodyPr wrap="square" lIns="27432" rIns="27432" tIns="27432" bIns="27432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500" b="0" i="1">
                <a:solidFill>
                  <a:srgbClr val="5A6270"/>
                </a:solidFill>
                <a:latin typeface="Source Sans 3"/>
              </a:rPr>
              <a:t>near miss: the other label was listed as an alternative, or both share an ODC family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326880" y="3200400"/>
            <a:ext cx="2313432" cy="365760"/>
          </a:xfrm>
          <a:prstGeom prst="rect">
            <a:avLst/>
          </a:prstGeom>
          <a:noFill/>
        </p:spPr>
        <p:txBody>
          <a:bodyPr wrap="square" lIns="27432" rIns="27432" tIns="27432" bIns="27432" anchor="t">
            <a:no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500" b="1" i="0">
                <a:solidFill>
                  <a:srgbClr val="A23B3B"/>
                </a:solidFill>
                <a:latin typeface="Source Sans 3"/>
              </a:rPr>
              <a:t>unrelated  10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48640" y="3749039"/>
            <a:ext cx="3575304" cy="2487168"/>
          </a:xfrm>
          <a:prstGeom prst="rect">
            <a:avLst/>
          </a:prstGeom>
          <a:solidFill>
            <a:srgbClr val="F4F5F7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4306824" y="3749039"/>
            <a:ext cx="3575304" cy="2487168"/>
          </a:xfrm>
          <a:prstGeom prst="rect">
            <a:avLst/>
          </a:prstGeom>
          <a:solidFill>
            <a:srgbClr val="F4F5F7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8065008" y="3749039"/>
            <a:ext cx="3575304" cy="2487168"/>
          </a:xfrm>
          <a:prstGeom prst="rect">
            <a:avLst/>
          </a:prstGeom>
          <a:solidFill>
            <a:srgbClr val="F4F5F7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31520" y="3840479"/>
            <a:ext cx="3300984" cy="365760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700" b="1" i="0">
                <a:solidFill>
                  <a:srgbClr val="12284C"/>
                </a:solidFill>
                <a:latin typeface="Source Sans 3"/>
              </a:rPr>
              <a:t>Both strategies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31520" y="4343400"/>
            <a:ext cx="1188720" cy="310896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500" b="1" i="0">
                <a:solidFill>
                  <a:srgbClr val="12284C"/>
                </a:solidFill>
                <a:latin typeface="Source Sans 3"/>
              </a:rPr>
              <a:t>scientific</a:t>
            </a:r>
          </a:p>
        </p:txBody>
      </p:sp>
      <p:sp>
        <p:nvSpPr>
          <p:cNvPr id="29" name="Rectangle 28"/>
          <p:cNvSpPr/>
          <p:nvPr/>
        </p:nvSpPr>
        <p:spPr>
          <a:xfrm>
            <a:off x="731520" y="4654296"/>
            <a:ext cx="2254508" cy="256032"/>
          </a:xfrm>
          <a:prstGeom prst="rect">
            <a:avLst/>
          </a:prstGeom>
          <a:solidFill>
            <a:srgbClr val="12284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614428" y="4343400"/>
            <a:ext cx="1371600" cy="310896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500" b="1" i="0">
                <a:solidFill>
                  <a:srgbClr val="12284C"/>
                </a:solidFill>
                <a:latin typeface="Source Sans 3"/>
              </a:rPr>
              <a:t>288 of 410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31520" y="5001768"/>
            <a:ext cx="1188720" cy="310896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500" b="1" i="0">
                <a:solidFill>
                  <a:srgbClr val="5A6270"/>
                </a:solidFill>
                <a:latin typeface="Source Sans 3"/>
              </a:rPr>
              <a:t>few-shot</a:t>
            </a:r>
          </a:p>
        </p:txBody>
      </p:sp>
      <p:sp>
        <p:nvSpPr>
          <p:cNvPr id="32" name="Rectangle 31"/>
          <p:cNvSpPr/>
          <p:nvPr/>
        </p:nvSpPr>
        <p:spPr>
          <a:xfrm>
            <a:off x="731520" y="5312664"/>
            <a:ext cx="2137086" cy="256032"/>
          </a:xfrm>
          <a:prstGeom prst="rect">
            <a:avLst/>
          </a:prstGeom>
          <a:solidFill>
            <a:srgbClr val="B3B9C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497006" y="5001768"/>
            <a:ext cx="1371600" cy="310896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500" b="1" i="0">
                <a:solidFill>
                  <a:srgbClr val="5A6270"/>
                </a:solidFill>
                <a:latin typeface="Source Sans 3"/>
              </a:rPr>
              <a:t>273 of 410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31520" y="5650992"/>
            <a:ext cx="3300984" cy="548640"/>
          </a:xfrm>
          <a:prstGeom prst="rect">
            <a:avLst/>
          </a:prstGeom>
          <a:noFill/>
        </p:spPr>
        <p:txBody>
          <a:bodyPr wrap="square" lIns="27432" rIns="27432" tIns="27432" bIns="27432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500" b="0" i="0">
                <a:solidFill>
                  <a:srgbClr val="5A6270"/>
                </a:solidFill>
                <a:latin typeface="Source Sans 3"/>
              </a:rPr>
              <a:t>Scientific also agrees more once lucky matches are discounted.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489704" y="3840479"/>
            <a:ext cx="3300984" cy="365760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200" b="1" i="0">
                <a:solidFill>
                  <a:srgbClr val="12284C"/>
                </a:solidFill>
                <a:latin typeface="Source Sans 3"/>
              </a:rPr>
              <a:t>83.4%</a:t>
            </a:r>
            <a:r>
              <a:rPr sz="1600" b="1" i="0">
                <a:solidFill>
                  <a:srgbClr val="1C2128"/>
                </a:solidFill>
                <a:latin typeface="Source Sans 3"/>
              </a:rPr>
              <a:t>  the realistic ceiling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489704" y="4297679"/>
            <a:ext cx="3255264" cy="1828800"/>
          </a:xfrm>
          <a:prstGeom prst="rect">
            <a:avLst/>
          </a:prstGeom>
          <a:noFill/>
        </p:spPr>
        <p:txBody>
          <a:bodyPr wrap="square" lIns="27432" rIns="27432" tIns="27432" bIns="27432" anchor="t">
            <a:noAutofit/>
          </a:bodyPr>
          <a:lstStyle/>
          <a:p>
            <a:pPr algn="l">
              <a:lnSpc>
                <a:spcPct val="105000"/>
              </a:lnSpc>
              <a:spcAft>
                <a:spcPts val="1000"/>
              </a:spcAft>
            </a:pPr>
            <a:r>
              <a:rPr sz="1500" b="1" i="0">
                <a:solidFill>
                  <a:srgbClr val="12284C"/>
                </a:solidFill>
                <a:latin typeface="Source Sans 3"/>
              </a:rPr>
              <a:t>Where it comes from: </a:t>
            </a:r>
            <a:r>
              <a:rPr sz="1500" b="0" i="0">
                <a:solidFill>
                  <a:srgbClr val="1C2128"/>
                </a:solidFill>
                <a:latin typeface="Source Sans 3"/>
              </a:rPr>
              <a:t>two scientific post-fix runs match on </a:t>
            </a:r>
            <a:r>
              <a:rPr sz="1500" b="1" i="0">
                <a:solidFill>
                  <a:srgbClr val="1C2128"/>
                </a:solidFill>
                <a:latin typeface="Source Sans 3"/>
              </a:rPr>
              <a:t>342 of 410 bugs</a:t>
            </a:r>
            <a:r>
              <a:rPr sz="1500" b="0" i="0">
                <a:solidFill>
                  <a:srgbClr val="1C2128"/>
                </a:solidFill>
                <a:latin typeface="Source Sans 3"/>
              </a:rPr>
              <a:t>.</a:t>
            </a:r>
          </a:p>
          <a:p>
            <a:pPr algn="l">
              <a:lnSpc>
                <a:spcPct val="105000"/>
              </a:lnSpc>
              <a:spcAft>
                <a:spcPts val="1000"/>
              </a:spcAft>
            </a:pPr>
            <a:r>
              <a:rPr sz="1500" b="1" i="0">
                <a:solidFill>
                  <a:srgbClr val="12284C"/>
                </a:solidFill>
                <a:latin typeface="Source Sans 3"/>
              </a:rPr>
              <a:t>What it means: </a:t>
            </a:r>
            <a:r>
              <a:rPr sz="1500" b="0" i="0">
                <a:solidFill>
                  <a:srgbClr val="1C2128"/>
                </a:solidFill>
                <a:latin typeface="Source Sans 3"/>
              </a:rPr>
              <a:t>the reference itself shifts on 1 bug in 6, so 100% is out of reach.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247888" y="3840479"/>
            <a:ext cx="3300984" cy="365760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200" b="1" i="0">
                <a:solidFill>
                  <a:srgbClr val="12284C"/>
                </a:solidFill>
                <a:latin typeface="Source Sans 3"/>
              </a:rPr>
              <a:t>93.2%</a:t>
            </a:r>
            <a:r>
              <a:rPr sz="1600" b="1" i="0">
                <a:solidFill>
                  <a:srgbClr val="1C2128"/>
                </a:solidFill>
                <a:latin typeface="Source Sans 3"/>
              </a:rPr>
              <a:t>  answer is in the output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247888" y="4279392"/>
            <a:ext cx="3300984" cy="914400"/>
          </a:xfrm>
          <a:prstGeom prst="rect">
            <a:avLst/>
          </a:prstGeom>
          <a:noFill/>
        </p:spPr>
        <p:txBody>
          <a:bodyPr wrap="square" lIns="27432" rIns="27432" tIns="27432" bIns="27432" anchor="t">
            <a:noAutofit/>
          </a:bodyPr>
          <a:lstStyle/>
          <a:p>
            <a:pPr algn="l">
              <a:lnSpc>
                <a:spcPct val="103000"/>
              </a:lnSpc>
              <a:spcAft>
                <a:spcPts val="0"/>
              </a:spcAft>
            </a:pPr>
            <a:r>
              <a:rPr sz="1500" b="0" i="0">
                <a:solidFill>
                  <a:srgbClr val="1C2128"/>
                </a:solidFill>
                <a:latin typeface="Source Sans 3"/>
              </a:rPr>
              <a:t>For </a:t>
            </a:r>
            <a:r>
              <a:rPr sz="1500" b="1" i="0">
                <a:solidFill>
                  <a:srgbClr val="1C2128"/>
                </a:solidFill>
                <a:latin typeface="Source Sans 3"/>
              </a:rPr>
              <a:t>382 of 410 bugs</a:t>
            </a:r>
            <a:r>
              <a:rPr sz="1500" b="0" i="0">
                <a:solidFill>
                  <a:srgbClr val="1C2128"/>
                </a:solidFill>
                <a:latin typeface="Source Sans 3"/>
              </a:rPr>
              <a:t>, the post-fix type already appears in the pre-fix answer:</a:t>
            </a:r>
          </a:p>
        </p:txBody>
      </p:sp>
      <p:sp>
        <p:nvSpPr>
          <p:cNvPr id="39" name="Rectangle 38"/>
          <p:cNvSpPr/>
          <p:nvPr/>
        </p:nvSpPr>
        <p:spPr>
          <a:xfrm>
            <a:off x="8247888" y="5166359"/>
            <a:ext cx="868680" cy="384048"/>
          </a:xfrm>
          <a:prstGeom prst="rect">
            <a:avLst/>
          </a:prstGeom>
          <a:solidFill>
            <a:srgbClr val="2F7D4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8247888" y="5166359"/>
            <a:ext cx="868680" cy="384048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700" b="1" i="0">
                <a:solidFill>
                  <a:srgbClr val="FFFFFF"/>
                </a:solidFill>
                <a:latin typeface="Source Sans 3"/>
              </a:rPr>
              <a:t>288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208008" y="5166359"/>
            <a:ext cx="2295144" cy="384048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500" b="0" i="0">
                <a:solidFill>
                  <a:srgbClr val="1C2128"/>
                </a:solidFill>
                <a:latin typeface="Source Sans 3"/>
              </a:rPr>
              <a:t>as its main label</a:t>
            </a:r>
          </a:p>
        </p:txBody>
      </p:sp>
      <p:sp>
        <p:nvSpPr>
          <p:cNvPr id="42" name="Rectangle 41"/>
          <p:cNvSpPr/>
          <p:nvPr/>
        </p:nvSpPr>
        <p:spPr>
          <a:xfrm>
            <a:off x="8247888" y="5641848"/>
            <a:ext cx="868680" cy="384048"/>
          </a:xfrm>
          <a:prstGeom prst="rect">
            <a:avLst/>
          </a:prstGeom>
          <a:solidFill>
            <a:srgbClr val="B7791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8247888" y="5641848"/>
            <a:ext cx="868680" cy="384048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700" b="1" i="0">
                <a:solidFill>
                  <a:srgbClr val="FFFFFF"/>
                </a:solidFill>
                <a:latin typeface="Source Sans 3"/>
              </a:rPr>
              <a:t>94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208008" y="5641848"/>
            <a:ext cx="2295144" cy="384048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500" b="0" i="0">
                <a:solidFill>
                  <a:srgbClr val="1C2128"/>
                </a:solidFill>
                <a:latin typeface="Source Sans 3"/>
              </a:rPr>
              <a:t>as a listed alternative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74320"/>
            <a:ext cx="10332720" cy="731520"/>
          </a:xfrm>
          <a:prstGeom prst="rect">
            <a:avLst/>
          </a:prstGeom>
          <a:noFill/>
        </p:spPr>
        <p:txBody>
          <a:bodyPr wrap="square" lIns="27432" rIns="27432" tIns="27432" bIns="27432" anchor="b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000" b="1" i="0">
                <a:solidFill>
                  <a:srgbClr val="12284C"/>
                </a:solidFill>
                <a:latin typeface="Source Sans 3"/>
              </a:rPr>
              <a:t>RQ3: How Labels Change When the Fix Is Visible</a:t>
            </a:r>
          </a:p>
        </p:txBody>
      </p:sp>
      <p:pic>
        <p:nvPicPr>
          <p:cNvPr id="4" name="Picture 3" descr="iut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228832" y="292608"/>
            <a:ext cx="433472" cy="713232"/>
          </a:xfrm>
          <a:prstGeom prst="rect">
            <a:avLst/>
          </a:prstGeom>
        </p:spPr>
      </p:pic>
      <p:cxnSp>
        <p:nvCxnSpPr>
          <p:cNvPr id="5" name="Connector 4"/>
          <p:cNvCxnSpPr/>
          <p:nvPr/>
        </p:nvCxnSpPr>
        <p:spPr>
          <a:xfrm>
            <a:off x="548640" y="1078992"/>
            <a:ext cx="11091672" cy="0"/>
          </a:xfrm>
          <a:prstGeom prst="line">
            <a:avLst/>
          </a:prstGeom>
          <a:ln w="9525">
            <a:solidFill>
              <a:srgbClr val="D5D9DF"/>
            </a:solidFill>
          </a:ln>
        </p:spPr>
      </p:cxnSp>
      <p:sp>
        <p:nvSpPr>
          <p:cNvPr id="6" name="Rectangle 5"/>
          <p:cNvSpPr/>
          <p:nvPr/>
        </p:nvSpPr>
        <p:spPr>
          <a:xfrm>
            <a:off x="548640" y="1060704"/>
            <a:ext cx="914400" cy="41148"/>
          </a:xfrm>
          <a:prstGeom prst="rect">
            <a:avLst/>
          </a:prstGeom>
          <a:solidFill>
            <a:srgbClr val="12284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>
            <a:off x="548640" y="6400800"/>
            <a:ext cx="11091672" cy="0"/>
          </a:xfrm>
          <a:prstGeom prst="line">
            <a:avLst/>
          </a:prstGeom>
          <a:ln w="9525">
            <a:solidFill>
              <a:srgbClr val="D5D9DF"/>
            </a:solidFill>
          </a:ln>
        </p:spPr>
      </p:cxnSp>
      <p:sp>
        <p:nvSpPr>
          <p:cNvPr id="8" name="TextBox 7"/>
          <p:cNvSpPr txBox="1"/>
          <p:nvPr/>
        </p:nvSpPr>
        <p:spPr>
          <a:xfrm>
            <a:off x="548640" y="6437376"/>
            <a:ext cx="3931920" cy="365760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00" b="0" i="0">
                <a:solidFill>
                  <a:srgbClr val="8A919C"/>
                </a:solidFill>
                <a:latin typeface="Source Sans 3"/>
              </a:rPr>
              <a:t>ODC on Defects4J  ·  Thesis Defence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0" y="6437376"/>
            <a:ext cx="854964" cy="365760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400" b="0" i="0">
                <a:solidFill>
                  <a:srgbClr val="8A919C"/>
                </a:solidFill>
                <a:latin typeface="Source Sans 3"/>
              </a:rPr>
              <a:t>Context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55564" y="6437376"/>
            <a:ext cx="1239012" cy="365760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400" b="0" i="0">
                <a:solidFill>
                  <a:srgbClr val="8A919C"/>
                </a:solidFill>
                <a:latin typeface="Source Sans 3"/>
              </a:rPr>
              <a:t>Methodology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123176" y="6437376"/>
            <a:ext cx="854964" cy="365760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400" b="1" i="0">
                <a:solidFill>
                  <a:srgbClr val="12284C"/>
                </a:solidFill>
                <a:latin typeface="Source Sans 3"/>
              </a:rPr>
              <a:t>Results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214616" y="6757416"/>
            <a:ext cx="672084" cy="32004"/>
          </a:xfrm>
          <a:prstGeom prst="rect">
            <a:avLst/>
          </a:prstGeom>
          <a:solidFill>
            <a:srgbClr val="12284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966960" y="6419088"/>
            <a:ext cx="1673352" cy="402336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800" b="1" i="0">
                <a:solidFill>
                  <a:srgbClr val="12284C"/>
                </a:solidFill>
                <a:latin typeface="Source Sans 3"/>
              </a:rPr>
              <a:t>18 / 24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1261872"/>
            <a:ext cx="6949440" cy="329184"/>
          </a:xfrm>
          <a:prstGeom prst="rect">
            <a:avLst/>
          </a:prstGeom>
          <a:noFill/>
        </p:spPr>
        <p:txBody>
          <a:bodyPr wrap="square" lIns="27432" rIns="27432" tIns="27432" bIns="27432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00" b="1" i="0">
                <a:solidFill>
                  <a:srgbClr val="5A6270"/>
                </a:solidFill>
                <a:latin typeface="Source Sans 3"/>
              </a:rPr>
              <a:t>PRE-FIX LABEL (ROW)  →  POST-FIX LABEL (COLUMN)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194560" y="1746504"/>
            <a:ext cx="1188720" cy="365760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500" b="1" i="0">
                <a:solidFill>
                  <a:srgbClr val="12284C"/>
                </a:solidFill>
                <a:latin typeface="Source Sans 3"/>
              </a:rPr>
              <a:t>Checking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383280" y="1746504"/>
            <a:ext cx="1188720" cy="365760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500" b="1" i="0">
                <a:solidFill>
                  <a:srgbClr val="12284C"/>
                </a:solidFill>
                <a:latin typeface="Source Sans 3"/>
              </a:rPr>
              <a:t>Algorithm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0" y="1746504"/>
            <a:ext cx="1188720" cy="365760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500" b="1" i="0">
                <a:solidFill>
                  <a:srgbClr val="12284C"/>
                </a:solidFill>
                <a:latin typeface="Source Sans 3"/>
              </a:rPr>
              <a:t>Assignment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760720" y="1746504"/>
            <a:ext cx="1188720" cy="365760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500" b="1" i="0">
                <a:solidFill>
                  <a:srgbClr val="12284C"/>
                </a:solidFill>
                <a:latin typeface="Source Sans 3"/>
              </a:rPr>
              <a:t>other types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38911" y="2148840"/>
            <a:ext cx="1645920" cy="713232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500" b="1" i="0">
                <a:solidFill>
                  <a:srgbClr val="12284C"/>
                </a:solidFill>
                <a:latin typeface="Source Sans 3"/>
              </a:rPr>
              <a:t>Checking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221991" y="2176272"/>
            <a:ext cx="1133856" cy="658368"/>
          </a:xfrm>
          <a:prstGeom prst="rect">
            <a:avLst/>
          </a:prstGeom>
          <a:solidFill>
            <a:srgbClr val="E6EAF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194560" y="2148840"/>
            <a:ext cx="1188720" cy="713232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800" b="1" i="0">
                <a:solidFill>
                  <a:srgbClr val="1C2128"/>
                </a:solidFill>
                <a:latin typeface="Source Sans 3"/>
              </a:rPr>
              <a:t>148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410712" y="2176272"/>
            <a:ext cx="1133856" cy="658368"/>
          </a:xfrm>
          <a:prstGeom prst="rect">
            <a:avLst/>
          </a:prstGeom>
          <a:solidFill>
            <a:srgbClr val="12284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383280" y="2148840"/>
            <a:ext cx="1188720" cy="713232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800" b="1" i="0">
                <a:solidFill>
                  <a:srgbClr val="FFFFFF"/>
                </a:solidFill>
                <a:latin typeface="Source Sans 3"/>
              </a:rPr>
              <a:t>37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599432" y="2176272"/>
            <a:ext cx="1133856" cy="658368"/>
          </a:xfrm>
          <a:prstGeom prst="rect">
            <a:avLst/>
          </a:prstGeom>
          <a:solidFill>
            <a:srgbClr val="9FB0C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572000" y="2148840"/>
            <a:ext cx="1188720" cy="713232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800" b="1" i="0">
                <a:solidFill>
                  <a:srgbClr val="1C2128"/>
                </a:solidFill>
                <a:latin typeface="Source Sans 3"/>
              </a:rPr>
              <a:t>8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788152" y="2176272"/>
            <a:ext cx="1133856" cy="658368"/>
          </a:xfrm>
          <a:prstGeom prst="rect">
            <a:avLst/>
          </a:prstGeom>
          <a:solidFill>
            <a:srgbClr val="DEE4E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760720" y="2148840"/>
            <a:ext cx="1188720" cy="713232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600" b="0" i="0">
                <a:solidFill>
                  <a:srgbClr val="5A6270"/>
                </a:solidFill>
                <a:latin typeface="Source Sans 3"/>
              </a:rPr>
              <a:t>5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38911" y="2862072"/>
            <a:ext cx="1645920" cy="713232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500" b="1" i="0">
                <a:solidFill>
                  <a:srgbClr val="12284C"/>
                </a:solidFill>
                <a:latin typeface="Source Sans 3"/>
              </a:rPr>
              <a:t>Algorithm</a:t>
            </a:r>
          </a:p>
        </p:txBody>
      </p:sp>
      <p:sp>
        <p:nvSpPr>
          <p:cNvPr id="29" name="Rectangle 28"/>
          <p:cNvSpPr/>
          <p:nvPr/>
        </p:nvSpPr>
        <p:spPr>
          <a:xfrm>
            <a:off x="2221991" y="2889503"/>
            <a:ext cx="1133856" cy="658368"/>
          </a:xfrm>
          <a:prstGeom prst="rect">
            <a:avLst/>
          </a:prstGeom>
          <a:solidFill>
            <a:srgbClr val="12284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2194560" y="2862072"/>
            <a:ext cx="1188720" cy="713232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800" b="1" i="0">
                <a:solidFill>
                  <a:srgbClr val="FFFFFF"/>
                </a:solidFill>
                <a:latin typeface="Source Sans 3"/>
              </a:rPr>
              <a:t>38</a:t>
            </a:r>
          </a:p>
        </p:txBody>
      </p:sp>
      <p:sp>
        <p:nvSpPr>
          <p:cNvPr id="31" name="Rectangle 30"/>
          <p:cNvSpPr/>
          <p:nvPr/>
        </p:nvSpPr>
        <p:spPr>
          <a:xfrm>
            <a:off x="3410712" y="2889503"/>
            <a:ext cx="1133856" cy="658368"/>
          </a:xfrm>
          <a:prstGeom prst="rect">
            <a:avLst/>
          </a:prstGeom>
          <a:solidFill>
            <a:srgbClr val="E6EAF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3383280" y="2862072"/>
            <a:ext cx="1188720" cy="713232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800" b="1" i="0">
                <a:solidFill>
                  <a:srgbClr val="1C2128"/>
                </a:solidFill>
                <a:latin typeface="Source Sans 3"/>
              </a:rPr>
              <a:t>119</a:t>
            </a:r>
          </a:p>
        </p:txBody>
      </p:sp>
      <p:sp>
        <p:nvSpPr>
          <p:cNvPr id="33" name="Rectangle 32"/>
          <p:cNvSpPr/>
          <p:nvPr/>
        </p:nvSpPr>
        <p:spPr>
          <a:xfrm>
            <a:off x="4599432" y="2889503"/>
            <a:ext cx="1133856" cy="658368"/>
          </a:xfrm>
          <a:prstGeom prst="rect">
            <a:avLst/>
          </a:prstGeom>
          <a:solidFill>
            <a:srgbClr val="9FB0C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572000" y="2862072"/>
            <a:ext cx="1188720" cy="713232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800" b="1" i="0">
                <a:solidFill>
                  <a:srgbClr val="1C2128"/>
                </a:solidFill>
                <a:latin typeface="Source Sans 3"/>
              </a:rPr>
              <a:t>10</a:t>
            </a:r>
          </a:p>
        </p:txBody>
      </p:sp>
      <p:sp>
        <p:nvSpPr>
          <p:cNvPr id="35" name="Rectangle 34"/>
          <p:cNvSpPr/>
          <p:nvPr/>
        </p:nvSpPr>
        <p:spPr>
          <a:xfrm>
            <a:off x="5788152" y="2889503"/>
            <a:ext cx="1133856" cy="658368"/>
          </a:xfrm>
          <a:prstGeom prst="rect">
            <a:avLst/>
          </a:prstGeom>
          <a:solidFill>
            <a:srgbClr val="9FB0C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5760720" y="2862072"/>
            <a:ext cx="1188720" cy="713232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800" b="1" i="0">
                <a:solidFill>
                  <a:srgbClr val="1C2128"/>
                </a:solidFill>
                <a:latin typeface="Source Sans 3"/>
              </a:rPr>
              <a:t>8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38911" y="3575304"/>
            <a:ext cx="1645920" cy="713232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500" b="1" i="0">
                <a:solidFill>
                  <a:srgbClr val="12284C"/>
                </a:solidFill>
                <a:latin typeface="Source Sans 3"/>
              </a:rPr>
              <a:t>Assignment</a:t>
            </a:r>
          </a:p>
        </p:txBody>
      </p:sp>
      <p:sp>
        <p:nvSpPr>
          <p:cNvPr id="38" name="Rectangle 37"/>
          <p:cNvSpPr/>
          <p:nvPr/>
        </p:nvSpPr>
        <p:spPr>
          <a:xfrm>
            <a:off x="2221991" y="3602736"/>
            <a:ext cx="1133856" cy="658368"/>
          </a:xfrm>
          <a:prstGeom prst="rect">
            <a:avLst/>
          </a:prstGeom>
          <a:solidFill>
            <a:srgbClr val="DEE4E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2194560" y="3575304"/>
            <a:ext cx="1188720" cy="713232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600" b="0" i="0">
                <a:solidFill>
                  <a:srgbClr val="5A6270"/>
                </a:solidFill>
                <a:latin typeface="Source Sans 3"/>
              </a:rPr>
              <a:t>3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410712" y="3602736"/>
            <a:ext cx="1133856" cy="658368"/>
          </a:xfrm>
          <a:prstGeom prst="rect">
            <a:avLst/>
          </a:prstGeom>
          <a:solidFill>
            <a:srgbClr val="DEE4E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383280" y="3575304"/>
            <a:ext cx="1188720" cy="713232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600" b="0" i="0">
                <a:solidFill>
                  <a:srgbClr val="5A6270"/>
                </a:solidFill>
                <a:latin typeface="Source Sans 3"/>
              </a:rPr>
              <a:t>2</a:t>
            </a:r>
          </a:p>
        </p:txBody>
      </p:sp>
      <p:sp>
        <p:nvSpPr>
          <p:cNvPr id="42" name="Rectangle 41"/>
          <p:cNvSpPr/>
          <p:nvPr/>
        </p:nvSpPr>
        <p:spPr>
          <a:xfrm>
            <a:off x="4599432" y="3602736"/>
            <a:ext cx="1133856" cy="658368"/>
          </a:xfrm>
          <a:prstGeom prst="rect">
            <a:avLst/>
          </a:prstGeom>
          <a:solidFill>
            <a:srgbClr val="E6EAF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4572000" y="3575304"/>
            <a:ext cx="1188720" cy="713232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800" b="1" i="0">
                <a:solidFill>
                  <a:srgbClr val="1C2128"/>
                </a:solidFill>
                <a:latin typeface="Source Sans 3"/>
              </a:rPr>
              <a:t>18</a:t>
            </a:r>
          </a:p>
        </p:txBody>
      </p:sp>
      <p:sp>
        <p:nvSpPr>
          <p:cNvPr id="44" name="Rectangle 43"/>
          <p:cNvSpPr/>
          <p:nvPr/>
        </p:nvSpPr>
        <p:spPr>
          <a:xfrm>
            <a:off x="5788152" y="3602736"/>
            <a:ext cx="1133856" cy="658368"/>
          </a:xfrm>
          <a:prstGeom prst="rect">
            <a:avLst/>
          </a:prstGeom>
          <a:solidFill>
            <a:srgbClr val="DEE4E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5760720" y="3575304"/>
            <a:ext cx="1188720" cy="713232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600" b="0" i="0">
                <a:solidFill>
                  <a:srgbClr val="5A6270"/>
                </a:solidFill>
                <a:latin typeface="Source Sans 3"/>
              </a:rPr>
              <a:t>5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38911" y="4288536"/>
            <a:ext cx="1645920" cy="713232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500" b="1" i="0">
                <a:solidFill>
                  <a:srgbClr val="12284C"/>
                </a:solidFill>
                <a:latin typeface="Source Sans 3"/>
              </a:rPr>
              <a:t>other types</a:t>
            </a:r>
          </a:p>
        </p:txBody>
      </p:sp>
      <p:sp>
        <p:nvSpPr>
          <p:cNvPr id="47" name="Rectangle 46"/>
          <p:cNvSpPr/>
          <p:nvPr/>
        </p:nvSpPr>
        <p:spPr>
          <a:xfrm>
            <a:off x="2221991" y="4315968"/>
            <a:ext cx="1133856" cy="658368"/>
          </a:xfrm>
          <a:prstGeom prst="rect">
            <a:avLst/>
          </a:prstGeom>
          <a:solidFill>
            <a:srgbClr val="DEE4E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2194560" y="4288536"/>
            <a:ext cx="1188720" cy="713232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600" b="0" i="0">
                <a:solidFill>
                  <a:srgbClr val="5A6270"/>
                </a:solidFill>
                <a:latin typeface="Source Sans 3"/>
              </a:rPr>
              <a:t>3</a:t>
            </a:r>
          </a:p>
        </p:txBody>
      </p:sp>
      <p:sp>
        <p:nvSpPr>
          <p:cNvPr id="49" name="Rectangle 48"/>
          <p:cNvSpPr/>
          <p:nvPr/>
        </p:nvSpPr>
        <p:spPr>
          <a:xfrm>
            <a:off x="3410712" y="4315968"/>
            <a:ext cx="1133856" cy="658368"/>
          </a:xfrm>
          <a:prstGeom prst="rect">
            <a:avLst/>
          </a:prstGeom>
          <a:solidFill>
            <a:srgbClr val="DEE4E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3383280" y="4288536"/>
            <a:ext cx="1188720" cy="713232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600" b="0" i="0">
                <a:solidFill>
                  <a:srgbClr val="5A6270"/>
                </a:solidFill>
                <a:latin typeface="Source Sans 3"/>
              </a:rPr>
              <a:t>2</a:t>
            </a:r>
          </a:p>
        </p:txBody>
      </p:sp>
      <p:sp>
        <p:nvSpPr>
          <p:cNvPr id="51" name="Rectangle 50"/>
          <p:cNvSpPr/>
          <p:nvPr/>
        </p:nvSpPr>
        <p:spPr>
          <a:xfrm>
            <a:off x="4599432" y="4315968"/>
            <a:ext cx="1133856" cy="658368"/>
          </a:xfrm>
          <a:prstGeom prst="rect">
            <a:avLst/>
          </a:prstGeom>
          <a:solidFill>
            <a:srgbClr val="DEE4E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4572000" y="4288536"/>
            <a:ext cx="1188720" cy="713232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600" b="0" i="0">
                <a:solidFill>
                  <a:srgbClr val="5A6270"/>
                </a:solidFill>
                <a:latin typeface="Source Sans 3"/>
              </a:rPr>
              <a:t>1</a:t>
            </a:r>
          </a:p>
        </p:txBody>
      </p:sp>
      <p:sp>
        <p:nvSpPr>
          <p:cNvPr id="53" name="Rectangle 52"/>
          <p:cNvSpPr/>
          <p:nvPr/>
        </p:nvSpPr>
        <p:spPr>
          <a:xfrm>
            <a:off x="5788152" y="4315968"/>
            <a:ext cx="1133856" cy="658368"/>
          </a:xfrm>
          <a:prstGeom prst="rect">
            <a:avLst/>
          </a:prstGeom>
          <a:solidFill>
            <a:srgbClr val="E6EAF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5760720" y="4288536"/>
            <a:ext cx="1188720" cy="713232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600" b="1" i="0">
                <a:solidFill>
                  <a:srgbClr val="1C2128"/>
                </a:solidFill>
                <a:latin typeface="Source Sans 3"/>
              </a:rPr>
              <a:t>3</a:t>
            </a:r>
          </a:p>
        </p:txBody>
      </p:sp>
      <p:sp>
        <p:nvSpPr>
          <p:cNvPr id="55" name="Rectangle 54"/>
          <p:cNvSpPr/>
          <p:nvPr/>
        </p:nvSpPr>
        <p:spPr>
          <a:xfrm>
            <a:off x="2221991" y="2176272"/>
            <a:ext cx="1133856" cy="658368"/>
          </a:xfrm>
          <a:prstGeom prst="rect">
            <a:avLst/>
          </a:prstGeom>
          <a:noFill/>
          <a:ln w="22225">
            <a:solidFill>
              <a:srgbClr val="2F7D4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3410712" y="2889503"/>
            <a:ext cx="1133856" cy="658368"/>
          </a:xfrm>
          <a:prstGeom prst="rect">
            <a:avLst/>
          </a:prstGeom>
          <a:noFill/>
          <a:ln w="22225">
            <a:solidFill>
              <a:srgbClr val="2F7D4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4599432" y="3602736"/>
            <a:ext cx="1133856" cy="658368"/>
          </a:xfrm>
          <a:prstGeom prst="rect">
            <a:avLst/>
          </a:prstGeom>
          <a:noFill/>
          <a:ln w="22225">
            <a:solidFill>
              <a:srgbClr val="2F7D4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8" name="Rectangle 57"/>
          <p:cNvSpPr/>
          <p:nvPr/>
        </p:nvSpPr>
        <p:spPr>
          <a:xfrm>
            <a:off x="5788152" y="4315968"/>
            <a:ext cx="1133856" cy="658368"/>
          </a:xfrm>
          <a:prstGeom prst="rect">
            <a:avLst/>
          </a:prstGeom>
          <a:noFill/>
          <a:ln w="22225">
            <a:solidFill>
              <a:srgbClr val="2F7D4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548640" y="5138928"/>
            <a:ext cx="6949440" cy="384048"/>
          </a:xfrm>
          <a:prstGeom prst="rect">
            <a:avLst/>
          </a:prstGeom>
          <a:noFill/>
        </p:spPr>
        <p:txBody>
          <a:bodyPr wrap="square" lIns="27432" rIns="27432" tIns="27432" bIns="27432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500" b="1" i="0">
                <a:solidFill>
                  <a:srgbClr val="2F7D4F"/>
                </a:solidFill>
                <a:latin typeface="Source Sans 3"/>
              </a:rPr>
              <a:t>outlined</a:t>
            </a:r>
            <a:r>
              <a:rPr sz="1500" b="0" i="0">
                <a:solidFill>
                  <a:srgbClr val="5A6270"/>
                </a:solidFill>
                <a:latin typeface="Source Sans 3"/>
              </a:rPr>
              <a:t>  the label did not change        </a:t>
            </a:r>
            <a:r>
              <a:rPr sz="1500" b="1" i="0">
                <a:solidFill>
                  <a:srgbClr val="12284C"/>
                </a:solidFill>
                <a:latin typeface="Source Sans 3"/>
              </a:rPr>
              <a:t>darker</a:t>
            </a:r>
            <a:r>
              <a:rPr sz="1500" b="0" i="0">
                <a:solidFill>
                  <a:srgbClr val="5A6270"/>
                </a:solidFill>
                <a:latin typeface="Source Sans 3"/>
              </a:rPr>
              <a:t>  more bugs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48640" y="5550408"/>
            <a:ext cx="7315200" cy="411480"/>
          </a:xfrm>
          <a:prstGeom prst="rect">
            <a:avLst/>
          </a:prstGeom>
          <a:noFill/>
        </p:spPr>
        <p:txBody>
          <a:bodyPr wrap="square" lIns="27432" rIns="27432" tIns="27432" bIns="27432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700" b="0" i="0">
                <a:solidFill>
                  <a:srgbClr val="1C2128"/>
                </a:solidFill>
                <a:latin typeface="Source Sans 3"/>
              </a:rPr>
              <a:t>The two dark cells cancel out: 38 bugs move one way, 37 the other.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7863840" y="1508760"/>
            <a:ext cx="3776472" cy="566928"/>
          </a:xfrm>
          <a:prstGeom prst="rect">
            <a:avLst/>
          </a:prstGeom>
          <a:noFill/>
        </p:spPr>
        <p:txBody>
          <a:bodyPr wrap="square" lIns="27432" rIns="27432" tIns="27432" bIns="27432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000" b="1" i="0">
                <a:solidFill>
                  <a:srgbClr val="12284C"/>
                </a:solidFill>
                <a:latin typeface="Source Sans 3"/>
              </a:rPr>
              <a:t>29.8%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7863840" y="2075688"/>
            <a:ext cx="3776472" cy="548640"/>
          </a:xfrm>
          <a:prstGeom prst="rect">
            <a:avLst/>
          </a:prstGeom>
          <a:noFill/>
        </p:spPr>
        <p:txBody>
          <a:bodyPr wrap="square" lIns="27432" rIns="27432" tIns="27432" bIns="27432" anchor="t">
            <a:noAutofit/>
          </a:bodyPr>
          <a:lstStyle/>
          <a:p>
            <a:pPr algn="l">
              <a:lnSpc>
                <a:spcPct val="103000"/>
              </a:lnSpc>
              <a:spcAft>
                <a:spcPts val="0"/>
              </a:spcAft>
            </a:pPr>
            <a:r>
              <a:rPr sz="1600" b="0" i="0">
                <a:solidFill>
                  <a:srgbClr val="5A6270"/>
                </a:solidFill>
                <a:latin typeface="Source Sans 3"/>
              </a:rPr>
              <a:t>of bugs change label (122 of 410)</a:t>
            </a:r>
          </a:p>
        </p:txBody>
      </p:sp>
      <p:cxnSp>
        <p:nvCxnSpPr>
          <p:cNvPr id="63" name="Connector 62"/>
          <p:cNvCxnSpPr/>
          <p:nvPr/>
        </p:nvCxnSpPr>
        <p:spPr>
          <a:xfrm>
            <a:off x="7863840" y="2697480"/>
            <a:ext cx="3776472" cy="0"/>
          </a:xfrm>
          <a:prstGeom prst="line">
            <a:avLst/>
          </a:prstGeom>
          <a:ln w="9525">
            <a:solidFill>
              <a:srgbClr val="D5D9DF"/>
            </a:solidFill>
          </a:ln>
        </p:spPr>
      </p:cxnSp>
      <p:sp>
        <p:nvSpPr>
          <p:cNvPr id="64" name="TextBox 63"/>
          <p:cNvSpPr txBox="1"/>
          <p:nvPr/>
        </p:nvSpPr>
        <p:spPr>
          <a:xfrm>
            <a:off x="7863840" y="2880360"/>
            <a:ext cx="3776472" cy="566928"/>
          </a:xfrm>
          <a:prstGeom prst="rect">
            <a:avLst/>
          </a:prstGeom>
          <a:noFill/>
        </p:spPr>
        <p:txBody>
          <a:bodyPr wrap="square" lIns="27432" rIns="27432" tIns="27432" bIns="27432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000" b="1" i="0">
                <a:solidFill>
                  <a:srgbClr val="12284C"/>
                </a:solidFill>
                <a:latin typeface="Source Sans 3"/>
              </a:rPr>
              <a:t>80.3%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7863840" y="3447288"/>
            <a:ext cx="3776472" cy="548640"/>
          </a:xfrm>
          <a:prstGeom prst="rect">
            <a:avLst/>
          </a:prstGeom>
          <a:noFill/>
        </p:spPr>
        <p:txBody>
          <a:bodyPr wrap="square" lIns="27432" rIns="27432" tIns="27432" bIns="27432" anchor="t">
            <a:noAutofit/>
          </a:bodyPr>
          <a:lstStyle/>
          <a:p>
            <a:pPr algn="l">
              <a:lnSpc>
                <a:spcPct val="103000"/>
              </a:lnSpc>
              <a:spcAft>
                <a:spcPts val="0"/>
              </a:spcAft>
            </a:pPr>
            <a:r>
              <a:rPr sz="1600" b="0" i="0">
                <a:solidFill>
                  <a:srgbClr val="5A6270"/>
                </a:solidFill>
                <a:latin typeface="Source Sans 3"/>
              </a:rPr>
              <a:t>of changes stay in these three types</a:t>
            </a:r>
          </a:p>
        </p:txBody>
      </p:sp>
      <p:cxnSp>
        <p:nvCxnSpPr>
          <p:cNvPr id="66" name="Connector 65"/>
          <p:cNvCxnSpPr/>
          <p:nvPr/>
        </p:nvCxnSpPr>
        <p:spPr>
          <a:xfrm>
            <a:off x="7863840" y="4069080"/>
            <a:ext cx="3776472" cy="0"/>
          </a:xfrm>
          <a:prstGeom prst="line">
            <a:avLst/>
          </a:prstGeom>
          <a:ln w="9525">
            <a:solidFill>
              <a:srgbClr val="D5D9DF"/>
            </a:solidFill>
          </a:ln>
        </p:spPr>
      </p:cxnSp>
      <p:sp>
        <p:nvSpPr>
          <p:cNvPr id="67" name="TextBox 66"/>
          <p:cNvSpPr txBox="1"/>
          <p:nvPr/>
        </p:nvSpPr>
        <p:spPr>
          <a:xfrm>
            <a:off x="7863840" y="4251960"/>
            <a:ext cx="3776472" cy="566928"/>
          </a:xfrm>
          <a:prstGeom prst="rect">
            <a:avLst/>
          </a:prstGeom>
          <a:noFill/>
        </p:spPr>
        <p:txBody>
          <a:bodyPr wrap="square" lIns="27432" rIns="27432" tIns="27432" bIns="27432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000" b="1" i="0">
                <a:solidFill>
                  <a:srgbClr val="12284C"/>
                </a:solidFill>
                <a:latin typeface="Source Sans 3"/>
              </a:rPr>
              <a:t>About 5%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7863840" y="4818888"/>
            <a:ext cx="3776472" cy="548640"/>
          </a:xfrm>
          <a:prstGeom prst="rect">
            <a:avLst/>
          </a:prstGeom>
          <a:noFill/>
        </p:spPr>
        <p:txBody>
          <a:bodyPr wrap="square" lIns="27432" rIns="27432" tIns="27432" bIns="27432" anchor="t">
            <a:noAutofit/>
          </a:bodyPr>
          <a:lstStyle/>
          <a:p>
            <a:pPr algn="l">
              <a:lnSpc>
                <a:spcPct val="103000"/>
              </a:lnSpc>
              <a:spcAft>
                <a:spcPts val="0"/>
              </a:spcAft>
            </a:pPr>
            <a:r>
              <a:rPr sz="1600" b="0" i="0">
                <a:solidFill>
                  <a:srgbClr val="5A6270"/>
                </a:solidFill>
                <a:latin typeface="Source Sans 3"/>
              </a:rPr>
              <a:t>of the overall type mix shifts: the totals barely move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548640" y="5989320"/>
            <a:ext cx="11091672" cy="365760"/>
          </a:xfrm>
          <a:prstGeom prst="rect">
            <a:avLst/>
          </a:prstGeom>
          <a:noFill/>
        </p:spPr>
        <p:txBody>
          <a:bodyPr wrap="square" lIns="27432" rIns="27432" tIns="27432" bIns="27432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500" b="0" i="1">
                <a:solidFill>
                  <a:srgbClr val="5A6270"/>
                </a:solidFill>
                <a:latin typeface="Source Sans 3"/>
              </a:rPr>
              <a:t>Algorithm/Method vs Checking is also the boundary human raters confuse [22]; the fix shows one fault of several [29].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74320"/>
            <a:ext cx="10332720" cy="731520"/>
          </a:xfrm>
          <a:prstGeom prst="rect">
            <a:avLst/>
          </a:prstGeom>
          <a:noFill/>
        </p:spPr>
        <p:txBody>
          <a:bodyPr wrap="square" lIns="27432" rIns="27432" tIns="27432" bIns="27432" anchor="b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000" b="1" i="0">
                <a:solidFill>
                  <a:srgbClr val="12284C"/>
                </a:solidFill>
                <a:latin typeface="Source Sans 3"/>
              </a:rPr>
              <a:t>RQ4a: Contribution of the ODC Taxonomy</a:t>
            </a:r>
          </a:p>
        </p:txBody>
      </p:sp>
      <p:pic>
        <p:nvPicPr>
          <p:cNvPr id="4" name="Picture 3" descr="iut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228832" y="292608"/>
            <a:ext cx="433472" cy="713232"/>
          </a:xfrm>
          <a:prstGeom prst="rect">
            <a:avLst/>
          </a:prstGeom>
        </p:spPr>
      </p:pic>
      <p:cxnSp>
        <p:nvCxnSpPr>
          <p:cNvPr id="5" name="Connector 4"/>
          <p:cNvCxnSpPr/>
          <p:nvPr/>
        </p:nvCxnSpPr>
        <p:spPr>
          <a:xfrm>
            <a:off x="548640" y="1078992"/>
            <a:ext cx="11091672" cy="0"/>
          </a:xfrm>
          <a:prstGeom prst="line">
            <a:avLst/>
          </a:prstGeom>
          <a:ln w="9525">
            <a:solidFill>
              <a:srgbClr val="D5D9DF"/>
            </a:solidFill>
          </a:ln>
        </p:spPr>
      </p:cxnSp>
      <p:sp>
        <p:nvSpPr>
          <p:cNvPr id="6" name="Rectangle 5"/>
          <p:cNvSpPr/>
          <p:nvPr/>
        </p:nvSpPr>
        <p:spPr>
          <a:xfrm>
            <a:off x="548640" y="1060704"/>
            <a:ext cx="914400" cy="41148"/>
          </a:xfrm>
          <a:prstGeom prst="rect">
            <a:avLst/>
          </a:prstGeom>
          <a:solidFill>
            <a:srgbClr val="12284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>
            <a:off x="548640" y="6400800"/>
            <a:ext cx="11091672" cy="0"/>
          </a:xfrm>
          <a:prstGeom prst="line">
            <a:avLst/>
          </a:prstGeom>
          <a:ln w="9525">
            <a:solidFill>
              <a:srgbClr val="D5D9DF"/>
            </a:solidFill>
          </a:ln>
        </p:spPr>
      </p:cxnSp>
      <p:sp>
        <p:nvSpPr>
          <p:cNvPr id="8" name="TextBox 7"/>
          <p:cNvSpPr txBox="1"/>
          <p:nvPr/>
        </p:nvSpPr>
        <p:spPr>
          <a:xfrm>
            <a:off x="548640" y="6437376"/>
            <a:ext cx="3931920" cy="365760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00" b="0" i="0">
                <a:solidFill>
                  <a:srgbClr val="8A919C"/>
                </a:solidFill>
                <a:latin typeface="Source Sans 3"/>
              </a:rPr>
              <a:t>ODC on Defects4J  ·  Thesis Defence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0" y="6437376"/>
            <a:ext cx="854964" cy="365760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400" b="0" i="0">
                <a:solidFill>
                  <a:srgbClr val="8A919C"/>
                </a:solidFill>
                <a:latin typeface="Source Sans 3"/>
              </a:rPr>
              <a:t>Context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55564" y="6437376"/>
            <a:ext cx="1239012" cy="365760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400" b="0" i="0">
                <a:solidFill>
                  <a:srgbClr val="8A919C"/>
                </a:solidFill>
                <a:latin typeface="Source Sans 3"/>
              </a:rPr>
              <a:t>Methodology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123176" y="6437376"/>
            <a:ext cx="854964" cy="365760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400" b="1" i="0">
                <a:solidFill>
                  <a:srgbClr val="12284C"/>
                </a:solidFill>
                <a:latin typeface="Source Sans 3"/>
              </a:rPr>
              <a:t>Results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214616" y="6757416"/>
            <a:ext cx="672084" cy="32004"/>
          </a:xfrm>
          <a:prstGeom prst="rect">
            <a:avLst/>
          </a:prstGeom>
          <a:solidFill>
            <a:srgbClr val="12284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966960" y="6419088"/>
            <a:ext cx="1673352" cy="402336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800" b="1" i="0">
                <a:solidFill>
                  <a:srgbClr val="12284C"/>
                </a:solidFill>
                <a:latin typeface="Source Sans 3"/>
              </a:rPr>
              <a:t>19 / 24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1234440"/>
            <a:ext cx="5760720" cy="502920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000" b="1" i="0">
                <a:solidFill>
                  <a:srgbClr val="A23B3B"/>
                </a:solidFill>
                <a:latin typeface="Source Sans 3"/>
              </a:rPr>
              <a:t>366</a:t>
            </a:r>
            <a:r>
              <a:rPr sz="1900" b="0" i="0">
                <a:solidFill>
                  <a:srgbClr val="1C2128"/>
                </a:solidFill>
                <a:latin typeface="Source Sans 3"/>
              </a:rPr>
              <a:t>  different labels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1737360"/>
            <a:ext cx="5760720" cy="365760"/>
          </a:xfrm>
          <a:prstGeom prst="rect">
            <a:avLst/>
          </a:prstGeom>
          <a:noFill/>
        </p:spPr>
        <p:txBody>
          <a:bodyPr wrap="square" lIns="27432" rIns="27432" tIns="27432" bIns="27432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500" b="0" i="0">
                <a:solidFill>
                  <a:srgbClr val="5A6270"/>
                </a:solidFill>
                <a:latin typeface="Source Sans 3"/>
              </a:rPr>
              <a:t>when the model writes its own (zero-free, 410 bugs)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640080" y="4709160"/>
            <a:ext cx="5760720" cy="0"/>
          </a:xfrm>
          <a:prstGeom prst="line">
            <a:avLst/>
          </a:prstGeom>
          <a:ln w="12700">
            <a:solidFill>
              <a:srgbClr val="8A919C"/>
            </a:solidFill>
          </a:ln>
        </p:spPr>
      </p:cxnSp>
      <p:cxnSp>
        <p:nvCxnSpPr>
          <p:cNvPr id="17" name="Connector 16"/>
          <p:cNvCxnSpPr/>
          <p:nvPr/>
        </p:nvCxnSpPr>
        <p:spPr>
          <a:xfrm>
            <a:off x="640080" y="4008120"/>
            <a:ext cx="5760720" cy="0"/>
          </a:xfrm>
          <a:prstGeom prst="line">
            <a:avLst/>
          </a:prstGeom>
          <a:ln w="9525">
            <a:solidFill>
              <a:srgbClr val="D5D9DF"/>
            </a:solidFill>
          </a:ln>
        </p:spPr>
      </p:cxnSp>
      <p:sp>
        <p:nvSpPr>
          <p:cNvPr id="18" name="TextBox 17"/>
          <p:cNvSpPr txBox="1"/>
          <p:nvPr/>
        </p:nvSpPr>
        <p:spPr>
          <a:xfrm>
            <a:off x="548640" y="3861816"/>
            <a:ext cx="274320" cy="292608"/>
          </a:xfrm>
          <a:prstGeom prst="rect">
            <a:avLst/>
          </a:prstGeom>
          <a:noFill/>
        </p:spPr>
        <p:txBody>
          <a:bodyPr wrap="square" lIns="27432" rIns="27432" tIns="27432" bIns="27432" anchor="t">
            <a:no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300" b="0" i="0">
                <a:solidFill>
                  <a:srgbClr val="8A919C"/>
                </a:solidFill>
                <a:latin typeface="Source Sans 3"/>
              </a:rPr>
              <a:t>5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640080" y="3307080"/>
            <a:ext cx="5760720" cy="0"/>
          </a:xfrm>
          <a:prstGeom prst="line">
            <a:avLst/>
          </a:prstGeom>
          <a:ln w="9525">
            <a:solidFill>
              <a:srgbClr val="D5D9DF"/>
            </a:solidFill>
          </a:ln>
        </p:spPr>
      </p:cxnSp>
      <p:sp>
        <p:nvSpPr>
          <p:cNvPr id="20" name="TextBox 19"/>
          <p:cNvSpPr txBox="1"/>
          <p:nvPr/>
        </p:nvSpPr>
        <p:spPr>
          <a:xfrm>
            <a:off x="548640" y="3160776"/>
            <a:ext cx="274320" cy="292608"/>
          </a:xfrm>
          <a:prstGeom prst="rect">
            <a:avLst/>
          </a:prstGeom>
          <a:noFill/>
        </p:spPr>
        <p:txBody>
          <a:bodyPr wrap="square" lIns="27432" rIns="27432" tIns="27432" bIns="27432" anchor="t">
            <a:no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300" b="0" i="0">
                <a:solidFill>
                  <a:srgbClr val="8A919C"/>
                </a:solidFill>
                <a:latin typeface="Source Sans 3"/>
              </a:rPr>
              <a:t>10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640080" y="2606040"/>
            <a:ext cx="5760720" cy="0"/>
          </a:xfrm>
          <a:prstGeom prst="line">
            <a:avLst/>
          </a:prstGeom>
          <a:ln w="9525">
            <a:solidFill>
              <a:srgbClr val="D5D9DF"/>
            </a:solidFill>
          </a:ln>
        </p:spPr>
      </p:cxnSp>
      <p:sp>
        <p:nvSpPr>
          <p:cNvPr id="22" name="TextBox 21"/>
          <p:cNvSpPr txBox="1"/>
          <p:nvPr/>
        </p:nvSpPr>
        <p:spPr>
          <a:xfrm>
            <a:off x="548640" y="2459736"/>
            <a:ext cx="274320" cy="292608"/>
          </a:xfrm>
          <a:prstGeom prst="rect">
            <a:avLst/>
          </a:prstGeom>
          <a:noFill/>
        </p:spPr>
        <p:txBody>
          <a:bodyPr wrap="square" lIns="27432" rIns="27432" tIns="27432" bIns="27432" anchor="t">
            <a:no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300" b="0" i="0">
                <a:solidFill>
                  <a:srgbClr val="8A919C"/>
                </a:solidFill>
                <a:latin typeface="Source Sans 3"/>
              </a:rPr>
              <a:t>15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68680" y="2606040"/>
            <a:ext cx="105156" cy="2103120"/>
          </a:xfrm>
          <a:prstGeom prst="rect">
            <a:avLst/>
          </a:prstGeom>
          <a:solidFill>
            <a:srgbClr val="A23B3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1014983" y="4148328"/>
            <a:ext cx="105156" cy="560832"/>
          </a:xfrm>
          <a:prstGeom prst="rect">
            <a:avLst/>
          </a:prstGeom>
          <a:solidFill>
            <a:srgbClr val="C8858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1161288" y="4288536"/>
            <a:ext cx="105156" cy="420623"/>
          </a:xfrm>
          <a:prstGeom prst="rect">
            <a:avLst/>
          </a:prstGeom>
          <a:solidFill>
            <a:srgbClr val="C8858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1307592" y="4288536"/>
            <a:ext cx="105156" cy="420623"/>
          </a:xfrm>
          <a:prstGeom prst="rect">
            <a:avLst/>
          </a:prstGeom>
          <a:solidFill>
            <a:srgbClr val="C8858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1453895" y="4288536"/>
            <a:ext cx="105156" cy="420623"/>
          </a:xfrm>
          <a:prstGeom prst="rect">
            <a:avLst/>
          </a:prstGeom>
          <a:solidFill>
            <a:srgbClr val="C8858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1600200" y="4288536"/>
            <a:ext cx="105156" cy="420623"/>
          </a:xfrm>
          <a:prstGeom prst="rect">
            <a:avLst/>
          </a:prstGeom>
          <a:solidFill>
            <a:srgbClr val="C8858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1746504" y="4288536"/>
            <a:ext cx="105156" cy="420623"/>
          </a:xfrm>
          <a:prstGeom prst="rect">
            <a:avLst/>
          </a:prstGeom>
          <a:solidFill>
            <a:srgbClr val="C8858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1892808" y="4428744"/>
            <a:ext cx="105156" cy="280416"/>
          </a:xfrm>
          <a:prstGeom prst="rect">
            <a:avLst/>
          </a:prstGeom>
          <a:solidFill>
            <a:srgbClr val="C8858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2039112" y="4428744"/>
            <a:ext cx="105156" cy="280416"/>
          </a:xfrm>
          <a:prstGeom prst="rect">
            <a:avLst/>
          </a:prstGeom>
          <a:solidFill>
            <a:srgbClr val="C8858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2185415" y="4428744"/>
            <a:ext cx="105156" cy="280416"/>
          </a:xfrm>
          <a:prstGeom prst="rect">
            <a:avLst/>
          </a:prstGeom>
          <a:solidFill>
            <a:srgbClr val="C8858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2331720" y="4428744"/>
            <a:ext cx="105156" cy="280416"/>
          </a:xfrm>
          <a:prstGeom prst="rect">
            <a:avLst/>
          </a:prstGeom>
          <a:solidFill>
            <a:srgbClr val="C8858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2478024" y="4428744"/>
            <a:ext cx="105156" cy="280416"/>
          </a:xfrm>
          <a:prstGeom prst="rect">
            <a:avLst/>
          </a:prstGeom>
          <a:solidFill>
            <a:srgbClr val="C8858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2624328" y="4428744"/>
            <a:ext cx="105156" cy="280416"/>
          </a:xfrm>
          <a:prstGeom prst="rect">
            <a:avLst/>
          </a:prstGeom>
          <a:solidFill>
            <a:srgbClr val="C8858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2770632" y="4428744"/>
            <a:ext cx="105156" cy="280416"/>
          </a:xfrm>
          <a:prstGeom prst="rect">
            <a:avLst/>
          </a:prstGeom>
          <a:solidFill>
            <a:srgbClr val="C8858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2916936" y="4428744"/>
            <a:ext cx="105156" cy="280416"/>
          </a:xfrm>
          <a:prstGeom prst="rect">
            <a:avLst/>
          </a:prstGeom>
          <a:solidFill>
            <a:srgbClr val="C8858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3063239" y="4428744"/>
            <a:ext cx="105156" cy="280416"/>
          </a:xfrm>
          <a:prstGeom prst="rect">
            <a:avLst/>
          </a:prstGeom>
          <a:solidFill>
            <a:srgbClr val="C8858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3209544" y="4428744"/>
            <a:ext cx="105156" cy="280416"/>
          </a:xfrm>
          <a:prstGeom prst="rect">
            <a:avLst/>
          </a:prstGeom>
          <a:solidFill>
            <a:srgbClr val="C8858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3355848" y="4428744"/>
            <a:ext cx="105156" cy="280416"/>
          </a:xfrm>
          <a:prstGeom prst="rect">
            <a:avLst/>
          </a:prstGeom>
          <a:solidFill>
            <a:srgbClr val="C8858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3502152" y="4428744"/>
            <a:ext cx="105156" cy="280416"/>
          </a:xfrm>
          <a:prstGeom prst="rect">
            <a:avLst/>
          </a:prstGeom>
          <a:solidFill>
            <a:srgbClr val="C8858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3648456" y="4428744"/>
            <a:ext cx="105156" cy="280416"/>
          </a:xfrm>
          <a:prstGeom prst="rect">
            <a:avLst/>
          </a:prstGeom>
          <a:solidFill>
            <a:srgbClr val="C8858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3794760" y="4428744"/>
            <a:ext cx="105156" cy="280416"/>
          </a:xfrm>
          <a:prstGeom prst="rect">
            <a:avLst/>
          </a:prstGeom>
          <a:solidFill>
            <a:srgbClr val="C8858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3941063" y="4428744"/>
            <a:ext cx="105156" cy="280416"/>
          </a:xfrm>
          <a:prstGeom prst="rect">
            <a:avLst/>
          </a:prstGeom>
          <a:solidFill>
            <a:srgbClr val="C8858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4087368" y="4428744"/>
            <a:ext cx="105156" cy="280416"/>
          </a:xfrm>
          <a:prstGeom prst="rect">
            <a:avLst/>
          </a:prstGeom>
          <a:solidFill>
            <a:srgbClr val="C8858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4233672" y="4428744"/>
            <a:ext cx="105156" cy="280416"/>
          </a:xfrm>
          <a:prstGeom prst="rect">
            <a:avLst/>
          </a:prstGeom>
          <a:solidFill>
            <a:srgbClr val="C8858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4489704" y="4568952"/>
            <a:ext cx="1865376" cy="140208"/>
          </a:xfrm>
          <a:prstGeom prst="rect">
            <a:avLst/>
          </a:prstGeom>
          <a:solidFill>
            <a:srgbClr val="E3BEB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48" name="Connector 47"/>
          <p:cNvCxnSpPr/>
          <p:nvPr/>
        </p:nvCxnSpPr>
        <p:spPr>
          <a:xfrm>
            <a:off x="4489704" y="4873752"/>
            <a:ext cx="1865376" cy="0"/>
          </a:xfrm>
          <a:prstGeom prst="line">
            <a:avLst/>
          </a:prstGeom>
          <a:ln w="12700">
            <a:solidFill>
              <a:srgbClr val="8A919C"/>
            </a:solidFill>
          </a:ln>
        </p:spPr>
      </p:cxnSp>
      <p:sp>
        <p:nvSpPr>
          <p:cNvPr id="49" name="TextBox 48"/>
          <p:cNvSpPr txBox="1"/>
          <p:nvPr/>
        </p:nvSpPr>
        <p:spPr>
          <a:xfrm>
            <a:off x="3941064" y="4928616"/>
            <a:ext cx="2962656" cy="365760"/>
          </a:xfrm>
          <a:prstGeom prst="rect">
            <a:avLst/>
          </a:prstGeom>
          <a:noFill/>
        </p:spPr>
        <p:txBody>
          <a:bodyPr wrap="square" lIns="27432" rIns="27432" tIns="27432" bIns="27432" anchor="t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500" b="1" i="0">
                <a:solidFill>
                  <a:srgbClr val="A23B3B"/>
                </a:solidFill>
                <a:latin typeface="Source Sans 3"/>
              </a:rPr>
              <a:t>342 labels used exactly once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548640" y="2221992"/>
            <a:ext cx="2926080" cy="365760"/>
          </a:xfrm>
          <a:prstGeom prst="rect">
            <a:avLst/>
          </a:prstGeom>
          <a:noFill/>
        </p:spPr>
        <p:txBody>
          <a:bodyPr wrap="square" lIns="27432" rIns="27432" tIns="27432" bIns="27432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500" b="0" i="0">
                <a:solidFill>
                  <a:srgbClr val="5A6270"/>
                </a:solidFill>
                <a:latin typeface="Source Sans 3"/>
              </a:rPr>
              <a:t>“Null Pointer Dereference”  15 bugs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548640" y="5230368"/>
            <a:ext cx="5943600" cy="868680"/>
          </a:xfrm>
          <a:prstGeom prst="rect">
            <a:avLst/>
          </a:prstGeom>
          <a:noFill/>
        </p:spPr>
        <p:txBody>
          <a:bodyPr wrap="square" lIns="27432" rIns="27432" tIns="27432" bIns="27432" anchor="t">
            <a:noAutofit/>
          </a:bodyPr>
          <a:lstStyle/>
          <a:p>
            <a:pPr algn="l">
              <a:lnSpc>
                <a:spcPct val="105000"/>
              </a:lnSpc>
              <a:spcAft>
                <a:spcPts val="100"/>
              </a:spcAft>
            </a:pPr>
            <a:r>
              <a:rPr sz="1500" b="0" i="0">
                <a:solidFill>
                  <a:srgbClr val="5A6270"/>
                </a:solidFill>
                <a:latin typeface="Source Sans 3"/>
              </a:rPr>
              <a:t>The same bug (Chart_9), written twice:</a:t>
            </a:r>
          </a:p>
          <a:p>
            <a:pPr algn="l">
              <a:lnSpc>
                <a:spcPct val="105000"/>
              </a:lnSpc>
              <a:spcAft>
                <a:spcPts val="100"/>
              </a:spcAft>
            </a:pPr>
            <a:r>
              <a:rPr sz="1600" b="0" i="0">
                <a:solidFill>
                  <a:srgbClr val="A23B3B"/>
                </a:solidFill>
                <a:latin typeface="Source Sans 3"/>
              </a:rPr>
              <a:t>“Improper input validation logic”</a:t>
            </a:r>
          </a:p>
          <a:p>
            <a:pPr algn="l">
              <a:lnSpc>
                <a:spcPct val="105000"/>
              </a:lnSpc>
              <a:spcAft>
                <a:spcPts val="100"/>
              </a:spcAft>
            </a:pPr>
            <a:r>
              <a:rPr sz="1600" b="0" i="0">
                <a:solidFill>
                  <a:srgbClr val="2F7D4F"/>
                </a:solidFill>
                <a:latin typeface="Source Sans 3"/>
              </a:rPr>
              <a:t>“Incorrect boundary condition logic”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6949440" y="1234440"/>
            <a:ext cx="4690872" cy="502920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000" b="1" i="0">
                <a:solidFill>
                  <a:srgbClr val="12284C"/>
                </a:solidFill>
                <a:latin typeface="Source Sans 3"/>
              </a:rPr>
              <a:t>6</a:t>
            </a:r>
            <a:r>
              <a:rPr sz="1900" b="0" i="0">
                <a:solidFill>
                  <a:srgbClr val="1C2128"/>
                </a:solidFill>
                <a:latin typeface="Source Sans 3"/>
              </a:rPr>
              <a:t>  comparable labels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949440" y="1737360"/>
            <a:ext cx="4690872" cy="365760"/>
          </a:xfrm>
          <a:prstGeom prst="rect">
            <a:avLst/>
          </a:prstGeom>
          <a:noFill/>
        </p:spPr>
        <p:txBody>
          <a:bodyPr wrap="square" lIns="27432" rIns="27432" tIns="27432" bIns="27432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500" b="0" i="0">
                <a:solidFill>
                  <a:srgbClr val="5A6270"/>
                </a:solidFill>
                <a:latin typeface="Source Sans 3"/>
              </a:rPr>
              <a:t>with the ODC taxonomy (scientific-open)</a:t>
            </a:r>
          </a:p>
        </p:txBody>
      </p:sp>
      <p:sp>
        <p:nvSpPr>
          <p:cNvPr id="54" name="Rectangle 53"/>
          <p:cNvSpPr/>
          <p:nvPr/>
        </p:nvSpPr>
        <p:spPr>
          <a:xfrm>
            <a:off x="6949440" y="2194560"/>
            <a:ext cx="2265347" cy="731520"/>
          </a:xfrm>
          <a:prstGeom prst="rect">
            <a:avLst/>
          </a:prstGeom>
          <a:solidFill>
            <a:srgbClr val="C07A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6949440" y="2194560"/>
            <a:ext cx="2265347" cy="731520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700" b="1" i="0">
                <a:solidFill>
                  <a:srgbClr val="FFFFFF"/>
                </a:solidFill>
                <a:latin typeface="Source Sans 3"/>
              </a:rPr>
              <a:t>198</a:t>
            </a:r>
          </a:p>
        </p:txBody>
      </p:sp>
      <p:sp>
        <p:nvSpPr>
          <p:cNvPr id="56" name="Rectangle 55"/>
          <p:cNvSpPr/>
          <p:nvPr/>
        </p:nvSpPr>
        <p:spPr>
          <a:xfrm>
            <a:off x="9214787" y="2194560"/>
            <a:ext cx="2002201" cy="731520"/>
          </a:xfrm>
          <a:prstGeom prst="rect">
            <a:avLst/>
          </a:prstGeom>
          <a:solidFill>
            <a:srgbClr val="2F5D9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9214787" y="2194560"/>
            <a:ext cx="2002201" cy="731520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700" b="1" i="0">
                <a:solidFill>
                  <a:srgbClr val="FFFFFF"/>
                </a:solidFill>
                <a:latin typeface="Source Sans 3"/>
              </a:rPr>
              <a:t>175</a:t>
            </a:r>
          </a:p>
        </p:txBody>
      </p:sp>
      <p:sp>
        <p:nvSpPr>
          <p:cNvPr id="58" name="Rectangle 57"/>
          <p:cNvSpPr/>
          <p:nvPr/>
        </p:nvSpPr>
        <p:spPr>
          <a:xfrm>
            <a:off x="11216989" y="2194560"/>
            <a:ext cx="320352" cy="731520"/>
          </a:xfrm>
          <a:prstGeom prst="rect">
            <a:avLst/>
          </a:prstGeom>
          <a:solidFill>
            <a:srgbClr val="6D4C9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9" name="Rectangle 58"/>
          <p:cNvSpPr/>
          <p:nvPr/>
        </p:nvSpPr>
        <p:spPr>
          <a:xfrm>
            <a:off x="11537341" y="2194560"/>
            <a:ext cx="57205" cy="731520"/>
          </a:xfrm>
          <a:prstGeom prst="rect">
            <a:avLst/>
          </a:prstGeom>
          <a:solidFill>
            <a:srgbClr val="8A6E5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0" name="Rectangle 59"/>
          <p:cNvSpPr/>
          <p:nvPr/>
        </p:nvSpPr>
        <p:spPr>
          <a:xfrm>
            <a:off x="11594547" y="2194560"/>
            <a:ext cx="34323" cy="731520"/>
          </a:xfrm>
          <a:prstGeom prst="rect">
            <a:avLst/>
          </a:prstGeom>
          <a:solidFill>
            <a:srgbClr val="9B3D4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11628870" y="2194560"/>
            <a:ext cx="27432" cy="731520"/>
          </a:xfrm>
          <a:prstGeom prst="rect">
            <a:avLst/>
          </a:prstGeom>
          <a:solidFill>
            <a:srgbClr val="2B7F7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6949440" y="3017520"/>
            <a:ext cx="4690872" cy="365760"/>
          </a:xfrm>
          <a:prstGeom prst="rect">
            <a:avLst/>
          </a:prstGeom>
          <a:noFill/>
        </p:spPr>
        <p:txBody>
          <a:bodyPr wrap="square" lIns="27432" rIns="27432" tIns="27432" bIns="27432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500" b="0" i="0">
                <a:solidFill>
                  <a:srgbClr val="5A6270"/>
                </a:solidFill>
                <a:latin typeface="Source Sans 3"/>
              </a:rPr>
              <a:t>every bug lands in one of six buckets that can be counted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6949440" y="3611880"/>
            <a:ext cx="2377440" cy="384048"/>
          </a:xfrm>
          <a:prstGeom prst="rect">
            <a:avLst/>
          </a:prstGeom>
          <a:noFill/>
        </p:spPr>
        <p:txBody>
          <a:bodyPr wrap="square" lIns="27432" rIns="27432" tIns="27432" bIns="27432" anchor="b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500" b="1" i="0">
                <a:solidFill>
                  <a:srgbClr val="12284C"/>
                </a:solidFill>
                <a:latin typeface="Source Sans 3"/>
              </a:rPr>
              <a:t>Condition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9326880" y="3611880"/>
            <a:ext cx="2313432" cy="384048"/>
          </a:xfrm>
          <a:prstGeom prst="rect">
            <a:avLst/>
          </a:prstGeom>
          <a:noFill/>
        </p:spPr>
        <p:txBody>
          <a:bodyPr wrap="square" lIns="27432" rIns="27432" tIns="27432" bIns="27432" anchor="b">
            <a:no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500" b="1" i="0">
                <a:solidFill>
                  <a:srgbClr val="12284C"/>
                </a:solidFill>
                <a:latin typeface="Source Sans 3"/>
              </a:rPr>
              <a:t>Same label, both modes</a:t>
            </a:r>
          </a:p>
        </p:txBody>
      </p:sp>
      <p:cxnSp>
        <p:nvCxnSpPr>
          <p:cNvPr id="65" name="Connector 64"/>
          <p:cNvCxnSpPr/>
          <p:nvPr/>
        </p:nvCxnSpPr>
        <p:spPr>
          <a:xfrm>
            <a:off x="6949440" y="4041648"/>
            <a:ext cx="4690872" cy="0"/>
          </a:xfrm>
          <a:prstGeom prst="line">
            <a:avLst/>
          </a:prstGeom>
          <a:ln w="15875">
            <a:solidFill>
              <a:srgbClr val="12284C"/>
            </a:solidFill>
          </a:ln>
        </p:spPr>
      </p:cxnSp>
      <p:sp>
        <p:nvSpPr>
          <p:cNvPr id="66" name="TextBox 65"/>
          <p:cNvSpPr txBox="1"/>
          <p:nvPr/>
        </p:nvSpPr>
        <p:spPr>
          <a:xfrm>
            <a:off x="6949440" y="4087368"/>
            <a:ext cx="2377440" cy="493776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700" b="1" i="0">
                <a:solidFill>
                  <a:srgbClr val="1C2128"/>
                </a:solidFill>
                <a:latin typeface="Source Sans 3"/>
              </a:rPr>
              <a:t>zero-free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9326880" y="4087368"/>
            <a:ext cx="2313432" cy="493776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700" b="1" i="0">
                <a:solidFill>
                  <a:srgbClr val="A23B3B"/>
                </a:solidFill>
                <a:latin typeface="Source Sans 3"/>
              </a:rPr>
              <a:t>15.1%</a:t>
            </a:r>
          </a:p>
        </p:txBody>
      </p:sp>
      <p:cxnSp>
        <p:nvCxnSpPr>
          <p:cNvPr id="68" name="Connector 67"/>
          <p:cNvCxnSpPr/>
          <p:nvPr/>
        </p:nvCxnSpPr>
        <p:spPr>
          <a:xfrm>
            <a:off x="6949440" y="4581144"/>
            <a:ext cx="4690872" cy="0"/>
          </a:xfrm>
          <a:prstGeom prst="line">
            <a:avLst/>
          </a:prstGeom>
          <a:ln w="9525">
            <a:solidFill>
              <a:srgbClr val="D5D9DF"/>
            </a:solidFill>
          </a:ln>
        </p:spPr>
      </p:cxnSp>
      <p:sp>
        <p:nvSpPr>
          <p:cNvPr id="69" name="TextBox 68"/>
          <p:cNvSpPr txBox="1"/>
          <p:nvPr/>
        </p:nvSpPr>
        <p:spPr>
          <a:xfrm>
            <a:off x="6949440" y="4581144"/>
            <a:ext cx="2377440" cy="493776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700" b="1" i="0">
                <a:solidFill>
                  <a:srgbClr val="1C2128"/>
                </a:solidFill>
                <a:latin typeface="Source Sans 3"/>
              </a:rPr>
              <a:t>few-open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9326880" y="4581144"/>
            <a:ext cx="2313432" cy="493776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700" b="1" i="0">
                <a:solidFill>
                  <a:srgbClr val="1C2128"/>
                </a:solidFill>
                <a:latin typeface="Source Sans 3"/>
              </a:rPr>
              <a:t>66.6%</a:t>
            </a:r>
          </a:p>
        </p:txBody>
      </p:sp>
      <p:cxnSp>
        <p:nvCxnSpPr>
          <p:cNvPr id="71" name="Connector 70"/>
          <p:cNvCxnSpPr/>
          <p:nvPr/>
        </p:nvCxnSpPr>
        <p:spPr>
          <a:xfrm>
            <a:off x="6949440" y="5074920"/>
            <a:ext cx="4690872" cy="0"/>
          </a:xfrm>
          <a:prstGeom prst="line">
            <a:avLst/>
          </a:prstGeom>
          <a:ln w="9525">
            <a:solidFill>
              <a:srgbClr val="D5D9DF"/>
            </a:solidFill>
          </a:ln>
        </p:spPr>
      </p:cxnSp>
      <p:sp>
        <p:nvSpPr>
          <p:cNvPr id="72" name="TextBox 71"/>
          <p:cNvSpPr txBox="1"/>
          <p:nvPr/>
        </p:nvSpPr>
        <p:spPr>
          <a:xfrm>
            <a:off x="6949440" y="5074920"/>
            <a:ext cx="2377440" cy="493776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700" b="1" i="0">
                <a:solidFill>
                  <a:srgbClr val="1C2128"/>
                </a:solidFill>
                <a:latin typeface="Source Sans 3"/>
              </a:rPr>
              <a:t>scientific-open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9326880" y="5074920"/>
            <a:ext cx="2313432" cy="493776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700" b="1" i="0">
                <a:solidFill>
                  <a:srgbClr val="1C2128"/>
                </a:solidFill>
                <a:latin typeface="Source Sans 3"/>
              </a:rPr>
              <a:t>70.2%</a:t>
            </a:r>
          </a:p>
        </p:txBody>
      </p:sp>
      <p:cxnSp>
        <p:nvCxnSpPr>
          <p:cNvPr id="74" name="Connector 73"/>
          <p:cNvCxnSpPr/>
          <p:nvPr/>
        </p:nvCxnSpPr>
        <p:spPr>
          <a:xfrm>
            <a:off x="6949440" y="5568696"/>
            <a:ext cx="4690872" cy="0"/>
          </a:xfrm>
          <a:prstGeom prst="line">
            <a:avLst/>
          </a:prstGeom>
          <a:ln w="9525">
            <a:solidFill>
              <a:srgbClr val="D5D9DF"/>
            </a:solidFill>
          </a:ln>
        </p:spPr>
      </p:cxnSp>
      <p:sp>
        <p:nvSpPr>
          <p:cNvPr id="75" name="Rectangle 74"/>
          <p:cNvSpPr/>
          <p:nvPr/>
        </p:nvSpPr>
        <p:spPr>
          <a:xfrm>
            <a:off x="6949440" y="5760720"/>
            <a:ext cx="64008" cy="502920"/>
          </a:xfrm>
          <a:prstGeom prst="rect">
            <a:avLst/>
          </a:prstGeom>
          <a:solidFill>
            <a:srgbClr val="12284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7178040" y="5760720"/>
            <a:ext cx="4416552" cy="502920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700" b="0" i="0">
                <a:solidFill>
                  <a:srgbClr val="1C2128"/>
                </a:solidFill>
                <a:latin typeface="Source Sans 3"/>
              </a:rPr>
              <a:t>A fixed taxonomy lets us count anything at all.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74320"/>
            <a:ext cx="10332720" cy="731520"/>
          </a:xfrm>
          <a:prstGeom prst="rect">
            <a:avLst/>
          </a:prstGeom>
          <a:noFill/>
        </p:spPr>
        <p:txBody>
          <a:bodyPr wrap="square" lIns="27432" rIns="27432" tIns="27432" bIns="27432" anchor="b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000" b="1" i="0">
                <a:solidFill>
                  <a:srgbClr val="12284C"/>
                </a:solidFill>
                <a:latin typeface="Source Sans 3"/>
              </a:rPr>
              <a:t>RQ4b: Scientific Beats Few-Shot, Bug by Bug</a:t>
            </a:r>
          </a:p>
        </p:txBody>
      </p:sp>
      <p:pic>
        <p:nvPicPr>
          <p:cNvPr id="4" name="Picture 3" descr="iut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228832" y="292608"/>
            <a:ext cx="433472" cy="713232"/>
          </a:xfrm>
          <a:prstGeom prst="rect">
            <a:avLst/>
          </a:prstGeom>
        </p:spPr>
      </p:pic>
      <p:cxnSp>
        <p:nvCxnSpPr>
          <p:cNvPr id="5" name="Connector 4"/>
          <p:cNvCxnSpPr/>
          <p:nvPr/>
        </p:nvCxnSpPr>
        <p:spPr>
          <a:xfrm>
            <a:off x="548640" y="1078992"/>
            <a:ext cx="11091672" cy="0"/>
          </a:xfrm>
          <a:prstGeom prst="line">
            <a:avLst/>
          </a:prstGeom>
          <a:ln w="9525">
            <a:solidFill>
              <a:srgbClr val="D5D9DF"/>
            </a:solidFill>
          </a:ln>
        </p:spPr>
      </p:cxnSp>
      <p:sp>
        <p:nvSpPr>
          <p:cNvPr id="6" name="Rectangle 5"/>
          <p:cNvSpPr/>
          <p:nvPr/>
        </p:nvSpPr>
        <p:spPr>
          <a:xfrm>
            <a:off x="548640" y="1060704"/>
            <a:ext cx="914400" cy="41148"/>
          </a:xfrm>
          <a:prstGeom prst="rect">
            <a:avLst/>
          </a:prstGeom>
          <a:solidFill>
            <a:srgbClr val="12284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>
            <a:off x="548640" y="6400800"/>
            <a:ext cx="11091672" cy="0"/>
          </a:xfrm>
          <a:prstGeom prst="line">
            <a:avLst/>
          </a:prstGeom>
          <a:ln w="9525">
            <a:solidFill>
              <a:srgbClr val="D5D9DF"/>
            </a:solidFill>
          </a:ln>
        </p:spPr>
      </p:cxnSp>
      <p:sp>
        <p:nvSpPr>
          <p:cNvPr id="8" name="TextBox 7"/>
          <p:cNvSpPr txBox="1"/>
          <p:nvPr/>
        </p:nvSpPr>
        <p:spPr>
          <a:xfrm>
            <a:off x="548640" y="6437376"/>
            <a:ext cx="3931920" cy="365760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00" b="0" i="0">
                <a:solidFill>
                  <a:srgbClr val="8A919C"/>
                </a:solidFill>
                <a:latin typeface="Source Sans 3"/>
              </a:rPr>
              <a:t>ODC on Defects4J  ·  Thesis Defence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0" y="6437376"/>
            <a:ext cx="854964" cy="365760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400" b="0" i="0">
                <a:solidFill>
                  <a:srgbClr val="8A919C"/>
                </a:solidFill>
                <a:latin typeface="Source Sans 3"/>
              </a:rPr>
              <a:t>Context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55564" y="6437376"/>
            <a:ext cx="1239012" cy="365760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400" b="0" i="0">
                <a:solidFill>
                  <a:srgbClr val="8A919C"/>
                </a:solidFill>
                <a:latin typeface="Source Sans 3"/>
              </a:rPr>
              <a:t>Methodology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123176" y="6437376"/>
            <a:ext cx="854964" cy="365760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400" b="1" i="0">
                <a:solidFill>
                  <a:srgbClr val="12284C"/>
                </a:solidFill>
                <a:latin typeface="Source Sans 3"/>
              </a:rPr>
              <a:t>Results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214616" y="6757416"/>
            <a:ext cx="672084" cy="32004"/>
          </a:xfrm>
          <a:prstGeom prst="rect">
            <a:avLst/>
          </a:prstGeom>
          <a:solidFill>
            <a:srgbClr val="12284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966960" y="6419088"/>
            <a:ext cx="1673352" cy="402336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800" b="1" i="0">
                <a:solidFill>
                  <a:srgbClr val="12284C"/>
                </a:solidFill>
                <a:latin typeface="Source Sans 3"/>
              </a:rPr>
              <a:t>20 / 24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1188720"/>
            <a:ext cx="1325880" cy="914400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5400" b="1" i="0">
                <a:solidFill>
                  <a:srgbClr val="2F7D4F"/>
                </a:solidFill>
                <a:latin typeface="Source Sans 3"/>
              </a:rPr>
              <a:t>73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828800" y="1243584"/>
            <a:ext cx="2194560" cy="822960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l">
              <a:lnSpc>
                <a:spcPct val="95000"/>
              </a:lnSpc>
              <a:spcAft>
                <a:spcPts val="0"/>
              </a:spcAft>
            </a:pPr>
            <a:r>
              <a:rPr sz="1800" b="0" i="0">
                <a:solidFill>
                  <a:srgbClr val="2F7D4F"/>
                </a:solidFill>
                <a:latin typeface="Source Sans 3"/>
              </a:rPr>
              <a:t>bugs </a:t>
            </a:r>
            <a:r>
              <a:rPr sz="1800" b="1" i="0">
                <a:solidFill>
                  <a:srgbClr val="2F7D4F"/>
                </a:solidFill>
                <a:latin typeface="Source Sans 3"/>
              </a:rPr>
              <a:t>only scientific</a:t>
            </a:r>
          </a:p>
          <a:p>
            <a:pPr algn="l">
              <a:lnSpc>
                <a:spcPct val="95000"/>
              </a:lnSpc>
              <a:spcAft>
                <a:spcPts val="0"/>
              </a:spcAft>
            </a:pPr>
            <a:r>
              <a:rPr sz="1800" b="0" i="0">
                <a:solidFill>
                  <a:srgbClr val="2F7D4F"/>
                </a:solidFill>
                <a:latin typeface="Source Sans 3"/>
              </a:rPr>
              <a:t>gets right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023360" y="1188720"/>
            <a:ext cx="1005840" cy="914400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4000" b="1" i="0">
                <a:solidFill>
                  <a:srgbClr val="8A919C"/>
                </a:solidFill>
                <a:latin typeface="Source Sans 3"/>
              </a:rPr>
              <a:t>58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937760" y="1243584"/>
            <a:ext cx="2011680" cy="822960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l">
              <a:lnSpc>
                <a:spcPct val="95000"/>
              </a:lnSpc>
              <a:spcAft>
                <a:spcPts val="0"/>
              </a:spcAft>
            </a:pPr>
            <a:r>
              <a:rPr sz="1800" b="0" i="0">
                <a:solidFill>
                  <a:srgbClr val="8A919C"/>
                </a:solidFill>
                <a:latin typeface="Source Sans 3"/>
              </a:rPr>
              <a:t>bugs </a:t>
            </a:r>
            <a:r>
              <a:rPr sz="1800" b="1" i="0">
                <a:solidFill>
                  <a:srgbClr val="8A919C"/>
                </a:solidFill>
                <a:latin typeface="Source Sans 3"/>
              </a:rPr>
              <a:t>only few-shot</a:t>
            </a:r>
          </a:p>
          <a:p>
            <a:pPr algn="l">
              <a:lnSpc>
                <a:spcPct val="95000"/>
              </a:lnSpc>
              <a:spcAft>
                <a:spcPts val="0"/>
              </a:spcAft>
            </a:pPr>
            <a:r>
              <a:rPr sz="1800" b="0" i="0">
                <a:solidFill>
                  <a:srgbClr val="8A919C"/>
                </a:solidFill>
                <a:latin typeface="Source Sans 3"/>
              </a:rPr>
              <a:t>gets right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949440" y="1325880"/>
            <a:ext cx="45720" cy="685800"/>
          </a:xfrm>
          <a:prstGeom prst="rect">
            <a:avLst/>
          </a:prstGeom>
          <a:solidFill>
            <a:srgbClr val="D5D9D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132320" y="1188720"/>
            <a:ext cx="1371600" cy="914400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4000" b="1" i="0">
                <a:solidFill>
                  <a:srgbClr val="12284C"/>
                </a:solidFill>
                <a:latin typeface="Source Sans 3"/>
              </a:rPr>
              <a:t>+15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458200" y="1243584"/>
            <a:ext cx="3182112" cy="822960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700" b="1" i="0">
                <a:solidFill>
                  <a:srgbClr val="12284C"/>
                </a:solidFill>
                <a:latin typeface="Source Sans 3"/>
              </a:rPr>
              <a:t>more bugs right with scientific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500" b="0" i="0">
                <a:solidFill>
                  <a:srgbClr val="5A6270"/>
                </a:solidFill>
                <a:latin typeface="Source Sans 3"/>
              </a:rPr>
              <a:t>than with few-shot (73 − 58)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8640" y="2212848"/>
            <a:ext cx="6949440" cy="329184"/>
          </a:xfrm>
          <a:prstGeom prst="rect">
            <a:avLst/>
          </a:prstGeom>
          <a:noFill/>
        </p:spPr>
        <p:txBody>
          <a:bodyPr wrap="square" lIns="27432" rIns="27432" tIns="27432" bIns="27432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00" b="1" i="0">
                <a:solidFill>
                  <a:srgbClr val="5A6270"/>
                </a:solidFill>
                <a:latin typeface="Source Sans 3"/>
              </a:rPr>
              <a:t>ALL 410 BUGS  ·  DOES THE PRE-FIX LABEL MATCH THE POST-FIX LABEL?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498079" y="2176272"/>
            <a:ext cx="4142232" cy="365760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500" b="1" i="0">
                <a:solidFill>
                  <a:srgbClr val="12284C"/>
                </a:solidFill>
                <a:latin typeface="Source Sans 3"/>
              </a:rPr>
              <a:t>A real gain, not luck</a:t>
            </a:r>
            <a:r>
              <a:rPr sz="1500" b="0" i="0">
                <a:solidFill>
                  <a:srgbClr val="5A6270"/>
                </a:solidFill>
                <a:latin typeface="Source Sans 3"/>
              </a:rPr>
              <a:t>  ·  statistically significant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48640" y="2560320"/>
            <a:ext cx="5816364" cy="566928"/>
          </a:xfrm>
          <a:prstGeom prst="rect">
            <a:avLst/>
          </a:prstGeom>
          <a:solidFill>
            <a:srgbClr val="E6EAF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48640" y="2560320"/>
            <a:ext cx="5816364" cy="566928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500" b="1" i="0">
                <a:solidFill>
                  <a:srgbClr val="12284C"/>
                </a:solidFill>
                <a:latin typeface="Source Sans 3"/>
              </a:rPr>
              <a:t>both right  215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365004" y="2560320"/>
            <a:ext cx="1974858" cy="566928"/>
          </a:xfrm>
          <a:prstGeom prst="rect">
            <a:avLst/>
          </a:prstGeom>
          <a:solidFill>
            <a:srgbClr val="2F7D4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365004" y="2560320"/>
            <a:ext cx="1974858" cy="566928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Source Sans 3"/>
              </a:rPr>
              <a:t>only scientific  73</a:t>
            </a:r>
          </a:p>
        </p:txBody>
      </p:sp>
      <p:sp>
        <p:nvSpPr>
          <p:cNvPr id="27" name="Rectangle 26"/>
          <p:cNvSpPr/>
          <p:nvPr/>
        </p:nvSpPr>
        <p:spPr>
          <a:xfrm>
            <a:off x="8339863" y="2560320"/>
            <a:ext cx="1569065" cy="566928"/>
          </a:xfrm>
          <a:prstGeom prst="rect">
            <a:avLst/>
          </a:prstGeom>
          <a:solidFill>
            <a:srgbClr val="B3B9C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339863" y="2560320"/>
            <a:ext cx="1569065" cy="566928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Source Sans 3"/>
              </a:rPr>
              <a:t>only few-shot  58</a:t>
            </a:r>
          </a:p>
        </p:txBody>
      </p:sp>
      <p:sp>
        <p:nvSpPr>
          <p:cNvPr id="29" name="Rectangle 28"/>
          <p:cNvSpPr/>
          <p:nvPr/>
        </p:nvSpPr>
        <p:spPr>
          <a:xfrm>
            <a:off x="9908929" y="2560320"/>
            <a:ext cx="1731382" cy="566928"/>
          </a:xfrm>
          <a:prstGeom prst="rect">
            <a:avLst/>
          </a:prstGeom>
          <a:solidFill>
            <a:srgbClr val="F4F5F7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908929" y="2560320"/>
            <a:ext cx="1731382" cy="566928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500" b="1" i="0">
                <a:solidFill>
                  <a:srgbClr val="8A919C"/>
                </a:solidFill>
                <a:latin typeface="Source Sans 3"/>
              </a:rPr>
              <a:t>both wrong  64</a:t>
            </a:r>
          </a:p>
        </p:txBody>
      </p:sp>
      <p:sp>
        <p:nvSpPr>
          <p:cNvPr id="31" name="Rectangle 30"/>
          <p:cNvSpPr/>
          <p:nvPr/>
        </p:nvSpPr>
        <p:spPr>
          <a:xfrm>
            <a:off x="548640" y="3383280"/>
            <a:ext cx="310896" cy="182880"/>
          </a:xfrm>
          <a:prstGeom prst="rect">
            <a:avLst/>
          </a:prstGeom>
          <a:solidFill>
            <a:srgbClr val="2F7D4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32688" y="3310128"/>
            <a:ext cx="2377440" cy="329184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500" b="1" i="0">
                <a:solidFill>
                  <a:srgbClr val="2F7D4F"/>
                </a:solidFill>
                <a:latin typeface="Source Sans 3"/>
              </a:rPr>
              <a:t>only scientific right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246120" y="3383280"/>
            <a:ext cx="310896" cy="182880"/>
          </a:xfrm>
          <a:prstGeom prst="rect">
            <a:avLst/>
          </a:prstGeom>
          <a:solidFill>
            <a:srgbClr val="B3B9C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30168" y="3310128"/>
            <a:ext cx="2560320" cy="329184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500" b="0" i="0">
                <a:solidFill>
                  <a:srgbClr val="8A919C"/>
                </a:solidFill>
                <a:latin typeface="Source Sans 3"/>
              </a:rPr>
              <a:t>only few-shot right</a:t>
            </a:r>
          </a:p>
        </p:txBody>
      </p:sp>
      <p:cxnSp>
        <p:nvCxnSpPr>
          <p:cNvPr id="35" name="Connector 34"/>
          <p:cNvCxnSpPr/>
          <p:nvPr/>
        </p:nvCxnSpPr>
        <p:spPr>
          <a:xfrm>
            <a:off x="548640" y="3730752"/>
            <a:ext cx="11091672" cy="0"/>
          </a:xfrm>
          <a:prstGeom prst="line">
            <a:avLst/>
          </a:prstGeom>
          <a:ln w="9525">
            <a:solidFill>
              <a:srgbClr val="D5D9DF"/>
            </a:solidFill>
          </a:ln>
        </p:spPr>
      </p:cxnSp>
      <p:sp>
        <p:nvSpPr>
          <p:cNvPr id="36" name="TextBox 35"/>
          <p:cNvSpPr txBox="1"/>
          <p:nvPr/>
        </p:nvSpPr>
        <p:spPr>
          <a:xfrm>
            <a:off x="548640" y="3858768"/>
            <a:ext cx="6035040" cy="329184"/>
          </a:xfrm>
          <a:prstGeom prst="rect">
            <a:avLst/>
          </a:prstGeom>
          <a:noFill/>
        </p:spPr>
        <p:txBody>
          <a:bodyPr wrap="square" lIns="27432" rIns="27432" tIns="27432" bIns="27432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00" b="1" i="0">
                <a:solidFill>
                  <a:srgbClr val="5A6270"/>
                </a:solidFill>
                <a:latin typeface="Source Sans 3"/>
              </a:rPr>
              <a:t>MORE HIDDEN EVIDENCE ASKED FOR  →  MORE SCIENTIFIC WINS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48640" y="4315968"/>
            <a:ext cx="1783080" cy="378561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500" b="0" i="0">
                <a:solidFill>
                  <a:srgbClr val="1C2128"/>
                </a:solidFill>
                <a:latin typeface="Source Sans 3"/>
              </a:rPr>
              <a:t>never asked</a:t>
            </a:r>
          </a:p>
        </p:txBody>
      </p:sp>
      <p:sp>
        <p:nvSpPr>
          <p:cNvPr id="38" name="Rectangle 37"/>
          <p:cNvSpPr/>
          <p:nvPr/>
        </p:nvSpPr>
        <p:spPr>
          <a:xfrm>
            <a:off x="2423160" y="4352544"/>
            <a:ext cx="418011" cy="155448"/>
          </a:xfrm>
          <a:prstGeom prst="rect">
            <a:avLst/>
          </a:prstGeom>
          <a:solidFill>
            <a:srgbClr val="2F7D4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2896035" y="4279392"/>
            <a:ext cx="548640" cy="237744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00" b="1" i="0">
                <a:solidFill>
                  <a:srgbClr val="2F7D4F"/>
                </a:solidFill>
                <a:latin typeface="Source Sans 3"/>
              </a:rPr>
              <a:t>6</a:t>
            </a:r>
          </a:p>
        </p:txBody>
      </p:sp>
      <p:sp>
        <p:nvSpPr>
          <p:cNvPr id="40" name="Rectangle 39"/>
          <p:cNvSpPr/>
          <p:nvPr/>
        </p:nvSpPr>
        <p:spPr>
          <a:xfrm>
            <a:off x="2423160" y="4526280"/>
            <a:ext cx="278674" cy="155448"/>
          </a:xfrm>
          <a:prstGeom prst="rect">
            <a:avLst/>
          </a:prstGeom>
          <a:solidFill>
            <a:srgbClr val="B3B9C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2756698" y="4462272"/>
            <a:ext cx="548640" cy="237744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00" b="0" i="0">
                <a:solidFill>
                  <a:srgbClr val="8A919C"/>
                </a:solidFill>
                <a:latin typeface="Source Sans 3"/>
              </a:rPr>
              <a:t>4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48640" y="4736592"/>
            <a:ext cx="1783080" cy="378561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500" b="0" i="0">
                <a:solidFill>
                  <a:srgbClr val="1C2128"/>
                </a:solidFill>
                <a:latin typeface="Source Sans 3"/>
              </a:rPr>
              <a:t>asked 1–2 times</a:t>
            </a:r>
          </a:p>
        </p:txBody>
      </p:sp>
      <p:sp>
        <p:nvSpPr>
          <p:cNvPr id="43" name="Rectangle 42"/>
          <p:cNvSpPr/>
          <p:nvPr/>
        </p:nvSpPr>
        <p:spPr>
          <a:xfrm>
            <a:off x="2423160" y="4773168"/>
            <a:ext cx="2926080" cy="155448"/>
          </a:xfrm>
          <a:prstGeom prst="rect">
            <a:avLst/>
          </a:prstGeom>
          <a:solidFill>
            <a:srgbClr val="2F7D4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5404103" y="4700016"/>
            <a:ext cx="548640" cy="237744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00" b="1" i="0">
                <a:solidFill>
                  <a:srgbClr val="2F7D4F"/>
                </a:solidFill>
                <a:latin typeface="Source Sans 3"/>
              </a:rPr>
              <a:t>42</a:t>
            </a:r>
          </a:p>
        </p:txBody>
      </p:sp>
      <p:sp>
        <p:nvSpPr>
          <p:cNvPr id="45" name="Rectangle 44"/>
          <p:cNvSpPr/>
          <p:nvPr/>
        </p:nvSpPr>
        <p:spPr>
          <a:xfrm>
            <a:off x="2423160" y="4946904"/>
            <a:ext cx="2856411" cy="155448"/>
          </a:xfrm>
          <a:prstGeom prst="rect">
            <a:avLst/>
          </a:prstGeom>
          <a:solidFill>
            <a:srgbClr val="B3B9C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5334435" y="4882896"/>
            <a:ext cx="548640" cy="237744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00" b="0" i="0">
                <a:solidFill>
                  <a:srgbClr val="8A919C"/>
                </a:solidFill>
                <a:latin typeface="Source Sans 3"/>
              </a:rPr>
              <a:t>41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548640" y="5157216"/>
            <a:ext cx="1783080" cy="378561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500" b="0" i="0">
                <a:solidFill>
                  <a:srgbClr val="1C2128"/>
                </a:solidFill>
                <a:latin typeface="Source Sans 3"/>
              </a:rPr>
              <a:t>asked 3+ times</a:t>
            </a:r>
          </a:p>
        </p:txBody>
      </p:sp>
      <p:sp>
        <p:nvSpPr>
          <p:cNvPr id="48" name="Rectangle 47"/>
          <p:cNvSpPr/>
          <p:nvPr/>
        </p:nvSpPr>
        <p:spPr>
          <a:xfrm>
            <a:off x="2423160" y="5193792"/>
            <a:ext cx="1741714" cy="155448"/>
          </a:xfrm>
          <a:prstGeom prst="rect">
            <a:avLst/>
          </a:prstGeom>
          <a:solidFill>
            <a:srgbClr val="2F7D4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4219738" y="5120640"/>
            <a:ext cx="548640" cy="237744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00" b="1" i="0">
                <a:solidFill>
                  <a:srgbClr val="2F7D4F"/>
                </a:solidFill>
                <a:latin typeface="Source Sans 3"/>
              </a:rPr>
              <a:t>25</a:t>
            </a:r>
          </a:p>
        </p:txBody>
      </p:sp>
      <p:sp>
        <p:nvSpPr>
          <p:cNvPr id="50" name="Rectangle 49"/>
          <p:cNvSpPr/>
          <p:nvPr/>
        </p:nvSpPr>
        <p:spPr>
          <a:xfrm>
            <a:off x="2423160" y="5367528"/>
            <a:ext cx="905691" cy="155448"/>
          </a:xfrm>
          <a:prstGeom prst="rect">
            <a:avLst/>
          </a:prstGeom>
          <a:solidFill>
            <a:srgbClr val="B3B9C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3383715" y="5303520"/>
            <a:ext cx="548640" cy="237744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00" b="0" i="0">
                <a:solidFill>
                  <a:srgbClr val="8A919C"/>
                </a:solidFill>
                <a:latin typeface="Source Sans 3"/>
              </a:rPr>
              <a:t>13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548640" y="5577840"/>
            <a:ext cx="1783080" cy="378561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500" b="0" i="0">
                <a:solidFill>
                  <a:srgbClr val="1C2128"/>
                </a:solidFill>
                <a:latin typeface="Source Sans 3"/>
              </a:rPr>
              <a:t>got the fixed code</a:t>
            </a:r>
          </a:p>
        </p:txBody>
      </p:sp>
      <p:sp>
        <p:nvSpPr>
          <p:cNvPr id="53" name="Rectangle 52"/>
          <p:cNvSpPr/>
          <p:nvPr/>
        </p:nvSpPr>
        <p:spPr>
          <a:xfrm>
            <a:off x="2423160" y="5614416"/>
            <a:ext cx="836022" cy="155448"/>
          </a:xfrm>
          <a:prstGeom prst="rect">
            <a:avLst/>
          </a:prstGeom>
          <a:solidFill>
            <a:srgbClr val="2F7D4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3314046" y="5541264"/>
            <a:ext cx="548640" cy="237744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00" b="1" i="0">
                <a:solidFill>
                  <a:srgbClr val="2F7D4F"/>
                </a:solidFill>
                <a:latin typeface="Source Sans 3"/>
              </a:rPr>
              <a:t>12</a:t>
            </a:r>
          </a:p>
        </p:txBody>
      </p:sp>
      <p:sp>
        <p:nvSpPr>
          <p:cNvPr id="55" name="Rectangle 54"/>
          <p:cNvSpPr/>
          <p:nvPr/>
        </p:nvSpPr>
        <p:spPr>
          <a:xfrm>
            <a:off x="2423160" y="5788152"/>
            <a:ext cx="418011" cy="155448"/>
          </a:xfrm>
          <a:prstGeom prst="rect">
            <a:avLst/>
          </a:prstGeom>
          <a:solidFill>
            <a:srgbClr val="B3B9C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2896035" y="5724144"/>
            <a:ext cx="548640" cy="237744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00" b="0" i="0">
                <a:solidFill>
                  <a:srgbClr val="8A919C"/>
                </a:solidFill>
                <a:latin typeface="Source Sans 3"/>
              </a:rPr>
              <a:t>6</a:t>
            </a:r>
          </a:p>
        </p:txBody>
      </p:sp>
      <p:cxnSp>
        <p:nvCxnSpPr>
          <p:cNvPr id="57" name="Connector 56"/>
          <p:cNvCxnSpPr/>
          <p:nvPr/>
        </p:nvCxnSpPr>
        <p:spPr>
          <a:xfrm>
            <a:off x="2423160" y="4297680"/>
            <a:ext cx="0" cy="1645920"/>
          </a:xfrm>
          <a:prstGeom prst="line">
            <a:avLst/>
          </a:prstGeom>
          <a:ln w="12700">
            <a:solidFill>
              <a:srgbClr val="8A919C"/>
            </a:solidFill>
          </a:ln>
        </p:spPr>
      </p:cxnSp>
      <p:sp>
        <p:nvSpPr>
          <p:cNvPr id="58" name="TextBox 57"/>
          <p:cNvSpPr txBox="1"/>
          <p:nvPr/>
        </p:nvSpPr>
        <p:spPr>
          <a:xfrm>
            <a:off x="6903720" y="3858768"/>
            <a:ext cx="4736592" cy="329184"/>
          </a:xfrm>
          <a:prstGeom prst="rect">
            <a:avLst/>
          </a:prstGeom>
          <a:noFill/>
        </p:spPr>
        <p:txBody>
          <a:bodyPr wrap="square" lIns="27432" rIns="27432" tIns="27432" bIns="27432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00" b="1" i="0">
                <a:solidFill>
                  <a:srgbClr val="5A6270"/>
                </a:solidFill>
                <a:latin typeface="Source Sans 3"/>
              </a:rPr>
              <a:t>SCIENTIFIC WINS AS OFTEN OR MORE, IN EVERY PROJECT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6903720" y="4315968"/>
            <a:ext cx="960120" cy="378561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500" b="0" i="0">
                <a:solidFill>
                  <a:srgbClr val="1C2128"/>
                </a:solidFill>
                <a:latin typeface="Source Sans 3"/>
              </a:rPr>
              <a:t>Chart</a:t>
            </a:r>
          </a:p>
        </p:txBody>
      </p:sp>
      <p:sp>
        <p:nvSpPr>
          <p:cNvPr id="60" name="Rectangle 59"/>
          <p:cNvSpPr/>
          <p:nvPr/>
        </p:nvSpPr>
        <p:spPr>
          <a:xfrm>
            <a:off x="7955279" y="4352544"/>
            <a:ext cx="379306" cy="155448"/>
          </a:xfrm>
          <a:prstGeom prst="rect">
            <a:avLst/>
          </a:prstGeom>
          <a:solidFill>
            <a:srgbClr val="2F7D4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8389450" y="4279392"/>
            <a:ext cx="548640" cy="237744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00" b="1" i="0">
                <a:solidFill>
                  <a:srgbClr val="2F7D4F"/>
                </a:solidFill>
                <a:latin typeface="Source Sans 3"/>
              </a:rPr>
              <a:t>8</a:t>
            </a:r>
          </a:p>
        </p:txBody>
      </p:sp>
      <p:sp>
        <p:nvSpPr>
          <p:cNvPr id="62" name="Rectangle 61"/>
          <p:cNvSpPr/>
          <p:nvPr/>
        </p:nvSpPr>
        <p:spPr>
          <a:xfrm>
            <a:off x="7955279" y="4526280"/>
            <a:ext cx="94826" cy="155448"/>
          </a:xfrm>
          <a:prstGeom prst="rect">
            <a:avLst/>
          </a:prstGeom>
          <a:solidFill>
            <a:srgbClr val="B3B9C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8104970" y="4462272"/>
            <a:ext cx="548640" cy="237744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00" b="0" i="0">
                <a:solidFill>
                  <a:srgbClr val="8A919C"/>
                </a:solidFill>
                <a:latin typeface="Source Sans 3"/>
              </a:rPr>
              <a:t>2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6903720" y="4736592"/>
            <a:ext cx="960120" cy="378561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500" b="0" i="0">
                <a:solidFill>
                  <a:srgbClr val="1C2128"/>
                </a:solidFill>
                <a:latin typeface="Source Sans 3"/>
              </a:rPr>
              <a:t>Mockito</a:t>
            </a:r>
          </a:p>
        </p:txBody>
      </p:sp>
      <p:sp>
        <p:nvSpPr>
          <p:cNvPr id="65" name="Rectangle 64"/>
          <p:cNvSpPr/>
          <p:nvPr/>
        </p:nvSpPr>
        <p:spPr>
          <a:xfrm>
            <a:off x="7955279" y="4773168"/>
            <a:ext cx="331893" cy="155448"/>
          </a:xfrm>
          <a:prstGeom prst="rect">
            <a:avLst/>
          </a:prstGeom>
          <a:solidFill>
            <a:srgbClr val="2F7D4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8342037" y="4700016"/>
            <a:ext cx="548640" cy="237744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00" b="1" i="0">
                <a:solidFill>
                  <a:srgbClr val="2F7D4F"/>
                </a:solidFill>
                <a:latin typeface="Source Sans 3"/>
              </a:rPr>
              <a:t>7</a:t>
            </a:r>
          </a:p>
        </p:txBody>
      </p:sp>
      <p:sp>
        <p:nvSpPr>
          <p:cNvPr id="67" name="Rectangle 66"/>
          <p:cNvSpPr/>
          <p:nvPr/>
        </p:nvSpPr>
        <p:spPr>
          <a:xfrm>
            <a:off x="7955279" y="4946904"/>
            <a:ext cx="94826" cy="155448"/>
          </a:xfrm>
          <a:prstGeom prst="rect">
            <a:avLst/>
          </a:prstGeom>
          <a:solidFill>
            <a:srgbClr val="B3B9C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8104970" y="4882896"/>
            <a:ext cx="548640" cy="237744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00" b="0" i="0">
                <a:solidFill>
                  <a:srgbClr val="8A919C"/>
                </a:solidFill>
                <a:latin typeface="Source Sans 3"/>
              </a:rPr>
              <a:t>2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6903720" y="5157216"/>
            <a:ext cx="960120" cy="378561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500" b="0" i="0">
                <a:solidFill>
                  <a:srgbClr val="1C2128"/>
                </a:solidFill>
                <a:latin typeface="Source Sans 3"/>
              </a:rPr>
              <a:t>Time</a:t>
            </a:r>
          </a:p>
        </p:txBody>
      </p:sp>
      <p:sp>
        <p:nvSpPr>
          <p:cNvPr id="70" name="Rectangle 69"/>
          <p:cNvSpPr/>
          <p:nvPr/>
        </p:nvSpPr>
        <p:spPr>
          <a:xfrm>
            <a:off x="7955279" y="5193792"/>
            <a:ext cx="331893" cy="155448"/>
          </a:xfrm>
          <a:prstGeom prst="rect">
            <a:avLst/>
          </a:prstGeom>
          <a:solidFill>
            <a:srgbClr val="2F7D4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8342037" y="5120640"/>
            <a:ext cx="548640" cy="237744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00" b="1" i="0">
                <a:solidFill>
                  <a:srgbClr val="2F7D4F"/>
                </a:solidFill>
                <a:latin typeface="Source Sans 3"/>
              </a:rPr>
              <a:t>7</a:t>
            </a:r>
          </a:p>
        </p:txBody>
      </p:sp>
      <p:sp>
        <p:nvSpPr>
          <p:cNvPr id="72" name="Rectangle 71"/>
          <p:cNvSpPr/>
          <p:nvPr/>
        </p:nvSpPr>
        <p:spPr>
          <a:xfrm>
            <a:off x="7955279" y="5367528"/>
            <a:ext cx="189653" cy="155448"/>
          </a:xfrm>
          <a:prstGeom prst="rect">
            <a:avLst/>
          </a:prstGeom>
          <a:solidFill>
            <a:srgbClr val="B3B9C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8199797" y="5303520"/>
            <a:ext cx="548640" cy="237744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00" b="0" i="0">
                <a:solidFill>
                  <a:srgbClr val="8A919C"/>
                </a:solidFill>
                <a:latin typeface="Source Sans 3"/>
              </a:rPr>
              <a:t>4</a:t>
            </a:r>
          </a:p>
        </p:txBody>
      </p:sp>
      <p:cxnSp>
        <p:nvCxnSpPr>
          <p:cNvPr id="74" name="Connector 73"/>
          <p:cNvCxnSpPr/>
          <p:nvPr/>
        </p:nvCxnSpPr>
        <p:spPr>
          <a:xfrm>
            <a:off x="7955279" y="4297680"/>
            <a:ext cx="0" cy="1225296"/>
          </a:xfrm>
          <a:prstGeom prst="line">
            <a:avLst/>
          </a:prstGeom>
          <a:ln w="12700">
            <a:solidFill>
              <a:srgbClr val="8A919C"/>
            </a:solidFill>
          </a:ln>
        </p:spPr>
      </p:cxnSp>
      <p:sp>
        <p:nvSpPr>
          <p:cNvPr id="75" name="TextBox 74"/>
          <p:cNvSpPr txBox="1"/>
          <p:nvPr/>
        </p:nvSpPr>
        <p:spPr>
          <a:xfrm>
            <a:off x="9326880" y="4315968"/>
            <a:ext cx="868680" cy="378561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500" b="0" i="0">
                <a:solidFill>
                  <a:srgbClr val="1C2128"/>
                </a:solidFill>
                <a:latin typeface="Source Sans 3"/>
              </a:rPr>
              <a:t>Math</a:t>
            </a:r>
          </a:p>
        </p:txBody>
      </p:sp>
      <p:sp>
        <p:nvSpPr>
          <p:cNvPr id="76" name="Rectangle 75"/>
          <p:cNvSpPr/>
          <p:nvPr/>
        </p:nvSpPr>
        <p:spPr>
          <a:xfrm>
            <a:off x="10286999" y="4352544"/>
            <a:ext cx="711200" cy="155448"/>
          </a:xfrm>
          <a:prstGeom prst="rect">
            <a:avLst/>
          </a:prstGeom>
          <a:solidFill>
            <a:srgbClr val="2F7D4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11053064" y="4279392"/>
            <a:ext cx="548640" cy="237744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00" b="1" i="0">
                <a:solidFill>
                  <a:srgbClr val="2F7D4F"/>
                </a:solidFill>
                <a:latin typeface="Source Sans 3"/>
              </a:rPr>
              <a:t>15</a:t>
            </a:r>
          </a:p>
        </p:txBody>
      </p:sp>
      <p:sp>
        <p:nvSpPr>
          <p:cNvPr id="78" name="Rectangle 77"/>
          <p:cNvSpPr/>
          <p:nvPr/>
        </p:nvSpPr>
        <p:spPr>
          <a:xfrm>
            <a:off x="10286999" y="4526280"/>
            <a:ext cx="663786" cy="155448"/>
          </a:xfrm>
          <a:prstGeom prst="rect">
            <a:avLst/>
          </a:prstGeom>
          <a:solidFill>
            <a:srgbClr val="B3B9C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11005650" y="4462272"/>
            <a:ext cx="548640" cy="237744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00" b="0" i="0">
                <a:solidFill>
                  <a:srgbClr val="8A919C"/>
                </a:solidFill>
                <a:latin typeface="Source Sans 3"/>
              </a:rPr>
              <a:t>14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9326880" y="4736592"/>
            <a:ext cx="868680" cy="378561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500" b="0" i="0">
                <a:solidFill>
                  <a:srgbClr val="1C2128"/>
                </a:solidFill>
                <a:latin typeface="Source Sans 3"/>
              </a:rPr>
              <a:t>Lang</a:t>
            </a:r>
          </a:p>
        </p:txBody>
      </p:sp>
      <p:sp>
        <p:nvSpPr>
          <p:cNvPr id="81" name="Rectangle 80"/>
          <p:cNvSpPr/>
          <p:nvPr/>
        </p:nvSpPr>
        <p:spPr>
          <a:xfrm>
            <a:off x="10286999" y="4773168"/>
            <a:ext cx="426720" cy="155448"/>
          </a:xfrm>
          <a:prstGeom prst="rect">
            <a:avLst/>
          </a:prstGeom>
          <a:solidFill>
            <a:srgbClr val="2F7D4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2" name="TextBox 81"/>
          <p:cNvSpPr txBox="1"/>
          <p:nvPr/>
        </p:nvSpPr>
        <p:spPr>
          <a:xfrm>
            <a:off x="10768583" y="4700016"/>
            <a:ext cx="548640" cy="237744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00" b="1" i="0">
                <a:solidFill>
                  <a:srgbClr val="2F7D4F"/>
                </a:solidFill>
                <a:latin typeface="Source Sans 3"/>
              </a:rPr>
              <a:t>9</a:t>
            </a:r>
          </a:p>
        </p:txBody>
      </p:sp>
      <p:sp>
        <p:nvSpPr>
          <p:cNvPr id="83" name="Rectangle 82"/>
          <p:cNvSpPr/>
          <p:nvPr/>
        </p:nvSpPr>
        <p:spPr>
          <a:xfrm>
            <a:off x="10286999" y="4946904"/>
            <a:ext cx="426720" cy="155448"/>
          </a:xfrm>
          <a:prstGeom prst="rect">
            <a:avLst/>
          </a:prstGeom>
          <a:solidFill>
            <a:srgbClr val="B3B9C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10768583" y="4882896"/>
            <a:ext cx="548640" cy="237744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00" b="0" i="0">
                <a:solidFill>
                  <a:srgbClr val="8A919C"/>
                </a:solidFill>
                <a:latin typeface="Source Sans 3"/>
              </a:rPr>
              <a:t>9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9326880" y="5157216"/>
            <a:ext cx="868680" cy="378561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500" b="0" i="0">
                <a:solidFill>
                  <a:srgbClr val="1C2128"/>
                </a:solidFill>
                <a:latin typeface="Source Sans 3"/>
              </a:rPr>
              <a:t>Closure</a:t>
            </a:r>
          </a:p>
        </p:txBody>
      </p:sp>
      <p:sp>
        <p:nvSpPr>
          <p:cNvPr id="86" name="Rectangle 85"/>
          <p:cNvSpPr/>
          <p:nvPr/>
        </p:nvSpPr>
        <p:spPr>
          <a:xfrm>
            <a:off x="10286999" y="5193792"/>
            <a:ext cx="1280160" cy="155448"/>
          </a:xfrm>
          <a:prstGeom prst="rect">
            <a:avLst/>
          </a:prstGeom>
          <a:solidFill>
            <a:srgbClr val="2F7D4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11622024" y="5120640"/>
            <a:ext cx="548640" cy="237744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00" b="1" i="0">
                <a:solidFill>
                  <a:srgbClr val="2F7D4F"/>
                </a:solidFill>
                <a:latin typeface="Source Sans 3"/>
              </a:rPr>
              <a:t>27</a:t>
            </a:r>
          </a:p>
        </p:txBody>
      </p:sp>
      <p:sp>
        <p:nvSpPr>
          <p:cNvPr id="88" name="Rectangle 87"/>
          <p:cNvSpPr/>
          <p:nvPr/>
        </p:nvSpPr>
        <p:spPr>
          <a:xfrm>
            <a:off x="10286999" y="5367528"/>
            <a:ext cx="1280160" cy="155448"/>
          </a:xfrm>
          <a:prstGeom prst="rect">
            <a:avLst/>
          </a:prstGeom>
          <a:solidFill>
            <a:srgbClr val="B3B9C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11622024" y="5303520"/>
            <a:ext cx="548640" cy="237744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00" b="0" i="0">
                <a:solidFill>
                  <a:srgbClr val="8A919C"/>
                </a:solidFill>
                <a:latin typeface="Source Sans 3"/>
              </a:rPr>
              <a:t>27</a:t>
            </a:r>
          </a:p>
        </p:txBody>
      </p:sp>
      <p:cxnSp>
        <p:nvCxnSpPr>
          <p:cNvPr id="90" name="Connector 89"/>
          <p:cNvCxnSpPr/>
          <p:nvPr/>
        </p:nvCxnSpPr>
        <p:spPr>
          <a:xfrm>
            <a:off x="10286999" y="4297680"/>
            <a:ext cx="0" cy="1225296"/>
          </a:xfrm>
          <a:prstGeom prst="line">
            <a:avLst/>
          </a:prstGeom>
          <a:ln w="12700">
            <a:solidFill>
              <a:srgbClr val="8A919C"/>
            </a:solidFill>
          </a:ln>
        </p:spPr>
      </p:cxn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74320"/>
            <a:ext cx="10332720" cy="731520"/>
          </a:xfrm>
          <a:prstGeom prst="rect">
            <a:avLst/>
          </a:prstGeom>
          <a:noFill/>
        </p:spPr>
        <p:txBody>
          <a:bodyPr wrap="square" lIns="27432" rIns="27432" tIns="27432" bIns="27432" anchor="b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000" b="1" i="0">
                <a:solidFill>
                  <a:srgbClr val="12284C"/>
                </a:solidFill>
                <a:latin typeface="Source Sans 3"/>
              </a:rPr>
              <a:t>Qualitative Analysis of Thirteen Bugs</a:t>
            </a:r>
          </a:p>
        </p:txBody>
      </p:sp>
      <p:pic>
        <p:nvPicPr>
          <p:cNvPr id="4" name="Picture 3" descr="iut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228832" y="292608"/>
            <a:ext cx="433472" cy="713232"/>
          </a:xfrm>
          <a:prstGeom prst="rect">
            <a:avLst/>
          </a:prstGeom>
        </p:spPr>
      </p:pic>
      <p:cxnSp>
        <p:nvCxnSpPr>
          <p:cNvPr id="5" name="Connector 4"/>
          <p:cNvCxnSpPr/>
          <p:nvPr/>
        </p:nvCxnSpPr>
        <p:spPr>
          <a:xfrm>
            <a:off x="548640" y="1078992"/>
            <a:ext cx="11091672" cy="0"/>
          </a:xfrm>
          <a:prstGeom prst="line">
            <a:avLst/>
          </a:prstGeom>
          <a:ln w="9525">
            <a:solidFill>
              <a:srgbClr val="D5D9DF"/>
            </a:solidFill>
          </a:ln>
        </p:spPr>
      </p:cxnSp>
      <p:sp>
        <p:nvSpPr>
          <p:cNvPr id="6" name="Rectangle 5"/>
          <p:cNvSpPr/>
          <p:nvPr/>
        </p:nvSpPr>
        <p:spPr>
          <a:xfrm>
            <a:off x="548640" y="1060704"/>
            <a:ext cx="914400" cy="41148"/>
          </a:xfrm>
          <a:prstGeom prst="rect">
            <a:avLst/>
          </a:prstGeom>
          <a:solidFill>
            <a:srgbClr val="12284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>
            <a:off x="548640" y="6400800"/>
            <a:ext cx="11091672" cy="0"/>
          </a:xfrm>
          <a:prstGeom prst="line">
            <a:avLst/>
          </a:prstGeom>
          <a:ln w="9525">
            <a:solidFill>
              <a:srgbClr val="D5D9DF"/>
            </a:solidFill>
          </a:ln>
        </p:spPr>
      </p:cxnSp>
      <p:sp>
        <p:nvSpPr>
          <p:cNvPr id="8" name="TextBox 7"/>
          <p:cNvSpPr txBox="1"/>
          <p:nvPr/>
        </p:nvSpPr>
        <p:spPr>
          <a:xfrm>
            <a:off x="548640" y="6437376"/>
            <a:ext cx="3931920" cy="365760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00" b="0" i="0">
                <a:solidFill>
                  <a:srgbClr val="8A919C"/>
                </a:solidFill>
                <a:latin typeface="Source Sans 3"/>
              </a:rPr>
              <a:t>ODC on Defects4J  ·  Thesis Defence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0" y="6437376"/>
            <a:ext cx="854964" cy="365760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400" b="0" i="0">
                <a:solidFill>
                  <a:srgbClr val="8A919C"/>
                </a:solidFill>
                <a:latin typeface="Source Sans 3"/>
              </a:rPr>
              <a:t>Context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55564" y="6437376"/>
            <a:ext cx="1239012" cy="365760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400" b="0" i="0">
                <a:solidFill>
                  <a:srgbClr val="8A919C"/>
                </a:solidFill>
                <a:latin typeface="Source Sans 3"/>
              </a:rPr>
              <a:t>Methodology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123176" y="6437376"/>
            <a:ext cx="854964" cy="365760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400" b="1" i="0">
                <a:solidFill>
                  <a:srgbClr val="12284C"/>
                </a:solidFill>
                <a:latin typeface="Source Sans 3"/>
              </a:rPr>
              <a:t>Results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214616" y="6757416"/>
            <a:ext cx="672084" cy="32004"/>
          </a:xfrm>
          <a:prstGeom prst="rect">
            <a:avLst/>
          </a:prstGeom>
          <a:solidFill>
            <a:srgbClr val="12284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966960" y="6419088"/>
            <a:ext cx="1673352" cy="402336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800" b="1" i="0">
                <a:solidFill>
                  <a:srgbClr val="12284C"/>
                </a:solidFill>
                <a:latin typeface="Source Sans 3"/>
              </a:rPr>
              <a:t>21 / 24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1188720"/>
            <a:ext cx="11091672" cy="411480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600" b="1" i="0">
                <a:solidFill>
                  <a:srgbClr val="12284C"/>
                </a:solidFill>
                <a:latin typeface="Source Sans 3"/>
              </a:rPr>
              <a:t>We read every artifact by hand: </a:t>
            </a:r>
            <a:r>
              <a:rPr sz="1600" b="0" i="0">
                <a:solidFill>
                  <a:srgbClr val="5A6270"/>
                </a:solidFill>
                <a:latin typeface="Source Sans 3"/>
              </a:rPr>
              <a:t>evidence, full reasoning transcript and developer’s fix, for both strategies and both models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48640" y="1737360"/>
            <a:ext cx="5440680" cy="457200"/>
          </a:xfrm>
          <a:prstGeom prst="rect">
            <a:avLst/>
          </a:prstGeom>
          <a:solidFill>
            <a:srgbClr val="F7E6E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31520" y="1737360"/>
            <a:ext cx="5166360" cy="457200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700" b="1" i="0">
                <a:solidFill>
                  <a:srgbClr val="A23B3B"/>
                </a:solidFill>
                <a:latin typeface="Source Sans 3"/>
              </a:rPr>
              <a:t>1  </a:t>
            </a:r>
            <a:r>
              <a:rPr sz="1700" b="1" i="0">
                <a:solidFill>
                  <a:srgbClr val="A23B3B"/>
                </a:solidFill>
                <a:latin typeface="Source Sans 3"/>
              </a:rPr>
              <a:t>How the classification goes wrong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474720" y="2240280"/>
            <a:ext cx="1188720" cy="237744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200" b="1" i="0">
                <a:solidFill>
                  <a:srgbClr val="A23B3B"/>
                </a:solidFill>
                <a:latin typeface="Source Sans 3"/>
              </a:rPr>
              <a:t>LLM said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754879" y="2240280"/>
            <a:ext cx="1234440" cy="237744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200" b="1" i="0">
                <a:solidFill>
                  <a:srgbClr val="2F7D4F"/>
                </a:solidFill>
                <a:latin typeface="Source Sans 3"/>
              </a:rPr>
              <a:t>correct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48640" y="2487168"/>
            <a:ext cx="2926080" cy="329184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600" b="1" i="0">
                <a:solidFill>
                  <a:srgbClr val="1C2128"/>
                </a:solidFill>
                <a:latin typeface="Source Sans 3"/>
              </a:rPr>
              <a:t>Symptom site</a:t>
            </a:r>
            <a:r>
              <a:rPr sz="1400" b="0" i="0">
                <a:solidFill>
                  <a:srgbClr val="12284C"/>
                </a:solidFill>
                <a:latin typeface="Source Code Pro"/>
              </a:rPr>
              <a:t>  Chart_17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48640" y="2834640"/>
            <a:ext cx="2880360" cy="365760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00" b="0" i="0">
                <a:solidFill>
                  <a:srgbClr val="5A6270"/>
                </a:solidFill>
                <a:latin typeface="Source Sans 3"/>
              </a:rPr>
              <a:t>followed where the error appeared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474720" y="2615184"/>
            <a:ext cx="1188720" cy="475488"/>
          </a:xfrm>
          <a:prstGeom prst="rect">
            <a:avLst/>
          </a:prstGeom>
          <a:solidFill>
            <a:srgbClr val="F7E6E6"/>
          </a:solidFill>
          <a:ln w="12700">
            <a:solidFill>
              <a:srgbClr val="A23B3B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566160" y="2615184"/>
            <a:ext cx="1005840" cy="475488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00" b="1" i="0">
                <a:solidFill>
                  <a:srgbClr val="A23B3B"/>
                </a:solidFill>
                <a:latin typeface="Source Sans 3"/>
              </a:rPr>
              <a:t>Checking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754879" y="2615184"/>
            <a:ext cx="1234440" cy="475488"/>
          </a:xfrm>
          <a:prstGeom prst="rect">
            <a:avLst/>
          </a:prstGeom>
          <a:solidFill>
            <a:srgbClr val="E3F1E8"/>
          </a:solidFill>
          <a:ln w="12700">
            <a:solidFill>
              <a:srgbClr val="2F7D4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846319" y="2615184"/>
            <a:ext cx="1051560" cy="475488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00" b="1" i="0">
                <a:solidFill>
                  <a:srgbClr val="2F7D4F"/>
                </a:solidFill>
                <a:latin typeface="Source Sans 3"/>
              </a:rPr>
              <a:t>Algorithm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48640" y="3328416"/>
            <a:ext cx="2926080" cy="329184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600" b="1" i="0">
                <a:solidFill>
                  <a:srgbClr val="1C2128"/>
                </a:solidFill>
                <a:latin typeface="Source Sans 3"/>
              </a:rPr>
              <a:t>Report anchoring</a:t>
            </a:r>
            <a:r>
              <a:rPr sz="1400" b="0" i="0">
                <a:solidFill>
                  <a:srgbClr val="12284C"/>
                </a:solidFill>
                <a:latin typeface="Source Code Pro"/>
              </a:rPr>
              <a:t>  Math_90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48640" y="3675888"/>
            <a:ext cx="2880360" cy="365760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00" b="0" i="0">
                <a:solidFill>
                  <a:srgbClr val="5A6270"/>
                </a:solidFill>
                <a:latin typeface="Source Sans 3"/>
              </a:rPr>
              <a:t>copied the fix the report suggested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474720" y="3456432"/>
            <a:ext cx="1188720" cy="475488"/>
          </a:xfrm>
          <a:prstGeom prst="rect">
            <a:avLst/>
          </a:prstGeom>
          <a:solidFill>
            <a:srgbClr val="F7E6E6"/>
          </a:solidFill>
          <a:ln w="12700">
            <a:solidFill>
              <a:srgbClr val="A23B3B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566160" y="3456432"/>
            <a:ext cx="1005840" cy="475488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00" b="1" i="0">
                <a:solidFill>
                  <a:srgbClr val="A23B3B"/>
                </a:solidFill>
                <a:latin typeface="Source Sans 3"/>
              </a:rPr>
              <a:t>Checking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754879" y="3456432"/>
            <a:ext cx="1234440" cy="475488"/>
          </a:xfrm>
          <a:prstGeom prst="rect">
            <a:avLst/>
          </a:prstGeom>
          <a:solidFill>
            <a:srgbClr val="E3F1E8"/>
          </a:solidFill>
          <a:ln w="12700">
            <a:solidFill>
              <a:srgbClr val="2F7D4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846319" y="3456432"/>
            <a:ext cx="1051560" cy="475488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00" b="1" i="0">
                <a:solidFill>
                  <a:srgbClr val="2F7D4F"/>
                </a:solidFill>
                <a:latin typeface="Source Sans 3"/>
              </a:rPr>
              <a:t>Interface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48640" y="4169664"/>
            <a:ext cx="2926080" cy="329184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600" b="1" i="0">
                <a:solidFill>
                  <a:srgbClr val="1C2128"/>
                </a:solidFill>
                <a:latin typeface="Source Sans 3"/>
              </a:rPr>
              <a:t>Patch shape</a:t>
            </a:r>
            <a:r>
              <a:rPr sz="1400" b="0" i="0">
                <a:solidFill>
                  <a:srgbClr val="12284C"/>
                </a:solidFill>
                <a:latin typeface="Source Code Pro"/>
              </a:rPr>
              <a:t>  Math_23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48640" y="4517136"/>
            <a:ext cx="2880360" cy="365760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00" b="0" i="0">
                <a:solidFill>
                  <a:srgbClr val="5A6270"/>
                </a:solidFill>
                <a:latin typeface="Source Sans 3"/>
              </a:rPr>
              <a:t>judged the patch by its looks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474720" y="4297680"/>
            <a:ext cx="1188720" cy="475488"/>
          </a:xfrm>
          <a:prstGeom prst="rect">
            <a:avLst/>
          </a:prstGeom>
          <a:solidFill>
            <a:srgbClr val="F7E6E6"/>
          </a:solidFill>
          <a:ln w="12700">
            <a:solidFill>
              <a:srgbClr val="A23B3B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566160" y="4297680"/>
            <a:ext cx="1005840" cy="475488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00" b="1" i="0">
                <a:solidFill>
                  <a:srgbClr val="A23B3B"/>
                </a:solidFill>
                <a:latin typeface="Source Sans 3"/>
              </a:rPr>
              <a:t>Assignment</a:t>
            </a:r>
          </a:p>
        </p:txBody>
      </p:sp>
      <p:sp>
        <p:nvSpPr>
          <p:cNvPr id="35" name="Rectangle 34"/>
          <p:cNvSpPr/>
          <p:nvPr/>
        </p:nvSpPr>
        <p:spPr>
          <a:xfrm>
            <a:off x="4754879" y="4297680"/>
            <a:ext cx="1234440" cy="475488"/>
          </a:xfrm>
          <a:prstGeom prst="rect">
            <a:avLst/>
          </a:prstGeom>
          <a:solidFill>
            <a:srgbClr val="E3F1E8"/>
          </a:solidFill>
          <a:ln w="12700">
            <a:solidFill>
              <a:srgbClr val="2F7D4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4846319" y="4297680"/>
            <a:ext cx="1051560" cy="475488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00" b="1" i="0">
                <a:solidFill>
                  <a:srgbClr val="2F7D4F"/>
                </a:solidFill>
                <a:latin typeface="Source Sans 3"/>
              </a:rPr>
              <a:t>Algorithm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48640" y="5010912"/>
            <a:ext cx="2926080" cy="329184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600" b="1" i="0">
                <a:solidFill>
                  <a:srgbClr val="1C2128"/>
                </a:solidFill>
                <a:latin typeface="Source Sans 3"/>
              </a:rPr>
              <a:t>Two valid fixes</a:t>
            </a:r>
            <a:r>
              <a:rPr sz="1400" b="0" i="0">
                <a:solidFill>
                  <a:srgbClr val="12284C"/>
                </a:solidFill>
                <a:latin typeface="Source Code Pro"/>
              </a:rPr>
              <a:t>  Lang_20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48640" y="5358384"/>
            <a:ext cx="2880360" cy="365760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00" b="0" i="0">
                <a:solidFill>
                  <a:srgbClr val="5A6270"/>
                </a:solidFill>
                <a:latin typeface="Source Sans 3"/>
              </a:rPr>
              <a:t>developer picked the other fix</a:t>
            </a:r>
          </a:p>
        </p:txBody>
      </p:sp>
      <p:sp>
        <p:nvSpPr>
          <p:cNvPr id="39" name="Rectangle 38"/>
          <p:cNvSpPr/>
          <p:nvPr/>
        </p:nvSpPr>
        <p:spPr>
          <a:xfrm>
            <a:off x="3474720" y="5138928"/>
            <a:ext cx="1188720" cy="475488"/>
          </a:xfrm>
          <a:prstGeom prst="rect">
            <a:avLst/>
          </a:prstGeom>
          <a:solidFill>
            <a:srgbClr val="F7E6E6"/>
          </a:solidFill>
          <a:ln w="12700">
            <a:solidFill>
              <a:srgbClr val="A23B3B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3566160" y="5138928"/>
            <a:ext cx="1005840" cy="475488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00" b="1" i="0">
                <a:solidFill>
                  <a:srgbClr val="A23B3B"/>
                </a:solidFill>
                <a:latin typeface="Source Sans 3"/>
              </a:rPr>
              <a:t>Checking</a:t>
            </a:r>
          </a:p>
        </p:txBody>
      </p:sp>
      <p:sp>
        <p:nvSpPr>
          <p:cNvPr id="41" name="Rectangle 40"/>
          <p:cNvSpPr/>
          <p:nvPr/>
        </p:nvSpPr>
        <p:spPr>
          <a:xfrm>
            <a:off x="4754879" y="5138928"/>
            <a:ext cx="1234440" cy="475488"/>
          </a:xfrm>
          <a:prstGeom prst="rect">
            <a:avLst/>
          </a:prstGeom>
          <a:solidFill>
            <a:srgbClr val="E3F1E8"/>
          </a:solidFill>
          <a:ln w="12700">
            <a:solidFill>
              <a:srgbClr val="2F7D4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4846319" y="5138928"/>
            <a:ext cx="1051560" cy="475488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00" b="1" i="0">
                <a:solidFill>
                  <a:srgbClr val="2F7D4F"/>
                </a:solidFill>
                <a:latin typeface="Source Sans 3"/>
              </a:rPr>
              <a:t>Assignment</a:t>
            </a:r>
          </a:p>
        </p:txBody>
      </p:sp>
      <p:sp>
        <p:nvSpPr>
          <p:cNvPr id="43" name="Rectangle 42"/>
          <p:cNvSpPr/>
          <p:nvPr/>
        </p:nvSpPr>
        <p:spPr>
          <a:xfrm>
            <a:off x="6355080" y="1737360"/>
            <a:ext cx="5285232" cy="457200"/>
          </a:xfrm>
          <a:prstGeom prst="rect">
            <a:avLst/>
          </a:prstGeom>
          <a:solidFill>
            <a:srgbClr val="E6EAF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6537960" y="1737360"/>
            <a:ext cx="5010912" cy="457200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700" b="1" i="0">
                <a:solidFill>
                  <a:srgbClr val="12284C"/>
                </a:solidFill>
                <a:latin typeface="Source Sans 3"/>
              </a:rPr>
              <a:t>2  </a:t>
            </a:r>
            <a:r>
              <a:rPr sz="1700" b="1" i="0">
                <a:solidFill>
                  <a:srgbClr val="12284C"/>
                </a:solidFill>
                <a:latin typeface="Source Sans 3"/>
              </a:rPr>
              <a:t>Where the developer had a choice</a:t>
            </a:r>
          </a:p>
        </p:txBody>
      </p:sp>
      <p:sp>
        <p:nvSpPr>
          <p:cNvPr id="45" name="Rectangle 44"/>
          <p:cNvSpPr/>
          <p:nvPr/>
        </p:nvSpPr>
        <p:spPr>
          <a:xfrm>
            <a:off x="6355080" y="2532888"/>
            <a:ext cx="1143000" cy="420624"/>
          </a:xfrm>
          <a:prstGeom prst="rect">
            <a:avLst/>
          </a:prstGeom>
          <a:solidFill>
            <a:srgbClr val="12284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6355080" y="2532888"/>
            <a:ext cx="1143000" cy="420624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Source Code Pro"/>
              </a:rPr>
              <a:t>Math_90</a:t>
            </a:r>
          </a:p>
        </p:txBody>
      </p:sp>
      <p:cxnSp>
        <p:nvCxnSpPr>
          <p:cNvPr id="47" name="Connector 46"/>
          <p:cNvCxnSpPr/>
          <p:nvPr/>
        </p:nvCxnSpPr>
        <p:spPr>
          <a:xfrm>
            <a:off x="7498079" y="2743200"/>
            <a:ext cx="182880" cy="0"/>
          </a:xfrm>
          <a:prstGeom prst="line">
            <a:avLst/>
          </a:prstGeom>
          <a:ln w="15875">
            <a:solidFill>
              <a:srgbClr val="8A919C"/>
            </a:solidFill>
          </a:ln>
        </p:spPr>
      </p:cxnSp>
      <p:cxnSp>
        <p:nvCxnSpPr>
          <p:cNvPr id="48" name="Connector 47"/>
          <p:cNvCxnSpPr/>
          <p:nvPr/>
        </p:nvCxnSpPr>
        <p:spPr>
          <a:xfrm>
            <a:off x="7680959" y="2514600"/>
            <a:ext cx="0" cy="457200"/>
          </a:xfrm>
          <a:prstGeom prst="line">
            <a:avLst/>
          </a:prstGeom>
          <a:ln w="15875">
            <a:solidFill>
              <a:srgbClr val="8A919C"/>
            </a:solidFill>
          </a:ln>
        </p:spPr>
      </p:cxnSp>
      <p:cxnSp>
        <p:nvCxnSpPr>
          <p:cNvPr id="49" name="Connector 48"/>
          <p:cNvCxnSpPr/>
          <p:nvPr/>
        </p:nvCxnSpPr>
        <p:spPr>
          <a:xfrm>
            <a:off x="7680959" y="2514600"/>
            <a:ext cx="228600" cy="0"/>
          </a:xfrm>
          <a:prstGeom prst="line">
            <a:avLst/>
          </a:prstGeom>
          <a:ln w="15875">
            <a:solidFill>
              <a:srgbClr val="8A919C"/>
            </a:solidFill>
            <a:prstDash val="dash"/>
          </a:ln>
        </p:spPr>
      </p:cxnSp>
      <p:cxnSp>
        <p:nvCxnSpPr>
          <p:cNvPr id="50" name="Connector 49"/>
          <p:cNvCxnSpPr/>
          <p:nvPr/>
        </p:nvCxnSpPr>
        <p:spPr>
          <a:xfrm>
            <a:off x="7680959" y="2971800"/>
            <a:ext cx="228600" cy="0"/>
          </a:xfrm>
          <a:prstGeom prst="line">
            <a:avLst/>
          </a:prstGeom>
          <a:ln w="22225">
            <a:solidFill>
              <a:srgbClr val="12284C"/>
            </a:solidFill>
          </a:ln>
        </p:spPr>
      </p:cxnSp>
      <p:sp>
        <p:nvSpPr>
          <p:cNvPr id="51" name="Rectangle 50"/>
          <p:cNvSpPr/>
          <p:nvPr/>
        </p:nvSpPr>
        <p:spPr>
          <a:xfrm>
            <a:off x="7955279" y="2350008"/>
            <a:ext cx="3685032" cy="329184"/>
          </a:xfrm>
          <a:prstGeom prst="rect">
            <a:avLst/>
          </a:prstGeom>
          <a:solidFill>
            <a:srgbClr val="FFFFFF"/>
          </a:solidFill>
          <a:ln w="12700">
            <a:solidFill>
              <a:srgbClr val="D5D9DF"/>
            </a:solidFill>
            <a:prstDash val="dash"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8046719" y="2350008"/>
            <a:ext cx="3502152" cy="329184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0" i="0">
                <a:solidFill>
                  <a:srgbClr val="8A919C"/>
                </a:solidFill>
                <a:latin typeface="Source Sans 3"/>
              </a:rPr>
              <a:t>could  </a:t>
            </a:r>
            <a:r>
              <a:rPr sz="1400" b="0" i="0">
                <a:solidFill>
                  <a:srgbClr val="5A6270"/>
                </a:solidFill>
                <a:latin typeface="Source Sans 3"/>
              </a:rPr>
              <a:t>a Comparable check</a:t>
            </a:r>
            <a:r>
              <a:rPr sz="1400" b="1" i="0">
                <a:solidFill>
                  <a:srgbClr val="8A919C"/>
                </a:solidFill>
                <a:latin typeface="Source Sans 3"/>
              </a:rPr>
              <a:t>  CHK</a:t>
            </a:r>
          </a:p>
        </p:txBody>
      </p:sp>
      <p:sp>
        <p:nvSpPr>
          <p:cNvPr id="53" name="Rectangle 52"/>
          <p:cNvSpPr/>
          <p:nvPr/>
        </p:nvSpPr>
        <p:spPr>
          <a:xfrm>
            <a:off x="7955279" y="2807208"/>
            <a:ext cx="3685032" cy="329184"/>
          </a:xfrm>
          <a:prstGeom prst="rect">
            <a:avLst/>
          </a:prstGeom>
          <a:solidFill>
            <a:srgbClr val="E6EAF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8046719" y="2807208"/>
            <a:ext cx="3502152" cy="329184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0" i="0">
                <a:solidFill>
                  <a:srgbClr val="12284C"/>
                </a:solidFill>
                <a:latin typeface="Source Sans 3"/>
              </a:rPr>
              <a:t>chose  </a:t>
            </a:r>
            <a:r>
              <a:rPr sz="1400" b="1" i="0">
                <a:solidFill>
                  <a:srgbClr val="1C2128"/>
                </a:solidFill>
                <a:latin typeface="Source Sans 3"/>
              </a:rPr>
              <a:t>a typed overload</a:t>
            </a:r>
            <a:r>
              <a:rPr sz="1400" b="1" i="0">
                <a:solidFill>
                  <a:srgbClr val="12284C"/>
                </a:solidFill>
                <a:latin typeface="Source Sans 3"/>
              </a:rPr>
              <a:t>  INT</a:t>
            </a:r>
          </a:p>
        </p:txBody>
      </p:sp>
      <p:sp>
        <p:nvSpPr>
          <p:cNvPr id="55" name="Rectangle 54"/>
          <p:cNvSpPr/>
          <p:nvPr/>
        </p:nvSpPr>
        <p:spPr>
          <a:xfrm>
            <a:off x="6355080" y="3401568"/>
            <a:ext cx="1143000" cy="420624"/>
          </a:xfrm>
          <a:prstGeom prst="rect">
            <a:avLst/>
          </a:prstGeom>
          <a:solidFill>
            <a:srgbClr val="12284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6355080" y="3401568"/>
            <a:ext cx="1143000" cy="420624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Source Code Pro"/>
              </a:rPr>
              <a:t>Math_17</a:t>
            </a:r>
          </a:p>
        </p:txBody>
      </p:sp>
      <p:cxnSp>
        <p:nvCxnSpPr>
          <p:cNvPr id="57" name="Connector 56"/>
          <p:cNvCxnSpPr/>
          <p:nvPr/>
        </p:nvCxnSpPr>
        <p:spPr>
          <a:xfrm>
            <a:off x="7498079" y="3611880"/>
            <a:ext cx="182880" cy="0"/>
          </a:xfrm>
          <a:prstGeom prst="line">
            <a:avLst/>
          </a:prstGeom>
          <a:ln w="15875">
            <a:solidFill>
              <a:srgbClr val="8A919C"/>
            </a:solidFill>
          </a:ln>
        </p:spPr>
      </p:cxnSp>
      <p:cxnSp>
        <p:nvCxnSpPr>
          <p:cNvPr id="58" name="Connector 57"/>
          <p:cNvCxnSpPr/>
          <p:nvPr/>
        </p:nvCxnSpPr>
        <p:spPr>
          <a:xfrm>
            <a:off x="7680959" y="3383280"/>
            <a:ext cx="0" cy="457200"/>
          </a:xfrm>
          <a:prstGeom prst="line">
            <a:avLst/>
          </a:prstGeom>
          <a:ln w="15875">
            <a:solidFill>
              <a:srgbClr val="8A919C"/>
            </a:solidFill>
          </a:ln>
        </p:spPr>
      </p:cxnSp>
      <p:cxnSp>
        <p:nvCxnSpPr>
          <p:cNvPr id="59" name="Connector 58"/>
          <p:cNvCxnSpPr/>
          <p:nvPr/>
        </p:nvCxnSpPr>
        <p:spPr>
          <a:xfrm>
            <a:off x="7680959" y="3383280"/>
            <a:ext cx="228600" cy="0"/>
          </a:xfrm>
          <a:prstGeom prst="line">
            <a:avLst/>
          </a:prstGeom>
          <a:ln w="15875">
            <a:solidFill>
              <a:srgbClr val="8A919C"/>
            </a:solidFill>
            <a:prstDash val="dash"/>
          </a:ln>
        </p:spPr>
      </p:cxnSp>
      <p:cxnSp>
        <p:nvCxnSpPr>
          <p:cNvPr id="60" name="Connector 59"/>
          <p:cNvCxnSpPr/>
          <p:nvPr/>
        </p:nvCxnSpPr>
        <p:spPr>
          <a:xfrm>
            <a:off x="7680959" y="3840480"/>
            <a:ext cx="228600" cy="0"/>
          </a:xfrm>
          <a:prstGeom prst="line">
            <a:avLst/>
          </a:prstGeom>
          <a:ln w="22225">
            <a:solidFill>
              <a:srgbClr val="12284C"/>
            </a:solidFill>
          </a:ln>
        </p:spPr>
      </p:cxnSp>
      <p:sp>
        <p:nvSpPr>
          <p:cNvPr id="61" name="Rectangle 60"/>
          <p:cNvSpPr/>
          <p:nvPr/>
        </p:nvSpPr>
        <p:spPr>
          <a:xfrm>
            <a:off x="7955279" y="3218688"/>
            <a:ext cx="3685032" cy="329184"/>
          </a:xfrm>
          <a:prstGeom prst="rect">
            <a:avLst/>
          </a:prstGeom>
          <a:solidFill>
            <a:srgbClr val="FFFFFF"/>
          </a:solidFill>
          <a:ln w="12700">
            <a:solidFill>
              <a:srgbClr val="D5D9DF"/>
            </a:solidFill>
            <a:prstDash val="dash"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8046719" y="3218688"/>
            <a:ext cx="3502152" cy="329184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0" i="0">
                <a:solidFill>
                  <a:srgbClr val="8A919C"/>
                </a:solidFill>
                <a:latin typeface="Source Sans 3"/>
              </a:rPr>
              <a:t>could  </a:t>
            </a:r>
            <a:r>
              <a:rPr sz="1400" b="0" i="0">
                <a:solidFill>
                  <a:srgbClr val="5A6270"/>
                </a:solidFill>
                <a:latin typeface="Source Sans 3"/>
              </a:rPr>
              <a:t>a range check only</a:t>
            </a:r>
            <a:r>
              <a:rPr sz="1400" b="1" i="0">
                <a:solidFill>
                  <a:srgbClr val="8A919C"/>
                </a:solidFill>
                <a:latin typeface="Source Sans 3"/>
              </a:rPr>
              <a:t>  CHK</a:t>
            </a:r>
          </a:p>
        </p:txBody>
      </p:sp>
      <p:sp>
        <p:nvSpPr>
          <p:cNvPr id="63" name="Rectangle 62"/>
          <p:cNvSpPr/>
          <p:nvPr/>
        </p:nvSpPr>
        <p:spPr>
          <a:xfrm>
            <a:off x="7955279" y="3675887"/>
            <a:ext cx="3685032" cy="329184"/>
          </a:xfrm>
          <a:prstGeom prst="rect">
            <a:avLst/>
          </a:prstGeom>
          <a:solidFill>
            <a:srgbClr val="E6EAF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8046719" y="3675887"/>
            <a:ext cx="3502152" cy="329184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0" i="0">
                <a:solidFill>
                  <a:srgbClr val="12284C"/>
                </a:solidFill>
                <a:latin typeface="Source Sans 3"/>
              </a:rPr>
              <a:t>chose  </a:t>
            </a:r>
            <a:r>
              <a:rPr sz="1400" b="1" i="0">
                <a:solidFill>
                  <a:srgbClr val="1C2128"/>
                </a:solidFill>
                <a:latin typeface="Source Sans 3"/>
              </a:rPr>
              <a:t>check + fallback</a:t>
            </a:r>
            <a:r>
              <a:rPr sz="1400" b="1" i="0">
                <a:solidFill>
                  <a:srgbClr val="12284C"/>
                </a:solidFill>
                <a:latin typeface="Source Sans 3"/>
              </a:rPr>
              <a:t>  CHK+ALG</a:t>
            </a:r>
          </a:p>
        </p:txBody>
      </p:sp>
      <p:sp>
        <p:nvSpPr>
          <p:cNvPr id="65" name="Rectangle 64"/>
          <p:cNvSpPr/>
          <p:nvPr/>
        </p:nvSpPr>
        <p:spPr>
          <a:xfrm>
            <a:off x="6355080" y="4270247"/>
            <a:ext cx="1143000" cy="420624"/>
          </a:xfrm>
          <a:prstGeom prst="rect">
            <a:avLst/>
          </a:prstGeom>
          <a:solidFill>
            <a:srgbClr val="12284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6355080" y="4270247"/>
            <a:ext cx="1143000" cy="420624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Source Code Pro"/>
              </a:rPr>
              <a:t>Time_3</a:t>
            </a:r>
          </a:p>
        </p:txBody>
      </p:sp>
      <p:cxnSp>
        <p:nvCxnSpPr>
          <p:cNvPr id="67" name="Connector 66"/>
          <p:cNvCxnSpPr/>
          <p:nvPr/>
        </p:nvCxnSpPr>
        <p:spPr>
          <a:xfrm>
            <a:off x="7498079" y="4480559"/>
            <a:ext cx="182880" cy="0"/>
          </a:xfrm>
          <a:prstGeom prst="line">
            <a:avLst/>
          </a:prstGeom>
          <a:ln w="15875">
            <a:solidFill>
              <a:srgbClr val="8A919C"/>
            </a:solidFill>
          </a:ln>
        </p:spPr>
      </p:cxnSp>
      <p:cxnSp>
        <p:nvCxnSpPr>
          <p:cNvPr id="68" name="Connector 67"/>
          <p:cNvCxnSpPr/>
          <p:nvPr/>
        </p:nvCxnSpPr>
        <p:spPr>
          <a:xfrm>
            <a:off x="7680959" y="4251959"/>
            <a:ext cx="0" cy="457200"/>
          </a:xfrm>
          <a:prstGeom prst="line">
            <a:avLst/>
          </a:prstGeom>
          <a:ln w="15875">
            <a:solidFill>
              <a:srgbClr val="8A919C"/>
            </a:solidFill>
          </a:ln>
        </p:spPr>
      </p:cxnSp>
      <p:cxnSp>
        <p:nvCxnSpPr>
          <p:cNvPr id="69" name="Connector 68"/>
          <p:cNvCxnSpPr/>
          <p:nvPr/>
        </p:nvCxnSpPr>
        <p:spPr>
          <a:xfrm>
            <a:off x="7680959" y="4251959"/>
            <a:ext cx="228600" cy="0"/>
          </a:xfrm>
          <a:prstGeom prst="line">
            <a:avLst/>
          </a:prstGeom>
          <a:ln w="15875">
            <a:solidFill>
              <a:srgbClr val="8A919C"/>
            </a:solidFill>
            <a:prstDash val="dash"/>
          </a:ln>
        </p:spPr>
      </p:cxnSp>
      <p:cxnSp>
        <p:nvCxnSpPr>
          <p:cNvPr id="70" name="Connector 69"/>
          <p:cNvCxnSpPr/>
          <p:nvPr/>
        </p:nvCxnSpPr>
        <p:spPr>
          <a:xfrm>
            <a:off x="7680959" y="4709159"/>
            <a:ext cx="228600" cy="0"/>
          </a:xfrm>
          <a:prstGeom prst="line">
            <a:avLst/>
          </a:prstGeom>
          <a:ln w="22225">
            <a:solidFill>
              <a:srgbClr val="12284C"/>
            </a:solidFill>
          </a:ln>
        </p:spPr>
      </p:cxnSp>
      <p:sp>
        <p:nvSpPr>
          <p:cNvPr id="71" name="Rectangle 70"/>
          <p:cNvSpPr/>
          <p:nvPr/>
        </p:nvSpPr>
        <p:spPr>
          <a:xfrm>
            <a:off x="7955279" y="4087367"/>
            <a:ext cx="3685032" cy="329184"/>
          </a:xfrm>
          <a:prstGeom prst="rect">
            <a:avLst/>
          </a:prstGeom>
          <a:solidFill>
            <a:srgbClr val="FFFFFF"/>
          </a:solidFill>
          <a:ln w="12700">
            <a:solidFill>
              <a:srgbClr val="D5D9DF"/>
            </a:solidFill>
            <a:prstDash val="dash"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8046719" y="4087367"/>
            <a:ext cx="3502152" cy="329184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0" i="0">
                <a:solidFill>
                  <a:srgbClr val="8A919C"/>
                </a:solidFill>
                <a:latin typeface="Source Sans 3"/>
              </a:rPr>
              <a:t>could  </a:t>
            </a:r>
            <a:r>
              <a:rPr sz="1400" b="0" i="0">
                <a:solidFill>
                  <a:srgbClr val="5A6270"/>
                </a:solidFill>
                <a:latin typeface="Source Sans 3"/>
              </a:rPr>
              <a:t>better arithmetic</a:t>
            </a:r>
            <a:r>
              <a:rPr sz="1400" b="1" i="0">
                <a:solidFill>
                  <a:srgbClr val="8A919C"/>
                </a:solidFill>
                <a:latin typeface="Source Sans 3"/>
              </a:rPr>
              <a:t>  ALG</a:t>
            </a:r>
          </a:p>
        </p:txBody>
      </p:sp>
      <p:sp>
        <p:nvSpPr>
          <p:cNvPr id="73" name="Rectangle 72"/>
          <p:cNvSpPr/>
          <p:nvPr/>
        </p:nvSpPr>
        <p:spPr>
          <a:xfrm>
            <a:off x="7955279" y="4544567"/>
            <a:ext cx="3685032" cy="329184"/>
          </a:xfrm>
          <a:prstGeom prst="rect">
            <a:avLst/>
          </a:prstGeom>
          <a:solidFill>
            <a:srgbClr val="E6EAF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8046719" y="4544567"/>
            <a:ext cx="3502152" cy="329184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0" i="0">
                <a:solidFill>
                  <a:srgbClr val="12284C"/>
                </a:solidFill>
                <a:latin typeface="Source Sans 3"/>
              </a:rPr>
              <a:t>chose  </a:t>
            </a:r>
            <a:r>
              <a:rPr sz="1400" b="1" i="0">
                <a:solidFill>
                  <a:srgbClr val="1C2128"/>
                </a:solidFill>
                <a:latin typeface="Source Sans 3"/>
              </a:rPr>
              <a:t>amount != 0 guards</a:t>
            </a:r>
            <a:r>
              <a:rPr sz="1400" b="1" i="0">
                <a:solidFill>
                  <a:srgbClr val="12284C"/>
                </a:solidFill>
                <a:latin typeface="Source Sans 3"/>
              </a:rPr>
              <a:t>  CHK</a:t>
            </a:r>
          </a:p>
        </p:txBody>
      </p:sp>
      <p:sp>
        <p:nvSpPr>
          <p:cNvPr id="75" name="Rectangle 74"/>
          <p:cNvSpPr/>
          <p:nvPr/>
        </p:nvSpPr>
        <p:spPr>
          <a:xfrm>
            <a:off x="6355080" y="5138927"/>
            <a:ext cx="1143000" cy="420624"/>
          </a:xfrm>
          <a:prstGeom prst="rect">
            <a:avLst/>
          </a:prstGeom>
          <a:solidFill>
            <a:srgbClr val="12284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6355080" y="5138927"/>
            <a:ext cx="1143000" cy="420624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Source Code Pro"/>
              </a:rPr>
              <a:t>Lang_20</a:t>
            </a:r>
          </a:p>
        </p:txBody>
      </p:sp>
      <p:cxnSp>
        <p:nvCxnSpPr>
          <p:cNvPr id="77" name="Connector 76"/>
          <p:cNvCxnSpPr/>
          <p:nvPr/>
        </p:nvCxnSpPr>
        <p:spPr>
          <a:xfrm>
            <a:off x="7498079" y="5349240"/>
            <a:ext cx="182880" cy="0"/>
          </a:xfrm>
          <a:prstGeom prst="line">
            <a:avLst/>
          </a:prstGeom>
          <a:ln w="15875">
            <a:solidFill>
              <a:srgbClr val="8A919C"/>
            </a:solidFill>
          </a:ln>
        </p:spPr>
      </p:cxnSp>
      <p:cxnSp>
        <p:nvCxnSpPr>
          <p:cNvPr id="78" name="Connector 77"/>
          <p:cNvCxnSpPr/>
          <p:nvPr/>
        </p:nvCxnSpPr>
        <p:spPr>
          <a:xfrm>
            <a:off x="7680959" y="5120640"/>
            <a:ext cx="0" cy="457200"/>
          </a:xfrm>
          <a:prstGeom prst="line">
            <a:avLst/>
          </a:prstGeom>
          <a:ln w="15875">
            <a:solidFill>
              <a:srgbClr val="8A919C"/>
            </a:solidFill>
          </a:ln>
        </p:spPr>
      </p:cxnSp>
      <p:cxnSp>
        <p:nvCxnSpPr>
          <p:cNvPr id="79" name="Connector 78"/>
          <p:cNvCxnSpPr/>
          <p:nvPr/>
        </p:nvCxnSpPr>
        <p:spPr>
          <a:xfrm>
            <a:off x="7680959" y="5120640"/>
            <a:ext cx="228600" cy="0"/>
          </a:xfrm>
          <a:prstGeom prst="line">
            <a:avLst/>
          </a:prstGeom>
          <a:ln w="15875">
            <a:solidFill>
              <a:srgbClr val="8A919C"/>
            </a:solidFill>
            <a:prstDash val="dash"/>
          </a:ln>
        </p:spPr>
      </p:cxnSp>
      <p:cxnSp>
        <p:nvCxnSpPr>
          <p:cNvPr id="80" name="Connector 79"/>
          <p:cNvCxnSpPr/>
          <p:nvPr/>
        </p:nvCxnSpPr>
        <p:spPr>
          <a:xfrm>
            <a:off x="7680959" y="5577840"/>
            <a:ext cx="228600" cy="0"/>
          </a:xfrm>
          <a:prstGeom prst="line">
            <a:avLst/>
          </a:prstGeom>
          <a:ln w="22225">
            <a:solidFill>
              <a:srgbClr val="12284C"/>
            </a:solidFill>
          </a:ln>
        </p:spPr>
      </p:cxnSp>
      <p:sp>
        <p:nvSpPr>
          <p:cNvPr id="81" name="Rectangle 80"/>
          <p:cNvSpPr/>
          <p:nvPr/>
        </p:nvSpPr>
        <p:spPr>
          <a:xfrm>
            <a:off x="7955279" y="4956047"/>
            <a:ext cx="3685032" cy="329184"/>
          </a:xfrm>
          <a:prstGeom prst="rect">
            <a:avLst/>
          </a:prstGeom>
          <a:solidFill>
            <a:srgbClr val="FFFFFF"/>
          </a:solidFill>
          <a:ln w="12700">
            <a:solidFill>
              <a:srgbClr val="D5D9DF"/>
            </a:solidFill>
            <a:prstDash val="dash"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2" name="TextBox 81"/>
          <p:cNvSpPr txBox="1"/>
          <p:nvPr/>
        </p:nvSpPr>
        <p:spPr>
          <a:xfrm>
            <a:off x="8046719" y="4956047"/>
            <a:ext cx="3502152" cy="329184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0" i="0">
                <a:solidFill>
                  <a:srgbClr val="8A919C"/>
                </a:solidFill>
                <a:latin typeface="Source Sans 3"/>
              </a:rPr>
              <a:t>could  </a:t>
            </a:r>
            <a:r>
              <a:rPr sz="1400" b="0" i="0">
                <a:solidFill>
                  <a:srgbClr val="5A6270"/>
                </a:solidFill>
                <a:latin typeface="Source Sans 3"/>
              </a:rPr>
              <a:t>a null check</a:t>
            </a:r>
            <a:r>
              <a:rPr sz="1400" b="1" i="0">
                <a:solidFill>
                  <a:srgbClr val="8A919C"/>
                </a:solidFill>
                <a:latin typeface="Source Sans 3"/>
              </a:rPr>
              <a:t>  CHK</a:t>
            </a:r>
          </a:p>
        </p:txBody>
      </p:sp>
      <p:sp>
        <p:nvSpPr>
          <p:cNvPr id="83" name="Rectangle 82"/>
          <p:cNvSpPr/>
          <p:nvPr/>
        </p:nvSpPr>
        <p:spPr>
          <a:xfrm>
            <a:off x="7955279" y="5413248"/>
            <a:ext cx="3685032" cy="329184"/>
          </a:xfrm>
          <a:prstGeom prst="rect">
            <a:avLst/>
          </a:prstGeom>
          <a:solidFill>
            <a:srgbClr val="E6EAF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8046719" y="5413248"/>
            <a:ext cx="3502152" cy="329184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0" i="0">
                <a:solidFill>
                  <a:srgbClr val="12284C"/>
                </a:solidFill>
                <a:latin typeface="Source Sans 3"/>
              </a:rPr>
              <a:t>chose  </a:t>
            </a:r>
            <a:r>
              <a:rPr sz="1400" b="1" i="0">
                <a:solidFill>
                  <a:srgbClr val="1C2128"/>
                </a:solidFill>
                <a:latin typeface="Source Sans 3"/>
              </a:rPr>
              <a:t>a new capacity</a:t>
            </a:r>
            <a:r>
              <a:rPr sz="1400" b="1" i="0">
                <a:solidFill>
                  <a:srgbClr val="12284C"/>
                </a:solidFill>
                <a:latin typeface="Source Sans 3"/>
              </a:rPr>
              <a:t>  ASN</a:t>
            </a:r>
          </a:p>
        </p:txBody>
      </p:sp>
      <p:sp>
        <p:nvSpPr>
          <p:cNvPr id="85" name="Rectangle 84"/>
          <p:cNvSpPr/>
          <p:nvPr/>
        </p:nvSpPr>
        <p:spPr>
          <a:xfrm>
            <a:off x="548640" y="5870448"/>
            <a:ext cx="64008" cy="438912"/>
          </a:xfrm>
          <a:prstGeom prst="rect">
            <a:avLst/>
          </a:prstGeom>
          <a:solidFill>
            <a:srgbClr val="12284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6" name="TextBox 85"/>
          <p:cNvSpPr txBox="1"/>
          <p:nvPr/>
        </p:nvSpPr>
        <p:spPr>
          <a:xfrm>
            <a:off x="777240" y="5870448"/>
            <a:ext cx="10881360" cy="438912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800" b="0" i="0">
                <a:solidFill>
                  <a:srgbClr val="1C2128"/>
                </a:solidFill>
                <a:latin typeface="Source Sans 3"/>
              </a:rPr>
              <a:t>A fix repairs one of several faults [29] — for </a:t>
            </a:r>
            <a:r>
              <a:rPr sz="1800" b="1" i="0">
                <a:solidFill>
                  <a:srgbClr val="12284C"/>
                </a:solidFill>
                <a:latin typeface="Source Sans 3"/>
              </a:rPr>
              <a:t>77%</a:t>
            </a:r>
            <a:r>
              <a:rPr sz="1800" b="0" i="0">
                <a:solidFill>
                  <a:srgbClr val="1C2128"/>
                </a:solidFill>
                <a:latin typeface="Source Sans 3"/>
              </a:rPr>
              <a:t> of changed labels, the other type is already a recorded alternative.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74320"/>
            <a:ext cx="10332720" cy="731520"/>
          </a:xfrm>
          <a:prstGeom prst="rect">
            <a:avLst/>
          </a:prstGeom>
          <a:noFill/>
        </p:spPr>
        <p:txBody>
          <a:bodyPr wrap="square" lIns="27432" rIns="27432" tIns="27432" bIns="27432" anchor="b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000" b="1" i="0">
                <a:solidFill>
                  <a:srgbClr val="12284C"/>
                </a:solidFill>
                <a:latin typeface="Source Sans 3"/>
              </a:rPr>
              <a:t>RQ4b: Why Scientific Wins — Evidence from the 13 Bugs</a:t>
            </a:r>
          </a:p>
        </p:txBody>
      </p:sp>
      <p:pic>
        <p:nvPicPr>
          <p:cNvPr id="4" name="Picture 3" descr="iut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228832" y="292608"/>
            <a:ext cx="433472" cy="713232"/>
          </a:xfrm>
          <a:prstGeom prst="rect">
            <a:avLst/>
          </a:prstGeom>
        </p:spPr>
      </p:pic>
      <p:cxnSp>
        <p:nvCxnSpPr>
          <p:cNvPr id="5" name="Connector 4"/>
          <p:cNvCxnSpPr/>
          <p:nvPr/>
        </p:nvCxnSpPr>
        <p:spPr>
          <a:xfrm>
            <a:off x="548640" y="1078992"/>
            <a:ext cx="11091672" cy="0"/>
          </a:xfrm>
          <a:prstGeom prst="line">
            <a:avLst/>
          </a:prstGeom>
          <a:ln w="9525">
            <a:solidFill>
              <a:srgbClr val="D5D9DF"/>
            </a:solidFill>
          </a:ln>
        </p:spPr>
      </p:cxnSp>
      <p:sp>
        <p:nvSpPr>
          <p:cNvPr id="6" name="Rectangle 5"/>
          <p:cNvSpPr/>
          <p:nvPr/>
        </p:nvSpPr>
        <p:spPr>
          <a:xfrm>
            <a:off x="548640" y="1060704"/>
            <a:ext cx="914400" cy="41148"/>
          </a:xfrm>
          <a:prstGeom prst="rect">
            <a:avLst/>
          </a:prstGeom>
          <a:solidFill>
            <a:srgbClr val="12284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>
            <a:off x="548640" y="6400800"/>
            <a:ext cx="11091672" cy="0"/>
          </a:xfrm>
          <a:prstGeom prst="line">
            <a:avLst/>
          </a:prstGeom>
          <a:ln w="9525">
            <a:solidFill>
              <a:srgbClr val="D5D9DF"/>
            </a:solidFill>
          </a:ln>
        </p:spPr>
      </p:cxnSp>
      <p:sp>
        <p:nvSpPr>
          <p:cNvPr id="8" name="TextBox 7"/>
          <p:cNvSpPr txBox="1"/>
          <p:nvPr/>
        </p:nvSpPr>
        <p:spPr>
          <a:xfrm>
            <a:off x="548640" y="6437376"/>
            <a:ext cx="3931920" cy="365760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00" b="0" i="0">
                <a:solidFill>
                  <a:srgbClr val="8A919C"/>
                </a:solidFill>
                <a:latin typeface="Source Sans 3"/>
              </a:rPr>
              <a:t>ODC on Defects4J  ·  Thesis Defence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0" y="6437376"/>
            <a:ext cx="854964" cy="365760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400" b="0" i="0">
                <a:solidFill>
                  <a:srgbClr val="8A919C"/>
                </a:solidFill>
                <a:latin typeface="Source Sans 3"/>
              </a:rPr>
              <a:t>Context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55564" y="6437376"/>
            <a:ext cx="1239012" cy="365760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400" b="0" i="0">
                <a:solidFill>
                  <a:srgbClr val="8A919C"/>
                </a:solidFill>
                <a:latin typeface="Source Sans 3"/>
              </a:rPr>
              <a:t>Methodology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123176" y="6437376"/>
            <a:ext cx="854964" cy="365760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400" b="1" i="0">
                <a:solidFill>
                  <a:srgbClr val="12284C"/>
                </a:solidFill>
                <a:latin typeface="Source Sans 3"/>
              </a:rPr>
              <a:t>Results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214616" y="6757416"/>
            <a:ext cx="672084" cy="32004"/>
          </a:xfrm>
          <a:prstGeom prst="rect">
            <a:avLst/>
          </a:prstGeom>
          <a:solidFill>
            <a:srgbClr val="12284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966960" y="6419088"/>
            <a:ext cx="1673352" cy="402336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800" b="1" i="0">
                <a:solidFill>
                  <a:srgbClr val="12284C"/>
                </a:solidFill>
                <a:latin typeface="Source Sans 3"/>
              </a:rPr>
              <a:t>22 / 24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1170432"/>
            <a:ext cx="2651760" cy="713232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4600" b="1" i="0">
                <a:solidFill>
                  <a:srgbClr val="2F7D4F"/>
                </a:solidFill>
                <a:latin typeface="Source Sans 3"/>
              </a:rPr>
              <a:t>5</a:t>
            </a:r>
            <a:r>
              <a:rPr sz="4600" b="1" i="0">
                <a:solidFill>
                  <a:srgbClr val="8A919C"/>
                </a:solidFill>
                <a:latin typeface="Source Sans 3"/>
              </a:rPr>
              <a:t> : </a:t>
            </a:r>
            <a:r>
              <a:rPr sz="4600" b="1" i="0">
                <a:solidFill>
                  <a:srgbClr val="8A919C"/>
                </a:solidFill>
                <a:latin typeface="Source Sans 3"/>
              </a:rPr>
              <a:t>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1847088"/>
            <a:ext cx="2834640" cy="384048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00" b="0" i="0">
                <a:solidFill>
                  <a:srgbClr val="5A6270"/>
                </a:solidFill>
                <a:latin typeface="Source Sans 3"/>
              </a:rPr>
              <a:t>5 bugs vs 1 bug, all pre-fix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754880" y="1188720"/>
            <a:ext cx="4572000" cy="310896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500" b="0" i="0">
                <a:solidFill>
                  <a:srgbClr val="2F7D4F"/>
                </a:solidFill>
                <a:latin typeface="Source Sans 3"/>
              </a:rPr>
              <a:t>■ </a:t>
            </a:r>
            <a:r>
              <a:rPr sz="1500" b="1" i="0">
                <a:solidFill>
                  <a:srgbClr val="2F7D4F"/>
                </a:solidFill>
                <a:latin typeface="Source Sans 3"/>
              </a:rPr>
              <a:t>only scientific right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418320" y="1188720"/>
            <a:ext cx="2221992" cy="310896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500" b="0" i="0">
                <a:solidFill>
                  <a:srgbClr val="B3B9C3"/>
                </a:solidFill>
                <a:latin typeface="Source Sans 3"/>
              </a:rPr>
              <a:t>■ </a:t>
            </a:r>
            <a:r>
              <a:rPr sz="1500" b="1" i="0">
                <a:solidFill>
                  <a:srgbClr val="8A919C"/>
                </a:solidFill>
                <a:latin typeface="Source Sans 3"/>
              </a:rPr>
              <a:t>only few-shot right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429000" y="1572768"/>
            <a:ext cx="1280160" cy="310896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500" b="0" i="0">
                <a:solidFill>
                  <a:srgbClr val="12284C"/>
                </a:solidFill>
                <a:latin typeface="Source Code Pro"/>
              </a:rPr>
              <a:t>Gemini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754880" y="1591056"/>
            <a:ext cx="854964" cy="274320"/>
          </a:xfrm>
          <a:prstGeom prst="rect">
            <a:avLst/>
          </a:prstGeom>
          <a:solidFill>
            <a:srgbClr val="2F7D4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754880" y="1591056"/>
            <a:ext cx="854964" cy="274320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400" b="1" i="0">
                <a:solidFill>
                  <a:srgbClr val="FFFFFF"/>
                </a:solidFill>
                <a:latin typeface="Source Code Pro"/>
              </a:rPr>
              <a:t>Math_17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701284" y="1591056"/>
            <a:ext cx="1143000" cy="274320"/>
          </a:xfrm>
          <a:prstGeom prst="rect">
            <a:avLst/>
          </a:prstGeom>
          <a:solidFill>
            <a:srgbClr val="2F7D4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701284" y="1591056"/>
            <a:ext cx="1143000" cy="274320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400" b="1" i="0">
                <a:solidFill>
                  <a:srgbClr val="FFFFFF"/>
                </a:solidFill>
                <a:latin typeface="Source Code Pro"/>
              </a:rPr>
              <a:t>Mockito_26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935724" y="1591056"/>
            <a:ext cx="854964" cy="274320"/>
          </a:xfrm>
          <a:prstGeom prst="rect">
            <a:avLst/>
          </a:prstGeom>
          <a:solidFill>
            <a:srgbClr val="2F7D4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935724" y="1591056"/>
            <a:ext cx="854964" cy="274320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400" b="1" i="0">
                <a:solidFill>
                  <a:srgbClr val="FFFFFF"/>
                </a:solidFill>
                <a:latin typeface="Source Code Pro"/>
              </a:rPr>
              <a:t>Chart_7</a:t>
            </a:r>
          </a:p>
        </p:txBody>
      </p:sp>
      <p:sp>
        <p:nvSpPr>
          <p:cNvPr id="25" name="Rectangle 24"/>
          <p:cNvSpPr/>
          <p:nvPr/>
        </p:nvSpPr>
        <p:spPr>
          <a:xfrm>
            <a:off x="9418320" y="1591056"/>
            <a:ext cx="950976" cy="274320"/>
          </a:xfrm>
          <a:prstGeom prst="rect">
            <a:avLst/>
          </a:prstGeom>
          <a:solidFill>
            <a:srgbClr val="B3B9C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418320" y="1591056"/>
            <a:ext cx="950976" cy="274320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400" b="1" i="0">
                <a:solidFill>
                  <a:srgbClr val="FFFFFF"/>
                </a:solidFill>
                <a:latin typeface="Source Code Pro"/>
              </a:rPr>
              <a:t>Math_104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429000" y="1938528"/>
            <a:ext cx="1280160" cy="310896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500" b="0" i="0">
                <a:solidFill>
                  <a:srgbClr val="12284C"/>
                </a:solidFill>
                <a:latin typeface="Source Code Pro"/>
              </a:rPr>
              <a:t>gpt-5-mini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754880" y="1956816"/>
            <a:ext cx="758952" cy="274320"/>
          </a:xfrm>
          <a:prstGeom prst="rect">
            <a:avLst/>
          </a:prstGeom>
          <a:solidFill>
            <a:srgbClr val="2F7D4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754880" y="1956816"/>
            <a:ext cx="758952" cy="274320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400" b="1" i="0">
                <a:solidFill>
                  <a:srgbClr val="FFFFFF"/>
                </a:solidFill>
                <a:latin typeface="Source Code Pro"/>
              </a:rPr>
              <a:t>Time_3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605272" y="1956816"/>
            <a:ext cx="950976" cy="274320"/>
          </a:xfrm>
          <a:prstGeom prst="rect">
            <a:avLst/>
          </a:prstGeom>
          <a:solidFill>
            <a:srgbClr val="2F7D4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605272" y="1956816"/>
            <a:ext cx="950976" cy="274320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400" b="1" i="0">
                <a:solidFill>
                  <a:srgbClr val="FFFFFF"/>
                </a:solidFill>
                <a:latin typeface="Source Code Pro"/>
              </a:rPr>
              <a:t>Chart_11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418320" y="1938528"/>
            <a:ext cx="914400" cy="310896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500" b="0" i="1">
                <a:solidFill>
                  <a:srgbClr val="8A919C"/>
                </a:solidFill>
                <a:latin typeface="Source Sans 3"/>
              </a:rPr>
              <a:t>none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429000" y="1188720"/>
            <a:ext cx="1280160" cy="310896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00" b="0" i="0">
                <a:solidFill>
                  <a:srgbClr val="5A6270"/>
                </a:solidFill>
                <a:latin typeface="Source Sans 3"/>
              </a:rPr>
              <a:t>model</a:t>
            </a:r>
          </a:p>
        </p:txBody>
      </p:sp>
      <p:cxnSp>
        <p:nvCxnSpPr>
          <p:cNvPr id="34" name="Connector 33"/>
          <p:cNvCxnSpPr/>
          <p:nvPr/>
        </p:nvCxnSpPr>
        <p:spPr>
          <a:xfrm>
            <a:off x="548640" y="2286000"/>
            <a:ext cx="11091672" cy="0"/>
          </a:xfrm>
          <a:prstGeom prst="line">
            <a:avLst/>
          </a:prstGeom>
          <a:ln w="9525">
            <a:solidFill>
              <a:srgbClr val="D5D9DF"/>
            </a:solidFill>
          </a:ln>
        </p:spPr>
      </p:cxnSp>
      <p:sp>
        <p:nvSpPr>
          <p:cNvPr id="35" name="TextBox 34"/>
          <p:cNvSpPr txBox="1"/>
          <p:nvPr/>
        </p:nvSpPr>
        <p:spPr>
          <a:xfrm>
            <a:off x="548640" y="2423160"/>
            <a:ext cx="11091672" cy="329184"/>
          </a:xfrm>
          <a:prstGeom prst="rect">
            <a:avLst/>
          </a:prstGeom>
          <a:noFill/>
        </p:spPr>
        <p:txBody>
          <a:bodyPr wrap="square" lIns="27432" rIns="27432" tIns="27432" bIns="27432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00" b="1" i="0">
                <a:solidFill>
                  <a:srgbClr val="5A6270"/>
                </a:solidFill>
                <a:latin typeface="Source Sans 3"/>
              </a:rPr>
              <a:t>WHAT THE TRANSCRIPTS SHOW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48640" y="2788920"/>
            <a:ext cx="2601468" cy="1874519"/>
          </a:xfrm>
          <a:prstGeom prst="rect">
            <a:avLst/>
          </a:prstGeom>
          <a:solidFill>
            <a:srgbClr val="E3F1E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548640" y="2788920"/>
            <a:ext cx="2601468" cy="64008"/>
          </a:xfrm>
          <a:prstGeom prst="rect">
            <a:avLst/>
          </a:prstGeom>
          <a:solidFill>
            <a:srgbClr val="2F7D4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713232" y="2916936"/>
            <a:ext cx="2327148" cy="365760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600" b="1" i="0">
                <a:solidFill>
                  <a:srgbClr val="12284C"/>
                </a:solidFill>
                <a:latin typeface="Source Code Pro"/>
              </a:rPr>
              <a:t>Time_3</a:t>
            </a:r>
            <a:r>
              <a:rPr sz="1400" b="0" i="0">
                <a:solidFill>
                  <a:srgbClr val="5A6270"/>
                </a:solidFill>
                <a:latin typeface="Source Sans 3"/>
              </a:rPr>
              <a:t>  gpt-5-mini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13232" y="3300984"/>
            <a:ext cx="2327148" cy="329184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00" b="0" i="0">
                <a:solidFill>
                  <a:srgbClr val="5A6270"/>
                </a:solidFill>
                <a:latin typeface="Source Sans 3"/>
              </a:rPr>
              <a:t>scientific  </a:t>
            </a:r>
            <a:r>
              <a:rPr sz="1700" b="1" i="0">
                <a:solidFill>
                  <a:srgbClr val="2F7D4F"/>
                </a:solidFill>
                <a:latin typeface="Source Sans 3"/>
              </a:rPr>
              <a:t>Checking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13232" y="3611879"/>
            <a:ext cx="2327148" cy="329184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00" b="0" i="0">
                <a:solidFill>
                  <a:srgbClr val="5A6270"/>
                </a:solidFill>
                <a:latin typeface="Source Sans 3"/>
              </a:rPr>
              <a:t>few-shot  </a:t>
            </a:r>
            <a:r>
              <a:rPr sz="1700" b="1" i="0">
                <a:solidFill>
                  <a:srgbClr val="8A919C"/>
                </a:solidFill>
                <a:latin typeface="Source Sans 3"/>
              </a:rPr>
              <a:t>Algorithm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13232" y="3977639"/>
            <a:ext cx="2327148" cy="640080"/>
          </a:xfrm>
          <a:prstGeom prst="rect">
            <a:avLst/>
          </a:prstGeom>
          <a:noFill/>
        </p:spPr>
        <p:txBody>
          <a:bodyPr wrap="square" lIns="27432" rIns="27432" tIns="27432" bIns="27432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500" b="0" i="0">
                <a:solidFill>
                  <a:srgbClr val="1C2128"/>
                </a:solidFill>
                <a:latin typeface="Source Sans 3"/>
              </a:rPr>
              <a:t>kept testing “a zero guard is missing” for six turns</a:t>
            </a:r>
          </a:p>
        </p:txBody>
      </p:sp>
      <p:sp>
        <p:nvSpPr>
          <p:cNvPr id="42" name="Rectangle 41"/>
          <p:cNvSpPr/>
          <p:nvPr/>
        </p:nvSpPr>
        <p:spPr>
          <a:xfrm>
            <a:off x="3378708" y="2788920"/>
            <a:ext cx="2601468" cy="1874519"/>
          </a:xfrm>
          <a:prstGeom prst="rect">
            <a:avLst/>
          </a:prstGeom>
          <a:solidFill>
            <a:srgbClr val="E3F1E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3378708" y="2788920"/>
            <a:ext cx="2601468" cy="64008"/>
          </a:xfrm>
          <a:prstGeom prst="rect">
            <a:avLst/>
          </a:prstGeom>
          <a:solidFill>
            <a:srgbClr val="2F7D4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3543300" y="2916936"/>
            <a:ext cx="2327148" cy="365760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600" b="1" i="0">
                <a:solidFill>
                  <a:srgbClr val="12284C"/>
                </a:solidFill>
                <a:latin typeface="Source Code Pro"/>
              </a:rPr>
              <a:t>Chart_11</a:t>
            </a:r>
            <a:r>
              <a:rPr sz="1400" b="0" i="0">
                <a:solidFill>
                  <a:srgbClr val="5A6270"/>
                </a:solidFill>
                <a:latin typeface="Source Sans 3"/>
              </a:rPr>
              <a:t>  gpt-5-mini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3543300" y="3300984"/>
            <a:ext cx="2327148" cy="329184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00" b="0" i="0">
                <a:solidFill>
                  <a:srgbClr val="5A6270"/>
                </a:solidFill>
                <a:latin typeface="Source Sans 3"/>
              </a:rPr>
              <a:t>scientific  </a:t>
            </a:r>
            <a:r>
              <a:rPr sz="1700" b="1" i="0">
                <a:solidFill>
                  <a:srgbClr val="2F7D4F"/>
                </a:solidFill>
                <a:latin typeface="Source Sans 3"/>
              </a:rPr>
              <a:t>Assignment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3543300" y="3611879"/>
            <a:ext cx="2327148" cy="329184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00" b="0" i="0">
                <a:solidFill>
                  <a:srgbClr val="5A6270"/>
                </a:solidFill>
                <a:latin typeface="Source Sans 3"/>
              </a:rPr>
              <a:t>few-shot  </a:t>
            </a:r>
            <a:r>
              <a:rPr sz="1700" b="1" i="0">
                <a:solidFill>
                  <a:srgbClr val="8A919C"/>
                </a:solidFill>
                <a:latin typeface="Source Sans 3"/>
              </a:rPr>
              <a:t>Algorithm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3543300" y="3977639"/>
            <a:ext cx="2327148" cy="640080"/>
          </a:xfrm>
          <a:prstGeom prst="rect">
            <a:avLst/>
          </a:prstGeom>
          <a:noFill/>
        </p:spPr>
        <p:txBody>
          <a:bodyPr wrap="square" lIns="27432" rIns="27432" tIns="27432" bIns="27432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500" b="0" i="0">
                <a:solidFill>
                  <a:srgbClr val="1C2128"/>
                </a:solidFill>
                <a:latin typeface="Source Sans 3"/>
              </a:rPr>
              <a:t>narrowed its prediction to one wrong assignment</a:t>
            </a:r>
          </a:p>
        </p:txBody>
      </p:sp>
      <p:sp>
        <p:nvSpPr>
          <p:cNvPr id="48" name="Rectangle 47"/>
          <p:cNvSpPr/>
          <p:nvPr/>
        </p:nvSpPr>
        <p:spPr>
          <a:xfrm>
            <a:off x="6208776" y="2788920"/>
            <a:ext cx="2601468" cy="1874519"/>
          </a:xfrm>
          <a:prstGeom prst="rect">
            <a:avLst/>
          </a:prstGeom>
          <a:solidFill>
            <a:srgbClr val="E3F1E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6208776" y="2788920"/>
            <a:ext cx="2601468" cy="64008"/>
          </a:xfrm>
          <a:prstGeom prst="rect">
            <a:avLst/>
          </a:prstGeom>
          <a:solidFill>
            <a:srgbClr val="2F7D4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6373368" y="2916936"/>
            <a:ext cx="2327148" cy="365760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600" b="1" i="0">
                <a:solidFill>
                  <a:srgbClr val="12284C"/>
                </a:solidFill>
                <a:latin typeface="Source Code Pro"/>
              </a:rPr>
              <a:t>Math_17</a:t>
            </a:r>
            <a:r>
              <a:rPr sz="1400" b="0" i="0">
                <a:solidFill>
                  <a:srgbClr val="5A6270"/>
                </a:solidFill>
                <a:latin typeface="Source Sans 3"/>
              </a:rPr>
              <a:t>  Gemini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373368" y="3300984"/>
            <a:ext cx="2327148" cy="329184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00" b="0" i="0">
                <a:solidFill>
                  <a:srgbClr val="5A6270"/>
                </a:solidFill>
                <a:latin typeface="Source Sans 3"/>
              </a:rPr>
              <a:t>scientific  </a:t>
            </a:r>
            <a:r>
              <a:rPr sz="1700" b="1" i="0">
                <a:solidFill>
                  <a:srgbClr val="2F7D4F"/>
                </a:solidFill>
                <a:latin typeface="Source Sans 3"/>
              </a:rPr>
              <a:t>Checking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6373368" y="3611879"/>
            <a:ext cx="2327148" cy="329184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00" b="0" i="0">
                <a:solidFill>
                  <a:srgbClr val="5A6270"/>
                </a:solidFill>
                <a:latin typeface="Source Sans 3"/>
              </a:rPr>
              <a:t>few-shot  </a:t>
            </a:r>
            <a:r>
              <a:rPr sz="1700" b="1" i="0">
                <a:solidFill>
                  <a:srgbClr val="8A919C"/>
                </a:solidFill>
                <a:latin typeface="Source Sans 3"/>
              </a:rPr>
              <a:t>Function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373368" y="3977639"/>
            <a:ext cx="2327148" cy="640080"/>
          </a:xfrm>
          <a:prstGeom prst="rect">
            <a:avLst/>
          </a:prstGeom>
          <a:noFill/>
        </p:spPr>
        <p:txBody>
          <a:bodyPr wrap="square" lIns="27432" rIns="27432" tIns="27432" bIns="27432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500" b="0" i="0">
                <a:solidFill>
                  <a:srgbClr val="1C2128"/>
                </a:solidFill>
                <a:latin typeface="Source Sans 3"/>
              </a:rPr>
              <a:t>had to name a concrete cause: a range check</a:t>
            </a:r>
          </a:p>
        </p:txBody>
      </p:sp>
      <p:sp>
        <p:nvSpPr>
          <p:cNvPr id="54" name="Rectangle 53"/>
          <p:cNvSpPr/>
          <p:nvPr/>
        </p:nvSpPr>
        <p:spPr>
          <a:xfrm>
            <a:off x="9038844" y="2788920"/>
            <a:ext cx="2601468" cy="1874519"/>
          </a:xfrm>
          <a:prstGeom prst="rect">
            <a:avLst/>
          </a:prstGeom>
          <a:solidFill>
            <a:srgbClr val="F4F5F7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9038844" y="2788920"/>
            <a:ext cx="2601468" cy="64008"/>
          </a:xfrm>
          <a:prstGeom prst="rect">
            <a:avLst/>
          </a:prstGeom>
          <a:solidFill>
            <a:srgbClr val="B7791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9203436" y="2916936"/>
            <a:ext cx="2327148" cy="365760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600" b="1" i="0">
                <a:solidFill>
                  <a:srgbClr val="12284C"/>
                </a:solidFill>
                <a:latin typeface="Source Code Pro"/>
              </a:rPr>
              <a:t>Math_104</a:t>
            </a:r>
            <a:r>
              <a:rPr sz="1400" b="0" i="0">
                <a:solidFill>
                  <a:srgbClr val="5A6270"/>
                </a:solidFill>
                <a:latin typeface="Source Sans 3"/>
              </a:rPr>
              <a:t>  Gemini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9203436" y="3300984"/>
            <a:ext cx="2327148" cy="329184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00" b="0" i="0">
                <a:solidFill>
                  <a:srgbClr val="5A6270"/>
                </a:solidFill>
                <a:latin typeface="Source Sans 3"/>
              </a:rPr>
              <a:t>scientific  </a:t>
            </a:r>
            <a:r>
              <a:rPr sz="1700" b="1" i="0">
                <a:solidFill>
                  <a:srgbClr val="8A919C"/>
                </a:solidFill>
                <a:latin typeface="Source Sans 3"/>
              </a:rPr>
              <a:t>Algorithm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9203436" y="3611879"/>
            <a:ext cx="2327148" cy="329184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00" b="0" i="0">
                <a:solidFill>
                  <a:srgbClr val="5A6270"/>
                </a:solidFill>
                <a:latin typeface="Source Sans 3"/>
              </a:rPr>
              <a:t>few-shot  </a:t>
            </a:r>
            <a:r>
              <a:rPr sz="1700" b="1" i="0">
                <a:solidFill>
                  <a:srgbClr val="2F7D4F"/>
                </a:solidFill>
                <a:latin typeface="Source Sans 3"/>
              </a:rPr>
              <a:t>Assignment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9203436" y="3977639"/>
            <a:ext cx="2327148" cy="640080"/>
          </a:xfrm>
          <a:prstGeom prst="rect">
            <a:avLst/>
          </a:prstGeom>
          <a:noFill/>
        </p:spPr>
        <p:txBody>
          <a:bodyPr wrap="square" lIns="27432" rIns="27432" tIns="27432" bIns="27432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500" b="0" i="0">
                <a:solidFill>
                  <a:srgbClr val="1C2128"/>
                </a:solidFill>
                <a:latin typeface="Source Sans 3"/>
              </a:rPr>
              <a:t>named the wrong constant, but chose Algorithm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48640" y="4690872"/>
            <a:ext cx="11091672" cy="292608"/>
          </a:xfrm>
          <a:prstGeom prst="rect">
            <a:avLst/>
          </a:prstGeom>
          <a:noFill/>
        </p:spPr>
        <p:txBody>
          <a:bodyPr wrap="square" lIns="27432" rIns="27432" tIns="27432" bIns="27432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00" b="1" i="0">
                <a:solidFill>
                  <a:srgbClr val="2F7D4F"/>
                </a:solidFill>
                <a:latin typeface="Source Sans 3"/>
              </a:rPr>
              <a:t>green</a:t>
            </a:r>
            <a:r>
              <a:rPr sz="1400" b="0" i="0">
                <a:solidFill>
                  <a:srgbClr val="5A6270"/>
                </a:solidFill>
                <a:latin typeface="Source Sans 3"/>
              </a:rPr>
              <a:t> = the label that matches our manual reading</a:t>
            </a:r>
          </a:p>
        </p:txBody>
      </p:sp>
      <p:sp>
        <p:nvSpPr>
          <p:cNvPr id="61" name="Rectangle 60"/>
          <p:cNvSpPr/>
          <p:nvPr/>
        </p:nvSpPr>
        <p:spPr>
          <a:xfrm>
            <a:off x="548640" y="5138928"/>
            <a:ext cx="64008" cy="1097280"/>
          </a:xfrm>
          <a:prstGeom prst="rect">
            <a:avLst/>
          </a:prstGeom>
          <a:solidFill>
            <a:srgbClr val="2F7D4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777240" y="5138928"/>
            <a:ext cx="5120640" cy="365760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500" b="1" i="0">
                <a:solidFill>
                  <a:srgbClr val="12284C"/>
                </a:solidFill>
                <a:latin typeface="Source Sans 3"/>
              </a:rPr>
              <a:t>Same with both models  →  the pipeline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777240" y="5522976"/>
            <a:ext cx="5120640" cy="713232"/>
          </a:xfrm>
          <a:prstGeom prst="rect">
            <a:avLst/>
          </a:prstGeom>
          <a:noFill/>
        </p:spPr>
        <p:txBody>
          <a:bodyPr wrap="square" lIns="27432" rIns="27432" tIns="27432" bIns="27432" anchor="t">
            <a:no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600" b="0" i="0">
                <a:solidFill>
                  <a:srgbClr val="1C2128"/>
                </a:solidFill>
                <a:latin typeface="Source Sans 3"/>
              </a:rPr>
              <a:t>Scientific beats few-shot pre-fix: 6 vs 4 of 13</a:t>
            </a:r>
          </a:p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600" b="0" i="0">
                <a:solidFill>
                  <a:srgbClr val="1C2128"/>
                </a:solidFill>
                <a:latin typeface="Source Sans 3"/>
              </a:rPr>
              <a:t>Misleading clues can stop it too early (Chart_17)</a:t>
            </a:r>
          </a:p>
        </p:txBody>
      </p:sp>
      <p:sp>
        <p:nvSpPr>
          <p:cNvPr id="64" name="Rectangle 63"/>
          <p:cNvSpPr/>
          <p:nvPr/>
        </p:nvSpPr>
        <p:spPr>
          <a:xfrm>
            <a:off x="6263640" y="5138928"/>
            <a:ext cx="64008" cy="1097280"/>
          </a:xfrm>
          <a:prstGeom prst="rect">
            <a:avLst/>
          </a:prstGeom>
          <a:solidFill>
            <a:srgbClr val="12284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6492240" y="5138928"/>
            <a:ext cx="5148072" cy="365760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500" b="1" i="0">
                <a:solidFill>
                  <a:srgbClr val="12284C"/>
                </a:solidFill>
                <a:latin typeface="Source Sans 3"/>
              </a:rPr>
              <a:t>Differs between models  →  the model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6492240" y="5522976"/>
            <a:ext cx="5148072" cy="713232"/>
          </a:xfrm>
          <a:prstGeom prst="rect">
            <a:avLst/>
          </a:prstGeom>
          <a:noFill/>
        </p:spPr>
        <p:txBody>
          <a:bodyPr wrap="square" lIns="27432" rIns="27432" tIns="27432" bIns="27432" anchor="t">
            <a:no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600" b="0" i="0">
                <a:solidFill>
                  <a:srgbClr val="1C2128"/>
                </a:solidFill>
                <a:latin typeface="Source Sans 3"/>
              </a:rPr>
              <a:t>gpt-5-mini asks for evidence </a:t>
            </a:r>
            <a:r>
              <a:rPr sz="1600" b="1" i="0">
                <a:solidFill>
                  <a:srgbClr val="1C2128"/>
                </a:solidFill>
                <a:latin typeface="Source Sans 3"/>
              </a:rPr>
              <a:t>about twice as often</a:t>
            </a:r>
            <a:r>
              <a:rPr sz="1600" b="0" i="0">
                <a:solidFill>
                  <a:srgbClr val="1C2128"/>
                </a:solidFill>
                <a:latin typeface="Source Sans 3"/>
              </a:rPr>
              <a:t> as Gemini</a:t>
            </a:r>
          </a:p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600" b="0" i="0">
                <a:solidFill>
                  <a:srgbClr val="5A6270"/>
                </a:solidFill>
                <a:latin typeface="Source Sans 3"/>
              </a:rPr>
              <a:t>Gemini trusts its first summary and stops early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74320"/>
            <a:ext cx="10332720" cy="731520"/>
          </a:xfrm>
          <a:prstGeom prst="rect">
            <a:avLst/>
          </a:prstGeom>
          <a:noFill/>
        </p:spPr>
        <p:txBody>
          <a:bodyPr wrap="square" lIns="27432" rIns="27432" tIns="27432" bIns="27432" anchor="b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000" b="1" i="0">
                <a:solidFill>
                  <a:srgbClr val="12284C"/>
                </a:solidFill>
                <a:latin typeface="Source Sans 3"/>
              </a:rPr>
              <a:t>Threats to Validity</a:t>
            </a:r>
          </a:p>
        </p:txBody>
      </p:sp>
      <p:pic>
        <p:nvPicPr>
          <p:cNvPr id="4" name="Picture 3" descr="iut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228832" y="292608"/>
            <a:ext cx="433472" cy="713232"/>
          </a:xfrm>
          <a:prstGeom prst="rect">
            <a:avLst/>
          </a:prstGeom>
        </p:spPr>
      </p:pic>
      <p:cxnSp>
        <p:nvCxnSpPr>
          <p:cNvPr id="5" name="Connector 4"/>
          <p:cNvCxnSpPr/>
          <p:nvPr/>
        </p:nvCxnSpPr>
        <p:spPr>
          <a:xfrm>
            <a:off x="548640" y="1078992"/>
            <a:ext cx="11091672" cy="0"/>
          </a:xfrm>
          <a:prstGeom prst="line">
            <a:avLst/>
          </a:prstGeom>
          <a:ln w="9525">
            <a:solidFill>
              <a:srgbClr val="D5D9DF"/>
            </a:solidFill>
          </a:ln>
        </p:spPr>
      </p:cxnSp>
      <p:sp>
        <p:nvSpPr>
          <p:cNvPr id="6" name="Rectangle 5"/>
          <p:cNvSpPr/>
          <p:nvPr/>
        </p:nvSpPr>
        <p:spPr>
          <a:xfrm>
            <a:off x="548640" y="1060704"/>
            <a:ext cx="914400" cy="41148"/>
          </a:xfrm>
          <a:prstGeom prst="rect">
            <a:avLst/>
          </a:prstGeom>
          <a:solidFill>
            <a:srgbClr val="12284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>
            <a:off x="548640" y="6400800"/>
            <a:ext cx="11091672" cy="0"/>
          </a:xfrm>
          <a:prstGeom prst="line">
            <a:avLst/>
          </a:prstGeom>
          <a:ln w="9525">
            <a:solidFill>
              <a:srgbClr val="D5D9DF"/>
            </a:solidFill>
          </a:ln>
        </p:spPr>
      </p:cxnSp>
      <p:sp>
        <p:nvSpPr>
          <p:cNvPr id="8" name="TextBox 7"/>
          <p:cNvSpPr txBox="1"/>
          <p:nvPr/>
        </p:nvSpPr>
        <p:spPr>
          <a:xfrm>
            <a:off x="548640" y="6437376"/>
            <a:ext cx="3931920" cy="365760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00" b="0" i="0">
                <a:solidFill>
                  <a:srgbClr val="8A919C"/>
                </a:solidFill>
                <a:latin typeface="Source Sans 3"/>
              </a:rPr>
              <a:t>ODC on Defects4J  ·  Thesis Defence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0" y="6437376"/>
            <a:ext cx="854964" cy="365760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400" b="0" i="0">
                <a:solidFill>
                  <a:srgbClr val="8A919C"/>
                </a:solidFill>
                <a:latin typeface="Source Sans 3"/>
              </a:rPr>
              <a:t>Context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55564" y="6437376"/>
            <a:ext cx="1239012" cy="365760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400" b="0" i="0">
                <a:solidFill>
                  <a:srgbClr val="8A919C"/>
                </a:solidFill>
                <a:latin typeface="Source Sans 3"/>
              </a:rPr>
              <a:t>Methodology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123176" y="6437376"/>
            <a:ext cx="854964" cy="365760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400" b="1" i="0">
                <a:solidFill>
                  <a:srgbClr val="12284C"/>
                </a:solidFill>
                <a:latin typeface="Source Sans 3"/>
              </a:rPr>
              <a:t>Results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214616" y="6757416"/>
            <a:ext cx="672084" cy="32004"/>
          </a:xfrm>
          <a:prstGeom prst="rect">
            <a:avLst/>
          </a:prstGeom>
          <a:solidFill>
            <a:srgbClr val="12284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966960" y="6419088"/>
            <a:ext cx="1673352" cy="402336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800" b="1" i="0">
                <a:solidFill>
                  <a:srgbClr val="12284C"/>
                </a:solidFill>
                <a:latin typeface="Source Sans 3"/>
              </a:rPr>
              <a:t>23 / 24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48640" y="1527048"/>
            <a:ext cx="2103120" cy="731520"/>
          </a:xfrm>
          <a:prstGeom prst="rect">
            <a:avLst/>
          </a:prstGeom>
          <a:solidFill>
            <a:srgbClr val="F4F5F7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48640" y="1527048"/>
            <a:ext cx="2103120" cy="731520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2000" b="1" i="0">
                <a:solidFill>
                  <a:srgbClr val="12284C"/>
                </a:solidFill>
                <a:latin typeface="Source Sans 3"/>
              </a:rPr>
              <a:t>Internal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880360" y="1417320"/>
            <a:ext cx="8759952" cy="950976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l">
              <a:lnSpc>
                <a:spcPct val="102000"/>
              </a:lnSpc>
              <a:spcAft>
                <a:spcPts val="300"/>
              </a:spcAft>
            </a:pPr>
            <a:r>
              <a:rPr sz="1700" b="0" i="0">
                <a:solidFill>
                  <a:srgbClr val="1C2128"/>
                </a:solidFill>
                <a:latin typeface="Source Sans 3"/>
              </a:rPr>
              <a:t>The model can give a different answer each time it runs.</a:t>
            </a:r>
          </a:p>
          <a:p>
            <a:pPr algn="l">
              <a:lnSpc>
                <a:spcPct val="102000"/>
              </a:lnSpc>
              <a:spcAft>
                <a:spcPts val="300"/>
              </a:spcAft>
            </a:pPr>
            <a:r>
              <a:rPr sz="1700" b="0" i="0">
                <a:solidFill>
                  <a:srgbClr val="5A6270"/>
                </a:solidFill>
                <a:latin typeface="Source Sans 3"/>
              </a:rPr>
              <a:t>We removed fix hints from the pre-fix evidence, so it cannot see the answer.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548640" y="2496312"/>
            <a:ext cx="11091672" cy="0"/>
          </a:xfrm>
          <a:prstGeom prst="line">
            <a:avLst/>
          </a:prstGeom>
          <a:ln w="9525">
            <a:solidFill>
              <a:srgbClr val="D5D9DF"/>
            </a:solidFill>
          </a:ln>
        </p:spPr>
      </p:cxnSp>
      <p:sp>
        <p:nvSpPr>
          <p:cNvPr id="18" name="Rectangle 17"/>
          <p:cNvSpPr/>
          <p:nvPr/>
        </p:nvSpPr>
        <p:spPr>
          <a:xfrm>
            <a:off x="548640" y="2734056"/>
            <a:ext cx="2103120" cy="731520"/>
          </a:xfrm>
          <a:prstGeom prst="rect">
            <a:avLst/>
          </a:prstGeom>
          <a:solidFill>
            <a:srgbClr val="F4F5F7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48640" y="2734056"/>
            <a:ext cx="2103120" cy="731520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2000" b="1" i="0">
                <a:solidFill>
                  <a:srgbClr val="12284C"/>
                </a:solidFill>
                <a:latin typeface="Source Sans 3"/>
              </a:rPr>
              <a:t>External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880360" y="2624328"/>
            <a:ext cx="8759952" cy="950976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l">
              <a:lnSpc>
                <a:spcPct val="102000"/>
              </a:lnSpc>
              <a:spcAft>
                <a:spcPts val="300"/>
              </a:spcAft>
            </a:pPr>
            <a:r>
              <a:rPr sz="1700" b="0" i="0">
                <a:solidFill>
                  <a:srgbClr val="1C2128"/>
                </a:solidFill>
                <a:latin typeface="Source Sans 3"/>
              </a:rPr>
              <a:t>We studied 6 of the 17 projects, all in Java, with one model on all 410 bugs.</a:t>
            </a:r>
          </a:p>
          <a:p>
            <a:pPr algn="l">
              <a:lnSpc>
                <a:spcPct val="102000"/>
              </a:lnSpc>
              <a:spcAft>
                <a:spcPts val="300"/>
              </a:spcAft>
            </a:pPr>
            <a:r>
              <a:rPr sz="1700" b="0" i="0">
                <a:solidFill>
                  <a:srgbClr val="5A6270"/>
                </a:solidFill>
                <a:latin typeface="Source Sans 3"/>
              </a:rPr>
              <a:t>Other projects or models may give different numbers; a second model ran on 13 bugs.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548640" y="3703320"/>
            <a:ext cx="11091672" cy="0"/>
          </a:xfrm>
          <a:prstGeom prst="line">
            <a:avLst/>
          </a:prstGeom>
          <a:ln w="9525">
            <a:solidFill>
              <a:srgbClr val="D5D9DF"/>
            </a:solidFill>
          </a:ln>
        </p:spPr>
      </p:cxnSp>
      <p:sp>
        <p:nvSpPr>
          <p:cNvPr id="22" name="Rectangle 21"/>
          <p:cNvSpPr/>
          <p:nvPr/>
        </p:nvSpPr>
        <p:spPr>
          <a:xfrm>
            <a:off x="548640" y="3941064"/>
            <a:ext cx="2103120" cy="731520"/>
          </a:xfrm>
          <a:prstGeom prst="rect">
            <a:avLst/>
          </a:prstGeom>
          <a:solidFill>
            <a:srgbClr val="F4F5F7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48640" y="3941064"/>
            <a:ext cx="2103120" cy="731520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2000" b="1" i="0">
                <a:solidFill>
                  <a:srgbClr val="12284C"/>
                </a:solidFill>
                <a:latin typeface="Source Sans 3"/>
              </a:rPr>
              <a:t>Conclusion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880360" y="3831336"/>
            <a:ext cx="8759952" cy="950976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l">
              <a:lnSpc>
                <a:spcPct val="102000"/>
              </a:lnSpc>
              <a:spcAft>
                <a:spcPts val="300"/>
              </a:spcAft>
            </a:pPr>
            <a:r>
              <a:rPr sz="1700" b="0" i="0">
                <a:solidFill>
                  <a:srgbClr val="1C2128"/>
                </a:solidFill>
                <a:latin typeface="Source Sans 3"/>
              </a:rPr>
              <a:t>Answers vary between runs: two scientific runs agree on 342 of 410 post-fix labels.</a:t>
            </a:r>
          </a:p>
          <a:p>
            <a:pPr algn="l">
              <a:lnSpc>
                <a:spcPct val="102000"/>
              </a:lnSpc>
              <a:spcAft>
                <a:spcPts val="300"/>
              </a:spcAft>
            </a:pPr>
            <a:r>
              <a:rPr sz="1700" b="0" i="0">
                <a:solidFill>
                  <a:srgbClr val="5A6270"/>
                </a:solidFill>
                <a:latin typeface="Source Sans 3"/>
              </a:rPr>
              <a:t>One person did the manual reading of the 13 bugs.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548640" y="4910328"/>
            <a:ext cx="11091672" cy="0"/>
          </a:xfrm>
          <a:prstGeom prst="line">
            <a:avLst/>
          </a:prstGeom>
          <a:ln w="9525">
            <a:solidFill>
              <a:srgbClr val="D5D9DF"/>
            </a:solidFill>
          </a:ln>
        </p:spPr>
      </p:cxnSp>
      <p:sp>
        <p:nvSpPr>
          <p:cNvPr id="26" name="Rectangle 25"/>
          <p:cNvSpPr/>
          <p:nvPr/>
        </p:nvSpPr>
        <p:spPr>
          <a:xfrm>
            <a:off x="548640" y="5148072"/>
            <a:ext cx="2103120" cy="731520"/>
          </a:xfrm>
          <a:prstGeom prst="rect">
            <a:avLst/>
          </a:prstGeom>
          <a:solidFill>
            <a:srgbClr val="F4F5F7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48640" y="5148072"/>
            <a:ext cx="2103120" cy="731520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2000" b="1" i="0">
                <a:solidFill>
                  <a:srgbClr val="12284C"/>
                </a:solidFill>
                <a:latin typeface="Source Sans 3"/>
              </a:rPr>
              <a:t>Other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880360" y="5038344"/>
            <a:ext cx="8759952" cy="950976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l">
              <a:lnSpc>
                <a:spcPct val="102000"/>
              </a:lnSpc>
              <a:spcAft>
                <a:spcPts val="300"/>
              </a:spcAft>
            </a:pPr>
            <a:r>
              <a:rPr sz="1700" b="0" i="0">
                <a:solidFill>
                  <a:srgbClr val="1C2128"/>
                </a:solidFill>
                <a:latin typeface="Source Sans 3"/>
              </a:rPr>
              <a:t>These bugs are public, so the model may have seen them during training.</a:t>
            </a:r>
          </a:p>
          <a:p>
            <a:pPr algn="l">
              <a:lnSpc>
                <a:spcPct val="102000"/>
              </a:lnSpc>
              <a:spcAft>
                <a:spcPts val="300"/>
              </a:spcAft>
            </a:pPr>
            <a:r>
              <a:rPr sz="1700" b="0" i="0">
                <a:solidFill>
                  <a:srgbClr val="5A6270"/>
                </a:solidFill>
                <a:latin typeface="Source Sans 3"/>
              </a:rPr>
              <a:t>The confidence score the model reports does not warn us when it is wrong.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74320"/>
            <a:ext cx="10332720" cy="731520"/>
          </a:xfrm>
          <a:prstGeom prst="rect">
            <a:avLst/>
          </a:prstGeom>
          <a:noFill/>
        </p:spPr>
        <p:txBody>
          <a:bodyPr wrap="square" lIns="27432" rIns="27432" tIns="27432" bIns="27432" anchor="b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000" b="1" i="0">
                <a:solidFill>
                  <a:srgbClr val="12284C"/>
                </a:solidFill>
                <a:latin typeface="Source Sans 3"/>
              </a:rPr>
              <a:t>Conclusion and Future Work</a:t>
            </a:r>
          </a:p>
        </p:txBody>
      </p:sp>
      <p:pic>
        <p:nvPicPr>
          <p:cNvPr id="4" name="Picture 3" descr="iut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228832" y="292608"/>
            <a:ext cx="433472" cy="713232"/>
          </a:xfrm>
          <a:prstGeom prst="rect">
            <a:avLst/>
          </a:prstGeom>
        </p:spPr>
      </p:pic>
      <p:cxnSp>
        <p:nvCxnSpPr>
          <p:cNvPr id="5" name="Connector 4"/>
          <p:cNvCxnSpPr/>
          <p:nvPr/>
        </p:nvCxnSpPr>
        <p:spPr>
          <a:xfrm>
            <a:off x="548640" y="1078992"/>
            <a:ext cx="11091672" cy="0"/>
          </a:xfrm>
          <a:prstGeom prst="line">
            <a:avLst/>
          </a:prstGeom>
          <a:ln w="9525">
            <a:solidFill>
              <a:srgbClr val="D5D9DF"/>
            </a:solidFill>
          </a:ln>
        </p:spPr>
      </p:cxnSp>
      <p:sp>
        <p:nvSpPr>
          <p:cNvPr id="6" name="Rectangle 5"/>
          <p:cNvSpPr/>
          <p:nvPr/>
        </p:nvSpPr>
        <p:spPr>
          <a:xfrm>
            <a:off x="548640" y="1060704"/>
            <a:ext cx="914400" cy="41148"/>
          </a:xfrm>
          <a:prstGeom prst="rect">
            <a:avLst/>
          </a:prstGeom>
          <a:solidFill>
            <a:srgbClr val="12284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>
            <a:off x="548640" y="6400800"/>
            <a:ext cx="11091672" cy="0"/>
          </a:xfrm>
          <a:prstGeom prst="line">
            <a:avLst/>
          </a:prstGeom>
          <a:ln w="9525">
            <a:solidFill>
              <a:srgbClr val="D5D9DF"/>
            </a:solidFill>
          </a:ln>
        </p:spPr>
      </p:cxnSp>
      <p:sp>
        <p:nvSpPr>
          <p:cNvPr id="8" name="TextBox 7"/>
          <p:cNvSpPr txBox="1"/>
          <p:nvPr/>
        </p:nvSpPr>
        <p:spPr>
          <a:xfrm>
            <a:off x="548640" y="6437376"/>
            <a:ext cx="3931920" cy="365760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00" b="0" i="0">
                <a:solidFill>
                  <a:srgbClr val="8A919C"/>
                </a:solidFill>
                <a:latin typeface="Source Sans 3"/>
              </a:rPr>
              <a:t>ODC on Defects4J  ·  Thesis Defence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0" y="6437376"/>
            <a:ext cx="854964" cy="365760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400" b="0" i="0">
                <a:solidFill>
                  <a:srgbClr val="8A919C"/>
                </a:solidFill>
                <a:latin typeface="Source Sans 3"/>
              </a:rPr>
              <a:t>Context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55564" y="6437376"/>
            <a:ext cx="1239012" cy="365760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400" b="0" i="0">
                <a:solidFill>
                  <a:srgbClr val="8A919C"/>
                </a:solidFill>
                <a:latin typeface="Source Sans 3"/>
              </a:rPr>
              <a:t>Methodology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123176" y="6437376"/>
            <a:ext cx="854964" cy="365760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400" b="1" i="0">
                <a:solidFill>
                  <a:srgbClr val="12284C"/>
                </a:solidFill>
                <a:latin typeface="Source Sans 3"/>
              </a:rPr>
              <a:t>Results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214616" y="6757416"/>
            <a:ext cx="672084" cy="32004"/>
          </a:xfrm>
          <a:prstGeom prst="rect">
            <a:avLst/>
          </a:prstGeom>
          <a:solidFill>
            <a:srgbClr val="12284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966960" y="6419088"/>
            <a:ext cx="1673352" cy="402336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800" b="1" i="0">
                <a:solidFill>
                  <a:srgbClr val="12284C"/>
                </a:solidFill>
                <a:latin typeface="Source Sans 3"/>
              </a:rPr>
              <a:t>24 / 24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48640" y="1280160"/>
            <a:ext cx="2651760" cy="64008"/>
          </a:xfrm>
          <a:prstGeom prst="rect">
            <a:avLst/>
          </a:prstGeom>
          <a:solidFill>
            <a:srgbClr val="12284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48640" y="1444752"/>
            <a:ext cx="2651760" cy="731520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600" b="1" i="0">
                <a:solidFill>
                  <a:srgbClr val="12284C"/>
                </a:solidFill>
                <a:latin typeface="Source Sans 3"/>
              </a:rPr>
              <a:t>97.8%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" y="2176272"/>
            <a:ext cx="2651760" cy="384048"/>
          </a:xfrm>
          <a:prstGeom prst="rect">
            <a:avLst/>
          </a:prstGeom>
          <a:noFill/>
        </p:spPr>
        <p:txBody>
          <a:bodyPr wrap="square" lIns="27432" rIns="27432" tIns="27432" bIns="27432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600" b="0" i="0">
                <a:solidFill>
                  <a:srgbClr val="5A6270"/>
                </a:solidFill>
                <a:latin typeface="Source Sans 3"/>
              </a:rPr>
              <a:t>three types (RQ1)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383280" y="1280160"/>
            <a:ext cx="2651760" cy="64008"/>
          </a:xfrm>
          <a:prstGeom prst="rect">
            <a:avLst/>
          </a:prstGeom>
          <a:solidFill>
            <a:srgbClr val="12284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383280" y="1444752"/>
            <a:ext cx="2651760" cy="731520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600" b="1" i="0">
                <a:solidFill>
                  <a:srgbClr val="12284C"/>
                </a:solidFill>
                <a:latin typeface="Source Sans 3"/>
              </a:rPr>
              <a:t>0 of 1,640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383280" y="2176272"/>
            <a:ext cx="2651760" cy="384048"/>
          </a:xfrm>
          <a:prstGeom prst="rect">
            <a:avLst/>
          </a:prstGeom>
          <a:noFill/>
        </p:spPr>
        <p:txBody>
          <a:bodyPr wrap="square" lIns="27432" rIns="27432" tIns="27432" bIns="27432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600" b="0" i="0">
                <a:solidFill>
                  <a:srgbClr val="5A6270"/>
                </a:solidFill>
                <a:latin typeface="Source Sans 3"/>
              </a:rPr>
              <a:t>“Other” (RQ2)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217920" y="1280160"/>
            <a:ext cx="2651760" cy="64008"/>
          </a:xfrm>
          <a:prstGeom prst="rect">
            <a:avLst/>
          </a:prstGeom>
          <a:solidFill>
            <a:srgbClr val="12284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217920" y="1444752"/>
            <a:ext cx="2651760" cy="731520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600" b="1" i="0">
                <a:solidFill>
                  <a:srgbClr val="12284C"/>
                </a:solidFill>
                <a:latin typeface="Source Sans 3"/>
              </a:rPr>
              <a:t>70.2%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217920" y="2176272"/>
            <a:ext cx="2651760" cy="384048"/>
          </a:xfrm>
          <a:prstGeom prst="rect">
            <a:avLst/>
          </a:prstGeom>
          <a:noFill/>
        </p:spPr>
        <p:txBody>
          <a:bodyPr wrap="square" lIns="27432" rIns="27432" tIns="27432" bIns="27432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600" b="0" i="0">
                <a:solidFill>
                  <a:srgbClr val="5A6270"/>
                </a:solidFill>
                <a:latin typeface="Source Sans 3"/>
              </a:rPr>
              <a:t>pre-fix match (RQ3)</a:t>
            </a:r>
          </a:p>
        </p:txBody>
      </p:sp>
      <p:sp>
        <p:nvSpPr>
          <p:cNvPr id="23" name="Rectangle 22"/>
          <p:cNvSpPr/>
          <p:nvPr/>
        </p:nvSpPr>
        <p:spPr>
          <a:xfrm>
            <a:off x="9052560" y="1280160"/>
            <a:ext cx="2651760" cy="64008"/>
          </a:xfrm>
          <a:prstGeom prst="rect">
            <a:avLst/>
          </a:prstGeom>
          <a:solidFill>
            <a:srgbClr val="12284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052560" y="1444752"/>
            <a:ext cx="2651760" cy="731520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600" b="1" i="0">
                <a:solidFill>
                  <a:srgbClr val="12284C"/>
                </a:solidFill>
                <a:latin typeface="Source Sans 3"/>
              </a:rPr>
              <a:t>73 vs 58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052560" y="2176272"/>
            <a:ext cx="2651760" cy="384048"/>
          </a:xfrm>
          <a:prstGeom prst="rect">
            <a:avLst/>
          </a:prstGeom>
          <a:noFill/>
        </p:spPr>
        <p:txBody>
          <a:bodyPr wrap="square" lIns="27432" rIns="27432" tIns="27432" bIns="27432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600" b="0" i="0">
                <a:solidFill>
                  <a:srgbClr val="5A6270"/>
                </a:solidFill>
                <a:latin typeface="Source Sans 3"/>
              </a:rPr>
              <a:t>scientific vs few-shot wins (RQ4)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48640" y="2761488"/>
            <a:ext cx="5394960" cy="329184"/>
          </a:xfrm>
          <a:prstGeom prst="rect">
            <a:avLst/>
          </a:prstGeom>
          <a:noFill/>
        </p:spPr>
        <p:txBody>
          <a:bodyPr wrap="square" lIns="27432" rIns="27432" tIns="27432" bIns="27432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000" b="1" i="0">
                <a:solidFill>
                  <a:srgbClr val="12284C"/>
                </a:solidFill>
                <a:latin typeface="Source Sans 3"/>
              </a:rPr>
              <a:t>CONTRIBUTIONS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48640" y="3200400"/>
            <a:ext cx="5394960" cy="2743200"/>
          </a:xfrm>
          <a:prstGeom prst="rect">
            <a:avLst/>
          </a:prstGeom>
          <a:noFill/>
        </p:spPr>
        <p:txBody>
          <a:bodyPr wrap="square" lIns="27432" rIns="27432" tIns="27432" bIns="27432" anchor="t">
            <a:noAutofit/>
          </a:bodyPr>
          <a:lstStyle/>
          <a:p>
            <a:pPr algn="l">
              <a:lnSpc>
                <a:spcPct val="105000"/>
              </a:lnSpc>
              <a:spcAft>
                <a:spcPts val="2000"/>
              </a:spcAft>
            </a:pPr>
            <a:r>
              <a:rPr sz="1500" b="0" i="0">
                <a:solidFill>
                  <a:srgbClr val="12284C"/>
                </a:solidFill>
                <a:latin typeface="Source Sans 3"/>
              </a:rPr>
              <a:t>▪  </a:t>
            </a:r>
            <a:r>
              <a:rPr sz="1900" b="0" i="0">
                <a:solidFill>
                  <a:srgbClr val="1C2128"/>
                </a:solidFill>
                <a:latin typeface="Source Sans 3"/>
              </a:rPr>
              <a:t>A taxonomy × strategy condition space</a:t>
            </a:r>
          </a:p>
          <a:p>
            <a:pPr algn="l">
              <a:lnSpc>
                <a:spcPct val="105000"/>
              </a:lnSpc>
              <a:spcAft>
                <a:spcPts val="2000"/>
              </a:spcAft>
            </a:pPr>
            <a:r>
              <a:rPr sz="1500" b="0" i="0">
                <a:solidFill>
                  <a:srgbClr val="12284C"/>
                </a:solidFill>
                <a:latin typeface="Source Sans 3"/>
              </a:rPr>
              <a:t>▪  </a:t>
            </a:r>
            <a:r>
              <a:rPr sz="1900" b="0" i="0">
                <a:solidFill>
                  <a:srgbClr val="1C2128"/>
                </a:solidFill>
                <a:latin typeface="Source Sans 3"/>
              </a:rPr>
              <a:t>Enforced scientific reasoning + transcripts</a:t>
            </a:r>
          </a:p>
          <a:p>
            <a:pPr algn="l">
              <a:lnSpc>
                <a:spcPct val="105000"/>
              </a:lnSpc>
              <a:spcAft>
                <a:spcPts val="2000"/>
              </a:spcAft>
            </a:pPr>
            <a:r>
              <a:rPr sz="1500" b="0" i="0">
                <a:solidFill>
                  <a:srgbClr val="12284C"/>
                </a:solidFill>
                <a:latin typeface="Source Sans 3"/>
              </a:rPr>
              <a:t>▪  </a:t>
            </a:r>
            <a:r>
              <a:rPr sz="1900" b="0" i="0">
                <a:solidFill>
                  <a:srgbClr val="1C2128"/>
                </a:solidFill>
                <a:latin typeface="Source Sans 3"/>
              </a:rPr>
              <a:t>Where scientific beats few-shot, bug by bug</a:t>
            </a:r>
          </a:p>
          <a:p>
            <a:pPr algn="l">
              <a:lnSpc>
                <a:spcPct val="105000"/>
              </a:lnSpc>
              <a:spcAft>
                <a:spcPts val="2000"/>
              </a:spcAft>
            </a:pPr>
            <a:r>
              <a:rPr sz="1500" b="0" i="0">
                <a:solidFill>
                  <a:srgbClr val="12284C"/>
                </a:solidFill>
                <a:latin typeface="Source Sans 3"/>
              </a:rPr>
              <a:t>▪  </a:t>
            </a:r>
            <a:r>
              <a:rPr sz="1900" b="0" i="0">
                <a:solidFill>
                  <a:srgbClr val="1C2128"/>
                </a:solidFill>
                <a:latin typeface="Source Sans 3"/>
              </a:rPr>
              <a:t>Evaluation without ground truth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55080" y="2761488"/>
            <a:ext cx="5285232" cy="329184"/>
          </a:xfrm>
          <a:prstGeom prst="rect">
            <a:avLst/>
          </a:prstGeom>
          <a:noFill/>
        </p:spPr>
        <p:txBody>
          <a:bodyPr wrap="square" lIns="27432" rIns="27432" tIns="27432" bIns="27432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000" b="1" i="0">
                <a:solidFill>
                  <a:srgbClr val="12284C"/>
                </a:solidFill>
                <a:latin typeface="Source Sans 3"/>
              </a:rPr>
              <a:t>FUTURE WORK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355080" y="3200400"/>
            <a:ext cx="5285232" cy="2743200"/>
          </a:xfrm>
          <a:prstGeom prst="rect">
            <a:avLst/>
          </a:prstGeom>
          <a:noFill/>
        </p:spPr>
        <p:txBody>
          <a:bodyPr wrap="square" lIns="27432" rIns="27432" tIns="27432" bIns="27432" anchor="t">
            <a:noAutofit/>
          </a:bodyPr>
          <a:lstStyle/>
          <a:p>
            <a:pPr algn="l">
              <a:lnSpc>
                <a:spcPct val="105000"/>
              </a:lnSpc>
              <a:spcAft>
                <a:spcPts val="2000"/>
              </a:spcAft>
            </a:pPr>
            <a:r>
              <a:rPr sz="1500" b="0" i="0">
                <a:solidFill>
                  <a:srgbClr val="12284C"/>
                </a:solidFill>
                <a:latin typeface="Source Sans 3"/>
              </a:rPr>
              <a:t>▪  </a:t>
            </a:r>
            <a:r>
              <a:rPr sz="1900" b="0" i="0">
                <a:solidFill>
                  <a:srgbClr val="1C2128"/>
                </a:solidFill>
                <a:latin typeface="Source Sans 3"/>
              </a:rPr>
              <a:t>Strengthen scientific's weak spots</a:t>
            </a:r>
          </a:p>
          <a:p>
            <a:pPr algn="l">
              <a:lnSpc>
                <a:spcPct val="105000"/>
              </a:lnSpc>
              <a:spcAft>
                <a:spcPts val="2000"/>
              </a:spcAft>
            </a:pPr>
            <a:r>
              <a:rPr sz="1500" b="0" i="0">
                <a:solidFill>
                  <a:srgbClr val="12284C"/>
                </a:solidFill>
                <a:latin typeface="Source Sans 3"/>
              </a:rPr>
              <a:t>▪  </a:t>
            </a:r>
            <a:r>
              <a:rPr sz="1900" b="0" i="0">
                <a:solidFill>
                  <a:srgbClr val="1C2128"/>
                </a:solidFill>
                <a:latin typeface="Source Sans 3"/>
              </a:rPr>
              <a:t>Pick scientific or few-shot per bug</a:t>
            </a:r>
          </a:p>
          <a:p>
            <a:pPr algn="l">
              <a:lnSpc>
                <a:spcPct val="105000"/>
              </a:lnSpc>
              <a:spcAft>
                <a:spcPts val="2000"/>
              </a:spcAft>
            </a:pPr>
            <a:r>
              <a:rPr sz="1500" b="0" i="0">
                <a:solidFill>
                  <a:srgbClr val="12284C"/>
                </a:solidFill>
                <a:latin typeface="Source Sans 3"/>
              </a:rPr>
              <a:t>▪  </a:t>
            </a:r>
            <a:r>
              <a:rPr sz="1900" b="0" i="0">
                <a:solidFill>
                  <a:srgbClr val="1C2128"/>
                </a:solidFill>
                <a:latin typeface="Source Sans 3"/>
              </a:rPr>
              <a:t>Human reference labels for a sample</a:t>
            </a:r>
          </a:p>
          <a:p>
            <a:pPr algn="l">
              <a:lnSpc>
                <a:spcPct val="105000"/>
              </a:lnSpc>
              <a:spcAft>
                <a:spcPts val="2000"/>
              </a:spcAft>
            </a:pPr>
            <a:r>
              <a:rPr sz="1500" b="0" i="0">
                <a:solidFill>
                  <a:srgbClr val="12284C"/>
                </a:solidFill>
                <a:latin typeface="Source Sans 3"/>
              </a:rPr>
              <a:t>▪  </a:t>
            </a:r>
            <a:r>
              <a:rPr sz="1900" b="0" i="0">
                <a:solidFill>
                  <a:srgbClr val="1C2128"/>
                </a:solidFill>
                <a:latin typeface="Source Sans 3"/>
              </a:rPr>
              <a:t>More models, Impact, Trigger, Age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74320"/>
            <a:ext cx="10332720" cy="731520"/>
          </a:xfrm>
          <a:prstGeom prst="rect">
            <a:avLst/>
          </a:prstGeom>
          <a:noFill/>
        </p:spPr>
        <p:txBody>
          <a:bodyPr wrap="square" lIns="27432" rIns="27432" tIns="27432" bIns="27432" anchor="b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000" b="1" i="0">
                <a:solidFill>
                  <a:srgbClr val="12284C"/>
                </a:solidFill>
                <a:latin typeface="Source Sans 3"/>
              </a:rPr>
              <a:t>References (1/3)</a:t>
            </a:r>
          </a:p>
        </p:txBody>
      </p:sp>
      <p:pic>
        <p:nvPicPr>
          <p:cNvPr id="4" name="Picture 3" descr="iut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228832" y="292608"/>
            <a:ext cx="433472" cy="713232"/>
          </a:xfrm>
          <a:prstGeom prst="rect">
            <a:avLst/>
          </a:prstGeom>
        </p:spPr>
      </p:pic>
      <p:cxnSp>
        <p:nvCxnSpPr>
          <p:cNvPr id="5" name="Connector 4"/>
          <p:cNvCxnSpPr/>
          <p:nvPr/>
        </p:nvCxnSpPr>
        <p:spPr>
          <a:xfrm>
            <a:off x="548640" y="1078992"/>
            <a:ext cx="11091672" cy="0"/>
          </a:xfrm>
          <a:prstGeom prst="line">
            <a:avLst/>
          </a:prstGeom>
          <a:ln w="9525">
            <a:solidFill>
              <a:srgbClr val="D5D9DF"/>
            </a:solidFill>
          </a:ln>
        </p:spPr>
      </p:cxnSp>
      <p:sp>
        <p:nvSpPr>
          <p:cNvPr id="6" name="Rectangle 5"/>
          <p:cNvSpPr/>
          <p:nvPr/>
        </p:nvSpPr>
        <p:spPr>
          <a:xfrm>
            <a:off x="548640" y="1060704"/>
            <a:ext cx="914400" cy="41148"/>
          </a:xfrm>
          <a:prstGeom prst="rect">
            <a:avLst/>
          </a:prstGeom>
          <a:solidFill>
            <a:srgbClr val="12284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1298448"/>
            <a:ext cx="11091672" cy="4983480"/>
          </a:xfrm>
          <a:prstGeom prst="rect">
            <a:avLst/>
          </a:prstGeom>
          <a:noFill/>
        </p:spPr>
        <p:txBody>
          <a:bodyPr wrap="square" lIns="27432" rIns="27432" tIns="27432" bIns="27432" anchor="t">
            <a:noAutofit/>
          </a:bodyPr>
          <a:lstStyle/>
          <a:p>
            <a:pPr algn="l">
              <a:lnSpc>
                <a:spcPct val="104000"/>
              </a:lnSpc>
              <a:spcAft>
                <a:spcPts val="900"/>
              </a:spcAft>
            </a:pPr>
            <a:r>
              <a:rPr sz="1400" b="0" i="0">
                <a:solidFill>
                  <a:srgbClr val="1C2128"/>
                </a:solidFill>
                <a:latin typeface="Source Sans 3"/>
              </a:rPr>
              <a:t>[1] G. Catolino et al., “Not All Bugs Are the Same: Understanding, Characterizing, and Classifying Bug Types,” Journal of Systems and Software, vol. 152, 2019.</a:t>
            </a:r>
          </a:p>
          <a:p>
            <a:pPr algn="l">
              <a:lnSpc>
                <a:spcPct val="104000"/>
              </a:lnSpc>
              <a:spcAft>
                <a:spcPts val="900"/>
              </a:spcAft>
            </a:pPr>
            <a:r>
              <a:rPr sz="1400" b="0" i="0">
                <a:solidFill>
                  <a:srgbClr val="1C2128"/>
                </a:solidFill>
                <a:latin typeface="Source Sans 3"/>
              </a:rPr>
              <a:t>[2] T. Hirsch and B. Hofer, “Using Textual Bug Reports to Predict the Fault Category of Software Bugs,” Array, vol. 15, 2022.</a:t>
            </a:r>
          </a:p>
          <a:p>
            <a:pPr algn="l">
              <a:lnSpc>
                <a:spcPct val="104000"/>
              </a:lnSpc>
              <a:spcAft>
                <a:spcPts val="900"/>
              </a:spcAft>
            </a:pPr>
            <a:r>
              <a:rPr sz="1400" b="0" i="0">
                <a:solidFill>
                  <a:srgbClr val="1C2128"/>
                </a:solidFill>
                <a:latin typeface="Source Sans 3"/>
              </a:rPr>
              <a:t>[3] R. Andrade et al., “An Empirical Study on the Classification of Bug Reports with Machine Learning,” arXiv preprint, 2025.</a:t>
            </a:r>
          </a:p>
          <a:p>
            <a:pPr algn="l">
              <a:lnSpc>
                <a:spcPct val="104000"/>
              </a:lnSpc>
              <a:spcAft>
                <a:spcPts val="900"/>
              </a:spcAft>
            </a:pPr>
            <a:r>
              <a:rPr sz="1400" b="0" i="0">
                <a:solidFill>
                  <a:srgbClr val="1C2128"/>
                </a:solidFill>
                <a:latin typeface="Source Sans 3"/>
              </a:rPr>
              <a:t>[4] R. Chillarege et al., “Orthogonal Defect Classification – A Concept for In-Process Measurements,” IEEE Transactions on Software Engineering, vol. 18, no. 11, 1992.</a:t>
            </a:r>
          </a:p>
          <a:p>
            <a:pPr algn="l">
              <a:lnSpc>
                <a:spcPct val="104000"/>
              </a:lnSpc>
              <a:spcAft>
                <a:spcPts val="900"/>
              </a:spcAft>
            </a:pPr>
            <a:r>
              <a:rPr sz="1400" b="0" i="0">
                <a:solidFill>
                  <a:srgbClr val="1C2128"/>
                </a:solidFill>
                <a:latin typeface="Source Sans 3"/>
              </a:rPr>
              <a:t>[5] R. Just, D. Jalali, and M. D. Ernst, “Defects4J: A Database of Existing Faults to Enable Controlled Testing Studies for Java Programs,” Proc. International Symposium on Software Testing and Analysis (ISSTA), 2014.</a:t>
            </a:r>
          </a:p>
          <a:p>
            <a:pPr algn="l">
              <a:lnSpc>
                <a:spcPct val="104000"/>
              </a:lnSpc>
              <a:spcAft>
                <a:spcPts val="900"/>
              </a:spcAft>
            </a:pPr>
            <a:r>
              <a:rPr sz="1400" b="0" i="0">
                <a:solidFill>
                  <a:srgbClr val="1C2128"/>
                </a:solidFill>
                <a:latin typeface="Source Sans 3"/>
              </a:rPr>
              <a:t>[6] M. N. Rafi et al., “Revisiting Defects4J for Fault Localization in Diverse Development Scenarios,” IEEE/ACM 22nd International Conference on Mining Software Repositories (MSR), 2025.</a:t>
            </a:r>
          </a:p>
          <a:p>
            <a:pPr algn="l">
              <a:lnSpc>
                <a:spcPct val="104000"/>
              </a:lnSpc>
              <a:spcAft>
                <a:spcPts val="900"/>
              </a:spcAft>
            </a:pPr>
            <a:r>
              <a:rPr sz="1400" b="0" i="0">
                <a:solidFill>
                  <a:srgbClr val="1C2128"/>
                </a:solidFill>
                <a:latin typeface="Source Sans 3"/>
              </a:rPr>
              <a:t>[7] M. Martinez et al., “Automatic Repair of Real Bugs in Java: A Large-Scale Experiment on the Defects4J Dataset,” Empirical Software Engineering, vol. 22, no. 4, 2017.</a:t>
            </a:r>
          </a:p>
          <a:p>
            <a:pPr algn="l">
              <a:lnSpc>
                <a:spcPct val="104000"/>
              </a:lnSpc>
              <a:spcAft>
                <a:spcPts val="900"/>
              </a:spcAft>
            </a:pPr>
            <a:r>
              <a:rPr sz="1400" b="0" i="0">
                <a:solidFill>
                  <a:srgbClr val="1C2128"/>
                </a:solidFill>
                <a:latin typeface="Source Sans 3"/>
              </a:rPr>
              <a:t>[8] A. Van der Spuy and B. Fischer, “An Anatomy of 488 Faults from Defects4J Based on the Control- and Data-Flow Graph Representations of Programs,” Proc. 29th International Conference on Evaluation and Assessment in Software Engineering (EASE), 2025.</a:t>
            </a:r>
          </a:p>
          <a:p>
            <a:pPr algn="l">
              <a:lnSpc>
                <a:spcPct val="104000"/>
              </a:lnSpc>
              <a:spcAft>
                <a:spcPts val="900"/>
              </a:spcAft>
            </a:pPr>
            <a:r>
              <a:rPr sz="1400" b="0" i="0">
                <a:solidFill>
                  <a:srgbClr val="1C2128"/>
                </a:solidFill>
                <a:latin typeface="Source Sans 3"/>
              </a:rPr>
              <a:t>[9] V. Sobreira et al., “Dissection of a Bug Dataset: Anatomy of 395 Patches from Defects4J,” IEEE International Conference on Software Analysis, Evolution and Reengineering (SANER), 2018.</a:t>
            </a:r>
          </a:p>
          <a:p>
            <a:pPr algn="l">
              <a:lnSpc>
                <a:spcPct val="104000"/>
              </a:lnSpc>
              <a:spcAft>
                <a:spcPts val="900"/>
              </a:spcAft>
            </a:pPr>
            <a:r>
              <a:rPr sz="1400" b="0" i="0">
                <a:solidFill>
                  <a:srgbClr val="1C2128"/>
                </a:solidFill>
                <a:latin typeface="Source Sans 3"/>
              </a:rPr>
              <a:t>[10] J. Jiang, Y. Xiong, and X. Xia, “A Manual Inspection of Defects4J Bugs and Its Implications for Automatic Program Repair,” Science China Information Sciences, vol. 62, no. 10, 2019.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548640" y="6400800"/>
            <a:ext cx="11091672" cy="0"/>
          </a:xfrm>
          <a:prstGeom prst="line">
            <a:avLst/>
          </a:prstGeom>
          <a:ln w="9525">
            <a:solidFill>
              <a:srgbClr val="D5D9DF"/>
            </a:solidFill>
          </a:ln>
        </p:spPr>
      </p:cxnSp>
      <p:sp>
        <p:nvSpPr>
          <p:cNvPr id="9" name="TextBox 8"/>
          <p:cNvSpPr txBox="1"/>
          <p:nvPr/>
        </p:nvSpPr>
        <p:spPr>
          <a:xfrm>
            <a:off x="9966960" y="6419088"/>
            <a:ext cx="1673352" cy="402336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800" b="1" i="0">
                <a:solidFill>
                  <a:srgbClr val="12284C"/>
                </a:solidFill>
                <a:latin typeface="Source Sans 3"/>
              </a:rPr>
              <a:t>25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74320"/>
            <a:ext cx="10332720" cy="731520"/>
          </a:xfrm>
          <a:prstGeom prst="rect">
            <a:avLst/>
          </a:prstGeom>
          <a:noFill/>
        </p:spPr>
        <p:txBody>
          <a:bodyPr wrap="square" lIns="27432" rIns="27432" tIns="27432" bIns="27432" anchor="b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000" b="1" i="0">
                <a:solidFill>
                  <a:srgbClr val="12284C"/>
                </a:solidFill>
                <a:latin typeface="Source Sans 3"/>
              </a:rPr>
              <a:t>References (2/3)</a:t>
            </a:r>
          </a:p>
        </p:txBody>
      </p:sp>
      <p:pic>
        <p:nvPicPr>
          <p:cNvPr id="4" name="Picture 3" descr="iut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228832" y="292608"/>
            <a:ext cx="433472" cy="713232"/>
          </a:xfrm>
          <a:prstGeom prst="rect">
            <a:avLst/>
          </a:prstGeom>
        </p:spPr>
      </p:pic>
      <p:cxnSp>
        <p:nvCxnSpPr>
          <p:cNvPr id="5" name="Connector 4"/>
          <p:cNvCxnSpPr/>
          <p:nvPr/>
        </p:nvCxnSpPr>
        <p:spPr>
          <a:xfrm>
            <a:off x="548640" y="1078992"/>
            <a:ext cx="11091672" cy="0"/>
          </a:xfrm>
          <a:prstGeom prst="line">
            <a:avLst/>
          </a:prstGeom>
          <a:ln w="9525">
            <a:solidFill>
              <a:srgbClr val="D5D9DF"/>
            </a:solidFill>
          </a:ln>
        </p:spPr>
      </p:cxnSp>
      <p:sp>
        <p:nvSpPr>
          <p:cNvPr id="6" name="Rectangle 5"/>
          <p:cNvSpPr/>
          <p:nvPr/>
        </p:nvSpPr>
        <p:spPr>
          <a:xfrm>
            <a:off x="548640" y="1060704"/>
            <a:ext cx="914400" cy="41148"/>
          </a:xfrm>
          <a:prstGeom prst="rect">
            <a:avLst/>
          </a:prstGeom>
          <a:solidFill>
            <a:srgbClr val="12284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1298448"/>
            <a:ext cx="11091672" cy="4983480"/>
          </a:xfrm>
          <a:prstGeom prst="rect">
            <a:avLst/>
          </a:prstGeom>
          <a:noFill/>
        </p:spPr>
        <p:txBody>
          <a:bodyPr wrap="square" lIns="27432" rIns="27432" tIns="27432" bIns="27432" anchor="t">
            <a:noAutofit/>
          </a:bodyPr>
          <a:lstStyle/>
          <a:p>
            <a:pPr algn="l">
              <a:lnSpc>
                <a:spcPct val="104000"/>
              </a:lnSpc>
              <a:spcAft>
                <a:spcPts val="900"/>
              </a:spcAft>
            </a:pPr>
            <a:r>
              <a:rPr sz="1400" b="0" i="0">
                <a:solidFill>
                  <a:srgbClr val="1C2128"/>
                </a:solidFill>
                <a:latin typeface="Source Sans 3"/>
              </a:rPr>
              <a:t>[11] G. Colavito et al., “Large Language Models for Issue Report Classification,” Ital-IA 2024 Thematic Workshops, CEUR Workshop Proceedings, vol. 3762, 2024.</a:t>
            </a:r>
          </a:p>
          <a:p>
            <a:pPr algn="l">
              <a:lnSpc>
                <a:spcPct val="104000"/>
              </a:lnSpc>
              <a:spcAft>
                <a:spcPts val="900"/>
              </a:spcAft>
            </a:pPr>
            <a:r>
              <a:rPr sz="1400" b="0" i="0">
                <a:solidFill>
                  <a:srgbClr val="1C2128"/>
                </a:solidFill>
                <a:latin typeface="Source Sans 3"/>
              </a:rPr>
              <a:t>[12] A. Koyuncu, “Exploring Fine-Grained Bug Report Categorization with Large Language Models and Prompt Engineering: An Empirical Study,” ACM Transactions on Software Engineering and Methodology, vol. 35, no. 3, 2026.</a:t>
            </a:r>
          </a:p>
          <a:p>
            <a:pPr algn="l">
              <a:lnSpc>
                <a:spcPct val="104000"/>
              </a:lnSpc>
              <a:spcAft>
                <a:spcPts val="900"/>
              </a:spcAft>
            </a:pPr>
            <a:r>
              <a:rPr sz="1400" b="0" i="0">
                <a:solidFill>
                  <a:srgbClr val="1C2128"/>
                </a:solidFill>
                <a:latin typeface="Source Sans 3"/>
              </a:rPr>
              <a:t>[13] Y. Nong et al., “Chain-of-Thought Prompting of Large Language Models for Discovering and Fixing Software Vulnerabilities,” arXiv preprint, 2024.</a:t>
            </a:r>
          </a:p>
          <a:p>
            <a:pPr algn="l">
              <a:lnSpc>
                <a:spcPct val="104000"/>
              </a:lnSpc>
              <a:spcAft>
                <a:spcPts val="900"/>
              </a:spcAft>
            </a:pPr>
            <a:r>
              <a:rPr sz="1400" b="0" i="0">
                <a:solidFill>
                  <a:srgbClr val="1C2128"/>
                </a:solidFill>
                <a:latin typeface="Source Sans 3"/>
              </a:rPr>
              <a:t>[14] C. Li et al., “KnowBug: Enhancing Large Language Models with Bug Report Knowledge for Deep Learning Framework Bug Prediction,” Knowledge-Based Systems, vol. 305, 2024.</a:t>
            </a:r>
          </a:p>
          <a:p>
            <a:pPr algn="l">
              <a:lnSpc>
                <a:spcPct val="104000"/>
              </a:lnSpc>
              <a:spcAft>
                <a:spcPts val="900"/>
              </a:spcAft>
            </a:pPr>
            <a:r>
              <a:rPr sz="1400" b="0" i="0">
                <a:solidFill>
                  <a:srgbClr val="1C2128"/>
                </a:solidFill>
                <a:latin typeface="Source Sans 3"/>
              </a:rPr>
              <a:t>[15] IBM, “Orthogonal Defect Classification v5.2 for Software Design and Code,” IBM Research, 2013.</a:t>
            </a:r>
          </a:p>
          <a:p>
            <a:pPr algn="l">
              <a:lnSpc>
                <a:spcPct val="104000"/>
              </a:lnSpc>
              <a:spcAft>
                <a:spcPts val="900"/>
              </a:spcAft>
            </a:pPr>
            <a:r>
              <a:rPr sz="1400" b="0" i="0">
                <a:solidFill>
                  <a:srgbClr val="1C2128"/>
                </a:solidFill>
                <a:latin typeface="Source Sans 3"/>
              </a:rPr>
              <a:t>[16] X. Du et al., “LLM-BRC: A Large Language Model-Based Bug Report Classification Framework,” Software Quality Journal, vol. 32, no. 3, 2024.</a:t>
            </a:r>
          </a:p>
          <a:p>
            <a:pPr algn="l">
              <a:lnSpc>
                <a:spcPct val="104000"/>
              </a:lnSpc>
              <a:spcAft>
                <a:spcPts val="900"/>
              </a:spcAft>
            </a:pPr>
            <a:r>
              <a:rPr sz="1400" b="0" i="0">
                <a:solidFill>
                  <a:srgbClr val="1C2128"/>
                </a:solidFill>
                <a:latin typeface="Source Sans 3"/>
              </a:rPr>
              <a:t>[17] S. Kang et al., “Explainable Automated Debugging via Large Language Model-driven Scientific Debugging,” Empirical Software Engineering, vol. 30, no. 2, 2025.</a:t>
            </a:r>
          </a:p>
          <a:p>
            <a:pPr algn="l">
              <a:lnSpc>
                <a:spcPct val="104000"/>
              </a:lnSpc>
              <a:spcAft>
                <a:spcPts val="900"/>
              </a:spcAft>
            </a:pPr>
            <a:r>
              <a:rPr sz="1400" b="0" i="0">
                <a:solidFill>
                  <a:srgbClr val="1C2128"/>
                </a:solidFill>
                <a:latin typeface="Source Sans 3"/>
              </a:rPr>
              <a:t>[18] S. Kang, G. An, and S. Yoo, “A Quantitative and Qualitative Evaluation of LLM-Based Explainable Fault Localization,” Proc. ACM on Software Engineering, vol. 1, no. FSE, 2024.</a:t>
            </a:r>
          </a:p>
          <a:p>
            <a:pPr algn="l">
              <a:lnSpc>
                <a:spcPct val="104000"/>
              </a:lnSpc>
              <a:spcAft>
                <a:spcPts val="900"/>
              </a:spcAft>
            </a:pPr>
            <a:r>
              <a:rPr sz="1400" b="0" i="0">
                <a:solidFill>
                  <a:srgbClr val="1C2128"/>
                </a:solidFill>
                <a:latin typeface="Source Sans 3"/>
              </a:rPr>
              <a:t>[19] L. Huang et al., “AutoODC: Automated Generation of Orthogonal Defect Classifications,” Automated Software Engineering, vol. 22, no. 1, 2015.</a:t>
            </a:r>
          </a:p>
          <a:p>
            <a:pPr algn="l">
              <a:lnSpc>
                <a:spcPct val="104000"/>
              </a:lnSpc>
              <a:spcAft>
                <a:spcPts val="900"/>
              </a:spcAft>
            </a:pPr>
            <a:r>
              <a:rPr sz="1400" b="0" i="0">
                <a:solidFill>
                  <a:srgbClr val="1C2128"/>
                </a:solidFill>
                <a:latin typeface="Source Sans 3"/>
              </a:rPr>
              <a:t>[20] F. Thung, D. Lo, and L. Jiang, “Automatic Defect Categorization,” Proc. 19th Working Conference on Reverse Engineering (WCRE), 2012.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548640" y="6400800"/>
            <a:ext cx="11091672" cy="0"/>
          </a:xfrm>
          <a:prstGeom prst="line">
            <a:avLst/>
          </a:prstGeom>
          <a:ln w="9525">
            <a:solidFill>
              <a:srgbClr val="D5D9DF"/>
            </a:solidFill>
          </a:ln>
        </p:spPr>
      </p:cxnSp>
      <p:sp>
        <p:nvSpPr>
          <p:cNvPr id="9" name="TextBox 8"/>
          <p:cNvSpPr txBox="1"/>
          <p:nvPr/>
        </p:nvSpPr>
        <p:spPr>
          <a:xfrm>
            <a:off x="9966960" y="6419088"/>
            <a:ext cx="1673352" cy="402336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800" b="1" i="0">
                <a:solidFill>
                  <a:srgbClr val="12284C"/>
                </a:solidFill>
                <a:latin typeface="Source Sans 3"/>
              </a:rPr>
              <a:t>26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74320"/>
            <a:ext cx="10332720" cy="731520"/>
          </a:xfrm>
          <a:prstGeom prst="rect">
            <a:avLst/>
          </a:prstGeom>
          <a:noFill/>
        </p:spPr>
        <p:txBody>
          <a:bodyPr wrap="square" lIns="27432" rIns="27432" tIns="27432" bIns="27432" anchor="b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000" b="1" i="0">
                <a:solidFill>
                  <a:srgbClr val="12284C"/>
                </a:solidFill>
                <a:latin typeface="Source Sans 3"/>
              </a:rPr>
              <a:t>References (3/3)</a:t>
            </a:r>
          </a:p>
        </p:txBody>
      </p:sp>
      <p:pic>
        <p:nvPicPr>
          <p:cNvPr id="4" name="Picture 3" descr="iut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228832" y="292608"/>
            <a:ext cx="433472" cy="713232"/>
          </a:xfrm>
          <a:prstGeom prst="rect">
            <a:avLst/>
          </a:prstGeom>
        </p:spPr>
      </p:pic>
      <p:cxnSp>
        <p:nvCxnSpPr>
          <p:cNvPr id="5" name="Connector 4"/>
          <p:cNvCxnSpPr/>
          <p:nvPr/>
        </p:nvCxnSpPr>
        <p:spPr>
          <a:xfrm>
            <a:off x="548640" y="1078992"/>
            <a:ext cx="11091672" cy="0"/>
          </a:xfrm>
          <a:prstGeom prst="line">
            <a:avLst/>
          </a:prstGeom>
          <a:ln w="9525">
            <a:solidFill>
              <a:srgbClr val="D5D9DF"/>
            </a:solidFill>
          </a:ln>
        </p:spPr>
      </p:cxnSp>
      <p:sp>
        <p:nvSpPr>
          <p:cNvPr id="6" name="Rectangle 5"/>
          <p:cNvSpPr/>
          <p:nvPr/>
        </p:nvSpPr>
        <p:spPr>
          <a:xfrm>
            <a:off x="548640" y="1060704"/>
            <a:ext cx="914400" cy="41148"/>
          </a:xfrm>
          <a:prstGeom prst="rect">
            <a:avLst/>
          </a:prstGeom>
          <a:solidFill>
            <a:srgbClr val="12284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1298448"/>
            <a:ext cx="11091672" cy="4983480"/>
          </a:xfrm>
          <a:prstGeom prst="rect">
            <a:avLst/>
          </a:prstGeom>
          <a:noFill/>
        </p:spPr>
        <p:txBody>
          <a:bodyPr wrap="square" lIns="27432" rIns="27432" tIns="27432" bIns="27432" anchor="t">
            <a:noAutofit/>
          </a:bodyPr>
          <a:lstStyle/>
          <a:p>
            <a:pPr algn="l">
              <a:lnSpc>
                <a:spcPct val="104000"/>
              </a:lnSpc>
              <a:spcAft>
                <a:spcPts val="900"/>
              </a:spcAft>
            </a:pPr>
            <a:r>
              <a:rPr sz="1400" b="0" i="0">
                <a:solidFill>
                  <a:srgbClr val="1C2128"/>
                </a:solidFill>
                <a:latin typeface="Source Sans 3"/>
              </a:rPr>
              <a:t>[21] A. M. Esfahani, N. Kahani, and S. A. Ajila, “Understanding Defects in Generated Codes by Language Models,” 34th International Conference on Collaborative Advances in Software and Computing (CASCON), 2024.</a:t>
            </a:r>
          </a:p>
          <a:p>
            <a:pPr algn="l">
              <a:lnSpc>
                <a:spcPct val="104000"/>
              </a:lnSpc>
              <a:spcAft>
                <a:spcPts val="900"/>
              </a:spcAft>
            </a:pPr>
            <a:r>
              <a:rPr sz="1400" b="0" i="0">
                <a:solidFill>
                  <a:srgbClr val="1C2128"/>
                </a:solidFill>
                <a:latin typeface="Source Sans 3"/>
              </a:rPr>
              <a:t>[22] K. Henningsson and C. Wohlin, “Assuring Fault Classification Agreement – An Empirical Evaluation,” Proc. 2004 International Symposium on Empirical Software Engineering (ISESE), 2004.</a:t>
            </a:r>
          </a:p>
          <a:p>
            <a:pPr algn="l">
              <a:lnSpc>
                <a:spcPct val="104000"/>
              </a:lnSpc>
              <a:spcAft>
                <a:spcPts val="900"/>
              </a:spcAft>
            </a:pPr>
            <a:r>
              <a:rPr sz="1400" b="0" i="0">
                <a:solidFill>
                  <a:srgbClr val="1C2128"/>
                </a:solidFill>
                <a:latin typeface="Source Sans 3"/>
              </a:rPr>
              <a:t>[23] J. Hernández-González et al., “Learning to Classify Software Defects from Crowds: A Novel Approach,” Applied Soft Computing, vol. 62, 2018.</a:t>
            </a:r>
          </a:p>
          <a:p>
            <a:pPr algn="l">
              <a:lnSpc>
                <a:spcPct val="104000"/>
              </a:lnSpc>
              <a:spcAft>
                <a:spcPts val="900"/>
              </a:spcAft>
            </a:pPr>
            <a:r>
              <a:rPr sz="1400" b="0" i="0">
                <a:solidFill>
                  <a:srgbClr val="1C2128"/>
                </a:solidFill>
                <a:latin typeface="Source Sans 3"/>
              </a:rPr>
              <a:t>[24] K. El Emam and I. Wieczorek, “The Repeatability of Code Defect Classifications,” Proc. Ninth International Symposium on Software Reliability Engineering (ISSRE), 1998.</a:t>
            </a:r>
          </a:p>
          <a:p>
            <a:pPr algn="l">
              <a:lnSpc>
                <a:spcPct val="104000"/>
              </a:lnSpc>
              <a:spcAft>
                <a:spcPts val="900"/>
              </a:spcAft>
            </a:pPr>
            <a:r>
              <a:rPr sz="1400" b="0" i="0">
                <a:solidFill>
                  <a:srgbClr val="1C2128"/>
                </a:solidFill>
                <a:latin typeface="Source Sans 3"/>
              </a:rPr>
              <a:t>[25] A. Rahman and E. Farhana, “An Exploratory Characterization of Bugs in COVID-19 Software Projects,” arXiv preprint, 2020.</a:t>
            </a:r>
          </a:p>
          <a:p>
            <a:pPr algn="l">
              <a:lnSpc>
                <a:spcPct val="104000"/>
              </a:lnSpc>
              <a:spcAft>
                <a:spcPts val="900"/>
              </a:spcAft>
            </a:pPr>
            <a:r>
              <a:rPr sz="1400" b="0" i="0">
                <a:solidFill>
                  <a:srgbClr val="1C2128"/>
                </a:solidFill>
                <a:latin typeface="Source Sans 3"/>
              </a:rPr>
              <a:t>[26] J. Agnelo, N. Laranjeiro, and J. Bernardino, “Using Orthogonal Defect Classification to Characterize NoSQL Database Defects,” Journal of Systems and Software, vol. 159, 2020.</a:t>
            </a:r>
          </a:p>
          <a:p>
            <a:pPr algn="l">
              <a:lnSpc>
                <a:spcPct val="104000"/>
              </a:lnSpc>
              <a:spcAft>
                <a:spcPts val="900"/>
              </a:spcAft>
            </a:pPr>
            <a:r>
              <a:rPr sz="1400" b="0" i="0">
                <a:solidFill>
                  <a:srgbClr val="1C2128"/>
                </a:solidFill>
                <a:latin typeface="Source Sans 3"/>
              </a:rPr>
              <a:t>[27] J. R. Landis and G. G. Koch, “The Measurement of Observer Agreement for Categorical Data,” Biometrics, vol. 33, no. 1, 1977.</a:t>
            </a:r>
          </a:p>
          <a:p>
            <a:pPr algn="l">
              <a:lnSpc>
                <a:spcPct val="104000"/>
              </a:lnSpc>
              <a:spcAft>
                <a:spcPts val="900"/>
              </a:spcAft>
            </a:pPr>
            <a:r>
              <a:rPr sz="1400" b="0" i="0">
                <a:solidFill>
                  <a:srgbClr val="1C2128"/>
                </a:solidFill>
                <a:latin typeface="Source Sans 3"/>
              </a:rPr>
              <a:t>[28] S. Baltes et al., “Guidelines for Empirical Studies in Software Engineering involving Large Language Models,” Empirical Software Engineering, 2026.</a:t>
            </a:r>
          </a:p>
          <a:p>
            <a:pPr algn="l">
              <a:lnSpc>
                <a:spcPct val="104000"/>
              </a:lnSpc>
              <a:spcAft>
                <a:spcPts val="900"/>
              </a:spcAft>
            </a:pPr>
            <a:r>
              <a:rPr sz="1400" b="0" i="0">
                <a:solidFill>
                  <a:srgbClr val="1C2128"/>
                </a:solidFill>
                <a:latin typeface="Source Sans 3"/>
              </a:rPr>
              <a:t>[29] D. Callaghan and B. Fischer, “Mining Bug Repositories for Multi-Fault Programs,” IEEE/ACM 22nd International Conference on Mining Software Repositories (MSR), Data and Tool Showcase Track, 2025.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548640" y="6400800"/>
            <a:ext cx="11091672" cy="0"/>
          </a:xfrm>
          <a:prstGeom prst="line">
            <a:avLst/>
          </a:prstGeom>
          <a:ln w="9525">
            <a:solidFill>
              <a:srgbClr val="D5D9DF"/>
            </a:solidFill>
          </a:ln>
        </p:spPr>
      </p:cxnSp>
      <p:sp>
        <p:nvSpPr>
          <p:cNvPr id="9" name="TextBox 8"/>
          <p:cNvSpPr txBox="1"/>
          <p:nvPr/>
        </p:nvSpPr>
        <p:spPr>
          <a:xfrm>
            <a:off x="9966960" y="6419088"/>
            <a:ext cx="1673352" cy="402336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800" b="1" i="0">
                <a:solidFill>
                  <a:srgbClr val="12284C"/>
                </a:solidFill>
                <a:latin typeface="Source Sans 3"/>
              </a:rPr>
              <a:t>27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2284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4" name="Picture 3" descr="iut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737360"/>
            <a:ext cx="1278189" cy="2103120"/>
          </a:xfrm>
          <a:prstGeom prst="rect">
            <a:avLst/>
          </a:prstGeom>
        </p:spPr>
      </p:pic>
      <p:cxnSp>
        <p:nvCxnSpPr>
          <p:cNvPr id="5" name="Connector 4"/>
          <p:cNvCxnSpPr/>
          <p:nvPr/>
        </p:nvCxnSpPr>
        <p:spPr>
          <a:xfrm>
            <a:off x="2377440" y="1828800"/>
            <a:ext cx="0" cy="1920239"/>
          </a:xfrm>
          <a:prstGeom prst="line">
            <a:avLst/>
          </a:prstGeom>
          <a:ln w="12700">
            <a:solidFill>
              <a:srgbClr val="D5D9DF"/>
            </a:solidFill>
          </a:ln>
        </p:spPr>
      </p:cxnSp>
      <p:sp>
        <p:nvSpPr>
          <p:cNvPr id="6" name="TextBox 5"/>
          <p:cNvSpPr txBox="1"/>
          <p:nvPr/>
        </p:nvSpPr>
        <p:spPr>
          <a:xfrm>
            <a:off x="2697480" y="1783080"/>
            <a:ext cx="8686800" cy="914400"/>
          </a:xfrm>
          <a:prstGeom prst="rect">
            <a:avLst/>
          </a:prstGeom>
          <a:noFill/>
        </p:spPr>
        <p:txBody>
          <a:bodyPr wrap="square" lIns="27432" rIns="27432" tIns="27432" bIns="27432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4800" b="1" i="0">
                <a:solidFill>
                  <a:srgbClr val="12284C"/>
                </a:solidFill>
                <a:latin typeface="Source Sans 3"/>
              </a:rPr>
              <a:t>Thank you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697480" y="2697480"/>
            <a:ext cx="8686800" cy="548640"/>
          </a:xfrm>
          <a:prstGeom prst="rect">
            <a:avLst/>
          </a:prstGeom>
          <a:noFill/>
        </p:spPr>
        <p:txBody>
          <a:bodyPr wrap="square" lIns="27432" rIns="27432" tIns="27432" bIns="27432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600" b="0" i="0">
                <a:solidFill>
                  <a:srgbClr val="1C2128"/>
                </a:solidFill>
                <a:latin typeface="Source Sans 3"/>
              </a:rPr>
              <a:t>Questions and discussion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697480" y="3337560"/>
            <a:ext cx="8686800" cy="457200"/>
          </a:xfrm>
          <a:prstGeom prst="rect">
            <a:avLst/>
          </a:prstGeom>
          <a:noFill/>
        </p:spPr>
        <p:txBody>
          <a:bodyPr wrap="square" lIns="27432" rIns="27432" tIns="27432" bIns="27432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700" b="0" i="0">
                <a:solidFill>
                  <a:srgbClr val="5A6270"/>
                </a:solidFill>
                <a:latin typeface="Source Sans 3"/>
              </a:rPr>
              <a:t>Orthogonal Defect Classification on Defects4J Using an LLM-Driven Scientific Approach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697480" y="4297680"/>
            <a:ext cx="8686800" cy="457200"/>
          </a:xfrm>
          <a:prstGeom prst="rect">
            <a:avLst/>
          </a:prstGeom>
          <a:noFill/>
        </p:spPr>
        <p:txBody>
          <a:bodyPr wrap="square" lIns="27432" rIns="27432" tIns="27432" bIns="27432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700" b="0" i="0">
                <a:solidFill>
                  <a:srgbClr val="1C2128"/>
                </a:solidFill>
                <a:latin typeface="Source Sans 3"/>
              </a:rPr>
              <a:t>Md. Sakib Hossain  ·  Mohammad Nahiyan Kabir  ·  Hasin Mahtab Alvee</a:t>
            </a:r>
          </a:p>
        </p:txBody>
      </p:sp>
      <p:sp>
        <p:nvSpPr>
          <p:cNvPr id="10" name="Rectangle 9"/>
          <p:cNvSpPr/>
          <p:nvPr/>
        </p:nvSpPr>
        <p:spPr>
          <a:xfrm>
            <a:off x="0" y="6748272"/>
            <a:ext cx="12191695" cy="109728"/>
          </a:xfrm>
          <a:prstGeom prst="rect">
            <a:avLst/>
          </a:prstGeom>
          <a:solidFill>
            <a:srgbClr val="12284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966960" y="6419088"/>
            <a:ext cx="1673352" cy="402336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800" b="1" i="0">
                <a:solidFill>
                  <a:srgbClr val="12284C"/>
                </a:solidFill>
                <a:latin typeface="Source Sans 3"/>
              </a:rPr>
              <a:t>28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