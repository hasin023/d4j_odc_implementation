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02920"/>
            <a:ext cx="750241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45920" y="658368"/>
            <a:ext cx="640080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Islamic University of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024128"/>
            <a:ext cx="640080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Department of Computer Science and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9692640" cy="1554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12284C"/>
                </a:solidFill>
                <a:latin typeface="Source Sans 3"/>
              </a:rPr>
              <a:t>Orthogonal Defect Classification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12284C"/>
                </a:solidFill>
                <a:latin typeface="Source Sans 3"/>
              </a:rPr>
              <a:t>on Defects4J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969264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0" i="0">
                <a:solidFill>
                  <a:srgbClr val="1C2128"/>
                </a:solidFill>
                <a:latin typeface="Source Sans 3"/>
              </a:rPr>
              <a:t>Using an LLM-Driven Scientific Approach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343400"/>
            <a:ext cx="2377440" cy="0"/>
          </a:xfrm>
          <a:prstGeom prst="line">
            <a:avLst/>
          </a:prstGeom>
          <a:ln w="19050">
            <a:solidFill>
              <a:srgbClr val="12284C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31520" y="4453128"/>
            <a:ext cx="76809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Thesis Defence  ·  B.Sc. in Computer Science and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74920"/>
            <a:ext cx="4206240" cy="1463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Presented by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Md. Sakib Hossain  (210042133)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Mohammad Nahiyan Kabir  (210042168)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Hasin Mahtab Alvee  (210042174)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5074920"/>
            <a:ext cx="4206240" cy="1463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Supervisor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Lutfun Nahar Lota, Assistant Professor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Co-supervisor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Ishmam Tashdeed, Lecturer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Motivation: Classifying Defects in Defects4J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325880"/>
            <a:ext cx="246888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2284C"/>
                </a:solidFill>
                <a:latin typeface="Source Sans 3"/>
              </a:rPr>
              <a:t>836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85416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reproducible real bugs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1325880"/>
            <a:ext cx="2468880" cy="8412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2284C"/>
                </a:solidFill>
                <a:latin typeface="Source Sans 3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185416"/>
            <a:ext cx="2468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Java projects [5]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2514600"/>
            <a:ext cx="521208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48640" y="2651760"/>
            <a:ext cx="5486400" cy="2651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A standard benchmark for debugging research [6, 7]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Defect types need different debugging strategies [1]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Manual triage is accurate, but does not scale [3]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LLMs can read all this evidence —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but should they answer at once, or investigate?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325880"/>
            <a:ext cx="533095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EVERY DEFECTS4J BUG SHIPS WITH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1719072"/>
            <a:ext cx="5330952" cy="60350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719072"/>
            <a:ext cx="64008" cy="603504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1719072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Bug report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432304"/>
            <a:ext cx="5330952" cy="60350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60" y="2432304"/>
            <a:ext cx="64008" cy="603504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2432304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Failing tests + stack traces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145536"/>
            <a:ext cx="5330952" cy="603504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145536"/>
            <a:ext cx="64008" cy="603504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145536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A23B3B"/>
                </a:solidFill>
                <a:latin typeface="Source Sans 3"/>
              </a:rPr>
              <a:t>Buggy source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858768"/>
            <a:ext cx="5330952" cy="60350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3858768"/>
            <a:ext cx="64008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58768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Fixed 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4572000"/>
            <a:ext cx="5330952" cy="60350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60" y="4572000"/>
            <a:ext cx="64008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4572000"/>
            <a:ext cx="4873752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Fix diff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440680"/>
            <a:ext cx="64008" cy="6400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440680"/>
            <a:ext cx="1088136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Every bug ships with its fix, so one bug can be classified </a:t>
            </a:r>
            <a:r>
              <a:rPr sz="1800" b="1" i="0">
                <a:solidFill>
                  <a:srgbClr val="A23B3B"/>
                </a:solidFill>
                <a:latin typeface="Source Sans 3"/>
              </a:rPr>
              <a:t>before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and </a:t>
            </a:r>
            <a:r>
              <a:rPr sz="1800" b="1" i="0">
                <a:solidFill>
                  <a:srgbClr val="2F7D4F"/>
                </a:solidFill>
                <a:latin typeface="Source Sans 3"/>
              </a:rPr>
              <a:t>after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Orthogonal Defect Classification (ODC)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07008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ODC [4, 15] describes a defect when it is found (</a:t>
            </a:r>
            <a:r>
              <a:rPr sz="1800" b="0" i="1">
                <a:solidFill>
                  <a:srgbClr val="1C2128"/>
                </a:solidFill>
                <a:latin typeface="Source Sans 3"/>
              </a:rPr>
              <a:t>opener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) and when it is fixed (</a:t>
            </a:r>
            <a:r>
              <a:rPr sz="1800" b="0" i="1">
                <a:solidFill>
                  <a:srgbClr val="1C2128"/>
                </a:solidFill>
                <a:latin typeface="Source Sans 3"/>
              </a:rPr>
              <a:t>closer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). We classify one closer attribute: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0" y="1783080"/>
            <a:ext cx="2377440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1783080"/>
            <a:ext cx="237744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ource Sans 3"/>
              </a:rPr>
              <a:t>Defect Type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1783080"/>
            <a:ext cx="365760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nature of the correction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303520" y="2331720"/>
            <a:ext cx="0" cy="27432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406140" y="2606040"/>
            <a:ext cx="5660136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3406140" y="2606040"/>
            <a:ext cx="0" cy="18288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sp>
        <p:nvSpPr>
          <p:cNvPr id="21" name="Rectangle 20"/>
          <p:cNvSpPr/>
          <p:nvPr/>
        </p:nvSpPr>
        <p:spPr>
          <a:xfrm>
            <a:off x="548640" y="2788920"/>
            <a:ext cx="5715000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788920"/>
            <a:ext cx="57150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Control and Data Flow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221867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24" name="Rectangle 23"/>
          <p:cNvSpPr/>
          <p:nvPr/>
        </p:nvSpPr>
        <p:spPr>
          <a:xfrm>
            <a:off x="548640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410712"/>
            <a:ext cx="1346454" cy="64008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3503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missing or wrong condition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678049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2004822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004822" y="3410712"/>
            <a:ext cx="1346454" cy="6400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9686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Algorithm/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Method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77974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computation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134230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34" name="Rectangle 33"/>
          <p:cNvSpPr/>
          <p:nvPr/>
        </p:nvSpPr>
        <p:spPr>
          <a:xfrm>
            <a:off x="3461003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61003" y="3410712"/>
            <a:ext cx="1346454" cy="64008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5868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Assignment/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Initialization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4156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value or initialization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90413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39" name="Rectangle 38"/>
          <p:cNvSpPr/>
          <p:nvPr/>
        </p:nvSpPr>
        <p:spPr>
          <a:xfrm>
            <a:off x="4917186" y="3410712"/>
            <a:ext cx="1346454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17186" y="3410712"/>
            <a:ext cx="1346454" cy="64008"/>
          </a:xfrm>
          <a:prstGeom prst="rect">
            <a:avLst/>
          </a:prstGeom>
          <a:solidFill>
            <a:srgbClr val="8A91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2049" y="3538728"/>
            <a:ext cx="1236726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Timing/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Serialization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90338" y="4389120"/>
            <a:ext cx="120015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ordering or concurrency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066276" y="2606040"/>
            <a:ext cx="0" cy="18288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sp>
        <p:nvSpPr>
          <p:cNvPr id="44" name="Rectangle 43"/>
          <p:cNvSpPr/>
          <p:nvPr/>
        </p:nvSpPr>
        <p:spPr>
          <a:xfrm>
            <a:off x="6492240" y="2788920"/>
            <a:ext cx="5148072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788920"/>
            <a:ext cx="514807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Structural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136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47" name="Rectangle 46"/>
          <p:cNvSpPr/>
          <p:nvPr/>
        </p:nvSpPr>
        <p:spPr>
          <a:xfrm>
            <a:off x="6492240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92240" y="3410712"/>
            <a:ext cx="1642872" cy="64008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47103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Function/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Class/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Object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65392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missing capability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0662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2" name="Rectangle 51"/>
          <p:cNvSpPr/>
          <p:nvPr/>
        </p:nvSpPr>
        <p:spPr>
          <a:xfrm>
            <a:off x="8244839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44839" y="3410712"/>
            <a:ext cx="1642872" cy="6400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99704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Interface/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O-O Messages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7991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wrong interaction across a boundary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0818876" y="3246120"/>
            <a:ext cx="0" cy="164592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7" name="Rectangle 56"/>
          <p:cNvSpPr/>
          <p:nvPr/>
        </p:nvSpPr>
        <p:spPr>
          <a:xfrm>
            <a:off x="9997440" y="3410712"/>
            <a:ext cx="1642872" cy="18745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997440" y="3410712"/>
            <a:ext cx="1642872" cy="64008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2304" y="3538728"/>
            <a:ext cx="1533144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Relationship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70592" y="4389120"/>
            <a:ext cx="1496568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broken association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5321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+ Other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 —  escape category added in this study, allowed only with a written justification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Related Work and the Research Gap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4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PRIOR WORK ON DEFECTS4J ACTUALLY LABELS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2880360"/>
            <a:ext cx="10058400" cy="0"/>
          </a:xfrm>
          <a:prstGeom prst="line">
            <a:avLst/>
          </a:prstGeom>
          <a:ln w="15875">
            <a:solidFill>
              <a:srgbClr val="8A919C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1536192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how a bug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manifests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Van der Spuy &amp;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Fischer 2025 [8]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488 faults</a:t>
            </a:r>
          </a:p>
        </p:txBody>
      </p:sp>
      <p:sp>
        <p:nvSpPr>
          <p:cNvPr id="20" name="Oval 19"/>
          <p:cNvSpPr/>
          <p:nvPr/>
        </p:nvSpPr>
        <p:spPr>
          <a:xfrm>
            <a:off x="4453128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83864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what the patch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83864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Sobreira et al.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2018 [9]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83864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395 patches</a:t>
            </a:r>
          </a:p>
        </p:txBody>
      </p:sp>
      <p:sp>
        <p:nvSpPr>
          <p:cNvPr id="24" name="Oval 23"/>
          <p:cNvSpPr/>
          <p:nvPr/>
        </p:nvSpPr>
        <p:spPr>
          <a:xfrm>
            <a:off x="7068312" y="2798064"/>
            <a:ext cx="164592" cy="164592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9048" y="1645919"/>
            <a:ext cx="2103120" cy="82296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one-off manual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inspection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048" y="3044952"/>
            <a:ext cx="2103120" cy="6858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Jiang et al.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2019 [10]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9048" y="3749039"/>
            <a:ext cx="21031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50 bugs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1554480"/>
            <a:ext cx="2011679" cy="246888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1645919"/>
            <a:ext cx="2011679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semantic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defect 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0" y="3108960"/>
            <a:ext cx="2011679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not labelled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at 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206240"/>
            <a:ext cx="3566160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2F5D9B"/>
                </a:solidFill>
                <a:latin typeface="Source Sans 3"/>
              </a:rPr>
              <a:t>LLM classifiers [11–14, 16]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read report text only; without a fixed taxonomy, labels drift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79" y="4206240"/>
            <a:ext cx="3566160" cy="54864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2B7F72"/>
                </a:solidFill>
                <a:latin typeface="Source Sans 3"/>
              </a:rPr>
              <a:t>ODC studies [19–21]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classify other corpora, never Defects4J at scale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9" y="4206240"/>
            <a:ext cx="3566160" cy="54864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19" y="4315968"/>
            <a:ext cx="3566160" cy="10515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700" b="1" i="0">
                <a:solidFill>
                  <a:srgbClr val="5B4B9A"/>
                </a:solidFill>
                <a:latin typeface="Source Sans 3"/>
              </a:rPr>
              <a:t>Scientific debugging [17, 18]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hypothesis → experiment loops, used to find faults, not to type them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468112"/>
            <a:ext cx="64008" cy="54864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468112"/>
            <a:ext cx="10881360" cy="54864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Gap: no semantic defect types for Defects4J, no way to evaluate them, and no test of whether investigating helps.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Problem Statement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5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325880"/>
            <a:ext cx="64008" cy="1097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1280160"/>
            <a:ext cx="10698480" cy="11887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C2128"/>
                </a:solidFill>
                <a:latin typeface="Source Sans 3"/>
              </a:rPr>
              <a:t>Classify Defects4J bugs into ODC defect types </a:t>
            </a:r>
            <a:r>
              <a:rPr sz="2400" b="1" i="0">
                <a:solidFill>
                  <a:srgbClr val="12284C"/>
                </a:solidFill>
                <a:latin typeface="Source Sans 3"/>
              </a:rPr>
              <a:t>from pre-fix evidence alone</a:t>
            </a:r>
            <a:r>
              <a:rPr sz="2400" b="0" i="0">
                <a:solidFill>
                  <a:srgbClr val="1C2128"/>
                </a:solidFill>
                <a:latin typeface="Source Sans 3"/>
              </a:rPr>
              <a:t> — and evaluate that classification </a:t>
            </a:r>
            <a:r>
              <a:rPr sz="2400" b="1" i="0">
                <a:solidFill>
                  <a:srgbClr val="12284C"/>
                </a:solidFill>
                <a:latin typeface="Source Sans 3"/>
              </a:rPr>
              <a:t>without ground-truth labels.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 SOLUTION HAS TO BE …   →   HOW WE MEET 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1752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72384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Context-aware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47472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code, tests, traces,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01752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50208" y="3236976"/>
            <a:ext cx="1874519" cy="47548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50208" y="323697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one case file per bug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01752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072384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Semantic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47472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mechanism, not syntax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01752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9488" y="3236976"/>
            <a:ext cx="1874519" cy="47548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9488" y="323697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ODC defect type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069079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12394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Taxonomy-constrained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526279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a fixed, comparable label space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069079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0208" y="428853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50208" y="428853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7 ODC types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4069079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12394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Open to its own limits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526279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can say a bug does not fit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81160" y="4069079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19488" y="428853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19488" y="428853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“Other” + justification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12064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" y="517550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Scalable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57784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no manual labelling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11880" y="512064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950208" y="5340096"/>
            <a:ext cx="1874519" cy="47548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50208" y="534009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LLM strategies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5120640"/>
            <a:ext cx="5422392" cy="9144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5175503"/>
            <a:ext cx="301752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Evaluable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557784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brings its own reference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81160" y="5120640"/>
            <a:ext cx="3200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8A919C"/>
                </a:solidFill>
                <a:latin typeface="Source Sans 3"/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19488" y="5340096"/>
            <a:ext cx="1874519" cy="47548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19488" y="5340096"/>
            <a:ext cx="1874519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post-fix reference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Core Idea: One Bug, Two Classifications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6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58978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DEFECTS4J CHART_9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45920"/>
            <a:ext cx="5897880" cy="402336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645920"/>
            <a:ext cx="56235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Code Pro"/>
              </a:rPr>
              <a:t>org.jfree.data.time.TimeSeries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048256"/>
            <a:ext cx="5897880" cy="18836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2121408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    endIndex = endIndex - 1;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68880"/>
            <a:ext cx="5897880" cy="347472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68880"/>
            <a:ext cx="45720" cy="347472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468880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A23B3B"/>
                </a:solidFill>
                <a:latin typeface="Source Code Pro"/>
              </a:rPr>
              <a:t>- if (endIndex &lt; 0) {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816352"/>
            <a:ext cx="5897880" cy="347472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2816352"/>
            <a:ext cx="45720" cy="347472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16352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F7D4F"/>
                </a:solidFill>
                <a:latin typeface="Source Code Pro"/>
              </a:rPr>
              <a:t>+ if ((endIndex &lt; 0) || (endIndex &lt; startIndex)) {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163824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    emptyRange = true;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511296"/>
            <a:ext cx="56235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Code Pro"/>
              </a:rPr>
              <a:t>  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23360"/>
            <a:ext cx="5897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The fix widens a guard to catch an empty range.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6560" y="1280160"/>
            <a:ext cx="4873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66560" y="1280160"/>
            <a:ext cx="64008" cy="137160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135331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23B3B"/>
                </a:solidFill>
                <a:latin typeface="Source Sans 3"/>
              </a:rPr>
              <a:t>Pre-fix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1764792"/>
            <a:ext cx="4507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Code Pro"/>
              </a:rPr>
              <a:t>report · tests · trace ·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217627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Triage: no fix exists yet.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834639"/>
            <a:ext cx="487375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66560" y="2834639"/>
            <a:ext cx="64008" cy="137160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5160" y="2907791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F7D4F"/>
                </a:solidFill>
                <a:latin typeface="Source Sans 3"/>
              </a:rPr>
              <a:t>Post-fix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95160" y="3319272"/>
            <a:ext cx="4507992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Code Pro"/>
              </a:rPr>
              <a:t>the same evidence + the fix diff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95160" y="3730752"/>
            <a:ext cx="4507992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Informed by the correction.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52628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DEFECTS4J HAS NO ODC LABELS, SO WE DEFINE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4864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54864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Post-fix label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the reference answer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34340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3" name="TextBox 42"/>
          <p:cNvSpPr txBox="1"/>
          <p:nvPr/>
        </p:nvSpPr>
        <p:spPr>
          <a:xfrm>
            <a:off x="434340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Pre-fix vs post-fix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340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does the triage label hold?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138160" y="4892040"/>
            <a:ext cx="3520440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46" name="TextBox 45"/>
          <p:cNvSpPr txBox="1"/>
          <p:nvPr/>
        </p:nvSpPr>
        <p:spPr>
          <a:xfrm>
            <a:off x="8138160" y="4956048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Labels differ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5349240"/>
            <a:ext cx="3520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8A919C"/>
                </a:solidFill>
                <a:latin typeface="Source Sans 3"/>
              </a:rPr>
              <a:t>=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drift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Agreement is not correctness: we measure how closely a pre-fix label reproduces a better-informed reference.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Research Questions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7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389888"/>
            <a:ext cx="1143000" cy="73152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389888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371600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1773936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Which ODC types dominate, and does the mix differ by project?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1389888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p. 16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24028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548640" y="2377440"/>
            <a:ext cx="1143000" cy="73152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377440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359152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2761488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Do the seven types cover every bug, or is “Other” needed?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2377440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p. 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322783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548640" y="3364992"/>
            <a:ext cx="1143000" cy="7315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364992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346704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Accuracy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3749039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How often does the pre-fix label match the post-fix reference?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3364992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B7791F"/>
                </a:solidFill>
                <a:latin typeface="Source Sans 3"/>
              </a:rPr>
              <a:t>pp. 17–18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4215384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548640" y="4352544"/>
            <a:ext cx="1143000" cy="731520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352544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RQ4a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20240" y="4334256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Taxonomy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736592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What does the ODC taxonomy add over the model’s own words?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4352544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p. 19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5202936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8" name="Rectangle 37"/>
          <p:cNvSpPr/>
          <p:nvPr/>
        </p:nvSpPr>
        <p:spPr>
          <a:xfrm>
            <a:off x="548640" y="5340096"/>
            <a:ext cx="1143000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340096"/>
            <a:ext cx="114300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RQ4b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321808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12284C"/>
                </a:solidFill>
                <a:latin typeface="Source Sans 3"/>
              </a:rPr>
              <a:t>Scientific strategy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5724144"/>
            <a:ext cx="8229600" cy="402336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What does the scientific strategy add over a strong few-shot prompt?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5340096"/>
            <a:ext cx="1399032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pp. 20–22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Pipeline Overview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8 /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1234440"/>
            <a:ext cx="3154680" cy="384048"/>
          </a:xfrm>
          <a:prstGeom prst="roundRect">
            <a:avLst>
              <a:gd name="adj" fmla="val 12000"/>
            </a:avLst>
          </a:prstGeom>
          <a:solidFill>
            <a:srgbClr val="2F5D9B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234440"/>
            <a:ext cx="3154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  Preprocessing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1234440"/>
            <a:ext cx="4617720" cy="384048"/>
          </a:xfrm>
          <a:prstGeom prst="roundRect">
            <a:avLst>
              <a:gd name="adj" fmla="val 12000"/>
            </a:avLst>
          </a:prstGeom>
          <a:solidFill>
            <a:srgbClr val="5B4B9A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1234440"/>
            <a:ext cx="461772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2  Classification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234440"/>
            <a:ext cx="2679192" cy="384048"/>
          </a:xfrm>
          <a:prstGeom prst="roundRect">
            <a:avLst>
              <a:gd name="adj" fmla="val 12000"/>
            </a:avLst>
          </a:prstGeom>
          <a:solidFill>
            <a:srgbClr val="2B7F72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234440"/>
            <a:ext cx="26791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3  Evaluation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783080"/>
            <a:ext cx="3154680" cy="658368"/>
          </a:xfrm>
          <a:prstGeom prst="roundRect">
            <a:avLst>
              <a:gd name="adj" fmla="val 11111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783080"/>
            <a:ext cx="3063240" cy="6583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 i="0">
                <a:solidFill>
                  <a:srgbClr val="2F5D9B"/>
                </a:solidFill>
                <a:latin typeface="Source Sans 3"/>
              </a:rPr>
              <a:t>Defects4J v3.0.1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17 Java projects  ·  836 bugs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25980" y="2441448"/>
            <a:ext cx="0" cy="182880"/>
          </a:xfrm>
          <a:prstGeom prst="line">
            <a:avLst/>
          </a:prstGeom>
          <a:ln w="19050">
            <a:solidFill>
              <a:srgbClr val="2F5D9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548640" y="2651760"/>
            <a:ext cx="3154680" cy="1755648"/>
          </a:xfrm>
          <a:prstGeom prst="roundRect">
            <a:avLst>
              <a:gd name="adj" fmla="val 4166"/>
            </a:avLst>
          </a:prstGeom>
          <a:solidFill>
            <a:srgbClr val="FFFFFF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697480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Collect, per bug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108960"/>
            <a:ext cx="137160" cy="13716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3044952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Bug report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374136"/>
            <a:ext cx="137160" cy="13716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3310128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Failing tests + stack traces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3639312"/>
            <a:ext cx="137160" cy="13716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3575304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Suspicious frames + code snippets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3904488"/>
            <a:ext cx="137160" cy="13716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3840480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Coverage (optional)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169664"/>
            <a:ext cx="137160" cy="13716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105656"/>
            <a:ext cx="2697480" cy="2651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Fix diff: buggy → fixed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125980" y="4407408"/>
            <a:ext cx="0" cy="182880"/>
          </a:xfrm>
          <a:prstGeom prst="line">
            <a:avLst/>
          </a:prstGeom>
          <a:ln w="19050">
            <a:solidFill>
              <a:srgbClr val="2F5D9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548640" y="4617720"/>
            <a:ext cx="3154680" cy="1600200"/>
          </a:xfrm>
          <a:prstGeom prst="roundRect">
            <a:avLst>
              <a:gd name="adj" fmla="val 4571"/>
            </a:avLst>
          </a:prstGeom>
          <a:solidFill>
            <a:srgbClr val="F4F5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663440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Code Pro"/>
              </a:rPr>
              <a:t>context.json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one case file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029200"/>
            <a:ext cx="2880360" cy="347472"/>
          </a:xfrm>
          <a:prstGeom prst="roundRect">
            <a:avLst>
              <a:gd name="adj" fmla="val 12000"/>
            </a:avLst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29200"/>
            <a:ext cx="2788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Pre-fix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symptoms, sanitised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5440680"/>
            <a:ext cx="2880360" cy="347472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440680"/>
            <a:ext cx="278892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Post-fix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symptoms + fix diff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824728"/>
            <a:ext cx="31546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modified classes = hidden oracle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3703320" y="5394960"/>
            <a:ext cx="301752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4023360" y="178308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9080" y="1783080"/>
            <a:ext cx="214884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LLM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Gemini · gpt-5-mini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1783080"/>
            <a:ext cx="2240280" cy="45720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1783080"/>
            <a:ext cx="214884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ODC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7 types + “Other”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023360" y="2377440"/>
            <a:ext cx="1417320" cy="3063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587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3360" y="2414016"/>
            <a:ext cx="14173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5D9B"/>
                </a:solidFill>
                <a:latin typeface="Source Sans 3"/>
              </a:rPr>
              <a:t>single call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0" y="2743200"/>
            <a:ext cx="1234440" cy="4114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2743200"/>
            <a:ext cx="11430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732020" y="3154680"/>
            <a:ext cx="0" cy="10972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53" name="Rounded Rectangle 52"/>
          <p:cNvSpPr/>
          <p:nvPr/>
        </p:nvSpPr>
        <p:spPr>
          <a:xfrm>
            <a:off x="4114800" y="3291840"/>
            <a:ext cx="123444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8A919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60520" y="3291840"/>
            <a:ext cx="11430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 i="0">
                <a:solidFill>
                  <a:srgbClr val="8A919C"/>
                </a:solidFill>
                <a:latin typeface="Source Sans 3"/>
              </a:rPr>
              <a:t>zero-shot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own words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23360" y="3794760"/>
            <a:ext cx="1417320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A6270"/>
                </a:solidFill>
                <a:latin typeface="Source Sans 3"/>
              </a:rPr>
              <a:t>or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0" y="3995928"/>
            <a:ext cx="1234440" cy="50292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0520" y="3995928"/>
            <a:ext cx="11430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 i="0">
                <a:solidFill>
                  <a:srgbClr val="2F5D9B"/>
                </a:solidFill>
                <a:latin typeface="Source Sans 3"/>
              </a:rPr>
              <a:t>few-shot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1C2128"/>
                </a:solidFill>
                <a:latin typeface="Source Sans 3"/>
              </a:rPr>
              <a:t>+ 5 examples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732020" y="4498848"/>
            <a:ext cx="0" cy="36576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59" name="TextBox 58"/>
          <p:cNvSpPr txBox="1"/>
          <p:nvPr/>
        </p:nvSpPr>
        <p:spPr>
          <a:xfrm>
            <a:off x="4777740" y="4553712"/>
            <a:ext cx="6400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A6270"/>
                </a:solidFill>
                <a:latin typeface="Source Sans 3"/>
              </a:rPr>
              <a:t>1 call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0" y="4892040"/>
            <a:ext cx="1234440" cy="411480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60520" y="4892040"/>
            <a:ext cx="11430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Label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532120" y="2377440"/>
            <a:ext cx="31089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32120" y="2414016"/>
            <a:ext cx="31089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scientific: enforced loop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41848" y="274320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2284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87568" y="2743200"/>
            <a:ext cx="1600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487668" y="3127248"/>
            <a:ext cx="0" cy="118872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67" name="Rounded Rectangle 66"/>
          <p:cNvSpPr/>
          <p:nvPr/>
        </p:nvSpPr>
        <p:spPr>
          <a:xfrm>
            <a:off x="5641848" y="3273552"/>
            <a:ext cx="1691640" cy="502920"/>
          </a:xfrm>
          <a:prstGeom prst="roundRect">
            <a:avLst>
              <a:gd name="adj" fmla="val 12000"/>
            </a:avLst>
          </a:prstGeom>
          <a:solidFill>
            <a:srgbClr val="ECE8F6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87568" y="3273552"/>
            <a:ext cx="160020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Hypothesis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+ prediction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487668" y="3776472"/>
            <a:ext cx="0" cy="15544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70" name="Rounded Rectangle 69"/>
          <p:cNvSpPr/>
          <p:nvPr/>
        </p:nvSpPr>
        <p:spPr>
          <a:xfrm>
            <a:off x="5641848" y="3959352"/>
            <a:ext cx="1691640" cy="411480"/>
          </a:xfrm>
          <a:prstGeom prst="roundRect">
            <a:avLst>
              <a:gd name="adj" fmla="val 12000"/>
            </a:avLst>
          </a:prstGeom>
          <a:solidFill>
            <a:srgbClr val="FBF1DF"/>
          </a:solidFill>
          <a:ln w="12700">
            <a:solidFill>
              <a:srgbClr val="B7791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87568" y="3959352"/>
            <a:ext cx="1600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Enough evidence?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487668" y="4370832"/>
            <a:ext cx="0" cy="493776"/>
          </a:xfrm>
          <a:prstGeom prst="line">
            <a:avLst/>
          </a:prstGeom>
          <a:ln w="15875">
            <a:solidFill>
              <a:srgbClr val="2F7D4F"/>
            </a:solidFill>
            <a:tailEnd type="triangle" w="med" len="med"/>
          </a:ln>
        </p:spPr>
      </p:cxnSp>
      <p:sp>
        <p:nvSpPr>
          <p:cNvPr id="73" name="TextBox 72"/>
          <p:cNvSpPr txBox="1"/>
          <p:nvPr/>
        </p:nvSpPr>
        <p:spPr>
          <a:xfrm>
            <a:off x="6533388" y="4443984"/>
            <a:ext cx="5486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yes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641848" y="4892040"/>
            <a:ext cx="1691640" cy="411480"/>
          </a:xfrm>
          <a:prstGeom prst="roundRect">
            <a:avLst>
              <a:gd name="adj" fmla="val 12000"/>
            </a:avLst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87568" y="4892040"/>
            <a:ext cx="160020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Conclude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626096" y="3959352"/>
            <a:ext cx="905255" cy="41148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671816" y="3959352"/>
            <a:ext cx="813815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Sans 3"/>
              </a:rPr>
              <a:t>Probe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333488" y="4165091"/>
            <a:ext cx="292608" cy="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7315200" y="3931920"/>
            <a:ext cx="329184" cy="20116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A6270"/>
                </a:solidFill>
                <a:latin typeface="Source Sans 3"/>
              </a:rPr>
              <a:t>no</a:t>
            </a:r>
          </a:p>
        </p:txBody>
      </p:sp>
      <p:cxnSp>
        <p:nvCxnSpPr>
          <p:cNvPr id="80" name="Connector 79"/>
          <p:cNvCxnSpPr/>
          <p:nvPr/>
        </p:nvCxnSpPr>
        <p:spPr>
          <a:xfrm flipV="1">
            <a:off x="8078724" y="3803904"/>
            <a:ext cx="0" cy="155448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1" name="Rounded Rectangle 80"/>
          <p:cNvSpPr/>
          <p:nvPr/>
        </p:nvSpPr>
        <p:spPr>
          <a:xfrm>
            <a:off x="7626096" y="3273552"/>
            <a:ext cx="905255" cy="50292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671816" y="3273552"/>
            <a:ext cx="813815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2F5D9B"/>
                </a:solidFill>
                <a:latin typeface="Source Sans 3"/>
              </a:rPr>
              <a:t>Observe</a:t>
            </a:r>
          </a:p>
        </p:txBody>
      </p:sp>
      <p:cxnSp>
        <p:nvCxnSpPr>
          <p:cNvPr id="83" name="Connector 82"/>
          <p:cNvCxnSpPr/>
          <p:nvPr/>
        </p:nvCxnSpPr>
        <p:spPr>
          <a:xfrm flipH="1">
            <a:off x="7333488" y="3525012"/>
            <a:ext cx="292608" cy="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4" name="TextBox 83"/>
          <p:cNvSpPr txBox="1"/>
          <p:nvPr/>
        </p:nvSpPr>
        <p:spPr>
          <a:xfrm>
            <a:off x="7580376" y="4498848"/>
            <a:ext cx="996695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max 6 turns,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then forced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conclusion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4732020" y="5303520"/>
            <a:ext cx="0" cy="27432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cxnSp>
        <p:nvCxnSpPr>
          <p:cNvPr id="86" name="Connector 85"/>
          <p:cNvCxnSpPr/>
          <p:nvPr/>
        </p:nvCxnSpPr>
        <p:spPr>
          <a:xfrm>
            <a:off x="6487668" y="5303520"/>
            <a:ext cx="0" cy="274320"/>
          </a:xfrm>
          <a:prstGeom prst="line">
            <a:avLst/>
          </a:prstGeom>
          <a:ln w="15875">
            <a:solidFill>
              <a:srgbClr val="12284C"/>
            </a:solidFill>
            <a:tailEnd type="triangle" w="med" len="med"/>
          </a:ln>
        </p:spPr>
      </p:cxnSp>
      <p:sp>
        <p:nvSpPr>
          <p:cNvPr id="87" name="Rounded Rectangle 86"/>
          <p:cNvSpPr/>
          <p:nvPr/>
        </p:nvSpPr>
        <p:spPr>
          <a:xfrm>
            <a:off x="4023360" y="5596128"/>
            <a:ext cx="4617720" cy="621792"/>
          </a:xfrm>
          <a:prstGeom prst="roundRect">
            <a:avLst>
              <a:gd name="adj" fmla="val 11764"/>
            </a:avLst>
          </a:prstGeom>
          <a:solidFill>
            <a:srgbClr val="F4F5F7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069080" y="5596128"/>
            <a:ext cx="4526280" cy="6217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Code Pro"/>
              </a:rPr>
              <a:t>classification.json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ODC label  ·  alternative types  ·  reasoning transcript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8641080" y="5907024"/>
            <a:ext cx="155448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cxnSp>
        <p:nvCxnSpPr>
          <p:cNvPr id="90" name="Connector 89"/>
          <p:cNvCxnSpPr/>
          <p:nvPr/>
        </p:nvCxnSpPr>
        <p:spPr>
          <a:xfrm flipV="1">
            <a:off x="8796528" y="2240280"/>
            <a:ext cx="0" cy="3666744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cxnSp>
        <p:nvCxnSpPr>
          <p:cNvPr id="91" name="Connector 90"/>
          <p:cNvCxnSpPr/>
          <p:nvPr/>
        </p:nvCxnSpPr>
        <p:spPr>
          <a:xfrm>
            <a:off x="8796528" y="2240280"/>
            <a:ext cx="146304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92" name="Rounded Rectangle 91"/>
          <p:cNvSpPr/>
          <p:nvPr/>
        </p:nvSpPr>
        <p:spPr>
          <a:xfrm>
            <a:off x="8961120" y="1783080"/>
            <a:ext cx="2679192" cy="1024128"/>
          </a:xfrm>
          <a:prstGeom prst="roundRect">
            <a:avLst>
              <a:gd name="adj" fmla="val 7142"/>
            </a:avLst>
          </a:prstGeom>
          <a:solidFill>
            <a:srgbClr val="E0F0ED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961120" y="1801368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Compare labels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52560" y="21031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pre-fix vs post-fix: 4 tiers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52560" y="23317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scientific vs few-shot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52560" y="2560320"/>
            <a:ext cx="2496312" cy="2286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manual reading: 13 bugs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300716" y="2807208"/>
            <a:ext cx="0" cy="118872"/>
          </a:xfrm>
          <a:prstGeom prst="line">
            <a:avLst/>
          </a:prstGeom>
          <a:ln w="19050">
            <a:solidFill>
              <a:srgbClr val="2B7F72"/>
            </a:solidFill>
            <a:tailEnd type="triangle" w="med" len="med"/>
          </a:ln>
        </p:spPr>
      </p:cxnSp>
      <p:sp>
        <p:nvSpPr>
          <p:cNvPr id="98" name="Rounded Rectangle 97"/>
          <p:cNvSpPr/>
          <p:nvPr/>
        </p:nvSpPr>
        <p:spPr>
          <a:xfrm>
            <a:off x="8961120" y="2944368"/>
            <a:ext cx="2679192" cy="1856231"/>
          </a:xfrm>
          <a:prstGeom prst="roundRect">
            <a:avLst>
              <a:gd name="adj" fmla="val 3940"/>
            </a:avLst>
          </a:prstGeom>
          <a:solidFill>
            <a:srgbClr val="FFFFFF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61120" y="2971800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Research questions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98280" y="3319272"/>
            <a:ext cx="566928" cy="23774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98280" y="3319272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38360" y="3291840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type distribution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3611879"/>
            <a:ext cx="566928" cy="237744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098280" y="3611879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738360" y="3584448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taxonomy coverage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098280" y="3904488"/>
            <a:ext cx="566928" cy="23774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098280" y="3904488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38360" y="3877056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pre-fix accuracy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9098280" y="4197096"/>
            <a:ext cx="566928" cy="237744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098280" y="4197096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RQ4a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38360" y="4169664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taxonomy's value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9098280" y="4489704"/>
            <a:ext cx="566928" cy="2377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098280" y="4489704"/>
            <a:ext cx="56692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RQ4b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738360" y="4462272"/>
            <a:ext cx="185623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scientific vs few-shot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0300716" y="4800600"/>
            <a:ext cx="0" cy="137160"/>
          </a:xfrm>
          <a:prstGeom prst="line">
            <a:avLst/>
          </a:prstGeom>
          <a:ln w="19050">
            <a:solidFill>
              <a:srgbClr val="2B7F72"/>
            </a:solidFill>
            <a:tailEnd type="triangle" w="med" len="med"/>
          </a:ln>
        </p:spPr>
      </p:cxnSp>
      <p:sp>
        <p:nvSpPr>
          <p:cNvPr id="116" name="Rounded Rectangle 115"/>
          <p:cNvSpPr/>
          <p:nvPr/>
        </p:nvSpPr>
        <p:spPr>
          <a:xfrm>
            <a:off x="8961120" y="4956048"/>
            <a:ext cx="2679192" cy="1261872"/>
          </a:xfrm>
          <a:prstGeom prst="roundRect">
            <a:avLst>
              <a:gd name="adj" fmla="val 5797"/>
            </a:avLst>
          </a:prstGeom>
          <a:solidFill>
            <a:srgbClr val="F4F5F7"/>
          </a:solidFill>
          <a:ln w="15875">
            <a:solidFill>
              <a:srgbClr val="2B7F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961120" y="4983480"/>
            <a:ext cx="26791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B7F72"/>
                </a:solidFill>
                <a:latin typeface="Source Sans 3"/>
              </a:rPr>
              <a:t>Outputs</a:t>
            </a:r>
          </a:p>
        </p:txBody>
      </p:sp>
      <p:sp>
        <p:nvSpPr>
          <p:cNvPr id="118" name="Oval 117"/>
          <p:cNvSpPr/>
          <p:nvPr/>
        </p:nvSpPr>
        <p:spPr>
          <a:xfrm>
            <a:off x="9144000" y="5404104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308592" y="5303520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ODC labels with transcripts</a:t>
            </a:r>
          </a:p>
        </p:txBody>
      </p:sp>
      <p:sp>
        <p:nvSpPr>
          <p:cNvPr id="120" name="Oval 119"/>
          <p:cNvSpPr/>
          <p:nvPr/>
        </p:nvSpPr>
        <p:spPr>
          <a:xfrm>
            <a:off x="9144000" y="5696712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9308592" y="5596128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Statistics and result tables</a:t>
            </a:r>
          </a:p>
        </p:txBody>
      </p:sp>
      <p:sp>
        <p:nvSpPr>
          <p:cNvPr id="122" name="Oval 121"/>
          <p:cNvSpPr/>
          <p:nvPr/>
        </p:nvSpPr>
        <p:spPr>
          <a:xfrm>
            <a:off x="9144000" y="5989320"/>
            <a:ext cx="91440" cy="91440"/>
          </a:xfrm>
          <a:prstGeom prst="ellipse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308592" y="5888736"/>
            <a:ext cx="2267712" cy="29260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Code, prompts and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Evidence Collection: One Case File per Bug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9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1508760" cy="2240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645920"/>
            <a:ext cx="1508760" cy="22402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ource Sans 3"/>
              </a:rPr>
              <a:t>Defects4J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FFFFFF"/>
                </a:solidFill>
                <a:latin typeface="Source Sans 3"/>
              </a:rPr>
              <a:t>bug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ource Sans 3"/>
              </a:rPr>
              <a:t/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buggy version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fixed version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ource Sans 3"/>
              </a:rPr>
              <a:t>issue link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03120" y="2761488"/>
            <a:ext cx="365760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17" name="TextBox 16"/>
          <p:cNvSpPr txBox="1"/>
          <p:nvPr/>
        </p:nvSpPr>
        <p:spPr>
          <a:xfrm>
            <a:off x="2514600" y="1280160"/>
            <a:ext cx="461772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1 · COLLECT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14600" y="16459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16459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Bug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16459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fetched from the issue tracker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14600" y="21031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21031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Failing 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1031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buggy version run: error + trace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14600" y="25603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51760" y="25603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Suspicious frames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25603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trace lines in the project’s own code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4600" y="30175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30175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Code snippets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0175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±12 lines of code, ±18 of tests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14600" y="3474720"/>
            <a:ext cx="4617720" cy="39319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3474720"/>
            <a:ext cx="1645920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3474720"/>
            <a:ext cx="2816352" cy="39319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line and branch data (optional)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178040" y="2761488"/>
            <a:ext cx="320039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543800" y="1280160"/>
            <a:ext cx="40965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2 · STORE: CONTEXT.JSON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43800" y="1645920"/>
            <a:ext cx="4096512" cy="6949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43800" y="1645920"/>
            <a:ext cx="64008" cy="69494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1664208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Evidence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1984248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cleaned and deduplicated; shown to the model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2404872"/>
            <a:ext cx="4096512" cy="694944"/>
          </a:xfrm>
          <a:prstGeom prst="rect">
            <a:avLst/>
          </a:prstGeom>
          <a:solidFill>
            <a:srgbClr val="FBF1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43800" y="2404872"/>
            <a:ext cx="64008" cy="69494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0" y="2423160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B7791F"/>
                </a:solidFill>
                <a:latin typeface="Source Sans 3"/>
              </a:rPr>
              <a:t>Hidden oracle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743200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modified classes; for evaluation only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3163824"/>
            <a:ext cx="4096512" cy="694944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3800" y="3163824"/>
            <a:ext cx="64008" cy="6949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3182112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F7D4F"/>
                </a:solidFill>
                <a:latin typeface="Source Sans 3"/>
              </a:rPr>
              <a:t>Fix diff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3502152"/>
            <a:ext cx="3776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buggy → fixed code; post-fix only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11480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3 · BUILD TWO CASE FILES  ·  THE ONLY DIFFERENCE IS THE FIX DIFF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462272"/>
            <a:ext cx="5422392" cy="932688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4462272"/>
            <a:ext cx="64008" cy="93268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4498848"/>
            <a:ext cx="29260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A23B3B"/>
                </a:solidFill>
                <a:latin typeface="Source Sans 3"/>
              </a:rPr>
              <a:t>Pre-fix case file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4498848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A23B3B"/>
                </a:solidFill>
                <a:latin typeface="Source Sans 3"/>
              </a:rPr>
              <a:t>→ the label we evaluate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4901184"/>
            <a:ext cx="50749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evidence only; fix hints removed from the report and metadata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17920" y="4462272"/>
            <a:ext cx="5422392" cy="93268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17920" y="4462272"/>
            <a:ext cx="64008" cy="93268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46520" y="4498848"/>
            <a:ext cx="29260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Post-fix case file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4498848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2F7D4F"/>
                </a:solidFill>
                <a:latin typeface="Source Sans 3"/>
              </a:rPr>
              <a:t>→ the reference label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46520" y="4901184"/>
            <a:ext cx="507492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the same evidence + the fix diff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559552"/>
            <a:ext cx="11091672" cy="676656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5559552"/>
            <a:ext cx="10789920" cy="67665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Every strategy and both LLMs read the same file.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few-shot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reads the evidence summary once; 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scientific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reads the same summary, then probes for the held-back rest.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Classification Conditions and Models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A condition =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taxonomy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(which labels)  × 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strategy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 (how it reasons),  run by an </a:t>
            </a:r>
            <a:r>
              <a:rPr sz="1700" b="1" i="0">
                <a:solidFill>
                  <a:srgbClr val="1C2128"/>
                </a:solidFill>
                <a:latin typeface="Source Sans 3"/>
              </a:rPr>
              <a:t>LLM</a:t>
            </a:r>
            <a:r>
              <a:rPr sz="1700" b="0" i="0">
                <a:solidFill>
                  <a:srgbClr val="5A6270"/>
                </a:solidFill>
                <a:latin typeface="Source Sans 3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1783080"/>
            <a:ext cx="4443984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TAXONOMY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free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own words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30168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closed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7 ODC 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2103120"/>
            <a:ext cx="148132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open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7 types + “Other”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103120"/>
            <a:ext cx="1554480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STRATEGY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2715768"/>
            <a:ext cx="6044184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548640" y="276148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zero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plain prompt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283464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2848" y="283464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zero-free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276148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1496" y="276148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363016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548640" y="363016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few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worked examples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63016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94176" y="370332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94176" y="370332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few-closed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75504" y="370332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370332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few-open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449884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48640" y="4498848"/>
            <a:ext cx="1600200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scientific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hypothesis → probe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98848"/>
            <a:ext cx="1481328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8A919C"/>
                </a:solidFill>
                <a:latin typeface="Source Sans 3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94176" y="4572000"/>
            <a:ext cx="1353312" cy="722375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94176" y="457200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scientific-closed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75504" y="4572000"/>
            <a:ext cx="1353312" cy="722375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75504" y="4572000"/>
            <a:ext cx="1353312" cy="722375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scientific-open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0" i="0">
                <a:solidFill>
                  <a:srgbClr val="FFFFFF"/>
                </a:solidFill>
                <a:latin typeface="Source Sans 3"/>
              </a:rPr>
              <a:t>default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48640" y="5367528"/>
            <a:ext cx="6044184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548640" y="5440680"/>
            <a:ext cx="658368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Five of nine combinations are valid: zero-shot uses no taxonomy, so it pairs only with free.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1783080"/>
            <a:ext cx="432511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THIRD AXIS: THE LLM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315200" y="2167128"/>
            <a:ext cx="4325112" cy="11704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315200" y="2167128"/>
            <a:ext cx="64008" cy="11704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2240280"/>
            <a:ext cx="40050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Gemini 3.1 Flash-Lite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2606040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Google  ·  main model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2935224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structured output enforced by the API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3493008"/>
            <a:ext cx="4325112" cy="11704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0" y="3493008"/>
            <a:ext cx="64008" cy="11704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43800" y="3566160"/>
            <a:ext cx="400507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gpt-5-mini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3931920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OpenAI  ·  second model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4261104"/>
            <a:ext cx="40050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a reasoning model, used to cross-check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4846320"/>
            <a:ext cx="4325112" cy="86868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4846320"/>
            <a:ext cx="3959352" cy="8686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Only the model changes: 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same case files, prompts, taxonomy and validation.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Prompt Design: What Each Strategy Sends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11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234440"/>
            <a:ext cx="11091672" cy="50292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234440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Same in both:  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ODC taxonomy  ·  anti-bias rules  ·  the bug’s evidence summary  ·  JSON answer format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920240"/>
            <a:ext cx="5376672" cy="43891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920240"/>
            <a:ext cx="5102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few-shot</a:t>
            </a:r>
            <a:r>
              <a:rPr sz="1500" b="0" i="0">
                <a:solidFill>
                  <a:srgbClr val="FFFFFF"/>
                </a:solidFill>
                <a:latin typeface="Source Sans 3"/>
              </a:rPr>
              <a:t>   ·   one call, one answer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920240"/>
            <a:ext cx="5376672" cy="438912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20240"/>
            <a:ext cx="5102352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scientific</a:t>
            </a:r>
            <a:r>
              <a:rPr sz="1500" b="0" i="0">
                <a:solidFill>
                  <a:srgbClr val="FFFFFF"/>
                </a:solidFill>
                <a:latin typeface="Source Sans 3"/>
              </a:rPr>
              <a:t>   ·   up to 6 turns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514600"/>
            <a:ext cx="5376672" cy="86868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514600"/>
            <a:ext cx="64008" cy="86868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5511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Sans 3"/>
              </a:rPr>
              <a:t>① Instructions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843784"/>
            <a:ext cx="5010912" cy="502919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ODC definitions, a 7-question decision tree, 5 worked examples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520440"/>
            <a:ext cx="5376672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520440"/>
            <a:ext cx="64008" cy="731520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55701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② The bug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84962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evidence summary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36976" y="4297680"/>
            <a:ext cx="0" cy="1143000"/>
          </a:xfrm>
          <a:prstGeom prst="line">
            <a:avLst/>
          </a:prstGeom>
          <a:ln w="19050">
            <a:solidFill>
              <a:srgbClr val="8A919C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3374136" y="4526280"/>
            <a:ext cx="237744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5A6270"/>
                </a:solidFill>
                <a:latin typeface="Source Sans 3"/>
              </a:rPr>
              <a:t>one call,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1">
                <a:solidFill>
                  <a:srgbClr val="5A6270"/>
                </a:solidFill>
                <a:latin typeface="Source Sans 3"/>
              </a:rPr>
              <a:t>no extra evidence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486400"/>
            <a:ext cx="5376672" cy="7315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486400"/>
            <a:ext cx="64008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229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③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81558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one JSON: type, alternatives, reasoning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2514600"/>
            <a:ext cx="5376672" cy="868680"/>
          </a:xfrm>
          <a:prstGeom prst="rect">
            <a:avLst/>
          </a:prstGeom>
          <a:solidFill>
            <a:srgbClr val="ECE8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2514600"/>
            <a:ext cx="64008" cy="868680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5511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B4B9A"/>
                </a:solidFill>
                <a:latin typeface="Source Sans 3"/>
              </a:rPr>
              <a:t>① Instructions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843784"/>
            <a:ext cx="5010912" cy="502919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ODC definitions, the list of 5 probes, turn rules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520440"/>
            <a:ext cx="5376672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520440"/>
            <a:ext cx="64008" cy="731520"/>
          </a:xfrm>
          <a:prstGeom prst="rect">
            <a:avLst/>
          </a:prstGeom>
          <a:solidFill>
            <a:srgbClr val="5A62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92240" y="355701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② The bug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84962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same summary; the rest is held back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389120"/>
            <a:ext cx="537667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46520" y="4407408"/>
            <a:ext cx="18288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B4B9A"/>
                </a:solidFill>
                <a:latin typeface="Source Sans 3"/>
              </a:rPr>
              <a:t>EACH TURN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681728"/>
            <a:ext cx="501091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B4B9A"/>
                </a:solidFill>
                <a:latin typeface="Source Sans 3"/>
              </a:rPr>
              <a:t>model  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hypothesis → prediction → probe 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4992624"/>
            <a:ext cx="501091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B7791F"/>
                </a:solidFill>
                <a:latin typeface="Source Sans 3"/>
              </a:rPr>
              <a:t>pipeline  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returns what the probe found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5486400"/>
            <a:ext cx="5376672" cy="73152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63640" y="5486400"/>
            <a:ext cx="64008" cy="7315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0" y="5522976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③ Answer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5815584"/>
            <a:ext cx="501091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the same JSON + the full turn transcript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How the Scientific Strategy Reasons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THE SUMMARY IS READ ONCE  ·  EVERY TURN THEN STARTS AT HYPOTHESIS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1627632"/>
            <a:ext cx="1691640" cy="960120"/>
          </a:xfrm>
          <a:prstGeom prst="roundRect">
            <a:avLst>
              <a:gd name="adj" fmla="val 7619"/>
            </a:avLst>
          </a:prstGeom>
          <a:solidFill>
            <a:srgbClr val="F4F5F7"/>
          </a:solidFill>
          <a:ln w="15875">
            <a:solidFill>
              <a:srgbClr val="5A62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700784"/>
            <a:ext cx="16916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A6270"/>
                </a:solidFill>
                <a:latin typeface="Source Sans 3"/>
              </a:rPr>
              <a:t>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2066543"/>
            <a:ext cx="154533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evidence summary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56032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CE8F6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032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B4B9A"/>
                </a:solidFill>
                <a:latin typeface="Source Sans 3"/>
              </a:rPr>
              <a:t>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 specific cause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9204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CE8F6"/>
          </a:solidFill>
          <a:ln w="15875">
            <a:solidFill>
              <a:srgbClr val="5B4B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204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B4B9A"/>
                </a:solidFill>
                <a:latin typeface="Source Sans 3"/>
              </a:rPr>
              <a:t>Prediction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what must be there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BF1DF"/>
          </a:solidFill>
          <a:ln w="15875">
            <a:solidFill>
              <a:srgbClr val="B7791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B7791F"/>
                </a:solidFill>
                <a:latin typeface="Source Sans 3"/>
              </a:rPr>
              <a:t>Enough evidence?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the model decides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28632" y="1627632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E3F1E8"/>
          </a:solidFill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28632" y="1700784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7D4F"/>
                </a:solidFill>
                <a:latin typeface="Source Sans 3"/>
              </a:rPr>
              <a:t>Conclude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1784" y="2066543"/>
            <a:ext cx="1865376" cy="4846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ODC label + alternatives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267712" y="2107692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4599432" y="2107692"/>
            <a:ext cx="265175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>
            <a:off x="6931152" y="2107692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>
            <a:off x="9262872" y="2107692"/>
            <a:ext cx="338328" cy="0"/>
          </a:xfrm>
          <a:prstGeom prst="line">
            <a:avLst/>
          </a:prstGeom>
          <a:ln w="25400">
            <a:solidFill>
              <a:srgbClr val="2F7D4F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9162288" y="1719072"/>
            <a:ext cx="5486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yes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29600" y="2587752"/>
            <a:ext cx="0" cy="356616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8302752" y="2633472"/>
            <a:ext cx="4572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A6270"/>
                </a:solidFill>
                <a:latin typeface="Source Sans 3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23760" y="29718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3760" y="3044952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5D9B"/>
                </a:solidFill>
                <a:latin typeface="Source Sans 3"/>
              </a:rPr>
              <a:t>Probe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96912" y="3410712"/>
            <a:ext cx="1865376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ask for hidden evidence</a:t>
            </a:r>
          </a:p>
        </p:txBody>
      </p:sp>
      <p:cxnSp>
        <p:nvCxnSpPr>
          <p:cNvPr id="40" name="Connector 39"/>
          <p:cNvCxnSpPr/>
          <p:nvPr/>
        </p:nvCxnSpPr>
        <p:spPr>
          <a:xfrm flipH="1">
            <a:off x="6931152" y="3429000"/>
            <a:ext cx="265176" cy="0"/>
          </a:xfrm>
          <a:prstGeom prst="line">
            <a:avLst/>
          </a:prstGeom>
          <a:ln w="22225">
            <a:solidFill>
              <a:srgbClr val="12284C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4892040" y="297180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 w="15875">
            <a:solidFill>
              <a:srgbClr val="2F5D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3044952"/>
            <a:ext cx="2011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2F5D9B"/>
                </a:solidFill>
                <a:latin typeface="Source Sans 3"/>
              </a:rPr>
              <a:t>Observation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65192" y="3410712"/>
            <a:ext cx="1865376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read what came back</a:t>
            </a:r>
          </a:p>
        </p:txBody>
      </p:sp>
      <p:cxnSp>
        <p:nvCxnSpPr>
          <p:cNvPr id="44" name="Connector 43"/>
          <p:cNvCxnSpPr/>
          <p:nvPr/>
        </p:nvCxnSpPr>
        <p:spPr>
          <a:xfrm flipH="1">
            <a:off x="3566160" y="3429000"/>
            <a:ext cx="1298448" cy="0"/>
          </a:xfrm>
          <a:prstGeom prst="line">
            <a:avLst/>
          </a:prstGeom>
          <a:ln w="22225">
            <a:solidFill>
              <a:srgbClr val="12284C"/>
            </a:solidFill>
            <a:prstDash val="dash"/>
          </a:ln>
        </p:spPr>
      </p:cxnSp>
      <p:cxnSp>
        <p:nvCxnSpPr>
          <p:cNvPr id="45" name="Connector 44"/>
          <p:cNvCxnSpPr/>
          <p:nvPr/>
        </p:nvCxnSpPr>
        <p:spPr>
          <a:xfrm flipV="1">
            <a:off x="3566160" y="2615184"/>
            <a:ext cx="0" cy="813816"/>
          </a:xfrm>
          <a:prstGeom prst="line">
            <a:avLst/>
          </a:prstGeom>
          <a:ln w="22225">
            <a:solidFill>
              <a:srgbClr val="12284C"/>
            </a:solidFill>
            <a:prstDash val="dash"/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3639312" y="3081528"/>
            <a:ext cx="11887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12284C"/>
                </a:solidFill>
                <a:latin typeface="Source Sans 3"/>
              </a:rPr>
              <a:t>next turn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28632" y="3017520"/>
            <a:ext cx="201168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at most 6 turns;</a:t>
            </a:r>
          </a:p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on the last one it</a:t>
            </a:r>
          </a:p>
          <a:p>
            <a:pPr algn="ctr">
              <a:lnSpc>
                <a:spcPct val="98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must conclude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3063240"/>
            <a:ext cx="2834640" cy="8229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Adapted from AutoSD [17, 18]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from locating a fault to naming its type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16052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FIVE PROBES: THE ONLY WAY TO SEE EVIDENCE HELD BACK FROM THE PROMPT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list_evidence()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what evidence exists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94406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94406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04134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full_stack_trace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(test)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04134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full trace and message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40172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40172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49900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snippet(class)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49900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source of a class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85939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285939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95667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coverage(class)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95667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line and branch data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531705" y="4507992"/>
            <a:ext cx="2108606" cy="960120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531705" y="4507992"/>
            <a:ext cx="2108606" cy="54864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41433" y="4590288"/>
            <a:ext cx="1925726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400" b="1" i="0">
                <a:solidFill>
                  <a:srgbClr val="2F5D9B"/>
                </a:solidFill>
                <a:latin typeface="Source Code Pro"/>
              </a:rPr>
              <a:t>bug_report()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41433" y="5102352"/>
            <a:ext cx="1925726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the full report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66928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77240" y="5669280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The prediction is written before the evidence arrives, so a first guess cannot be rationalised afterwards.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Evaluation: How We Compare Two Labels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For each bug we compare its </a:t>
            </a:r>
            <a:r>
              <a:rPr sz="1700" b="1" i="0">
                <a:solidFill>
                  <a:srgbClr val="A23B3B"/>
                </a:solidFill>
                <a:latin typeface="Source Sans 3"/>
              </a:rPr>
              <a:t>pre-fix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label with its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post-fix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label, from strict to forgiving.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737360"/>
            <a:ext cx="3544824" cy="181051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737360"/>
            <a:ext cx="3544824" cy="6400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1865376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5D9B"/>
                </a:solidFill>
                <a:latin typeface="Source Sans 3"/>
              </a:rPr>
              <a:t>TIER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1847088"/>
            <a:ext cx="244754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Strict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194560"/>
            <a:ext cx="327050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ODC type?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2578608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61872" y="2596896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2596896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907791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61872" y="2926079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1872" y="2926079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36976"/>
            <a:ext cx="327050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same 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5176" y="2560320"/>
            <a:ext cx="2651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8A919C"/>
                </a:solidFill>
                <a:latin typeface="Source Sans 3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22064" y="1737360"/>
            <a:ext cx="3544824" cy="181051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22064" y="1737360"/>
            <a:ext cx="3544824" cy="64008"/>
          </a:xfrm>
          <a:prstGeom prst="rect">
            <a:avLst/>
          </a:prstGeom>
          <a:solidFill>
            <a:srgbClr val="5B4B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4944" y="1865376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5B4B9A"/>
                </a:solidFill>
                <a:latin typeface="Source Sans 3"/>
              </a:rPr>
              <a:t>TIER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82184" y="1847088"/>
            <a:ext cx="244754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Top-2 match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4944" y="2194560"/>
            <a:ext cx="327050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One label is the other’s alternative?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04944" y="2578608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35296" y="2596896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35296" y="2596896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4944" y="2907791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35296" y="2926079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35296" y="2926079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Algorithm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4944" y="3236976"/>
            <a:ext cx="327050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Algorithm was a listed alternative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48600" y="2560320"/>
            <a:ext cx="265176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8A919C"/>
                </a:solidFill>
                <a:latin typeface="Source Sans 3"/>
              </a:rPr>
              <a:t>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95488" y="1737360"/>
            <a:ext cx="3544824" cy="181051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95488" y="1737360"/>
            <a:ext cx="3544824" cy="6400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8367" y="1865376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B7F72"/>
                </a:solidFill>
                <a:latin typeface="Source Sans 3"/>
              </a:rPr>
              <a:t>TIER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5608" y="1847088"/>
            <a:ext cx="2447544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Family match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8367" y="2194560"/>
            <a:ext cx="3270504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ODC family?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8367" y="2578608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pre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08720" y="2596896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808720" y="2596896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Checking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8367" y="2907791"/>
            <a:ext cx="5029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post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808720" y="2926079"/>
            <a:ext cx="1463040" cy="28346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8720" y="2926079"/>
            <a:ext cx="1463040" cy="28346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Assignment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8367" y="3236976"/>
            <a:ext cx="327050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5A6270"/>
                </a:solidFill>
                <a:latin typeface="Source Sans 3"/>
              </a:rPr>
              <a:t>both Control and Data Flow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685032"/>
            <a:ext cx="11091672" cy="2560320"/>
          </a:xfrm>
          <a:prstGeom prst="rect">
            <a:avLst/>
          </a:prstGeom>
          <a:solidFill>
            <a:srgbClr val="FBF1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48640" y="3685032"/>
            <a:ext cx="64008" cy="25603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7240" y="3739896"/>
            <a:ext cx="731520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7791F"/>
                </a:solidFill>
                <a:latin typeface="Source Sans 3"/>
              </a:rPr>
              <a:t>TIER 4  </a:t>
            </a:r>
            <a:r>
              <a:rPr sz="1900" b="1" i="0">
                <a:solidFill>
                  <a:srgbClr val="12284C"/>
                </a:solidFill>
                <a:latin typeface="Source Sans 3"/>
              </a:rPr>
              <a:t>Cohen’s κ: is the agreement more than luck?</a:t>
            </a:r>
          </a:p>
        </p:txBody>
      </p:sp>
      <p:sp>
        <p:nvSpPr>
          <p:cNvPr id="56" name="Oval 55"/>
          <p:cNvSpPr/>
          <p:nvPr/>
        </p:nvSpPr>
        <p:spPr>
          <a:xfrm>
            <a:off x="777240" y="4197096"/>
            <a:ext cx="310896" cy="310896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" y="4197096"/>
            <a:ext cx="31089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ource Sans 3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07008" y="4160520"/>
            <a:ext cx="65836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How we calculate it: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Over all bugs, we take the share whose pre-fix and post-fix labels match, then subtract the share that would match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by chance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 given how often each run uses each type. κ = what is left ÷ what could be left.</a:t>
            </a:r>
          </a:p>
        </p:txBody>
      </p:sp>
      <p:sp>
        <p:nvSpPr>
          <p:cNvPr id="59" name="Oval 58"/>
          <p:cNvSpPr/>
          <p:nvPr/>
        </p:nvSpPr>
        <p:spPr>
          <a:xfrm>
            <a:off x="777240" y="5001768"/>
            <a:ext cx="310896" cy="310896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" y="5001768"/>
            <a:ext cx="31089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ource Sans 3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07008" y="4965192"/>
            <a:ext cx="65836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Why we need it: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Most bugs are Checking or Algorithm, so two runs agree often just by picking common types. κ removes that luck.</a:t>
            </a:r>
          </a:p>
        </p:txBody>
      </p:sp>
      <p:sp>
        <p:nvSpPr>
          <p:cNvPr id="62" name="Oval 61"/>
          <p:cNvSpPr/>
          <p:nvPr/>
        </p:nvSpPr>
        <p:spPr>
          <a:xfrm>
            <a:off x="777240" y="5605272"/>
            <a:ext cx="310896" cy="310896"/>
          </a:xfrm>
          <a:prstGeom prst="ellipse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5605272"/>
            <a:ext cx="31089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ource Sans 3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07008" y="5568696"/>
            <a:ext cx="6583680" cy="65836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B7791F"/>
                </a:solidFill>
                <a:latin typeface="Source Sans 3"/>
              </a:rPr>
              <a:t>How the result slides show it:  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In words, not numbers: 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“agreement well beyond chance”</a:t>
            </a:r>
            <a:r>
              <a:rPr sz="1400" b="0" i="0">
                <a:solidFill>
                  <a:srgbClr val="1C2128"/>
                </a:solidFill>
                <a:latin typeface="Source Sans 3"/>
              </a:rPr>
              <a:t>, “a real gain, not luck”. Exact values are in the book; scale from [27].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2440" y="4096512"/>
            <a:ext cx="33375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1">
                <a:solidFill>
                  <a:srgbClr val="5A6270"/>
                </a:solidFill>
                <a:latin typeface="Source Sans 3"/>
              </a:rPr>
              <a:t>Illustration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92440" y="4370832"/>
            <a:ext cx="3337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92440" y="4370832"/>
            <a:ext cx="1335024" cy="457200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427463" y="4370832"/>
            <a:ext cx="1001268" cy="45720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92440" y="4370832"/>
            <a:ext cx="1335024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chance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27463" y="4370832"/>
            <a:ext cx="1001268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Sans 3"/>
              </a:rPr>
              <a:t>real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92440" y="4846320"/>
            <a:ext cx="54864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789920" y="4846320"/>
            <a:ext cx="64008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100%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92440" y="5193792"/>
            <a:ext cx="333756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5A6270"/>
                </a:solidFill>
                <a:latin typeface="Source Sans 3"/>
              </a:rPr>
              <a:t>observed agreement = chance + real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9427463" y="5605272"/>
            <a:ext cx="2002537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cxnSp>
        <p:nvCxnSpPr>
          <p:cNvPr id="75" name="Connector 74"/>
          <p:cNvCxnSpPr/>
          <p:nvPr/>
        </p:nvCxnSpPr>
        <p:spPr>
          <a:xfrm>
            <a:off x="9427463" y="5513832"/>
            <a:ext cx="0" cy="18288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cxnSp>
        <p:nvCxnSpPr>
          <p:cNvPr id="76" name="Connector 75"/>
          <p:cNvCxnSpPr/>
          <p:nvPr/>
        </p:nvCxnSpPr>
        <p:spPr>
          <a:xfrm>
            <a:off x="11430000" y="5513832"/>
            <a:ext cx="0" cy="18288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77" name="TextBox 76"/>
          <p:cNvSpPr txBox="1"/>
          <p:nvPr/>
        </p:nvSpPr>
        <p:spPr>
          <a:xfrm>
            <a:off x="9061703" y="5696712"/>
            <a:ext cx="2368296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κ = real ÷ this span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Why the Post-Fix Label Is a Reliable Reference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14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07008"/>
            <a:ext cx="1109167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post-fix run is the same classifier given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one extra piece of evidence: the developer’s fix.</a:t>
            </a:r>
            <a:r>
              <a:rPr sz="1700" b="0" i="0">
                <a:solidFill>
                  <a:srgbClr val="1C2128"/>
                </a:solidFill>
                <a:latin typeface="Source Sans 3"/>
              </a:rPr>
              <a:t> Four reasons make it the better-informed rater.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1856231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1856231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1810512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It sees what defines the answer.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231136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In ODC, the Defect Type is the nature of the correction [4, 15]. Pre-fix has to guess the correction from symptoms; post-fix can read it.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86207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9418320" y="1883664"/>
            <a:ext cx="2221992" cy="384048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0" y="1883664"/>
            <a:ext cx="22219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A23B3B"/>
                </a:solidFill>
                <a:latin typeface="Source Code Pro"/>
              </a:rPr>
              <a:t>− buggy 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340864"/>
            <a:ext cx="2221992" cy="384048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2340864"/>
            <a:ext cx="2221992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2F7D4F"/>
                </a:solidFill>
                <a:latin typeface="Source Code Pro"/>
              </a:rPr>
              <a:t>+ fixed line</a:t>
            </a:r>
          </a:p>
        </p:txBody>
      </p:sp>
      <p:sp>
        <p:nvSpPr>
          <p:cNvPr id="24" name="Oval 23"/>
          <p:cNvSpPr/>
          <p:nvPr/>
        </p:nvSpPr>
        <p:spPr>
          <a:xfrm>
            <a:off x="548640" y="2971800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971800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2926080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More evidence makes raters agree.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3346704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Human raters agree far more when they see the code and the change than when they read only a fault description [22–26].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3977639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9555480" y="3777203"/>
            <a:ext cx="502920" cy="90708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3502883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A23B3B"/>
                </a:solidFill>
                <a:latin typeface="Source Sans 3"/>
              </a:rPr>
              <a:t>κ 0.16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287000" y="3471062"/>
            <a:ext cx="502920" cy="396849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0" y="3196742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B7791F"/>
                </a:solidFill>
                <a:latin typeface="Source Sans 3"/>
              </a:rPr>
              <a:t>κ 0.70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18520" y="3340668"/>
            <a:ext cx="502920" cy="527243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81360" y="3066348"/>
            <a:ext cx="777240" cy="2560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F7D4F"/>
                </a:solidFill>
                <a:latin typeface="Source Sans 3"/>
              </a:rPr>
              <a:t>κ 0.93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418320" y="3867912"/>
            <a:ext cx="2221992" cy="0"/>
          </a:xfrm>
          <a:prstGeom prst="line">
            <a:avLst/>
          </a:prstGeom>
          <a:ln w="9525">
            <a:solidFill>
              <a:srgbClr val="8A919C"/>
            </a:solidFill>
          </a:ln>
        </p:spPr>
      </p:cxnSp>
      <p:sp>
        <p:nvSpPr>
          <p:cNvPr id="36" name="Oval 35"/>
          <p:cNvSpPr/>
          <p:nvPr/>
        </p:nvSpPr>
        <p:spPr>
          <a:xfrm>
            <a:off x="548640" y="4087368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087368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041648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It points at one specific fault.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88720" y="4462272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 buggy version holds about 9.2 faults [29]. The fix diff shows exactly the one the benchmark bug is about.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48640" y="509320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9646920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857232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67544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277856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488168" y="4416552"/>
            <a:ext cx="173736" cy="173736"/>
          </a:xfrm>
          <a:prstGeom prst="ellipse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698480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08792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19104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329416" y="4416552"/>
            <a:ext cx="173736" cy="173736"/>
          </a:xfrm>
          <a:prstGeom prst="ellipse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18320" y="4645152"/>
            <a:ext cx="22219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the fix repairs one</a:t>
            </a:r>
          </a:p>
        </p:txBody>
      </p:sp>
      <p:sp>
        <p:nvSpPr>
          <p:cNvPr id="51" name="Oval 50"/>
          <p:cNvSpPr/>
          <p:nvPr/>
        </p:nvSpPr>
        <p:spPr>
          <a:xfrm>
            <a:off x="548640" y="5202936"/>
            <a:ext cx="457200" cy="457200"/>
          </a:xfrm>
          <a:prstGeom prst="ellipse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202936"/>
            <a:ext cx="45720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88720" y="5157216"/>
            <a:ext cx="7863840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Nothing else changes.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88720" y="5577840"/>
            <a:ext cx="786384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Same model, same prompt, same taxonomy, same evidence. Any difference between the two labels comes from the fix alone.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0" y="5230368"/>
            <a:ext cx="7772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pre-fix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41280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543032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44784" y="53035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418320" y="5687568"/>
            <a:ext cx="7772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post-fix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241280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543032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844784" y="5760720"/>
            <a:ext cx="237744" cy="237744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1146536" y="5760720"/>
            <a:ext cx="475488" cy="23774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46536" y="5760720"/>
            <a:ext cx="475488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Source Sans 3"/>
              </a:rPr>
              <a:t>+fix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Experimental Setup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47004" y="6757416"/>
            <a:ext cx="1056132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15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475488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410 BUGS FROM 6 PROJECTS  ·  ONE SQUARE PER 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782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241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0700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53619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70078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6537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2996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9456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5915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2374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8833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85292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1752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8211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34670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51129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7588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84048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00507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6966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34256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98848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663440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828032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92624" y="169164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1323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782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241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37160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53619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0078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86537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2996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19456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5915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68833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85292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01752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8211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4670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51129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7588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4048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0507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16966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34256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498848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663440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28032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992624" y="1856232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4864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1323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7782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241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20700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3619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70078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86537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02996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19456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35915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52374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68833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85292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1752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18211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34670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1129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67588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84048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0507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6966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334256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98848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63440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828032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992624" y="2020824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864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323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241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0700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37160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3619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0078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86537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02996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219456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35915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252374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8833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85292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01752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318211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34670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351129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367588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84048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00507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16966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4334256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4498848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663440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828032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992624" y="2185416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4864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71323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7782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4241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20700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37160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53619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70078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86537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02996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219456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235915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52374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8833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85292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301752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8211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34670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51129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67588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84048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00507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16966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334256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498848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63440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4828032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992624" y="2350008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4864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71323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782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42416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207008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37160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153619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70078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1865376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029968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2194560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2359152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523744" y="2514600"/>
            <a:ext cx="128016" cy="128016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268833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85292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301752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318211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334670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51129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67588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384048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400507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416966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334256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4498848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4663440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4828032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992624" y="2514600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54864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71323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7782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104241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20700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137160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53619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70078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86537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202996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219456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235915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252374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268833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285292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301752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318211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334670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351129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367588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384048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400507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416966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4334256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4498848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4663440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828032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992624" y="2679192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54864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71323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7782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04241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20700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137160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153619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70078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186537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202996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219456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235915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252374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268833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285292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301752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318211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334670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351129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367588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384048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400507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416966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4334256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4498848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4663440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4828032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4992624" y="2843784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54864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71323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87782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104241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120700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137160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153619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170078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186537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202996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219456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235915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252374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268833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285292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301752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318211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334670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351129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367588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384048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400507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416966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4334256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498848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4663440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4828032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4992624" y="3008376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548640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713232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877824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1042416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1207008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371600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1536192" y="3172968"/>
            <a:ext cx="128016" cy="128016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170078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186537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202996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219456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235915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252374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268833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285292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301752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318211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334670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351129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367588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384048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400507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416966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4334256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4498848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4663440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4828032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4992624" y="3172968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54864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71323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87782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104241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120700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137160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153619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170078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186537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202996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219456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235915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252374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268833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285292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301752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318211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334670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51129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367588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384048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400507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416966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4334256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4498848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4663440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4828032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4992624" y="3337560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54864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1323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877824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1042416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1207008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137160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153619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1700784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1865376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2029968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194560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2359152" y="3502152"/>
            <a:ext cx="128016" cy="128016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252374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68833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285292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301752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8211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334670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351129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367588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384048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00507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416966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4334256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498848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4663440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4828032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992624" y="3502152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54864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71323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87782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04241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20700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37160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53619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70078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6537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202996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219456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235915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52374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68833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85292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301752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318211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3346704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3511296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3675888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3840480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4005072" y="3666744"/>
            <a:ext cx="128016" cy="128016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4169664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4334256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4498848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4663440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4828032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4992624" y="3666744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54864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71323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87782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04241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20700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37160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53619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170078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186537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02996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219456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235915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252374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268833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285292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3017520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3182112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3346704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3511296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3675888" y="3831336"/>
            <a:ext cx="128016" cy="128016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3840480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4005072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4169664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4334256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4498848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4663440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4828032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4992624" y="3831336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54864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71323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87782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04241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20700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37160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153619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170078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186537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202996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219456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235915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252374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2688336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2852928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017520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3182112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3346704" y="3995928"/>
            <a:ext cx="128016" cy="128016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4443984"/>
            <a:ext cx="201168" cy="2011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41247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Closure 153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2121408" y="4443984"/>
            <a:ext cx="201168" cy="201168"/>
          </a:xfrm>
          <a:prstGeom prst="rect">
            <a:avLst/>
          </a:prstGeom>
          <a:solidFill>
            <a:srgbClr val="2440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2414015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Math 106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3694176" y="4443984"/>
            <a:ext cx="201168" cy="201168"/>
          </a:xfrm>
          <a:prstGeom prst="rect">
            <a:avLst/>
          </a:prstGeom>
          <a:solidFill>
            <a:srgbClr val="3A5A8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3986784" y="434340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Lang 61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548640" y="4855464"/>
            <a:ext cx="201168" cy="201168"/>
          </a:xfrm>
          <a:prstGeom prst="rect">
            <a:avLst/>
          </a:prstGeom>
          <a:solidFill>
            <a:srgbClr val="5E789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841247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Mockito 38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2121408" y="4855464"/>
            <a:ext cx="201168" cy="201168"/>
          </a:xfrm>
          <a:prstGeom prst="rect">
            <a:avLst/>
          </a:prstGeom>
          <a:solidFill>
            <a:srgbClr val="8A9EB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2414015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Chart 26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3694176" y="4855464"/>
            <a:ext cx="201168" cy="201168"/>
          </a:xfrm>
          <a:prstGeom prst="rect">
            <a:avLst/>
          </a:prstGeom>
          <a:solidFill>
            <a:srgbClr val="B3C0D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3986784" y="4754880"/>
            <a:ext cx="1280160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Time 26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5577840" y="128016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WE RAN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5577840" y="169164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Main study  ·  Gemini 3.1 Flash-Lite</a:t>
            </a:r>
          </a:p>
        </p:txBody>
      </p:sp>
      <p:sp>
        <p:nvSpPr>
          <p:cNvPr id="439" name="Rectangle 438"/>
          <p:cNvSpPr/>
          <p:nvPr/>
        </p:nvSpPr>
        <p:spPr>
          <a:xfrm>
            <a:off x="5577840" y="210312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0" name="TextBox 439"/>
          <p:cNvSpPr txBox="1"/>
          <p:nvPr/>
        </p:nvSpPr>
        <p:spPr>
          <a:xfrm>
            <a:off x="5577840" y="210312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410 bugs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6583679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6876288" y="210312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6876288" y="210312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scientific + few-shot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8705088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45" name="Rectangle 444"/>
          <p:cNvSpPr/>
          <p:nvPr/>
        </p:nvSpPr>
        <p:spPr>
          <a:xfrm>
            <a:off x="8997696" y="210312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6" name="TextBox 445"/>
          <p:cNvSpPr txBox="1"/>
          <p:nvPr/>
        </p:nvSpPr>
        <p:spPr>
          <a:xfrm>
            <a:off x="8997696" y="210312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47" name="TextBox 446"/>
          <p:cNvSpPr txBox="1"/>
          <p:nvPr/>
        </p:nvSpPr>
        <p:spPr>
          <a:xfrm>
            <a:off x="10049256" y="210312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10341864" y="2103120"/>
            <a:ext cx="1298448" cy="53035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10341864" y="210312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FFFFFF"/>
                </a:solidFill>
                <a:latin typeface="Source Sans 3"/>
              </a:rPr>
              <a:t>1,640</a:t>
            </a:r>
            <a:r>
              <a:rPr sz="1400" b="0" i="0">
                <a:solidFill>
                  <a:srgbClr val="FFFFFF"/>
                </a:solidFill>
                <a:latin typeface="Source Sans 3"/>
              </a:rPr>
              <a:t> runs</a:t>
            </a:r>
          </a:p>
        </p:txBody>
      </p:sp>
      <p:sp>
        <p:nvSpPr>
          <p:cNvPr id="450" name="TextBox 449"/>
          <p:cNvSpPr txBox="1"/>
          <p:nvPr/>
        </p:nvSpPr>
        <p:spPr>
          <a:xfrm>
            <a:off x="5577840" y="297180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Baseline for RQ4a  ·  Gemini 3.1 Flash-Lite</a:t>
            </a:r>
          </a:p>
        </p:txBody>
      </p:sp>
      <p:sp>
        <p:nvSpPr>
          <p:cNvPr id="451" name="Rectangle 450"/>
          <p:cNvSpPr/>
          <p:nvPr/>
        </p:nvSpPr>
        <p:spPr>
          <a:xfrm>
            <a:off x="5577840" y="338328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2" name="TextBox 451"/>
          <p:cNvSpPr txBox="1"/>
          <p:nvPr/>
        </p:nvSpPr>
        <p:spPr>
          <a:xfrm>
            <a:off x="5577840" y="338328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410 bugs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583679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6876288" y="338328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6876288" y="338328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zero-free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8705088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57" name="Rectangle 456"/>
          <p:cNvSpPr/>
          <p:nvPr/>
        </p:nvSpPr>
        <p:spPr>
          <a:xfrm>
            <a:off x="8997696" y="338328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8" name="TextBox 457"/>
          <p:cNvSpPr txBox="1"/>
          <p:nvPr/>
        </p:nvSpPr>
        <p:spPr>
          <a:xfrm>
            <a:off x="8997696" y="338328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0049256" y="338328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10341864" y="3383280"/>
            <a:ext cx="1298448" cy="5303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10341864" y="338328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820</a:t>
            </a:r>
            <a:r>
              <a:rPr sz="1400" b="0" i="0">
                <a:solidFill>
                  <a:srgbClr val="12284C"/>
                </a:solidFill>
                <a:latin typeface="Source Sans 3"/>
              </a:rPr>
              <a:t> runs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5577840" y="4251960"/>
            <a:ext cx="606247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Cross-model check  ·  gpt-5-mini</a:t>
            </a:r>
          </a:p>
        </p:txBody>
      </p:sp>
      <p:sp>
        <p:nvSpPr>
          <p:cNvPr id="463" name="Rectangle 462"/>
          <p:cNvSpPr/>
          <p:nvPr/>
        </p:nvSpPr>
        <p:spPr>
          <a:xfrm>
            <a:off x="5577840" y="4663440"/>
            <a:ext cx="100584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5577840" y="4663440"/>
            <a:ext cx="100584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13 bugs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6583679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6876288" y="4663440"/>
            <a:ext cx="182880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7" name="TextBox 466"/>
          <p:cNvSpPr txBox="1"/>
          <p:nvPr/>
        </p:nvSpPr>
        <p:spPr>
          <a:xfrm>
            <a:off x="6876288" y="4663440"/>
            <a:ext cx="182880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scientific + few-shot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8705088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×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8997696" y="4663440"/>
            <a:ext cx="1051560" cy="53035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8997696" y="4663440"/>
            <a:ext cx="1051560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C2128"/>
                </a:solidFill>
                <a:latin typeface="Source Sans 3"/>
              </a:rPr>
              <a:t>pre + post</a:t>
            </a:r>
          </a:p>
        </p:txBody>
      </p:sp>
      <p:sp>
        <p:nvSpPr>
          <p:cNvPr id="471" name="TextBox 470"/>
          <p:cNvSpPr txBox="1"/>
          <p:nvPr/>
        </p:nvSpPr>
        <p:spPr>
          <a:xfrm>
            <a:off x="10049256" y="4663440"/>
            <a:ext cx="29260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=</a:t>
            </a:r>
          </a:p>
        </p:txBody>
      </p:sp>
      <p:sp>
        <p:nvSpPr>
          <p:cNvPr id="472" name="Rectangle 471"/>
          <p:cNvSpPr/>
          <p:nvPr/>
        </p:nvSpPr>
        <p:spPr>
          <a:xfrm>
            <a:off x="10341864" y="4663440"/>
            <a:ext cx="1298448" cy="530352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3" name="TextBox 472"/>
          <p:cNvSpPr txBox="1"/>
          <p:nvPr/>
        </p:nvSpPr>
        <p:spPr>
          <a:xfrm>
            <a:off x="10341864" y="4663440"/>
            <a:ext cx="1298448" cy="53035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52</a:t>
            </a:r>
            <a:r>
              <a:rPr sz="1400" b="0" i="0">
                <a:solidFill>
                  <a:srgbClr val="12284C"/>
                </a:solidFill>
                <a:latin typeface="Source Sans 3"/>
              </a:rPr>
              <a:t> runs</a:t>
            </a:r>
          </a:p>
        </p:txBody>
      </p:sp>
      <p:sp>
        <p:nvSpPr>
          <p:cNvPr id="474" name="Rectangle 473"/>
          <p:cNvSpPr/>
          <p:nvPr/>
        </p:nvSpPr>
        <p:spPr>
          <a:xfrm>
            <a:off x="548640" y="566928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5" name="TextBox 474"/>
          <p:cNvSpPr txBox="1"/>
          <p:nvPr/>
        </p:nvSpPr>
        <p:spPr>
          <a:xfrm>
            <a:off x="777240" y="5669280"/>
            <a:ext cx="1088136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The 13 cross-model bugs are the ones we also read by hand.  Reporting follows the LLM study guidelines [28].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RQ1–RQ2: Distribution and Coverage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16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80160"/>
            <a:ext cx="685800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RQ1  ·  410 PRE-FIX LABELS, ONE SQUARE PER 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801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4630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288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116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945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774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603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432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260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747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404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233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062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891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548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9377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12064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0352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0" y="16642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972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2801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4630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6459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8288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0116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1945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774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7432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260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1089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918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747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6576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404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0233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2062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3891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5720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7548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9377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12064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0352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48640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6928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852160" y="18470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86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315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144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972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2801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630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6459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8288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0116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21945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23774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5603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7432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9260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1089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918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4747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6576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8404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0233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2062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3891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5720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7548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9377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2064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0352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48640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66928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852160" y="202996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486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315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144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972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2801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4630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6459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8288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0116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1945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3774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25603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7432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260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1089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2918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34747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36576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38404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40233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42062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43891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45720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7548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9377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512064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30352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48640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66928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852160" y="221284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486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315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144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0972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2801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4630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6459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8288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0116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1945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3774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25603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27432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29260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1089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32918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34747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6576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38404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40233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42062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43891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45720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7548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9377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512064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30352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548640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566928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5852160" y="239572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5486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7315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144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10972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12801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14630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459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18288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20116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1945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3774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5603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7432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260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1089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2918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4747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6576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38404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0233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2062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43891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45720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47548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49377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12064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530352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548640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566928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5852160" y="257860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5486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7315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9144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10972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2801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14630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16459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18288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20116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21945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23774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25603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27432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292608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310896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329184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347472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3657600" y="2761488"/>
            <a:ext cx="141732" cy="141732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38404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40233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420624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438912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457200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7548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49377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512064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530352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48640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566928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5852160" y="27614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5486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7315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7" name="Rectangle 226"/>
          <p:cNvSpPr/>
          <p:nvPr/>
        </p:nvSpPr>
        <p:spPr>
          <a:xfrm>
            <a:off x="9144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0972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12801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0" name="Rectangle 229"/>
          <p:cNvSpPr/>
          <p:nvPr/>
        </p:nvSpPr>
        <p:spPr>
          <a:xfrm>
            <a:off x="14630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1" name="Rectangle 230"/>
          <p:cNvSpPr/>
          <p:nvPr/>
        </p:nvSpPr>
        <p:spPr>
          <a:xfrm>
            <a:off x="16459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8288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3" name="Rectangle 232"/>
          <p:cNvSpPr/>
          <p:nvPr/>
        </p:nvSpPr>
        <p:spPr>
          <a:xfrm>
            <a:off x="20116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21945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5" name="Rectangle 234"/>
          <p:cNvSpPr/>
          <p:nvPr/>
        </p:nvSpPr>
        <p:spPr>
          <a:xfrm>
            <a:off x="23774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6" name="Rectangle 235"/>
          <p:cNvSpPr/>
          <p:nvPr/>
        </p:nvSpPr>
        <p:spPr>
          <a:xfrm>
            <a:off x="25603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27432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Rectangle 237"/>
          <p:cNvSpPr/>
          <p:nvPr/>
        </p:nvSpPr>
        <p:spPr>
          <a:xfrm>
            <a:off x="29260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9" name="Rectangle 238"/>
          <p:cNvSpPr/>
          <p:nvPr/>
        </p:nvSpPr>
        <p:spPr>
          <a:xfrm>
            <a:off x="31089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Rectangle 239"/>
          <p:cNvSpPr/>
          <p:nvPr/>
        </p:nvSpPr>
        <p:spPr>
          <a:xfrm>
            <a:off x="32918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34747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Rectangle 241"/>
          <p:cNvSpPr/>
          <p:nvPr/>
        </p:nvSpPr>
        <p:spPr>
          <a:xfrm>
            <a:off x="36576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3" name="Rectangle 242"/>
          <p:cNvSpPr/>
          <p:nvPr/>
        </p:nvSpPr>
        <p:spPr>
          <a:xfrm>
            <a:off x="38404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40233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42062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6" name="Rectangle 245"/>
          <p:cNvSpPr/>
          <p:nvPr/>
        </p:nvSpPr>
        <p:spPr>
          <a:xfrm>
            <a:off x="43891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7" name="Rectangle 246"/>
          <p:cNvSpPr/>
          <p:nvPr/>
        </p:nvSpPr>
        <p:spPr>
          <a:xfrm>
            <a:off x="45720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Rectangle 247"/>
          <p:cNvSpPr/>
          <p:nvPr/>
        </p:nvSpPr>
        <p:spPr>
          <a:xfrm>
            <a:off x="47548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9" name="Rectangle 248"/>
          <p:cNvSpPr/>
          <p:nvPr/>
        </p:nvSpPr>
        <p:spPr>
          <a:xfrm>
            <a:off x="49377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0" name="Rectangle 249"/>
          <p:cNvSpPr/>
          <p:nvPr/>
        </p:nvSpPr>
        <p:spPr>
          <a:xfrm>
            <a:off x="512064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1" name="Rectangle 250"/>
          <p:cNvSpPr/>
          <p:nvPr/>
        </p:nvSpPr>
        <p:spPr>
          <a:xfrm>
            <a:off x="530352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2" name="Rectangle 251"/>
          <p:cNvSpPr/>
          <p:nvPr/>
        </p:nvSpPr>
        <p:spPr>
          <a:xfrm>
            <a:off x="548640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66928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4" name="Rectangle 253"/>
          <p:cNvSpPr/>
          <p:nvPr/>
        </p:nvSpPr>
        <p:spPr>
          <a:xfrm>
            <a:off x="5852160" y="29443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5" name="Rectangle 254"/>
          <p:cNvSpPr/>
          <p:nvPr/>
        </p:nvSpPr>
        <p:spPr>
          <a:xfrm>
            <a:off x="5486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6" name="Rectangle 255"/>
          <p:cNvSpPr/>
          <p:nvPr/>
        </p:nvSpPr>
        <p:spPr>
          <a:xfrm>
            <a:off x="7315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7" name="Rectangle 256"/>
          <p:cNvSpPr/>
          <p:nvPr/>
        </p:nvSpPr>
        <p:spPr>
          <a:xfrm>
            <a:off x="9144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8" name="Rectangle 257"/>
          <p:cNvSpPr/>
          <p:nvPr/>
        </p:nvSpPr>
        <p:spPr>
          <a:xfrm>
            <a:off x="10972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Rectangle 258"/>
          <p:cNvSpPr/>
          <p:nvPr/>
        </p:nvSpPr>
        <p:spPr>
          <a:xfrm>
            <a:off x="12801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0" name="Rectangle 259"/>
          <p:cNvSpPr/>
          <p:nvPr/>
        </p:nvSpPr>
        <p:spPr>
          <a:xfrm>
            <a:off x="14630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1" name="Rectangle 260"/>
          <p:cNvSpPr/>
          <p:nvPr/>
        </p:nvSpPr>
        <p:spPr>
          <a:xfrm>
            <a:off x="16459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18288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20116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21945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23774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25603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Rectangle 266"/>
          <p:cNvSpPr/>
          <p:nvPr/>
        </p:nvSpPr>
        <p:spPr>
          <a:xfrm>
            <a:off x="27432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8" name="Rectangle 267"/>
          <p:cNvSpPr/>
          <p:nvPr/>
        </p:nvSpPr>
        <p:spPr>
          <a:xfrm>
            <a:off x="29260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31089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32918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34747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36576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38404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40233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42062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43891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7" name="Rectangle 276"/>
          <p:cNvSpPr/>
          <p:nvPr/>
        </p:nvSpPr>
        <p:spPr>
          <a:xfrm>
            <a:off x="45720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47548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49377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512064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530352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48640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3" name="Rectangle 282"/>
          <p:cNvSpPr/>
          <p:nvPr/>
        </p:nvSpPr>
        <p:spPr>
          <a:xfrm>
            <a:off x="566928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5852160" y="312724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5" name="Rectangle 284"/>
          <p:cNvSpPr/>
          <p:nvPr/>
        </p:nvSpPr>
        <p:spPr>
          <a:xfrm>
            <a:off x="5486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6" name="Rectangle 285"/>
          <p:cNvSpPr/>
          <p:nvPr/>
        </p:nvSpPr>
        <p:spPr>
          <a:xfrm>
            <a:off x="7315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Rectangle 286"/>
          <p:cNvSpPr/>
          <p:nvPr/>
        </p:nvSpPr>
        <p:spPr>
          <a:xfrm>
            <a:off x="9144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8" name="Rectangle 287"/>
          <p:cNvSpPr/>
          <p:nvPr/>
        </p:nvSpPr>
        <p:spPr>
          <a:xfrm>
            <a:off x="10972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9" name="Rectangle 288"/>
          <p:cNvSpPr/>
          <p:nvPr/>
        </p:nvSpPr>
        <p:spPr>
          <a:xfrm>
            <a:off x="12801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14630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16459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18288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0116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21945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23774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25603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27432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29260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1089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2918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4747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6576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8404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40233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42062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43891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45720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47548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49377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512064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530352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548640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566928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852160" y="331012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486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15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9144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10972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12801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14630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16459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18288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20116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21945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23774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25603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27432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29260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31089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2918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4747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576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8404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0233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2062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3891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720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47548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49377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512064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530352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548640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566928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5852160" y="349300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5486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7315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9144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0972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801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4630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459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8288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20116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21945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23774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25603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27432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29260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31089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32918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34747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36576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38404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0233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42062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43891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5720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47548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49377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512064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530352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48640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566928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5852160" y="367588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486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7315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9144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109728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128016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14630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16459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18288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01168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19456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37744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56032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43200" y="3858768"/>
            <a:ext cx="141732" cy="141732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9260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9" name="Rectangle 388"/>
          <p:cNvSpPr/>
          <p:nvPr/>
        </p:nvSpPr>
        <p:spPr>
          <a:xfrm>
            <a:off x="31089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0" name="Rectangle 389"/>
          <p:cNvSpPr/>
          <p:nvPr/>
        </p:nvSpPr>
        <p:spPr>
          <a:xfrm>
            <a:off x="32918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1" name="Rectangle 390"/>
          <p:cNvSpPr/>
          <p:nvPr/>
        </p:nvSpPr>
        <p:spPr>
          <a:xfrm>
            <a:off x="34747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2" name="Rectangle 391"/>
          <p:cNvSpPr/>
          <p:nvPr/>
        </p:nvSpPr>
        <p:spPr>
          <a:xfrm>
            <a:off x="36576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3" name="Rectangle 392"/>
          <p:cNvSpPr/>
          <p:nvPr/>
        </p:nvSpPr>
        <p:spPr>
          <a:xfrm>
            <a:off x="38404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4" name="Rectangle 393"/>
          <p:cNvSpPr/>
          <p:nvPr/>
        </p:nvSpPr>
        <p:spPr>
          <a:xfrm>
            <a:off x="40233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5" name="Rectangle 394"/>
          <p:cNvSpPr/>
          <p:nvPr/>
        </p:nvSpPr>
        <p:spPr>
          <a:xfrm>
            <a:off x="42062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6" name="Rectangle 395"/>
          <p:cNvSpPr/>
          <p:nvPr/>
        </p:nvSpPr>
        <p:spPr>
          <a:xfrm>
            <a:off x="43891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7" name="Rectangle 396"/>
          <p:cNvSpPr/>
          <p:nvPr/>
        </p:nvSpPr>
        <p:spPr>
          <a:xfrm>
            <a:off x="45720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47548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9" name="Rectangle 398"/>
          <p:cNvSpPr/>
          <p:nvPr/>
        </p:nvSpPr>
        <p:spPr>
          <a:xfrm>
            <a:off x="49377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0" name="Rectangle 399"/>
          <p:cNvSpPr/>
          <p:nvPr/>
        </p:nvSpPr>
        <p:spPr>
          <a:xfrm>
            <a:off x="512064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1" name="Rectangle 400"/>
          <p:cNvSpPr/>
          <p:nvPr/>
        </p:nvSpPr>
        <p:spPr>
          <a:xfrm>
            <a:off x="530352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548640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3" name="Rectangle 402"/>
          <p:cNvSpPr/>
          <p:nvPr/>
        </p:nvSpPr>
        <p:spPr>
          <a:xfrm>
            <a:off x="566928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4" name="Rectangle 403"/>
          <p:cNvSpPr/>
          <p:nvPr/>
        </p:nvSpPr>
        <p:spPr>
          <a:xfrm>
            <a:off x="5852160" y="385876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5" name="Rectangle 404"/>
          <p:cNvSpPr/>
          <p:nvPr/>
        </p:nvSpPr>
        <p:spPr>
          <a:xfrm>
            <a:off x="5486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73152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7" name="Rectangle 406"/>
          <p:cNvSpPr/>
          <p:nvPr/>
        </p:nvSpPr>
        <p:spPr>
          <a:xfrm>
            <a:off x="91440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8" name="Rectangle 407"/>
          <p:cNvSpPr/>
          <p:nvPr/>
        </p:nvSpPr>
        <p:spPr>
          <a:xfrm>
            <a:off x="109728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9" name="Rectangle 408"/>
          <p:cNvSpPr/>
          <p:nvPr/>
        </p:nvSpPr>
        <p:spPr>
          <a:xfrm>
            <a:off x="128016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14630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1" name="Rectangle 410"/>
          <p:cNvSpPr/>
          <p:nvPr/>
        </p:nvSpPr>
        <p:spPr>
          <a:xfrm>
            <a:off x="164592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2" name="Rectangle 411"/>
          <p:cNvSpPr/>
          <p:nvPr/>
        </p:nvSpPr>
        <p:spPr>
          <a:xfrm>
            <a:off x="182880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3" name="Rectangle 412"/>
          <p:cNvSpPr/>
          <p:nvPr/>
        </p:nvSpPr>
        <p:spPr>
          <a:xfrm>
            <a:off x="201168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219456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2377440" y="4041648"/>
            <a:ext cx="141732" cy="141732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6" name="Rectangle 415"/>
          <p:cNvSpPr/>
          <p:nvPr/>
        </p:nvSpPr>
        <p:spPr>
          <a:xfrm>
            <a:off x="256032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7" name="Rectangle 416"/>
          <p:cNvSpPr/>
          <p:nvPr/>
        </p:nvSpPr>
        <p:spPr>
          <a:xfrm>
            <a:off x="274320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292608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9" name="Rectangle 418"/>
          <p:cNvSpPr/>
          <p:nvPr/>
        </p:nvSpPr>
        <p:spPr>
          <a:xfrm>
            <a:off x="310896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0" name="Rectangle 419"/>
          <p:cNvSpPr/>
          <p:nvPr/>
        </p:nvSpPr>
        <p:spPr>
          <a:xfrm>
            <a:off x="3291840" y="4041648"/>
            <a:ext cx="141732" cy="141732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1" name="Rectangle 420"/>
          <p:cNvSpPr/>
          <p:nvPr/>
        </p:nvSpPr>
        <p:spPr>
          <a:xfrm>
            <a:off x="347472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365760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3" name="Rectangle 422"/>
          <p:cNvSpPr/>
          <p:nvPr/>
        </p:nvSpPr>
        <p:spPr>
          <a:xfrm>
            <a:off x="3840480" y="4041648"/>
            <a:ext cx="141732" cy="141732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4" name="Rectangle 423"/>
          <p:cNvSpPr/>
          <p:nvPr/>
        </p:nvSpPr>
        <p:spPr>
          <a:xfrm>
            <a:off x="4023360" y="4041648"/>
            <a:ext cx="141732" cy="141732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5" name="Rectangle 424"/>
          <p:cNvSpPr/>
          <p:nvPr/>
        </p:nvSpPr>
        <p:spPr>
          <a:xfrm>
            <a:off x="548640" y="4462272"/>
            <a:ext cx="201168" cy="201168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6" name="TextBox 425"/>
          <p:cNvSpPr txBox="1"/>
          <p:nvPr/>
        </p:nvSpPr>
        <p:spPr>
          <a:xfrm>
            <a:off x="841247" y="4389120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Checking  48.3%</a:t>
            </a:r>
          </a:p>
        </p:txBody>
      </p:sp>
      <p:sp>
        <p:nvSpPr>
          <p:cNvPr id="427" name="Rectangle 426"/>
          <p:cNvSpPr/>
          <p:nvPr/>
        </p:nvSpPr>
        <p:spPr>
          <a:xfrm>
            <a:off x="4023359" y="4462272"/>
            <a:ext cx="201168" cy="201168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8" name="TextBox 427"/>
          <p:cNvSpPr txBox="1"/>
          <p:nvPr/>
        </p:nvSpPr>
        <p:spPr>
          <a:xfrm>
            <a:off x="4315968" y="4389120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Algorithm/Method  42.7%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548640" y="4864608"/>
            <a:ext cx="201168" cy="201168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0" name="TextBox 429"/>
          <p:cNvSpPr txBox="1"/>
          <p:nvPr/>
        </p:nvSpPr>
        <p:spPr>
          <a:xfrm>
            <a:off x="841247" y="4791456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Assignment  6.8%</a:t>
            </a:r>
          </a:p>
        </p:txBody>
      </p:sp>
      <p:sp>
        <p:nvSpPr>
          <p:cNvPr id="431" name="Rectangle 430"/>
          <p:cNvSpPr/>
          <p:nvPr/>
        </p:nvSpPr>
        <p:spPr>
          <a:xfrm>
            <a:off x="4023359" y="4864608"/>
            <a:ext cx="201168" cy="201168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2" name="TextBox 431"/>
          <p:cNvSpPr txBox="1"/>
          <p:nvPr/>
        </p:nvSpPr>
        <p:spPr>
          <a:xfrm>
            <a:off x="4315968" y="4791456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Relationship  1.2%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548640" y="5266944"/>
            <a:ext cx="201168" cy="201168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4" name="TextBox 433"/>
          <p:cNvSpPr txBox="1"/>
          <p:nvPr/>
        </p:nvSpPr>
        <p:spPr>
          <a:xfrm>
            <a:off x="841247" y="5193792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Function/Class  0.7%</a:t>
            </a:r>
          </a:p>
        </p:txBody>
      </p:sp>
      <p:sp>
        <p:nvSpPr>
          <p:cNvPr id="435" name="Rectangle 434"/>
          <p:cNvSpPr/>
          <p:nvPr/>
        </p:nvSpPr>
        <p:spPr>
          <a:xfrm>
            <a:off x="4023359" y="5266944"/>
            <a:ext cx="201168" cy="201168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6" name="TextBox 435"/>
          <p:cNvSpPr txBox="1"/>
          <p:nvPr/>
        </p:nvSpPr>
        <p:spPr>
          <a:xfrm>
            <a:off x="4315968" y="5193792"/>
            <a:ext cx="3108960" cy="34747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Interface  0.2%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548640" y="5669280"/>
            <a:ext cx="667512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97.8%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 in three Control and Data Flow types; Timing never occurs. Scientific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keeps the same mix in every project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; few-shot’s mix shifts by project.</a:t>
            </a:r>
          </a:p>
        </p:txBody>
      </p:sp>
      <p:sp>
        <p:nvSpPr>
          <p:cNvPr id="438" name="Rectangle 437"/>
          <p:cNvSpPr/>
          <p:nvPr/>
        </p:nvSpPr>
        <p:spPr>
          <a:xfrm>
            <a:off x="7635240" y="1280160"/>
            <a:ext cx="4005072" cy="46177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7909560" y="1417320"/>
            <a:ext cx="35478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RQ2  ·  THE “OTHER” CATEGORY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7909560" y="1737360"/>
            <a:ext cx="3547872" cy="10515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800" b="1" i="0">
                <a:solidFill>
                  <a:srgbClr val="12284C"/>
                </a:solidFill>
                <a:latin typeface="Source Sans 3"/>
              </a:rPr>
              <a:t>0</a:t>
            </a:r>
            <a:r>
              <a:rPr sz="2400" b="0" i="0">
                <a:solidFill>
                  <a:srgbClr val="5A6270"/>
                </a:solidFill>
                <a:latin typeface="Source Sans 3"/>
              </a:rPr>
              <a:t>  of 1,640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7909560" y="2788920"/>
            <a:ext cx="3547872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classifications chose “Other”, although it was offered every time.</a:t>
            </a:r>
          </a:p>
        </p:txBody>
      </p:sp>
      <p:cxnSp>
        <p:nvCxnSpPr>
          <p:cNvPr id="442" name="Connector 441"/>
          <p:cNvCxnSpPr/>
          <p:nvPr/>
        </p:nvCxnSpPr>
        <p:spPr>
          <a:xfrm>
            <a:off x="7909560" y="3566160"/>
            <a:ext cx="345643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443" name="TextBox 442"/>
          <p:cNvSpPr txBox="1"/>
          <p:nvPr/>
        </p:nvSpPr>
        <p:spPr>
          <a:xfrm>
            <a:off x="7909560" y="3886200"/>
            <a:ext cx="14173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&lt; 1 in 500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9372600" y="3886200"/>
            <a:ext cx="1993391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bugs could need “Other”, even in the worst case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7909560" y="4754880"/>
            <a:ext cx="1417320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2284C"/>
                </a:solidFill>
                <a:latin typeface="Source Sans 3"/>
              </a:rPr>
              <a:t>6 of 7</a:t>
            </a:r>
          </a:p>
        </p:txBody>
      </p:sp>
      <p:sp>
        <p:nvSpPr>
          <p:cNvPr id="446" name="TextBox 445"/>
          <p:cNvSpPr txBox="1"/>
          <p:nvPr/>
        </p:nvSpPr>
        <p:spPr>
          <a:xfrm>
            <a:off x="9372600" y="4754880"/>
            <a:ext cx="1993391" cy="6400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ODC types actually used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RQ3: Agreement with the Post-Fix Reference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17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265176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12284C"/>
                </a:solidFill>
                <a:latin typeface="Source Sans 3"/>
              </a:rPr>
              <a:t>70.2%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234440"/>
            <a:ext cx="8394192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288 of 410</a:t>
            </a:r>
            <a:r>
              <a:rPr sz="2000" b="0" i="0">
                <a:solidFill>
                  <a:srgbClr val="1C2128"/>
                </a:solidFill>
                <a:latin typeface="Source Sans 3"/>
              </a:rPr>
              <a:t> pre-fix labels match the post-fix label exactly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scientific strategy, the pipeline default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212848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ALL 410 BUGS  ·  HOW CLOSE IS THE PRE-FIX LABEL?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560320"/>
            <a:ext cx="7791223" cy="603504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560320"/>
            <a:ext cx="7791223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exact match  288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39863" y="2560320"/>
            <a:ext cx="3029920" cy="603504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863" y="2560320"/>
            <a:ext cx="3029920" cy="60350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near miss  112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369783" y="2560320"/>
            <a:ext cx="270528" cy="603504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200400"/>
            <a:ext cx="877824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near miss: the other label was listed as an alternative, or both share an ODC family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200400"/>
            <a:ext cx="231343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A23B3B"/>
                </a:solidFill>
                <a:latin typeface="Source Sans 3"/>
              </a:rPr>
              <a:t>unrelated  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39"/>
            <a:ext cx="3575304" cy="24871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06824" y="3749039"/>
            <a:ext cx="3575304" cy="24871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65008" y="3749039"/>
            <a:ext cx="3575304" cy="248716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840479"/>
            <a:ext cx="330098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Both strategies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343400"/>
            <a:ext cx="11887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scientific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54296"/>
            <a:ext cx="2254508" cy="25603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14428" y="4343400"/>
            <a:ext cx="13716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288 of 410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001768"/>
            <a:ext cx="118872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A6270"/>
                </a:solidFill>
                <a:latin typeface="Source Sans 3"/>
              </a:rPr>
              <a:t>few-shot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312664"/>
            <a:ext cx="2137086" cy="256032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97006" y="5001768"/>
            <a:ext cx="13716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5A6270"/>
                </a:solidFill>
                <a:latin typeface="Source Sans 3"/>
              </a:rPr>
              <a:t>273 of 410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50992"/>
            <a:ext cx="3300984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Scientific also agrees more once lucky matches are discounted.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9704" y="3840479"/>
            <a:ext cx="330098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284C"/>
                </a:solidFill>
                <a:latin typeface="Source Sans 3"/>
              </a:rPr>
              <a:t>76.3%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  the realistic ceiling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9704" y="4279392"/>
            <a:ext cx="3300984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With the fix visible, the two strategies agree on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313 of 410 bugs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.</a:t>
            </a:r>
          </a:p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Informed runs still differ on 1 in 4.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9704" y="5285231"/>
            <a:ext cx="3209544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two post-fix runs agree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76.3%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9704" y="5541264"/>
            <a:ext cx="2448882" cy="16459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9704" y="5742431"/>
            <a:ext cx="3209544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pre-fix matches post-fix</a:t>
            </a:r>
            <a:r>
              <a:rPr sz="1400" b="1" i="0">
                <a:solidFill>
                  <a:srgbClr val="2F7D4F"/>
                </a:solidFill>
                <a:latin typeface="Source Sans 3"/>
              </a:rPr>
              <a:t>  70.2%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9704" y="5998464"/>
            <a:ext cx="2253099" cy="164592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47888" y="3840479"/>
            <a:ext cx="330098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2284C"/>
                </a:solidFill>
                <a:latin typeface="Source Sans 3"/>
              </a:rPr>
              <a:t>93.2%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  answer is in the output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47888" y="4279392"/>
            <a:ext cx="3300984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For </a:t>
            </a:r>
            <a:r>
              <a:rPr sz="1500" b="1" i="0">
                <a:solidFill>
                  <a:srgbClr val="1C2128"/>
                </a:solidFill>
                <a:latin typeface="Source Sans 3"/>
              </a:rPr>
              <a:t>382 of 410 bugs</a:t>
            </a:r>
            <a:r>
              <a:rPr sz="1500" b="0" i="0">
                <a:solidFill>
                  <a:srgbClr val="1C2128"/>
                </a:solidFill>
                <a:latin typeface="Source Sans 3"/>
              </a:rPr>
              <a:t>, the post-fix type already appears in the pre-fix answer: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47888" y="5166359"/>
            <a:ext cx="868680" cy="3840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47888" y="5166359"/>
            <a:ext cx="868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288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08008" y="5166359"/>
            <a:ext cx="229514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 its main label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47888" y="5641848"/>
            <a:ext cx="868680" cy="38404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47888" y="5641848"/>
            <a:ext cx="86868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08008" y="5641848"/>
            <a:ext cx="2295144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 a listed alternative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RQ3: How Labels Change When the Fix Is Visible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18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61872"/>
            <a:ext cx="69494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PRE-FIX LABEL (ROW)  →  POST-FIX LABEL (COLUMN)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Checking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Algorithm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Assignment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1746504"/>
            <a:ext cx="11887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other types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" y="2148840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Checking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21991" y="2176272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10712" y="2176272"/>
            <a:ext cx="1133856" cy="6583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99432" y="2176272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88152" y="2176272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148840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1" y="2862072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Algorithm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21991" y="2889503"/>
            <a:ext cx="1133856" cy="65836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ource Sans 3"/>
              </a:rPr>
              <a:t>38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0712" y="2889503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8328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9432" y="2889503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88152" y="2889503"/>
            <a:ext cx="1133856" cy="658368"/>
          </a:xfrm>
          <a:prstGeom prst="rect">
            <a:avLst/>
          </a:prstGeom>
          <a:solidFill>
            <a:srgbClr val="9FB0C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20" y="2862072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1" y="3575304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Assignment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21991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10712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8328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99432" y="3602736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C2128"/>
                </a:solidFill>
                <a:latin typeface="Source Sans 3"/>
              </a:rPr>
              <a:t>18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88152" y="3602736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60720" y="3575304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1" y="4288536"/>
            <a:ext cx="16459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other types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21991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9456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10712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8328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99432" y="4315968"/>
            <a:ext cx="1133856" cy="658368"/>
          </a:xfrm>
          <a:prstGeom prst="rect">
            <a:avLst/>
          </a:prstGeom>
          <a:solidFill>
            <a:srgbClr val="DEE4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88152" y="4315968"/>
            <a:ext cx="1133856" cy="65836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60720" y="4288536"/>
            <a:ext cx="118872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21991" y="2176272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410712" y="2889503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99432" y="3602736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788152" y="4315968"/>
            <a:ext cx="1133856" cy="658368"/>
          </a:xfrm>
          <a:prstGeom prst="rect">
            <a:avLst/>
          </a:prstGeom>
          <a:noFill/>
          <a:ln w="22225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694944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outlined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the label did not change        </a:t>
            </a:r>
            <a:r>
              <a:rPr sz="1500" b="1" i="0">
                <a:solidFill>
                  <a:srgbClr val="12284C"/>
                </a:solidFill>
                <a:latin typeface="Source Sans 3"/>
              </a:rPr>
              <a:t>darker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more bugs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550408"/>
            <a:ext cx="731520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two dark cells cancel out: 38 bugs move one way, 37 the other.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863840" y="15087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29.8%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63840" y="20756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bugs change label (122 of 410)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7863840" y="2697480"/>
            <a:ext cx="37764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7863840" y="28803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80.3%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34472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changes stay in these three types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863840" y="4069080"/>
            <a:ext cx="37764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7" name="TextBox 66"/>
          <p:cNvSpPr txBox="1"/>
          <p:nvPr/>
        </p:nvSpPr>
        <p:spPr>
          <a:xfrm>
            <a:off x="7863840" y="4251960"/>
            <a:ext cx="3776472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About 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863840" y="4818888"/>
            <a:ext cx="3776472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of the overall type mix shifts: the totals barely move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5A6270"/>
                </a:solidFill>
                <a:latin typeface="Source Sans 3"/>
              </a:rPr>
              <a:t>Algorithm/Method vs Checking is also the boundary human raters confuse [22]; the fix shows one fault of several [29].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RQ4a: Contribution of the ODC Taxonomy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19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234440"/>
            <a:ext cx="5760720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A23B3B"/>
                </a:solidFill>
                <a:latin typeface="Source Sans 3"/>
              </a:rPr>
              <a:t>366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  different labels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737360"/>
            <a:ext cx="576072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when the model writes its own (zero-free, 410 bugs)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4709160"/>
            <a:ext cx="5760720" cy="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40080" y="400812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548640" y="386181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30708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48640" y="316077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10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0080" y="2606040"/>
            <a:ext cx="5760720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548640" y="2459736"/>
            <a:ext cx="2743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15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2606040"/>
            <a:ext cx="105156" cy="2103120"/>
          </a:xfrm>
          <a:prstGeom prst="rect">
            <a:avLst/>
          </a:prstGeom>
          <a:solidFill>
            <a:srgbClr val="A23B3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14983" y="4148328"/>
            <a:ext cx="105156" cy="560832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1288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07592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53895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00200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46504" y="4288536"/>
            <a:ext cx="105156" cy="420623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9280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3911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5415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478024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2432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7063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916936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063239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9544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0215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648456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94760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41063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87368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33672" y="4428744"/>
            <a:ext cx="105156" cy="280416"/>
          </a:xfrm>
          <a:prstGeom prst="rect">
            <a:avLst/>
          </a:prstGeom>
          <a:solidFill>
            <a:srgbClr val="C885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89704" y="4568952"/>
            <a:ext cx="1865376" cy="140208"/>
          </a:xfrm>
          <a:prstGeom prst="rect">
            <a:avLst/>
          </a:prstGeom>
          <a:solidFill>
            <a:srgbClr val="E3BEB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4489704" y="4873752"/>
            <a:ext cx="1865376" cy="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3941064" y="4928616"/>
            <a:ext cx="2962656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A23B3B"/>
                </a:solidFill>
                <a:latin typeface="Source Sans 3"/>
              </a:rPr>
              <a:t>342 labels used exactly once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2221992"/>
            <a:ext cx="2926080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“Null Pointer Dereference”  15 bugs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230368"/>
            <a:ext cx="5943600" cy="8686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The same bug (Chart_9), written twice: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600" b="0" i="0">
                <a:solidFill>
                  <a:srgbClr val="A23B3B"/>
                </a:solidFill>
                <a:latin typeface="Source Sans 3"/>
              </a:rPr>
              <a:t>“Improper input validation logic”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600" b="0" i="0">
                <a:solidFill>
                  <a:srgbClr val="2F7D4F"/>
                </a:solidFill>
                <a:latin typeface="Source Sans 3"/>
              </a:rPr>
              <a:t>“Incorrect boundary condition logic”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1234440"/>
            <a:ext cx="469087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6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  comparable labels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49440" y="1737360"/>
            <a:ext cx="46908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with the ODC taxonomy (scientific-open)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949440" y="2194560"/>
            <a:ext cx="2265347" cy="731520"/>
          </a:xfrm>
          <a:prstGeom prst="rect">
            <a:avLst/>
          </a:prstGeom>
          <a:solidFill>
            <a:srgbClr val="C07A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949440" y="2194560"/>
            <a:ext cx="2265347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198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214787" y="2194560"/>
            <a:ext cx="2002201" cy="731520"/>
          </a:xfrm>
          <a:prstGeom prst="rect">
            <a:avLst/>
          </a:prstGeom>
          <a:solidFill>
            <a:srgbClr val="2F5D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14787" y="2194560"/>
            <a:ext cx="2002201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Source Sans 3"/>
              </a:rPr>
              <a:t>175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216989" y="2194560"/>
            <a:ext cx="320352" cy="731520"/>
          </a:xfrm>
          <a:prstGeom prst="rect">
            <a:avLst/>
          </a:prstGeom>
          <a:solidFill>
            <a:srgbClr val="6D4C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1537341" y="2194560"/>
            <a:ext cx="57205" cy="731520"/>
          </a:xfrm>
          <a:prstGeom prst="rect">
            <a:avLst/>
          </a:prstGeom>
          <a:solidFill>
            <a:srgbClr val="8A6E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594547" y="2194560"/>
            <a:ext cx="34323" cy="731520"/>
          </a:xfrm>
          <a:prstGeom prst="rect">
            <a:avLst/>
          </a:prstGeom>
          <a:solidFill>
            <a:srgbClr val="9B3D4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628870" y="2194560"/>
            <a:ext cx="27432" cy="731520"/>
          </a:xfrm>
          <a:prstGeom prst="rect">
            <a:avLst/>
          </a:prstGeom>
          <a:solidFill>
            <a:srgbClr val="2B7F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949440" y="3017520"/>
            <a:ext cx="46908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every bug lands in one of six buckets that can be counted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3611880"/>
            <a:ext cx="2377440" cy="384048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Condition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3611880"/>
            <a:ext cx="2313432" cy="384048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Same label, both modes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949440" y="4041648"/>
            <a:ext cx="4690872" cy="0"/>
          </a:xfrm>
          <a:prstGeom prst="line">
            <a:avLst/>
          </a:prstGeom>
          <a:ln w="15875">
            <a:solidFill>
              <a:srgbClr val="12284C"/>
            </a:solidFill>
          </a:ln>
        </p:spPr>
      </p:cxnSp>
      <p:sp>
        <p:nvSpPr>
          <p:cNvPr id="66" name="TextBox 65"/>
          <p:cNvSpPr txBox="1"/>
          <p:nvPr/>
        </p:nvSpPr>
        <p:spPr>
          <a:xfrm>
            <a:off x="6949440" y="4087368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zero-free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326880" y="4087368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A23B3B"/>
                </a:solidFill>
                <a:latin typeface="Source Sans 3"/>
              </a:rPr>
              <a:t>15.1%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949440" y="4581144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6949440" y="4581144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few-open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0" y="4581144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66.6%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6949440" y="5074920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72" name="TextBox 71"/>
          <p:cNvSpPr txBox="1"/>
          <p:nvPr/>
        </p:nvSpPr>
        <p:spPr>
          <a:xfrm>
            <a:off x="6949440" y="5074920"/>
            <a:ext cx="2377440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scientific-open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26880" y="5074920"/>
            <a:ext cx="2313432" cy="4937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C2128"/>
                </a:solidFill>
                <a:latin typeface="Source Sans 3"/>
              </a:rPr>
              <a:t>70.2%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949440" y="5568696"/>
            <a:ext cx="46908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75" name="Rectangle 74"/>
          <p:cNvSpPr/>
          <p:nvPr/>
        </p:nvSpPr>
        <p:spPr>
          <a:xfrm>
            <a:off x="6949440" y="5760720"/>
            <a:ext cx="64008" cy="50292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40" y="5760720"/>
            <a:ext cx="4416552" cy="5029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A fixed taxonomy lets us count anything at all.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RQ4b: Scientific Beats Few-Shot, Bug by Bug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32588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400" b="1" i="0">
                <a:solidFill>
                  <a:srgbClr val="2F7D4F"/>
                </a:solidFill>
                <a:latin typeface="Source Sans 3"/>
              </a:rPr>
              <a:t>73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43584"/>
            <a:ext cx="219456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2F7D4F"/>
                </a:solidFill>
                <a:latin typeface="Source Sans 3"/>
              </a:rPr>
              <a:t>bugs </a:t>
            </a:r>
            <a:r>
              <a:rPr sz="1800" b="1" i="0">
                <a:solidFill>
                  <a:srgbClr val="2F7D4F"/>
                </a:solidFill>
                <a:latin typeface="Source Sans 3"/>
              </a:rPr>
              <a:t>only scientific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2F7D4F"/>
                </a:solidFill>
                <a:latin typeface="Source Sans 3"/>
              </a:rPr>
              <a:t>gets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1188720"/>
            <a:ext cx="100584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8A919C"/>
                </a:solidFill>
                <a:latin typeface="Source Sans 3"/>
              </a:rPr>
              <a:t>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1243584"/>
            <a:ext cx="2011680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bugs </a:t>
            </a:r>
            <a:r>
              <a:rPr sz="1800" b="1" i="0">
                <a:solidFill>
                  <a:srgbClr val="8A919C"/>
                </a:solidFill>
                <a:latin typeface="Source Sans 3"/>
              </a:rPr>
              <a:t>only few-shot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1800" b="0" i="0">
                <a:solidFill>
                  <a:srgbClr val="8A919C"/>
                </a:solidFill>
                <a:latin typeface="Source Sans 3"/>
              </a:rPr>
              <a:t>gets right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1325880"/>
            <a:ext cx="45720" cy="685800"/>
          </a:xfrm>
          <a:prstGeom prst="rect">
            <a:avLst/>
          </a:prstGeom>
          <a:solidFill>
            <a:srgbClr val="D5D9D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0" y="1188720"/>
            <a:ext cx="1371600" cy="9144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12284C"/>
                </a:solidFill>
                <a:latin typeface="Source Sans 3"/>
              </a:rPr>
              <a:t>+15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1243584"/>
            <a:ext cx="3182112" cy="8229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more bugs right with scientific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A6270"/>
                </a:solidFill>
                <a:latin typeface="Source Sans 3"/>
              </a:rPr>
              <a:t>than with few-shot (73 − 58)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212848"/>
            <a:ext cx="69494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ALL 410 BUGS  ·  DOES THE PRE-FIX LABEL MATCH THE POST-FIX LABEL?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176272"/>
            <a:ext cx="414223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A real gain, not luck</a:t>
            </a:r>
            <a:r>
              <a:rPr sz="1500" b="0" i="0">
                <a:solidFill>
                  <a:srgbClr val="5A6270"/>
                </a:solidFill>
                <a:latin typeface="Source Sans 3"/>
              </a:rPr>
              <a:t>  ·  statistically significant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60320"/>
            <a:ext cx="5816364" cy="566928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60320"/>
            <a:ext cx="5816364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both right  215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65004" y="2560320"/>
            <a:ext cx="1974858" cy="56692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5004" y="2560320"/>
            <a:ext cx="1974858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only scientific  73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39863" y="2560320"/>
            <a:ext cx="1569065" cy="56692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9863" y="2560320"/>
            <a:ext cx="1569065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Sans 3"/>
              </a:rPr>
              <a:t>only few-shot  58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08929" y="2560320"/>
            <a:ext cx="1731382" cy="566928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08929" y="2560320"/>
            <a:ext cx="1731382" cy="56692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8A919C"/>
                </a:solidFill>
                <a:latin typeface="Source Sans 3"/>
              </a:rPr>
              <a:t>both wrong  64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383280"/>
            <a:ext cx="310896" cy="1828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310128"/>
            <a:ext cx="237744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F7D4F"/>
                </a:solidFill>
                <a:latin typeface="Source Sans 3"/>
              </a:rPr>
              <a:t>only scientific right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3383280"/>
            <a:ext cx="310896" cy="182880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3310128"/>
            <a:ext cx="256032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8A919C"/>
                </a:solidFill>
                <a:latin typeface="Source Sans 3"/>
              </a:rPr>
              <a:t>only few-shot right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373075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6" name="TextBox 35"/>
          <p:cNvSpPr txBox="1"/>
          <p:nvPr/>
        </p:nvSpPr>
        <p:spPr>
          <a:xfrm>
            <a:off x="548640" y="3858768"/>
            <a:ext cx="603504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MORE HIDDEN EVIDENCE ASKED FOR  →  MORE SCIENTIFIC WINS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315968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never asked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423160" y="4352544"/>
            <a:ext cx="418011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96035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423160" y="4526280"/>
            <a:ext cx="278674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56698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736592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asked 1–2 times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23160" y="4773168"/>
            <a:ext cx="292608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04103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42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23160" y="4946904"/>
            <a:ext cx="285641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34435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5157216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asked 3+ times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23160" y="5193792"/>
            <a:ext cx="1741714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19738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25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423160" y="5367528"/>
            <a:ext cx="90569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83715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577840"/>
            <a:ext cx="17830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got the fixed code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23160" y="5614416"/>
            <a:ext cx="836022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14046" y="5541264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12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423160" y="5788152"/>
            <a:ext cx="418011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96035" y="5724144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6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423160" y="4297680"/>
            <a:ext cx="0" cy="1645920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58" name="TextBox 57"/>
          <p:cNvSpPr txBox="1"/>
          <p:nvPr/>
        </p:nvSpPr>
        <p:spPr>
          <a:xfrm>
            <a:off x="6903720" y="3858768"/>
            <a:ext cx="473659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SCIENTIFIC WINS AS OFTEN OR MORE, IN EVERY PROJECT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03720" y="4315968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Chart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55279" y="4352544"/>
            <a:ext cx="379306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89450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8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79" y="4526280"/>
            <a:ext cx="9482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04970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03720" y="4736592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Mockito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4773168"/>
            <a:ext cx="331893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42037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955279" y="4946904"/>
            <a:ext cx="9482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04970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03720" y="5157216"/>
            <a:ext cx="96012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Time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955279" y="5193792"/>
            <a:ext cx="331893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42037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955279" y="5367528"/>
            <a:ext cx="189653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99797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4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955279" y="4297680"/>
            <a:ext cx="0" cy="1225296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  <p:sp>
        <p:nvSpPr>
          <p:cNvPr id="75" name="TextBox 74"/>
          <p:cNvSpPr txBox="1"/>
          <p:nvPr/>
        </p:nvSpPr>
        <p:spPr>
          <a:xfrm>
            <a:off x="9326880" y="4315968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Math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286999" y="4352544"/>
            <a:ext cx="71120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053064" y="427939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286999" y="4526280"/>
            <a:ext cx="663786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005650" y="4462272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326880" y="4736592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Lang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286999" y="4773168"/>
            <a:ext cx="42672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768583" y="470001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286999" y="4946904"/>
            <a:ext cx="426720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768583" y="4882896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326880" y="5157216"/>
            <a:ext cx="868680" cy="378561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Closure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286999" y="5193792"/>
            <a:ext cx="1280160" cy="15544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622024" y="512064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27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286999" y="5367528"/>
            <a:ext cx="1280160" cy="155448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1622024" y="5303520"/>
            <a:ext cx="5486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27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286999" y="4297680"/>
            <a:ext cx="0" cy="1225296"/>
          </a:xfrm>
          <a:prstGeom prst="line">
            <a:avLst/>
          </a:prstGeom>
          <a:ln w="12700">
            <a:solidFill>
              <a:srgbClr val="8A919C"/>
            </a:solidFill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Qualitative Analysis of Thirteen Bugs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88720"/>
            <a:ext cx="11091672" cy="41148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Sans 3"/>
              </a:rPr>
              <a:t>We read every artifact by hand: </a:t>
            </a:r>
            <a:r>
              <a:rPr sz="1600" b="0" i="0">
                <a:solidFill>
                  <a:srgbClr val="5A6270"/>
                </a:solidFill>
                <a:latin typeface="Source Sans 3"/>
              </a:rPr>
              <a:t>evidence, full reasoning transcript and developer’s fix, for both strategies and both models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737360"/>
            <a:ext cx="5440680" cy="4572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737360"/>
            <a:ext cx="5166360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A23B3B"/>
                </a:solidFill>
                <a:latin typeface="Source Sans 3"/>
              </a:rPr>
              <a:t>1  </a:t>
            </a:r>
            <a:r>
              <a:rPr sz="1700" b="1" i="0">
                <a:solidFill>
                  <a:srgbClr val="A23B3B"/>
                </a:solidFill>
                <a:latin typeface="Source Sans 3"/>
              </a:rPr>
              <a:t>How the classification goes wrong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240280"/>
            <a:ext cx="118872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A23B3B"/>
                </a:solidFill>
                <a:latin typeface="Source Sans 3"/>
              </a:rPr>
              <a:t>LLM said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2240280"/>
            <a:ext cx="1234440" cy="23774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2F7D4F"/>
                </a:solidFill>
                <a:latin typeface="Source Sans 3"/>
              </a:rPr>
              <a:t>correct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487168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Symptom site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Chart_17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834640"/>
            <a:ext cx="28803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followed where the error appeared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615184"/>
            <a:ext cx="1188720" cy="475488"/>
          </a:xfrm>
          <a:prstGeom prst="rect">
            <a:avLst/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2615184"/>
            <a:ext cx="10058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Checking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79" y="2615184"/>
            <a:ext cx="1234440" cy="475488"/>
          </a:xfrm>
          <a:prstGeom prst="rect">
            <a:avLst/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19" y="2615184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Algorithm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328416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Report anchoring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Math_90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675888"/>
            <a:ext cx="28803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copied the fix the report suggested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456432"/>
            <a:ext cx="1188720" cy="475488"/>
          </a:xfrm>
          <a:prstGeom prst="rect">
            <a:avLst/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66160" y="3456432"/>
            <a:ext cx="10058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Checking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79" y="3456432"/>
            <a:ext cx="1234440" cy="475488"/>
          </a:xfrm>
          <a:prstGeom prst="rect">
            <a:avLst/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19" y="3456432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Interface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169664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Patch shape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Math_23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517136"/>
            <a:ext cx="28803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judged the patch by its looks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4297680"/>
            <a:ext cx="1188720" cy="475488"/>
          </a:xfrm>
          <a:prstGeom prst="rect">
            <a:avLst/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0" y="4297680"/>
            <a:ext cx="10058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Assignment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79" y="4297680"/>
            <a:ext cx="1234440" cy="475488"/>
          </a:xfrm>
          <a:prstGeom prst="rect">
            <a:avLst/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19" y="4297680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Algorithm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010912"/>
            <a:ext cx="2926080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C2128"/>
                </a:solidFill>
                <a:latin typeface="Source Sans 3"/>
              </a:rPr>
              <a:t>Two valid fixes</a:t>
            </a:r>
            <a:r>
              <a:rPr sz="1400" b="0" i="0">
                <a:solidFill>
                  <a:srgbClr val="12284C"/>
                </a:solidFill>
                <a:latin typeface="Source Code Pro"/>
              </a:rPr>
              <a:t>  Lang_20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358384"/>
            <a:ext cx="288036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developer picked the other fix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0" y="5138928"/>
            <a:ext cx="1188720" cy="475488"/>
          </a:xfrm>
          <a:prstGeom prst="rect">
            <a:avLst/>
          </a:prstGeom>
          <a:solidFill>
            <a:srgbClr val="F7E6E6"/>
          </a:solidFill>
          <a:ln w="12700">
            <a:solidFill>
              <a:srgbClr val="A23B3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66160" y="5138928"/>
            <a:ext cx="100584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A23B3B"/>
                </a:solidFill>
                <a:latin typeface="Source Sans 3"/>
              </a:rPr>
              <a:t>Checking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79" y="5138928"/>
            <a:ext cx="1234440" cy="475488"/>
          </a:xfrm>
          <a:prstGeom prst="rect">
            <a:avLst/>
          </a:prstGeom>
          <a:solidFill>
            <a:srgbClr val="E3F1E8"/>
          </a:solidFill>
          <a:ln w="12700">
            <a:solidFill>
              <a:srgbClr val="2F7D4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19" y="5138928"/>
            <a:ext cx="1051560" cy="47548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Assignment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1737360"/>
            <a:ext cx="5285232" cy="457200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1737360"/>
            <a:ext cx="5010912" cy="45720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2284C"/>
                </a:solidFill>
                <a:latin typeface="Source Sans 3"/>
              </a:rPr>
              <a:t>2  </a:t>
            </a:r>
            <a:r>
              <a:rPr sz="1700" b="1" i="0">
                <a:solidFill>
                  <a:srgbClr val="12284C"/>
                </a:solidFill>
                <a:latin typeface="Source Sans 3"/>
              </a:rPr>
              <a:t>Where the developer had a choice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55080" y="2532888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5080" y="2532888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Math_90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98079" y="274320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7680959" y="251460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49" name="Connector 48"/>
          <p:cNvCxnSpPr/>
          <p:nvPr/>
        </p:nvCxnSpPr>
        <p:spPr>
          <a:xfrm>
            <a:off x="7680959" y="251460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50" name="Connector 49"/>
          <p:cNvCxnSpPr/>
          <p:nvPr/>
        </p:nvCxnSpPr>
        <p:spPr>
          <a:xfrm>
            <a:off x="7680959" y="297180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51" name="Rectangle 50"/>
          <p:cNvSpPr/>
          <p:nvPr/>
        </p:nvSpPr>
        <p:spPr>
          <a:xfrm>
            <a:off x="7955279" y="2350008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6719" y="235000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Comparable check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79" y="2807208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19" y="280720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 typed overload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INT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3401568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5080" y="3401568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Math_17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498079" y="361188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7680959" y="338328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59" name="Connector 58"/>
          <p:cNvCxnSpPr/>
          <p:nvPr/>
        </p:nvCxnSpPr>
        <p:spPr>
          <a:xfrm>
            <a:off x="7680959" y="338328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60" name="Connector 59"/>
          <p:cNvCxnSpPr/>
          <p:nvPr/>
        </p:nvCxnSpPr>
        <p:spPr>
          <a:xfrm>
            <a:off x="7680959" y="384048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61" name="Rectangle 60"/>
          <p:cNvSpPr/>
          <p:nvPr/>
        </p:nvSpPr>
        <p:spPr>
          <a:xfrm>
            <a:off x="7955279" y="3218688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9" y="321868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range check only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955279" y="3675887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046719" y="367588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check + fallback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CHK+ALG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55080" y="4270247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55080" y="4270247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Time_3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498079" y="4480559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68" name="Connector 67"/>
          <p:cNvCxnSpPr/>
          <p:nvPr/>
        </p:nvCxnSpPr>
        <p:spPr>
          <a:xfrm>
            <a:off x="7680959" y="4251959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69" name="Connector 68"/>
          <p:cNvCxnSpPr/>
          <p:nvPr/>
        </p:nvCxnSpPr>
        <p:spPr>
          <a:xfrm>
            <a:off x="7680959" y="4251959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70" name="Connector 69"/>
          <p:cNvCxnSpPr/>
          <p:nvPr/>
        </p:nvCxnSpPr>
        <p:spPr>
          <a:xfrm>
            <a:off x="7680959" y="4709159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71" name="Rectangle 70"/>
          <p:cNvSpPr/>
          <p:nvPr/>
        </p:nvSpPr>
        <p:spPr>
          <a:xfrm>
            <a:off x="7955279" y="4087367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046719" y="408736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better arithmetic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ALG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55279" y="4544567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046719" y="454456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amount != 0 guards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CHK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55080" y="5138927"/>
            <a:ext cx="1143000" cy="42062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55080" y="5138927"/>
            <a:ext cx="1143000" cy="42062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ource Code Pro"/>
              </a:rPr>
              <a:t>Lang_20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498079" y="5349240"/>
            <a:ext cx="182880" cy="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7680959" y="5120640"/>
            <a:ext cx="0" cy="457200"/>
          </a:xfrm>
          <a:prstGeom prst="line">
            <a:avLst/>
          </a:prstGeom>
          <a:ln w="15875">
            <a:solidFill>
              <a:srgbClr val="8A919C"/>
            </a:solidFill>
          </a:ln>
        </p:spPr>
      </p:cxnSp>
      <p:cxnSp>
        <p:nvCxnSpPr>
          <p:cNvPr id="79" name="Connector 78"/>
          <p:cNvCxnSpPr/>
          <p:nvPr/>
        </p:nvCxnSpPr>
        <p:spPr>
          <a:xfrm>
            <a:off x="7680959" y="5120640"/>
            <a:ext cx="228600" cy="0"/>
          </a:xfrm>
          <a:prstGeom prst="line">
            <a:avLst/>
          </a:prstGeom>
          <a:ln w="15875">
            <a:solidFill>
              <a:srgbClr val="8A919C"/>
            </a:solidFill>
            <a:prstDash val="dash"/>
          </a:ln>
        </p:spPr>
      </p:cxnSp>
      <p:cxnSp>
        <p:nvCxnSpPr>
          <p:cNvPr id="80" name="Connector 79"/>
          <p:cNvCxnSpPr/>
          <p:nvPr/>
        </p:nvCxnSpPr>
        <p:spPr>
          <a:xfrm>
            <a:off x="7680959" y="5577840"/>
            <a:ext cx="228600" cy="0"/>
          </a:xfrm>
          <a:prstGeom prst="line">
            <a:avLst/>
          </a:prstGeom>
          <a:ln w="22225">
            <a:solidFill>
              <a:srgbClr val="12284C"/>
            </a:solidFill>
          </a:ln>
        </p:spPr>
      </p:cxnSp>
      <p:sp>
        <p:nvSpPr>
          <p:cNvPr id="81" name="Rectangle 80"/>
          <p:cNvSpPr/>
          <p:nvPr/>
        </p:nvSpPr>
        <p:spPr>
          <a:xfrm>
            <a:off x="7955279" y="4956047"/>
            <a:ext cx="368503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5D9D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046719" y="4956047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8A919C"/>
                </a:solidFill>
                <a:latin typeface="Source Sans 3"/>
              </a:rPr>
              <a:t>could  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a null check</a:t>
            </a:r>
            <a:r>
              <a:rPr sz="1400" b="1" i="0">
                <a:solidFill>
                  <a:srgbClr val="8A919C"/>
                </a:solidFill>
                <a:latin typeface="Source Sans 3"/>
              </a:rPr>
              <a:t>  CHK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955279" y="5413248"/>
            <a:ext cx="3685032" cy="32918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46719" y="5413248"/>
            <a:ext cx="3502152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12284C"/>
                </a:solidFill>
                <a:latin typeface="Source Sans 3"/>
              </a:rPr>
              <a:t>chose  </a:t>
            </a:r>
            <a:r>
              <a:rPr sz="1400" b="1" i="0">
                <a:solidFill>
                  <a:srgbClr val="1C2128"/>
                </a:solidFill>
                <a:latin typeface="Source Sans 3"/>
              </a:rPr>
              <a:t>a new capacity</a:t>
            </a:r>
            <a:r>
              <a:rPr sz="1400" b="1" i="0">
                <a:solidFill>
                  <a:srgbClr val="12284C"/>
                </a:solidFill>
                <a:latin typeface="Source Sans 3"/>
              </a:rPr>
              <a:t>  ASN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8640" y="5870448"/>
            <a:ext cx="64008" cy="438912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5870448"/>
            <a:ext cx="10881360" cy="43891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1C2128"/>
                </a:solidFill>
                <a:latin typeface="Source Sans 3"/>
              </a:rPr>
              <a:t>A fix repairs one of several faults [29] — for </a:t>
            </a:r>
            <a:r>
              <a:rPr sz="1800" b="1" i="0">
                <a:solidFill>
                  <a:srgbClr val="12284C"/>
                </a:solidFill>
                <a:latin typeface="Source Sans 3"/>
              </a:rPr>
              <a:t>77%</a:t>
            </a:r>
            <a:r>
              <a:rPr sz="1800" b="0" i="0">
                <a:solidFill>
                  <a:srgbClr val="1C2128"/>
                </a:solidFill>
                <a:latin typeface="Source Sans 3"/>
              </a:rPr>
              <a:t> of changed labels, the other type is already a recorded alternative.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RQ4b: Why Scientific Wins — Evidence from the 13 Bugs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170432"/>
            <a:ext cx="2651760" cy="713232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2F7D4F"/>
                </a:solidFill>
                <a:latin typeface="Source Sans 3"/>
              </a:rPr>
              <a:t>5</a:t>
            </a:r>
            <a:r>
              <a:rPr sz="4600" b="1" i="0">
                <a:solidFill>
                  <a:srgbClr val="8A919C"/>
                </a:solidFill>
                <a:latin typeface="Source Sans 3"/>
              </a:rPr>
              <a:t> : </a:t>
            </a:r>
            <a:r>
              <a:rPr sz="4600" b="1" i="0">
                <a:solidFill>
                  <a:srgbClr val="8A919C"/>
                </a:solidFill>
                <a:latin typeface="Source Sans 3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1847088"/>
            <a:ext cx="2834640" cy="384048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5 bugs vs 1 bug, all pre-fix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1188720"/>
            <a:ext cx="45720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2F7D4F"/>
                </a:solidFill>
                <a:latin typeface="Source Sans 3"/>
              </a:rPr>
              <a:t>■ </a:t>
            </a:r>
            <a:r>
              <a:rPr sz="1500" b="1" i="0">
                <a:solidFill>
                  <a:srgbClr val="2F7D4F"/>
                </a:solidFill>
                <a:latin typeface="Source Sans 3"/>
              </a:rPr>
              <a:t>only scientific right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188720"/>
            <a:ext cx="2221992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B3B9C3"/>
                </a:solidFill>
                <a:latin typeface="Source Sans 3"/>
              </a:rPr>
              <a:t>■ </a:t>
            </a:r>
            <a:r>
              <a:rPr sz="1500" b="1" i="0">
                <a:solidFill>
                  <a:srgbClr val="8A919C"/>
                </a:solidFill>
                <a:latin typeface="Source Sans 3"/>
              </a:rPr>
              <a:t>only few-shot 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572768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Gemini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591056"/>
            <a:ext cx="854964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1591056"/>
            <a:ext cx="8549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Math_17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01284" y="1591056"/>
            <a:ext cx="1143000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1284" y="1591056"/>
            <a:ext cx="1143000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Mockito_26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35724" y="1591056"/>
            <a:ext cx="854964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5724" y="1591056"/>
            <a:ext cx="854964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Chart_7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18320" y="1591056"/>
            <a:ext cx="950976" cy="274320"/>
          </a:xfrm>
          <a:prstGeom prst="rect">
            <a:avLst/>
          </a:prstGeom>
          <a:solidFill>
            <a:srgbClr val="B3B9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1591056"/>
            <a:ext cx="95097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Math_104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1938528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2284C"/>
                </a:solidFill>
                <a:latin typeface="Source Code Pro"/>
              </a:rPr>
              <a:t>gpt-5-mini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0" y="1956816"/>
            <a:ext cx="758952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1956816"/>
            <a:ext cx="758952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Time_3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05272" y="1956816"/>
            <a:ext cx="950976" cy="27432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05272" y="1956816"/>
            <a:ext cx="950976" cy="2743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Source Code Pro"/>
              </a:rPr>
              <a:t>Chart_11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1938528"/>
            <a:ext cx="91440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1">
                <a:solidFill>
                  <a:srgbClr val="8A919C"/>
                </a:solidFill>
                <a:latin typeface="Source Sans 3"/>
              </a:rPr>
              <a:t>none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1188720"/>
            <a:ext cx="1280160" cy="31089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model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8640" y="22860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548640" y="2423160"/>
            <a:ext cx="1109167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5A6270"/>
                </a:solidFill>
                <a:latin typeface="Source Sans 3"/>
              </a:rPr>
              <a:t>WHAT THE TRANSCRIPTS SHOW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Time_3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gpt-5-mini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Checking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3232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kept testing “a zero guard is missing” for six turns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8708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8708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43300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Chart_11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gpt-5-mini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3300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Assignment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43300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43300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narrowed its prediction to one wrong assignment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08776" y="2788920"/>
            <a:ext cx="2601468" cy="1874519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08776" y="2788920"/>
            <a:ext cx="2601468" cy="64008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3368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Math_17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Gemini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73368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Checking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3368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Function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3368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had to name a concrete cause: a range check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38844" y="2788920"/>
            <a:ext cx="2601468" cy="1874519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038844" y="2788920"/>
            <a:ext cx="2601468" cy="64008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03436" y="2916936"/>
            <a:ext cx="2327148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2284C"/>
                </a:solidFill>
                <a:latin typeface="Source Code Pro"/>
              </a:rPr>
              <a:t>Math_104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 Gemini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03436" y="3300984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scientific  </a:t>
            </a:r>
            <a:r>
              <a:rPr sz="1700" b="1" i="0">
                <a:solidFill>
                  <a:srgbClr val="8A919C"/>
                </a:solidFill>
                <a:latin typeface="Source Sans 3"/>
              </a:rPr>
              <a:t>Algorithm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03436" y="3611879"/>
            <a:ext cx="2327148" cy="329184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5A6270"/>
                </a:solidFill>
                <a:latin typeface="Source Sans 3"/>
              </a:rPr>
              <a:t>few-shot  </a:t>
            </a:r>
            <a:r>
              <a:rPr sz="1700" b="1" i="0">
                <a:solidFill>
                  <a:srgbClr val="2F7D4F"/>
                </a:solidFill>
                <a:latin typeface="Source Sans 3"/>
              </a:rPr>
              <a:t>Assignment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03436" y="3977639"/>
            <a:ext cx="2327148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C2128"/>
                </a:solidFill>
                <a:latin typeface="Source Sans 3"/>
              </a:rPr>
              <a:t>named the wrong constant, but chose Algorithm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4690872"/>
            <a:ext cx="11091672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F7D4F"/>
                </a:solidFill>
                <a:latin typeface="Source Sans 3"/>
              </a:rPr>
              <a:t>green</a:t>
            </a:r>
            <a:r>
              <a:rPr sz="1400" b="0" i="0">
                <a:solidFill>
                  <a:srgbClr val="5A6270"/>
                </a:solidFill>
                <a:latin typeface="Source Sans 3"/>
              </a:rPr>
              <a:t> = the label that matches our manual reading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138928"/>
            <a:ext cx="64008" cy="10972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5138928"/>
            <a:ext cx="512064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Same with both models  →  the pipeline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5522976"/>
            <a:ext cx="5120640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Scientific beats few-shot pre-fix: 6 vs 4 of 13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Misleading clues can stop it too early (Chart_17)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5138928"/>
            <a:ext cx="64008" cy="1097280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92240" y="5138928"/>
            <a:ext cx="514807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12284C"/>
                </a:solidFill>
                <a:latin typeface="Source Sans 3"/>
              </a:rPr>
              <a:t>Differs between models  →  the model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92240" y="5522976"/>
            <a:ext cx="5148072" cy="7132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1C2128"/>
                </a:solidFill>
                <a:latin typeface="Source Sans 3"/>
              </a:rPr>
              <a:t>gpt-5-mini asks for evidence </a:t>
            </a:r>
            <a:r>
              <a:rPr sz="1600" b="1" i="0">
                <a:solidFill>
                  <a:srgbClr val="1C2128"/>
                </a:solidFill>
                <a:latin typeface="Source Sans 3"/>
              </a:rPr>
              <a:t>about twice as often</a:t>
            </a:r>
            <a:r>
              <a:rPr sz="1600" b="0" i="0">
                <a:solidFill>
                  <a:srgbClr val="1C2128"/>
                </a:solidFill>
                <a:latin typeface="Source Sans 3"/>
              </a:rPr>
              <a:t> as Gemini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Gemini trusts its first summary and stops early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Threats to Validity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23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0817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40817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Internal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129844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 model can give a different answer each time it runs.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We removed fix hints from the pre-fix evidence, so it cannot see the answer.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225856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18" name="Rectangle 17"/>
          <p:cNvSpPr/>
          <p:nvPr/>
        </p:nvSpPr>
        <p:spPr>
          <a:xfrm>
            <a:off x="548640" y="241401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41401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Construct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30428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Matching the post-fix label is not the same as being right.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class that was fixed is missing from the evidence for 285 of 410 bugs.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26440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2" name="Rectangle 21"/>
          <p:cNvSpPr/>
          <p:nvPr/>
        </p:nvSpPr>
        <p:spPr>
          <a:xfrm>
            <a:off x="548640" y="341985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1985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External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31012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We studied 6 of the 17 projects, all in Java, with one model on all 410 bugs.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Other projects or models may give different numbers; a second model ran on 13 bugs.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427024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26" name="Rectangle 25"/>
          <p:cNvSpPr/>
          <p:nvPr/>
        </p:nvSpPr>
        <p:spPr>
          <a:xfrm>
            <a:off x="548640" y="442569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42569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Conclusion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31596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Each setup ran once, so our intervals are estimates, not repeated measurements.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One person did the manual reading of the 13 bugs.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48640" y="5276088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30" name="Rectangle 29"/>
          <p:cNvSpPr/>
          <p:nvPr/>
        </p:nvSpPr>
        <p:spPr>
          <a:xfrm>
            <a:off x="548640" y="5431536"/>
            <a:ext cx="2103120" cy="73152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431536"/>
            <a:ext cx="210312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Other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5321808"/>
            <a:ext cx="8759952" cy="95097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These bugs are public, so the model may have seen them during training.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The confidence score the model reports does not warn us when it is wrong.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Conclusion and Future Work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48640" y="6437376"/>
            <a:ext cx="3931920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ODC on Defects4J  ·  Thesis Defence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5564" y="6437376"/>
            <a:ext cx="1239012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A919C"/>
                </a:solidFill>
                <a:latin typeface="Source Sans 3"/>
              </a:rPr>
              <a:t>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3176" y="6437376"/>
            <a:ext cx="854964" cy="36576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12284C"/>
                </a:solidFill>
                <a:latin typeface="Source Sans 3"/>
              </a:rPr>
              <a:t>Results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14616" y="6757416"/>
            <a:ext cx="672084" cy="32004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24 / 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97.8%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three types (RQ1)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0 of 1,640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“Other” (RQ2)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70.2%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pre-fix match (RQ3)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280160"/>
            <a:ext cx="2651760" cy="6400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444752"/>
            <a:ext cx="2651760" cy="731520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2284C"/>
                </a:solidFill>
                <a:latin typeface="Source Sans 3"/>
              </a:rPr>
              <a:t>73 vs 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176272"/>
            <a:ext cx="26517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A6270"/>
                </a:solidFill>
                <a:latin typeface="Source Sans 3"/>
              </a:rPr>
              <a:t>scientific vs few-shot wins (RQ4)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761488"/>
            <a:ext cx="5394960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CONTRIBUTIONS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200400"/>
            <a:ext cx="5394960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A taxonomy × strategy condition space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Enforced scientific reasoning + transcripts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Where scientific beats few-shot, bug by bug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Evaluation without ground truth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2761488"/>
            <a:ext cx="5285232" cy="329184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12284C"/>
                </a:solidFill>
                <a:latin typeface="Source Sans 3"/>
              </a:rPr>
              <a:t>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200400"/>
            <a:ext cx="5285232" cy="2743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Strengthen scientific's weak spots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Pick scientific or few-shot per bug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Human reference labels for a sample</a:t>
            </a:r>
          </a:p>
          <a:p>
            <a:pPr algn="l">
              <a:lnSpc>
                <a:spcPct val="105000"/>
              </a:lnSpc>
              <a:spcAft>
                <a:spcPts val="2000"/>
              </a:spcAft>
            </a:pPr>
            <a:r>
              <a:rPr sz="1500" b="0" i="0">
                <a:solidFill>
                  <a:srgbClr val="12284C"/>
                </a:solidFill>
                <a:latin typeface="Source Sans 3"/>
              </a:rPr>
              <a:t>▪  </a:t>
            </a:r>
            <a:r>
              <a:rPr sz="1900" b="0" i="0">
                <a:solidFill>
                  <a:srgbClr val="1C2128"/>
                </a:solidFill>
                <a:latin typeface="Source Sans 3"/>
              </a:rPr>
              <a:t>More models, Impact, Trigger, Age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(1/3)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[1] G. Catolino et al., “Not All Bugs Are the Same: Understanding, Characterizing, and Classifying Bug Types,” Journal of Systems and Software, vol. 152, 2019.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[2] T. Hirsch and B. Hofer, “Using Textual Bug Reports to Predict the Fault Category of Software Bugs,” Array, vol. 15, 2022.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[3] R. Andrade et al., “An Empirical Study on the Classification of Bug Reports with Machine Learning,” arXiv preprint,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[4] R. Chillarege et al., “Orthogonal Defect Classification – A Concept for In-Process Measurements,” IEEE Transactions on Software Engineering, vol. 18, no. 11, 1992.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[5] R. Just, D. Jalali, and M. D. Ernst, “Defects4J: A Database of Existing Faults to Enable Controlled Testing Studies for Java Programs,” Proc. International Symposium on Software Testing and Analysis (ISSTA), 2014.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[6] M. N. Rafi et al., “Revisiting Defects4J for Fault Localization in Diverse Development Scenarios,” IEEE/ACM 22nd International Conference on Mining Software Repositories (MSR),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[7] M. Martinez et al., “Automatic Repair of Real Bugs in Java: A Large-Scale Experiment on the Defects4J Dataset,” Empirical Software Engineering, vol. 22, no. 4, 2017.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[8] A. Van der Spuy and B. Fischer, “An Anatomy of 488 Faults from Defects4J Based on the Control- and Data-Flow Graph Representations of Programs,” Proc. 29th International Conference on Evaluation and Assessment in Software Engineering (EASE),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[9] V. Sobreira et al., “Dissection of a Bug Dataset: Anatomy of 395 Patches from Defects4J,” IEEE International Conference on Software Analysis, Evolution and Reengineering (SANER), 2018.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[10] J. Jiang, Y. Xiong, and X. Xia, “A Manual Inspection of Defects4J Bugs and Its Implications for Automatic Program Repair,” Science China Information Sciences, vol. 62, no. 10, 2019.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(2/3)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[11] G. Colavito et al., “Large Language Models for Issue Report Classification,” Ital-IA 2024 Thematic Workshops, CEUR Workshop Proceedings, vol. 3762,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[12] A. Koyuncu, “Exploring Fine-Grained Bug Report Categorization with Large Language Models and Prompt Engineering: An Empirical Study,” ACM Transactions on Software Engineering and Methodology, vol. 35, no. 3, 2026.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[13] Y. Nong et al., “Chain-of-Thought Prompting of Large Language Models for Discovering and Fixing Software Vulnerabilities,” arXiv preprint,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[14] C. Li et al., “KnowBug: Enhancing Large Language Models with Bug Report Knowledge for Deep Learning Framework Bug Prediction,” Knowledge-Based Systems, vol. 305,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[15] IBM, “Orthogonal Defect Classification v5.2 for Software Design and Code,” IBM Research, 2013.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[16] X. Du et al., “LLM-BRC: A Large Language Model-Based Bug Report Classification Framework,” Software Quality Journal, vol. 32, no. 3,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[17] S. Kang et al., “Explainable Automated Debugging via Large Language Model-driven Scientific Debugging,” Empirical Software Engineering, vol. 30, no. 2, 2025.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[18] S. Kang, G. An, and S. Yoo, “A Quantitative and Qualitative Evaluation of LLM-Based Explainable Fault Localization,” Proc. ACM on Software Engineering, vol. 1, no. FSE,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[19] L. Huang et al., “AutoODC: Automated Generation of Orthogonal Defect Classifications,” Automated Software Engineering, vol. 22, no. 1, 2015.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[20] F. Thung, D. Lo, and L. Jiang, “Automatic Defect Categorization,” Proc. 19th Working Conference on Reverse Engineering (WCRE), 2012.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332720" cy="731520"/>
          </a:xfrm>
          <a:prstGeom prst="rect">
            <a:avLst/>
          </a:prstGeom>
          <a:noFill/>
        </p:spPr>
        <p:txBody>
          <a:bodyPr wrap="square" lIns="27432" rIns="27432" tIns="27432" bIns="27432" anchor="b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2284C"/>
                </a:solidFill>
                <a:latin typeface="Source Sans 3"/>
              </a:rPr>
              <a:t>References (3/3)</a:t>
            </a:r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28832" y="292608"/>
            <a:ext cx="433472" cy="713232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548640" y="1078992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548640" y="1060704"/>
            <a:ext cx="914400" cy="4114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91672" cy="4983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[21] A. M. Esfahani, N. Kahani, and S. A. Ajila, “Understanding Defects in Generated Codes by Language Models,” 34th International Conference on Collaborative Advances in Software and Computing (CASCON), 2024.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[22] K. Henningsson and C. Wohlin, “Assuring Fault Classification Agreement – An Empirical Evaluation,” Proc. 2004 International Symposium on Empirical Software Engineering (ISESE), 2004.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[23] J. Hernández-González et al., “Learning to Classify Software Defects from Crowds: A Novel Approach,” Applied Soft Computing, vol. 62, 2018.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[24] K. El Emam and I. Wieczorek, “The Repeatability of Code Defect Classifications,” Proc. Ninth International Symposium on Software Reliability Engineering (ISSRE), 1998.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[25] A. Rahman and E. Farhana, “An Exploratory Characterization of Bugs in COVID-19 Software Projects,” arXiv preprint, 2020.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[26] J. Agnelo, N. Laranjeiro, and J. Bernardino, “Using Orthogonal Defect Classification to Characterize NoSQL Database Defects,” Journal of Systems and Software, vol. 159, 2020.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[27] J. R. Landis and G. G. Koch, “The Measurement of Observer Agreement for Categorical Data,” Biometrics, vol. 33, no. 1, 1977.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[28] S. Baltes et al., “Guidelines for Empirical Studies in Software Engineering involving Large Language Models,” Empirical Software Engineering, 2026.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400" b="0" i="0">
                <a:solidFill>
                  <a:srgbClr val="1C2128"/>
                </a:solidFill>
                <a:latin typeface="Source Sans 3"/>
              </a:rPr>
              <a:t>[29] D. Callaghan and B. Fischer, “Mining Bug Repositories for Multi-Fault Programs,” IEEE/ACM 22nd International Conference on Mining Software Repositories (MSR), Data and Tool Showcase Track, 2025.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00800"/>
            <a:ext cx="11091672" cy="0"/>
          </a:xfrm>
          <a:prstGeom prst="line">
            <a:avLst/>
          </a:prstGeom>
          <a:ln w="9525">
            <a:solidFill>
              <a:srgbClr val="D5D9D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u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1278189" cy="2103120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2377440" y="1828800"/>
            <a:ext cx="0" cy="1920239"/>
          </a:xfrm>
          <a:prstGeom prst="line">
            <a:avLst/>
          </a:prstGeom>
          <a:ln w="12700">
            <a:solidFill>
              <a:srgbClr val="D5D9DF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2697480" y="1783080"/>
            <a:ext cx="8686800" cy="9144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800" b="1" i="0">
                <a:solidFill>
                  <a:srgbClr val="12284C"/>
                </a:solidFill>
                <a:latin typeface="Source Sans 3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2697480"/>
            <a:ext cx="8686800" cy="5486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0" i="0">
                <a:solidFill>
                  <a:srgbClr val="1C2128"/>
                </a:solidFill>
                <a:latin typeface="Source Sans 3"/>
              </a:rPr>
              <a:t>Questions and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3337560"/>
            <a:ext cx="8686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5A6270"/>
                </a:solidFill>
                <a:latin typeface="Source Sans 3"/>
              </a:rPr>
              <a:t>Orthogonal Defect Classification on Defects4J Using an LLM-Driven Scientific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80" y="4297680"/>
            <a:ext cx="868680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 i="0">
                <a:solidFill>
                  <a:srgbClr val="1C2128"/>
                </a:solidFill>
                <a:latin typeface="Source Sans 3"/>
              </a:rPr>
              <a:t>Md. Sakib Hossain  ·  Mohammad Nahiyan Kabir  ·  Hasin Mahtab Alvee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12284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6419088"/>
            <a:ext cx="1673352" cy="402336"/>
          </a:xfrm>
          <a:prstGeom prst="rect">
            <a:avLst/>
          </a:prstGeom>
          <a:noFill/>
        </p:spPr>
        <p:txBody>
          <a:bodyPr wrap="square" lIns="27432" rIns="27432" tIns="27432" bIns="27432" anchor="ctr">
            <a:no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12284C"/>
                </a:solidFill>
                <a:latin typeface="Source Sans 3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