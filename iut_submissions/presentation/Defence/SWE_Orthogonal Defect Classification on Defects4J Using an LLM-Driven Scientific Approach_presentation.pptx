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502920"/>
            <a:ext cx="750241" cy="12344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45920" y="658368"/>
            <a:ext cx="640080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Islamic University of Technology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024128"/>
            <a:ext cx="64008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Department of Computer Science and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676656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3800" b="1" i="0">
                <a:solidFill>
                  <a:srgbClr val="12284C"/>
                </a:solidFill>
                <a:latin typeface="Source Sans 3"/>
              </a:rPr>
              <a:t>Orthogonal Defect Classification on Defects4J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66160"/>
            <a:ext cx="6766560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1C2128"/>
                </a:solidFill>
                <a:latin typeface="Source Sans 3"/>
              </a:rPr>
              <a:t>Using an LLM-Driven Scientific Approach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4251960"/>
            <a:ext cx="2377440" cy="0"/>
          </a:xfrm>
          <a:prstGeom prst="line">
            <a:avLst/>
          </a:prstGeom>
          <a:ln w="19050">
            <a:solidFill>
              <a:srgbClr val="12284C"/>
            </a:solidFill>
          </a:ln>
        </p:spPr>
      </p:cxnSp>
      <p:sp>
        <p:nvSpPr>
          <p:cNvPr id="10" name="TextBox 9"/>
          <p:cNvSpPr txBox="1"/>
          <p:nvPr/>
        </p:nvSpPr>
        <p:spPr>
          <a:xfrm>
            <a:off x="731520" y="4343400"/>
            <a:ext cx="67665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Thesis Defence  ·  B.Sc. in Computer Science and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892040"/>
            <a:ext cx="356616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Presented by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Md. Sakib Hossain  (210042133)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Mohammad Nahiyan Kabir  (210042168)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Hasin Mahtab Alvee  (210042174)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34840" y="4892040"/>
            <a:ext cx="3291840" cy="14630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Supervisor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Lutfun Nahar Lota, Assistant Professor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Co-supervisor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Ishmam Tashdeed, Lecturer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03120"/>
            <a:ext cx="37033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DEFECTS4J  ·  CHART_9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55279" y="2468880"/>
            <a:ext cx="3703320" cy="402336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92440" y="2468880"/>
            <a:ext cx="342900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Code Pro"/>
              </a:rPr>
              <a:t>TimeSeries.java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955279" y="2871216"/>
            <a:ext cx="3703320" cy="12984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2944368"/>
            <a:ext cx="3703320" cy="384048"/>
          </a:xfrm>
          <a:prstGeom prst="rect">
            <a:avLst/>
          </a:prstGeom>
          <a:solidFill>
            <a:srgbClr val="F7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955279" y="2944368"/>
            <a:ext cx="45720" cy="3840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92440" y="2944368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23B3B"/>
                </a:solidFill>
                <a:latin typeface="Source Code Pro"/>
              </a:rPr>
              <a:t>- if (endIndex &lt; 0)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955279" y="3328416"/>
            <a:ext cx="3703320" cy="384048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955279" y="3328416"/>
            <a:ext cx="45720" cy="38404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92440" y="3328416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F7D4F"/>
                </a:solidFill>
                <a:latin typeface="Source Code Pro"/>
              </a:rPr>
              <a:t>+ if ((endIndex &lt; 0)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955279" y="3712464"/>
            <a:ext cx="3703320" cy="384048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955279" y="3712464"/>
            <a:ext cx="45720" cy="38404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3712464"/>
            <a:ext cx="34290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F7D4F"/>
                </a:solidFill>
                <a:latin typeface="Source Code Pro"/>
              </a:rPr>
              <a:t>+   || (endIndex &lt; startIndex))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55279" y="4398264"/>
            <a:ext cx="17373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23B3B"/>
                </a:solidFill>
                <a:latin typeface="Source Sans 3"/>
              </a:rPr>
              <a:t>pre-fix label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92640" y="4398264"/>
            <a:ext cx="192024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Checking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7955279" y="4828032"/>
            <a:ext cx="3703321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7955279" y="4855464"/>
            <a:ext cx="17373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F7D4F"/>
                </a:solidFill>
                <a:latin typeface="Source Sans 3"/>
              </a:rPr>
              <a:t>post-fix label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92640" y="4855464"/>
            <a:ext cx="192024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Checking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7955279" y="5285232"/>
            <a:ext cx="3703321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2" name="Rectangle 31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Outline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 / 24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00200"/>
            <a:ext cx="352044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1874519"/>
            <a:ext cx="7315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6EAF0"/>
                </a:solidFill>
                <a:latin typeface="Source Sans 3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1874519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C2128"/>
                </a:solidFill>
                <a:latin typeface="Source Sans 3"/>
              </a:rPr>
              <a:t>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33172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slides 3–8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926080"/>
            <a:ext cx="352044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Motivation and Defects4J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ODC and related work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Pre-fix vs post-fix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Research questions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600200"/>
            <a:ext cx="352044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343400" y="1874519"/>
            <a:ext cx="7315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6EAF0"/>
                </a:solidFill>
                <a:latin typeface="Source Sans 3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20640" y="1874519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C2128"/>
                </a:solidFill>
                <a:latin typeface="Source Sans 3"/>
              </a:rPr>
              <a:t>Methodology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233172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slides 9–16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2926080"/>
            <a:ext cx="352044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Pipeline and evidence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Conditions and prompts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The reasoning loop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Evaluation and setup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1600200"/>
            <a:ext cx="352044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1874519"/>
            <a:ext cx="731520" cy="6858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 i="0">
                <a:solidFill>
                  <a:srgbClr val="E6EAF0"/>
                </a:solidFill>
                <a:latin typeface="Source Sans 3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15400" y="1874519"/>
            <a:ext cx="274320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300" b="1" i="0">
                <a:solidFill>
                  <a:srgbClr val="1C2128"/>
                </a:solidFill>
                <a:latin typeface="Source Sans 3"/>
              </a:rPr>
              <a:t>Results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15400" y="2331720"/>
            <a:ext cx="27432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slides 17–24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2926080"/>
            <a:ext cx="352044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RQ1–RQ2: types, coverage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RQ3: agreement and drift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RQ4: taxonomy and loop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Threats and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Motivation: Classifying Defects in Defects4J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3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325880"/>
            <a:ext cx="24688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2284C"/>
                </a:solidFill>
                <a:latin typeface="Source Sans 3"/>
              </a:rPr>
              <a:t>836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185416"/>
            <a:ext cx="2468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reproducible real bugs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1325880"/>
            <a:ext cx="2468880" cy="8412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12284C"/>
                </a:solidFill>
                <a:latin typeface="Source Sans 3"/>
              </a:rPr>
              <a:t>17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2185416"/>
            <a:ext cx="2468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Java projects [5]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514600"/>
            <a:ext cx="521208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2697480"/>
            <a:ext cx="5394960" cy="21945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Defect types need different debugging strategies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Aggregated labels expose recurring mistakes</a:t>
            </a:r>
          </a:p>
          <a:p>
            <a:pPr algn="l">
              <a:lnSpc>
                <a:spcPct val="105000"/>
              </a:lnSpc>
              <a:spcAft>
                <a:spcPts val="18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Manual triage is accurate, but does not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1325880"/>
            <a:ext cx="53309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WHAT EVERY DEFECTS4J BUG SHIPS WITH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09360" y="1719072"/>
            <a:ext cx="5330952" cy="6035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719072"/>
            <a:ext cx="64008" cy="603504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1719072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Bug report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09360" y="2432304"/>
            <a:ext cx="5330952" cy="60350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09360" y="2432304"/>
            <a:ext cx="64008" cy="603504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583680" y="2432304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Failing tests + stack traces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145536"/>
            <a:ext cx="5330952" cy="603504"/>
          </a:xfrm>
          <a:prstGeom prst="rect">
            <a:avLst/>
          </a:prstGeom>
          <a:solidFill>
            <a:srgbClr val="F7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309360" y="3145536"/>
            <a:ext cx="64008" cy="603504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83680" y="3145536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A23B3B"/>
                </a:solidFill>
                <a:latin typeface="Source Sans 3"/>
              </a:rPr>
              <a:t>Buggy source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09360" y="3858768"/>
            <a:ext cx="5330952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309360" y="3858768"/>
            <a:ext cx="64008" cy="603504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0" y="3858768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4F"/>
                </a:solidFill>
                <a:latin typeface="Source Sans 3"/>
              </a:rPr>
              <a:t>Fixed source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572000"/>
            <a:ext cx="5330952" cy="603504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572000"/>
            <a:ext cx="64008" cy="603504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3680" y="4572000"/>
            <a:ext cx="4873752" cy="60350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4F"/>
                </a:solidFill>
                <a:latin typeface="Source Sans 3"/>
              </a:rPr>
              <a:t>Fix diff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5440680"/>
            <a:ext cx="64008" cy="64008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77240" y="5440680"/>
            <a:ext cx="1088136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Every bug ships with its fix, so one bug can be classified </a:t>
            </a:r>
            <a:r>
              <a:rPr sz="1800" b="1" i="0">
                <a:solidFill>
                  <a:srgbClr val="A23B3B"/>
                </a:solidFill>
                <a:latin typeface="Source Sans 3"/>
              </a:rPr>
              <a:t>before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 and </a:t>
            </a:r>
            <a:r>
              <a:rPr sz="1800" b="1" i="0">
                <a:solidFill>
                  <a:srgbClr val="2F7D4F"/>
                </a:solidFill>
                <a:latin typeface="Source Sans 3"/>
              </a:rPr>
              <a:t>after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 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Orthogonal Defect Classification (ODC)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4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ODC [4, 15] describes a defect when it is found (</a:t>
            </a:r>
            <a:r>
              <a:rPr sz="1800" b="0" i="1">
                <a:solidFill>
                  <a:srgbClr val="1C2128"/>
                </a:solidFill>
                <a:latin typeface="Source Sans 3"/>
              </a:rPr>
              <a:t>opener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) and when it is fixed (</a:t>
            </a:r>
            <a:r>
              <a:rPr sz="1800" b="0" i="1">
                <a:solidFill>
                  <a:srgbClr val="1C2128"/>
                </a:solidFill>
                <a:latin typeface="Source Sans 3"/>
              </a:rPr>
              <a:t>closer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). We classify one closer attribute: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783080"/>
            <a:ext cx="2377440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783080"/>
            <a:ext cx="237744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Source Sans 3"/>
              </a:rPr>
              <a:t>Defect 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1783080"/>
            <a:ext cx="365760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the nature of the correction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303520" y="2331720"/>
            <a:ext cx="0" cy="27432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cxnSp>
        <p:nvCxnSpPr>
          <p:cNvPr id="19" name="Connector 18"/>
          <p:cNvCxnSpPr/>
          <p:nvPr/>
        </p:nvCxnSpPr>
        <p:spPr>
          <a:xfrm>
            <a:off x="3406140" y="2606040"/>
            <a:ext cx="5660136" cy="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cxnSp>
        <p:nvCxnSpPr>
          <p:cNvPr id="20" name="Connector 19"/>
          <p:cNvCxnSpPr/>
          <p:nvPr/>
        </p:nvCxnSpPr>
        <p:spPr>
          <a:xfrm>
            <a:off x="3406140" y="2606040"/>
            <a:ext cx="0" cy="18288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sp>
        <p:nvSpPr>
          <p:cNvPr id="21" name="Rectangle 20"/>
          <p:cNvSpPr/>
          <p:nvPr/>
        </p:nvSpPr>
        <p:spPr>
          <a:xfrm>
            <a:off x="548640" y="2788920"/>
            <a:ext cx="5715000" cy="45720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2788920"/>
            <a:ext cx="571500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Control and Data Flow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21867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48640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48640" y="3410712"/>
            <a:ext cx="1346454" cy="64008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3503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Checking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missing or wrong condition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2678049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2004822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2004822" y="3410712"/>
            <a:ext cx="1346454" cy="64008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059686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Algorithm/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Method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077974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computation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134230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34" name="Rectangle 33"/>
          <p:cNvSpPr/>
          <p:nvPr/>
        </p:nvSpPr>
        <p:spPr>
          <a:xfrm>
            <a:off x="3461003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3461003" y="3410712"/>
            <a:ext cx="1346454" cy="64008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515868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Assignment/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Initialization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534156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value or initialization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590413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39" name="Rectangle 38"/>
          <p:cNvSpPr/>
          <p:nvPr/>
        </p:nvSpPr>
        <p:spPr>
          <a:xfrm>
            <a:off x="4917186" y="3410712"/>
            <a:ext cx="1346454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917186" y="3410712"/>
            <a:ext cx="1346454" cy="64008"/>
          </a:xfrm>
          <a:prstGeom prst="rect">
            <a:avLst/>
          </a:prstGeom>
          <a:solidFill>
            <a:srgbClr val="8A9199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72049" y="3538728"/>
            <a:ext cx="1236726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Timing/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Serialization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990338" y="4389120"/>
            <a:ext cx="1200150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ordering or concurrency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9066276" y="2606040"/>
            <a:ext cx="0" cy="182880"/>
          </a:xfrm>
          <a:prstGeom prst="line">
            <a:avLst/>
          </a:prstGeom>
          <a:ln w="15875">
            <a:solidFill>
              <a:srgbClr val="8A919C"/>
            </a:solidFill>
          </a:ln>
        </p:spPr>
      </p:cxnSp>
      <p:sp>
        <p:nvSpPr>
          <p:cNvPr id="44" name="Rectangle 43"/>
          <p:cNvSpPr/>
          <p:nvPr/>
        </p:nvSpPr>
        <p:spPr>
          <a:xfrm>
            <a:off x="6492240" y="2788920"/>
            <a:ext cx="5148072" cy="45720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92240" y="2788920"/>
            <a:ext cx="5148072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Structural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313676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6492240" y="3410712"/>
            <a:ext cx="164287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6492240" y="3410712"/>
            <a:ext cx="1642872" cy="64008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547103" y="3538728"/>
            <a:ext cx="1533144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Function/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Class/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Object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565392" y="4389120"/>
            <a:ext cx="149656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missing capability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9066276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52" name="Rectangle 51"/>
          <p:cNvSpPr/>
          <p:nvPr/>
        </p:nvSpPr>
        <p:spPr>
          <a:xfrm>
            <a:off x="8244839" y="3410712"/>
            <a:ext cx="164287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4839" y="3410712"/>
            <a:ext cx="1642872" cy="64008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99704" y="3538728"/>
            <a:ext cx="1533144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Interface/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O-O Messages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317991" y="4389120"/>
            <a:ext cx="149656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wrong interaction across a boundary</a:t>
            </a:r>
          </a:p>
        </p:txBody>
      </p:sp>
      <p:cxnSp>
        <p:nvCxnSpPr>
          <p:cNvPr id="56" name="Connector 55"/>
          <p:cNvCxnSpPr/>
          <p:nvPr/>
        </p:nvCxnSpPr>
        <p:spPr>
          <a:xfrm>
            <a:off x="10818876" y="3246120"/>
            <a:ext cx="0" cy="164592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57" name="Rectangle 56"/>
          <p:cNvSpPr/>
          <p:nvPr/>
        </p:nvSpPr>
        <p:spPr>
          <a:xfrm>
            <a:off x="9997440" y="3410712"/>
            <a:ext cx="1642872" cy="1874519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997440" y="3410712"/>
            <a:ext cx="1642872" cy="64008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052304" y="3538728"/>
            <a:ext cx="1533144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Relationship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0070592" y="4389120"/>
            <a:ext cx="1496568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broken association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532120"/>
            <a:ext cx="110916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+ Other</a:t>
            </a:r>
            <a:r>
              <a:rPr sz="1700" b="0" i="0">
                <a:solidFill>
                  <a:srgbClr val="5A6270"/>
                </a:solidFill>
                <a:latin typeface="Source Sans 3"/>
              </a:rPr>
              <a:t>  —  escape category added in this study, allowed only with a written justification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Related Work and the Research Gap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5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WHAT PRIOR WORK ON DEFECTS4J ACTUALLY LABELS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914400" y="2880360"/>
            <a:ext cx="10058400" cy="0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16" name="Oval 15"/>
          <p:cNvSpPr/>
          <p:nvPr/>
        </p:nvSpPr>
        <p:spPr>
          <a:xfrm>
            <a:off x="1536192" y="2798064"/>
            <a:ext cx="164592" cy="164592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1645919"/>
            <a:ext cx="2103120" cy="82296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how a bug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manifests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6928" y="3044952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Van der Spuy &amp;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Fischer 2025 [8]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66928" y="3749039"/>
            <a:ext cx="2103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488 faults</a:t>
            </a:r>
          </a:p>
        </p:txBody>
      </p:sp>
      <p:sp>
        <p:nvSpPr>
          <p:cNvPr id="20" name="Oval 19"/>
          <p:cNvSpPr/>
          <p:nvPr/>
        </p:nvSpPr>
        <p:spPr>
          <a:xfrm>
            <a:off x="4453128" y="2798064"/>
            <a:ext cx="164592" cy="164592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83864" y="1645919"/>
            <a:ext cx="2103120" cy="82296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what the patch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changed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83864" y="3044952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Sobreira et al.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2018 [9]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83864" y="3749039"/>
            <a:ext cx="2103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395 patches</a:t>
            </a:r>
          </a:p>
        </p:txBody>
      </p:sp>
      <p:sp>
        <p:nvSpPr>
          <p:cNvPr id="24" name="Oval 23"/>
          <p:cNvSpPr/>
          <p:nvPr/>
        </p:nvSpPr>
        <p:spPr>
          <a:xfrm>
            <a:off x="7068312" y="2798064"/>
            <a:ext cx="164592" cy="164592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99048" y="1645919"/>
            <a:ext cx="2103120" cy="82296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one-off manual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inspection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99048" y="3044952"/>
            <a:ext cx="2103120" cy="6858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Jiang et al.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2019 [10]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099048" y="3749039"/>
            <a:ext cx="2103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50 bugs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961120" y="1554480"/>
            <a:ext cx="2011679" cy="2468880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961120" y="1645919"/>
            <a:ext cx="2011679" cy="8229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semantic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defect type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961120" y="3108960"/>
            <a:ext cx="2011679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23B3B"/>
                </a:solidFill>
                <a:latin typeface="Source Sans 3"/>
              </a:rPr>
              <a:t>not labelled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A23B3B"/>
                </a:solidFill>
                <a:latin typeface="Source Sans 3"/>
              </a:rPr>
              <a:t>at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4251960"/>
            <a:ext cx="5394960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LLM classifiers [11, 12, 14, 16]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read bug-report text only; without a fixed taxonomy their labels are inconsistent.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309360" y="4251960"/>
            <a:ext cx="5330952" cy="10972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ODC studies [19, 20, 21]</a:t>
            </a:r>
          </a:p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classify other corpora — never Defects4J at benchmark scale.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48640" y="5440680"/>
            <a:ext cx="64008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108813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Gap: no semantic defect-type labels for Defects4J, and no way to evaluate them without ground truth.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Problem Statement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6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371600"/>
            <a:ext cx="64008" cy="14630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1325880"/>
            <a:ext cx="10698480" cy="1554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700" b="0" i="0">
                <a:solidFill>
                  <a:srgbClr val="1C2128"/>
                </a:solidFill>
                <a:latin typeface="Source Sans 3"/>
              </a:rPr>
              <a:t>Classify Defects4J bugs into ODC defect types </a:t>
            </a:r>
            <a:r>
              <a:rPr sz="2700" b="1" i="0">
                <a:solidFill>
                  <a:srgbClr val="12284C"/>
                </a:solidFill>
                <a:latin typeface="Source Sans 3"/>
              </a:rPr>
              <a:t>from pre-fix evidence alone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 — and evaluate that classification </a:t>
            </a:r>
            <a:r>
              <a:rPr sz="2700" b="1" i="0">
                <a:solidFill>
                  <a:srgbClr val="12284C"/>
                </a:solidFill>
                <a:latin typeface="Source Sans 3"/>
              </a:rPr>
              <a:t>without ground-truth labels.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20040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A SOLUTION THEREFORE HAS TO BE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361188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3721608"/>
            <a:ext cx="3520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Context-aware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4142232"/>
            <a:ext cx="3520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code, tests, traces, reports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4343400" y="361188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4343400" y="3721608"/>
            <a:ext cx="3520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Semantic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43400" y="4142232"/>
            <a:ext cx="3520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mechanism, not the syntax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138160" y="361188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4" name="TextBox 23"/>
          <p:cNvSpPr txBox="1"/>
          <p:nvPr/>
        </p:nvSpPr>
        <p:spPr>
          <a:xfrm>
            <a:off x="8138160" y="3721608"/>
            <a:ext cx="3520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Taxonomy-constrained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142232"/>
            <a:ext cx="3520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a fixed, comparable label space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484632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4956048"/>
            <a:ext cx="3520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Open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376672"/>
            <a:ext cx="3520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can record “fits no type”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343400" y="484632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30" name="TextBox 29"/>
          <p:cNvSpPr txBox="1"/>
          <p:nvPr/>
        </p:nvSpPr>
        <p:spPr>
          <a:xfrm>
            <a:off x="4343400" y="4956048"/>
            <a:ext cx="3520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Scalable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43400" y="5376672"/>
            <a:ext cx="3520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no manual labelling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138160" y="484632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8138160" y="4956048"/>
            <a:ext cx="35204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Evaluable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38160" y="5376672"/>
            <a:ext cx="35204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carries its own reference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Core Idea: One Bug, Two Classifications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7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58978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DEFECTS4J CHART_9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45920"/>
            <a:ext cx="5897880" cy="402336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1645920"/>
            <a:ext cx="56235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Code Pro"/>
              </a:rPr>
              <a:t>org.jfree.data.time.TimeSeries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048256"/>
            <a:ext cx="5897880" cy="18836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2121408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      endIndex = endIndex - 1;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468880"/>
            <a:ext cx="5897880" cy="347472"/>
          </a:xfrm>
          <a:prstGeom prst="rect">
            <a:avLst/>
          </a:prstGeom>
          <a:solidFill>
            <a:srgbClr val="F7E6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48640" y="2468880"/>
            <a:ext cx="45720" cy="347472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468880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A23B3B"/>
                </a:solidFill>
                <a:latin typeface="Source Code Pro"/>
              </a:rPr>
              <a:t>- if (endIndex &lt; 0) {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2816352"/>
            <a:ext cx="5897880" cy="347472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2816352"/>
            <a:ext cx="45720" cy="347472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5800" y="2816352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2F7D4F"/>
                </a:solidFill>
                <a:latin typeface="Source Code Pro"/>
              </a:rPr>
              <a:t>+ if ((endIndex &lt; 0) || (endIndex &lt; startIndex)) {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163824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      emptyRange = true;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3511296"/>
            <a:ext cx="5623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  }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23360"/>
            <a:ext cx="589788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fix widens a guard to catch an empty range.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766560" y="1280160"/>
            <a:ext cx="4873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766560" y="1280160"/>
            <a:ext cx="64008" cy="1371600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995160" y="1353312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A23B3B"/>
                </a:solidFill>
                <a:latin typeface="Source Sans 3"/>
              </a:rPr>
              <a:t>Pre-fix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95160" y="1764792"/>
            <a:ext cx="4507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Code Pro"/>
              </a:rPr>
              <a:t>report · tests · trace · code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95160" y="2176272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Triage: no fix exists yet.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2834639"/>
            <a:ext cx="4873752" cy="1371600"/>
          </a:xfrm>
          <a:prstGeom prst="rect">
            <a:avLst/>
          </a:prstGeom>
          <a:solidFill>
            <a:srgbClr val="FFFFFF"/>
          </a:solidFill>
          <a:ln w="9525">
            <a:solidFill>
              <a:srgbClr val="D5D9D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766560" y="2834639"/>
            <a:ext cx="64008" cy="137160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995160" y="2907791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2F7D4F"/>
                </a:solidFill>
                <a:latin typeface="Source Sans 3"/>
              </a:rPr>
              <a:t>Post-fix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95160" y="3319272"/>
            <a:ext cx="450799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Code Pro"/>
              </a:rPr>
              <a:t>the same evidence + the fix diff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95160" y="3730752"/>
            <a:ext cx="450799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Informed by the correction.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452628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DEFECTS4J HAS NO ODC LABELS, SO WE DEFINE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548640" y="489204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40" name="TextBox 39"/>
          <p:cNvSpPr txBox="1"/>
          <p:nvPr/>
        </p:nvSpPr>
        <p:spPr>
          <a:xfrm>
            <a:off x="548640" y="4956048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Post-fix label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5349240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8A919C"/>
                </a:solidFill>
                <a:latin typeface="Source Sans 3"/>
              </a:rPr>
              <a:t>= 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the fix-informed reference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343400" y="489204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43" name="TextBox 42"/>
          <p:cNvSpPr txBox="1"/>
          <p:nvPr/>
        </p:nvSpPr>
        <p:spPr>
          <a:xfrm>
            <a:off x="4343400" y="4956048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Pre-fix vs post-fix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343400" y="5349240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8A919C"/>
                </a:solidFill>
                <a:latin typeface="Source Sans 3"/>
              </a:rPr>
              <a:t>= 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does the triage label hold?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138160" y="4892040"/>
            <a:ext cx="352044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8138160" y="4956048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Labels differ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38160" y="5349240"/>
            <a:ext cx="3520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8A919C"/>
                </a:solidFill>
                <a:latin typeface="Source Sans 3"/>
              </a:rPr>
              <a:t>= 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drift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Agreement is not correctness: we measure how closely a pre-fix label reproduces a better-informed reference.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Research Questions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Context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8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4475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4475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144475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Distribution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1847088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Which ODC types dominate, and does the mix differ by project?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239572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Rectangle 18"/>
          <p:cNvSpPr/>
          <p:nvPr/>
        </p:nvSpPr>
        <p:spPr>
          <a:xfrm>
            <a:off x="548640" y="254203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54203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254203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Coverage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2944368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Do the seven types cover every bug, or is “Other” needed?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48640" y="349300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4" name="Rectangle 23"/>
          <p:cNvSpPr/>
          <p:nvPr/>
        </p:nvSpPr>
        <p:spPr>
          <a:xfrm>
            <a:off x="548640" y="363931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63931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363931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4041648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How often does the pre-fix label match the post-fix reference?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548640" y="459028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9" name="Rectangle 28"/>
          <p:cNvSpPr/>
          <p:nvPr/>
        </p:nvSpPr>
        <p:spPr>
          <a:xfrm>
            <a:off x="548640" y="4736592"/>
            <a:ext cx="1143000" cy="7498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48640" y="4736592"/>
            <a:ext cx="1143000" cy="74980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Source Sans 3"/>
              </a:rPr>
              <a:t>RQ4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920240" y="4736592"/>
            <a:ext cx="96926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1C2128"/>
                </a:solidFill>
                <a:latin typeface="Source Sans 3"/>
              </a:rPr>
              <a:t>Components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920240" y="5138927"/>
            <a:ext cx="969264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What do (a) the taxonomy and (b) the enforced loop contribute?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410 bugs  ·  six Defects4J projects  ·  1,640 classifications.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Pipeline Overview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9 / 24</a:t>
            </a:r>
          </a:p>
        </p:txBody>
      </p:sp>
      <p:pic>
        <p:nvPicPr>
          <p:cNvPr id="14" name="Picture 13" descr="methodology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706" y="1280160"/>
            <a:ext cx="9568281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Evidence Collection: the Case File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10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98448"/>
            <a:ext cx="55778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CONTEXT.JSON  ·  ONE PER BUG AND EVIDENCE MODE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64208"/>
            <a:ext cx="5577840" cy="402336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810512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{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2194560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"bug_report":        sanitized,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578608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"failing_tests":     name, message,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2962656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                     stack trace,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3346704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"suspicious_frames": project frames,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730752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"code_snippets":     ±12 / ±18 lines,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114800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  "coverage":          line, branch,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498848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B7791F"/>
                </a:solidFill>
                <a:latin typeface="Source Code Pro"/>
              </a:rPr>
              <a:t>  "hidden_oracles":    modified classes,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882896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2F7D4F"/>
                </a:solidFill>
                <a:latin typeface="Source Code Pro"/>
              </a:rPr>
              <a:t>  "fix_diff":          post-fix only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266944"/>
            <a:ext cx="5212079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}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92240" y="1746504"/>
            <a:ext cx="54864" cy="10058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20840" y="1691640"/>
            <a:ext cx="4919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Suspicious frames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20840" y="2103120"/>
            <a:ext cx="491947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Only frames in the project's own source; JUnit, JDK and build-tool frames are dropped.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92240" y="3118104"/>
            <a:ext cx="54864" cy="10058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720840" y="3063240"/>
            <a:ext cx="4919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Sanitized pre-fix evidence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720840" y="3474720"/>
            <a:ext cx="491947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Classes touched by the fix and “fixed in” discussion are removed.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92240" y="4489703"/>
            <a:ext cx="54864" cy="1005840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720840" y="4434840"/>
            <a:ext cx="49194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Hidden oracle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20840" y="4846320"/>
            <a:ext cx="4919472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Modified classes are kept for evaluation, never put in the prompt.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Pre-fix and post-fix runs share one evidence store; only the fix diff differs.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Classification Conditions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11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07008"/>
            <a:ext cx="110916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5A6270"/>
                </a:solidFill>
                <a:latin typeface="Source Sans 3"/>
              </a:rPr>
              <a:t>A condition = taxonomy (label space) × strategy (reasoning).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03120" y="1783080"/>
            <a:ext cx="50749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TAXONOMY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155448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STRATEGY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03120" y="2194560"/>
            <a:ext cx="1691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free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94760" y="2194560"/>
            <a:ext cx="1691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closed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2194560"/>
            <a:ext cx="169164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open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48640" y="2651760"/>
            <a:ext cx="6629400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48640" y="2697480"/>
            <a:ext cx="155448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zero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176272" y="2770632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176272" y="2770632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zero-free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94760" y="2697480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2697480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548640" y="3538728"/>
            <a:ext cx="662940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7" name="TextBox 26"/>
          <p:cNvSpPr txBox="1"/>
          <p:nvPr/>
        </p:nvSpPr>
        <p:spPr>
          <a:xfrm>
            <a:off x="548640" y="3538728"/>
            <a:ext cx="155448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few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03120" y="3538728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867912" y="3611880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67912" y="3611880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few-closed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559552" y="3611880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559552" y="3611880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few-open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4379976"/>
            <a:ext cx="662940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4379976"/>
            <a:ext cx="155448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scientific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103120" y="4379976"/>
            <a:ext cx="1691640" cy="8412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8A919C"/>
                </a:solidFill>
                <a:latin typeface="Source Sans 3"/>
              </a:rPr>
              <a:t>—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67912" y="4453128"/>
            <a:ext cx="1545336" cy="694944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867912" y="4453128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scientific-closed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559552" y="4453128"/>
            <a:ext cx="1545336" cy="69494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559552" y="4453128"/>
            <a:ext cx="1545336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Source Sans 3"/>
              </a:rPr>
              <a:t>scientific-open</a:t>
            </a:r>
          </a:p>
          <a:p>
            <a:pPr algn="ctr">
              <a:lnSpc>
                <a:spcPct val="95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Source Sans 3"/>
              </a:rPr>
              <a:t>default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548640" y="5221224"/>
            <a:ext cx="662940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548640" y="5212080"/>
            <a:ext cx="6583680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Five of nine combinations are valid: zero uses no taxonomy, and free defines none.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360920" y="1783080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TAXONOMY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60920" y="2167128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free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03920" y="2167128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the model's own words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7360920" y="2697480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6" name="TextBox 45"/>
          <p:cNvSpPr txBox="1"/>
          <p:nvPr/>
        </p:nvSpPr>
        <p:spPr>
          <a:xfrm>
            <a:off x="7360920" y="2715768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closed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03920" y="2715768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one of the 7 ODC types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7360920" y="3246120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7360920" y="3264408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open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03920" y="3264408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7 types + a justified “Other”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7360920" y="3794760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52" name="TextBox 51"/>
          <p:cNvSpPr txBox="1"/>
          <p:nvPr/>
        </p:nvSpPr>
        <p:spPr>
          <a:xfrm>
            <a:off x="7360920" y="4041648"/>
            <a:ext cx="427939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STRATEGY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60920" y="4425696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zero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03920" y="4425696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one plain prompt</a:t>
            </a:r>
          </a:p>
        </p:txBody>
      </p:sp>
      <p:cxnSp>
        <p:nvCxnSpPr>
          <p:cNvPr id="55" name="Connector 54"/>
          <p:cNvCxnSpPr/>
          <p:nvPr/>
        </p:nvCxnSpPr>
        <p:spPr>
          <a:xfrm>
            <a:off x="7360920" y="4956048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56" name="TextBox 55"/>
          <p:cNvSpPr txBox="1"/>
          <p:nvPr/>
        </p:nvSpPr>
        <p:spPr>
          <a:xfrm>
            <a:off x="7360920" y="4974336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few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503920" y="4974336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definitions, tree, 5 examples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7360920" y="5504688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59" name="TextBox 58"/>
          <p:cNvSpPr txBox="1"/>
          <p:nvPr/>
        </p:nvSpPr>
        <p:spPr>
          <a:xfrm>
            <a:off x="7360920" y="5522975"/>
            <a:ext cx="11430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scientific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503920" y="5522975"/>
            <a:ext cx="313639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enforced hypothesis–probe loop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7360920" y="6053327"/>
            <a:ext cx="427939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Prompt Design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12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188720"/>
            <a:ext cx="1109167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Capitalised names are prompt components: defined once, or filled in per bug.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19072"/>
            <a:ext cx="5440680" cy="42062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1719072"/>
            <a:ext cx="50749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ource Code Pro"/>
              </a:rPr>
              <a:t>few-open</a:t>
            </a:r>
            <a:r>
              <a:rPr sz="1500" b="0" i="0">
                <a:solidFill>
                  <a:srgbClr val="FFFFFF"/>
                </a:solidFill>
                <a:latin typeface="Source Code Pro"/>
              </a:rPr>
              <a:t>     one call, one answer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2331720"/>
            <a:ext cx="5440680" cy="13716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48640" y="2331720"/>
            <a:ext cx="54864" cy="13716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9808" y="2386584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Code Pro"/>
              </a:rPr>
              <a:t>system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74519" y="2368296"/>
            <a:ext cx="3931920" cy="12801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ODC_TAXONOMY  ANTI_BIAS_RULES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DECISION_TREE      (7 questions)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FEW_SHOT_EXAMPLES  (5 bugs)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OUTPUT_SCHEMA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3268980" y="3703320"/>
            <a:ext cx="0" cy="246888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22" name="Rectangle 21"/>
          <p:cNvSpPr/>
          <p:nvPr/>
        </p:nvSpPr>
        <p:spPr>
          <a:xfrm>
            <a:off x="548640" y="3950208"/>
            <a:ext cx="5440680" cy="56692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3950208"/>
            <a:ext cx="54864" cy="566928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4005072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270"/>
                </a:solidFill>
                <a:latin typeface="Source Code Pro"/>
              </a:rPr>
              <a:t>user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74519" y="3986784"/>
            <a:ext cx="393192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BUG_CONTEXT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3268980" y="4517136"/>
            <a:ext cx="0" cy="246888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27" name="Rectangle 26"/>
          <p:cNvSpPr/>
          <p:nvPr/>
        </p:nvSpPr>
        <p:spPr>
          <a:xfrm>
            <a:off x="548640" y="4764024"/>
            <a:ext cx="5440680" cy="566928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548640" y="4764024"/>
            <a:ext cx="54864" cy="56692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9808" y="4818888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4F"/>
                </a:solidFill>
                <a:latin typeface="Source Code Pro"/>
              </a:rPr>
              <a:t>model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800600"/>
            <a:ext cx="3931920" cy="47548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one JSON classification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99632" y="1719072"/>
            <a:ext cx="5440680" cy="42062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1719072"/>
            <a:ext cx="507492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Source Code Pro"/>
              </a:rPr>
              <a:t>scientific-open</a:t>
            </a:r>
            <a:r>
              <a:rPr sz="1500" b="0" i="0">
                <a:solidFill>
                  <a:srgbClr val="FFFFFF"/>
                </a:solidFill>
                <a:latin typeface="Source Code Pro"/>
              </a:rPr>
              <a:t>     up to 6 turns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199632" y="2331720"/>
            <a:ext cx="5440680" cy="9144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199632" y="2331720"/>
            <a:ext cx="54864" cy="9144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2386584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Code Pro"/>
              </a:rPr>
              <a:t>system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25512" y="2368296"/>
            <a:ext cx="393192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ODC_TAXONOMY  ANTI_BIAS_RULES</a:t>
            </a:r>
          </a:p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PROBE_CATALOGUE  TURN_SCHEMA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919972" y="3246120"/>
            <a:ext cx="0" cy="210312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38" name="Rectangle 37"/>
          <p:cNvSpPr/>
          <p:nvPr/>
        </p:nvSpPr>
        <p:spPr>
          <a:xfrm>
            <a:off x="6199632" y="3456432"/>
            <a:ext cx="5440680" cy="49377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199632" y="3456432"/>
            <a:ext cx="54864" cy="493776"/>
          </a:xfrm>
          <a:prstGeom prst="rect">
            <a:avLst/>
          </a:prstGeom>
          <a:solidFill>
            <a:srgbClr val="5A627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0" y="3511296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270"/>
                </a:solidFill>
                <a:latin typeface="Source Code Pro"/>
              </a:rPr>
              <a:t>user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25512" y="3493008"/>
            <a:ext cx="393192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BUG_CONTEXT (summary)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9904" y="4114800"/>
            <a:ext cx="5660136" cy="1298448"/>
          </a:xfrm>
          <a:prstGeom prst="rect">
            <a:avLst/>
          </a:prstGeom>
          <a:solidFill>
            <a:srgbClr val="FFFFFF"/>
          </a:solidFill>
          <a:ln w="12700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17920" y="4142232"/>
            <a:ext cx="2377440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Sans 3"/>
              </a:rPr>
              <a:t>EACH TURN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199632" y="4443984"/>
            <a:ext cx="5440680" cy="438912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199632" y="4443984"/>
            <a:ext cx="54864" cy="43891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4498848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2284C"/>
                </a:solidFill>
                <a:latin typeface="Source Code Pro"/>
              </a:rPr>
              <a:t>model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25512" y="4480560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hypothesis · prediction · probe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199632" y="4919472"/>
            <a:ext cx="5440680" cy="438912"/>
          </a:xfrm>
          <a:prstGeom prst="rect">
            <a:avLst/>
          </a:prstGeom>
          <a:solidFill>
            <a:srgbClr val="FBF2E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99632" y="4919472"/>
            <a:ext cx="54864" cy="438912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00800" y="4974336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B7791F"/>
                </a:solidFill>
                <a:latin typeface="Source Code Pro"/>
              </a:rPr>
              <a:t>user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25512" y="4956048"/>
            <a:ext cx="393192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400" b="0" i="0">
                <a:solidFill>
                  <a:srgbClr val="1C2128"/>
                </a:solidFill>
                <a:latin typeface="Source Code Pro"/>
              </a:rPr>
              <a:t>PROBE_RESULT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658600" y="4114800"/>
            <a:ext cx="502920" cy="12984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2284C"/>
                </a:solidFill>
                <a:latin typeface="Source Sans 3"/>
              </a:rPr>
              <a:t>×6</a:t>
            </a:r>
          </a:p>
        </p:txBody>
      </p:sp>
      <p:cxnSp>
        <p:nvCxnSpPr>
          <p:cNvPr id="53" name="Connector 52"/>
          <p:cNvCxnSpPr/>
          <p:nvPr/>
        </p:nvCxnSpPr>
        <p:spPr>
          <a:xfrm>
            <a:off x="8919972" y="5413248"/>
            <a:ext cx="0" cy="210312"/>
          </a:xfrm>
          <a:prstGeom prst="line">
            <a:avLst/>
          </a:prstGeom>
          <a:ln w="15875">
            <a:solidFill>
              <a:srgbClr val="8A919C"/>
            </a:solidFill>
            <a:tailEnd type="triangle" w="med" len="med"/>
          </a:ln>
        </p:spPr>
      </p:cxnSp>
      <p:sp>
        <p:nvSpPr>
          <p:cNvPr id="54" name="Rectangle 53"/>
          <p:cNvSpPr/>
          <p:nvPr/>
        </p:nvSpPr>
        <p:spPr>
          <a:xfrm>
            <a:off x="6199632" y="5623560"/>
            <a:ext cx="5440680" cy="50292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199632" y="5623560"/>
            <a:ext cx="54864" cy="502920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0" y="5678424"/>
            <a:ext cx="105156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2F7D4F"/>
                </a:solidFill>
                <a:latin typeface="Source Code Pro"/>
              </a:rPr>
              <a:t>model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525512" y="5660136"/>
            <a:ext cx="3931920" cy="4114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200"/>
              </a:spcAft>
            </a:pPr>
            <a:r>
              <a:rPr sz="1500" b="0" i="0">
                <a:solidFill>
                  <a:srgbClr val="1C2128"/>
                </a:solidFill>
                <a:latin typeface="Source Code Pro"/>
              </a:rPr>
              <a:t>conclude → ODC defect type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48640" y="5623560"/>
            <a:ext cx="544068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1">
                <a:solidFill>
                  <a:srgbClr val="5A6270"/>
                </a:solidFill>
                <a:latin typeface="Source Sans 3"/>
              </a:rPr>
              <a:t>The taxonomy and the evidence are identical in both.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The Enforced Scientific Reasoning Loop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13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48640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Hypothesis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commit to a type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2935224" y="1965960"/>
            <a:ext cx="475488" cy="0"/>
          </a:xfrm>
          <a:prstGeom prst="line">
            <a:avLst/>
          </a:prstGeom>
          <a:ln w="22225">
            <a:solidFill>
              <a:srgbClr val="12284C"/>
            </a:solidFill>
            <a:tailEnd type="triangle" w="med" len="med"/>
          </a:ln>
        </p:spPr>
      </p:cxnSp>
      <p:sp>
        <p:nvSpPr>
          <p:cNvPr id="19" name="Rectangle 18"/>
          <p:cNvSpPr/>
          <p:nvPr/>
        </p:nvSpPr>
        <p:spPr>
          <a:xfrm>
            <a:off x="3465576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465576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65576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Prediction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65576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evidence that must exist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5852159" y="1965960"/>
            <a:ext cx="475489" cy="0"/>
          </a:xfrm>
          <a:prstGeom prst="line">
            <a:avLst/>
          </a:prstGeom>
          <a:ln w="22225">
            <a:solidFill>
              <a:srgbClr val="12284C"/>
            </a:solidFill>
            <a:tailEnd type="triangle" w="med" len="med"/>
          </a:ln>
        </p:spPr>
      </p:cxnSp>
      <p:sp>
        <p:nvSpPr>
          <p:cNvPr id="24" name="Rectangle 23"/>
          <p:cNvSpPr/>
          <p:nvPr/>
        </p:nvSpPr>
        <p:spPr>
          <a:xfrm>
            <a:off x="6382512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382512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82512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Probe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82512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request that evidence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8769096" y="1965960"/>
            <a:ext cx="475488" cy="0"/>
          </a:xfrm>
          <a:prstGeom prst="line">
            <a:avLst/>
          </a:prstGeom>
          <a:ln w="22225">
            <a:solidFill>
              <a:srgbClr val="12284C"/>
            </a:solidFill>
            <a:tailEnd type="triangle" w="med" len="med"/>
          </a:ln>
        </p:spPr>
      </p:cxnSp>
      <p:sp>
        <p:nvSpPr>
          <p:cNvPr id="29" name="Rectangle 28"/>
          <p:cNvSpPr/>
          <p:nvPr/>
        </p:nvSpPr>
        <p:spPr>
          <a:xfrm>
            <a:off x="9299448" y="1463040"/>
            <a:ext cx="2331720" cy="1005840"/>
          </a:xfrm>
          <a:prstGeom prst="rect">
            <a:avLst/>
          </a:prstGeom>
          <a:solidFill>
            <a:srgbClr val="FFFFFF"/>
          </a:solidFill>
          <a:ln w="15875">
            <a:solidFill>
              <a:srgbClr val="12284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299448" y="1463040"/>
            <a:ext cx="2331720" cy="5486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99448" y="1572768"/>
            <a:ext cx="23317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2284C"/>
                </a:solidFill>
                <a:latin typeface="Source Sans 3"/>
              </a:rPr>
              <a:t>Observation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99448" y="1993392"/>
            <a:ext cx="233172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read what came back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10465308" y="2468880"/>
            <a:ext cx="0" cy="411480"/>
          </a:xfrm>
          <a:prstGeom prst="line">
            <a:avLst/>
          </a:prstGeom>
          <a:ln w="19050">
            <a:solidFill>
              <a:srgbClr val="12284C"/>
            </a:solidFill>
          </a:ln>
        </p:spPr>
      </p:cxnSp>
      <p:cxnSp>
        <p:nvCxnSpPr>
          <p:cNvPr id="34" name="Connector 33"/>
          <p:cNvCxnSpPr/>
          <p:nvPr/>
        </p:nvCxnSpPr>
        <p:spPr>
          <a:xfrm flipH="1">
            <a:off x="1714500" y="2880360"/>
            <a:ext cx="8750808" cy="0"/>
          </a:xfrm>
          <a:prstGeom prst="line">
            <a:avLst/>
          </a:prstGeom>
          <a:ln w="19050">
            <a:solidFill>
              <a:srgbClr val="12284C"/>
            </a:solidFill>
            <a:prstDash val="dash"/>
          </a:ln>
        </p:spPr>
      </p:cxnSp>
      <p:cxnSp>
        <p:nvCxnSpPr>
          <p:cNvPr id="35" name="Connector 34"/>
          <p:cNvCxnSpPr/>
          <p:nvPr/>
        </p:nvCxnSpPr>
        <p:spPr>
          <a:xfrm flipV="1">
            <a:off x="1714500" y="2505456"/>
            <a:ext cx="0" cy="374904"/>
          </a:xfrm>
          <a:prstGeom prst="line">
            <a:avLst/>
          </a:prstGeom>
          <a:ln w="19050">
            <a:solidFill>
              <a:srgbClr val="12284C"/>
            </a:solidFill>
            <a:prstDash val="dash"/>
            <a:tailEnd type="triangle" w="med" len="med"/>
          </a:ln>
        </p:spPr>
      </p:cxnSp>
      <p:sp>
        <p:nvSpPr>
          <p:cNvPr id="36" name="TextBox 35"/>
          <p:cNvSpPr txBox="1"/>
          <p:nvPr/>
        </p:nvSpPr>
        <p:spPr>
          <a:xfrm>
            <a:off x="2926080" y="2898648"/>
            <a:ext cx="63093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next turn while the evidence is insufficient  ·  at most 6 turns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308592" y="3355848"/>
            <a:ext cx="2331720" cy="50292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308592" y="3355848"/>
            <a:ext cx="2331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2F7D4F"/>
                </a:solidFill>
                <a:latin typeface="Source Sans 3"/>
              </a:rPr>
              <a:t>Conclude: ODC label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48640" y="3355848"/>
            <a:ext cx="85039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Adapted from AutoSD [17, 18]: from locating a fault to naming its type.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393192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FIVE PROBES, EXECUTED AGAINST THE EVIDENCE STORE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48640" y="4315968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1520" y="4315968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list_evidence()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54680" y="4315968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what evidence exists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480559" y="4315968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663440" y="4315968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full_stack_trace(test)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086600" y="4315968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trace and message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48640" y="4937759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31520" y="4937759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snippet(class)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154680" y="4937759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source snippets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480559" y="4937759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4663440" y="4937759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coverage(class)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086600" y="4937759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line and branch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48640" y="5559552"/>
            <a:ext cx="3749039" cy="51206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31520" y="5559552"/>
            <a:ext cx="242316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Code Pro"/>
              </a:rPr>
              <a:t>bug_report()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154680" y="5559552"/>
            <a:ext cx="96012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5A6270"/>
                </a:solidFill>
                <a:latin typeface="Source Sans 3"/>
              </a:rPr>
              <a:t>the full report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503920" y="4480560"/>
            <a:ext cx="3136392" cy="10972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1">
                <a:solidFill>
                  <a:srgbClr val="1C2128"/>
                </a:solidFill>
                <a:latin typeface="Source Sans 3"/>
              </a:rPr>
              <a:t>The prediction is fixed before the evidence arrives, so a first guess cannot be rationalised.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Evaluation Framework: Four Tiers of Agreement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14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3093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TIERS 1–3 ARE NESTED: STRICT INSIDE FORGIVING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91640"/>
            <a:ext cx="6309360" cy="777240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1691640"/>
            <a:ext cx="603504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5A6270"/>
                </a:solidFill>
                <a:latin typeface="Source Sans 3"/>
              </a:rPr>
              <a:t>Tier 3   Family match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2075688"/>
            <a:ext cx="603504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both types in the same family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280160" y="2560320"/>
            <a:ext cx="4846320" cy="777240"/>
          </a:xfrm>
          <a:prstGeom prst="rect">
            <a:avLst/>
          </a:prstGeom>
          <a:solidFill>
            <a:srgbClr val="C9D3E1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44752" y="2560320"/>
            <a:ext cx="45720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2284C"/>
                </a:solidFill>
                <a:latin typeface="Source Sans 3"/>
              </a:rPr>
              <a:t>Tier 2   Top-2 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4752" y="2944368"/>
            <a:ext cx="457200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Sans 3"/>
              </a:rPr>
              <a:t>either label is the other's alternative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011680" y="3429000"/>
            <a:ext cx="3383280" cy="777240"/>
          </a:xfrm>
          <a:prstGeom prst="rect">
            <a:avLst/>
          </a:prstGeom>
          <a:solidFill>
            <a:srgbClr val="2E4A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176272" y="3429000"/>
            <a:ext cx="310896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ource Sans 3"/>
              </a:rPr>
              <a:t>Tier 1   Strict match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76272" y="3813048"/>
            <a:ext cx="310896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Source Sans 3"/>
              </a:rPr>
              <a:t>the same ODC type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4343400"/>
            <a:ext cx="63093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Three types cover 97.8% of labels, so shuffled labels still reach &gt;92% on Tiers 2–3: we use them to grade disagreements, not as scores.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78040" y="1280160"/>
            <a:ext cx="44622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TIER 4  ·  COHEN'S KAPPA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78040" y="1600200"/>
            <a:ext cx="4462272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0" i="1">
                <a:solidFill>
                  <a:srgbClr val="1C2128"/>
                </a:solidFill>
                <a:latin typeface="Source Sans 3"/>
              </a:rPr>
              <a:t>κ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  =  (</a:t>
            </a:r>
            <a:r>
              <a:rPr sz="2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2700" b="0" i="0" baseline="-25000">
                <a:solidFill>
                  <a:srgbClr val="1C2128"/>
                </a:solidFill>
                <a:latin typeface="Source Sans 3"/>
              </a:rPr>
              <a:t>o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 − </a:t>
            </a:r>
            <a:r>
              <a:rPr sz="2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2700" b="0" i="0" baseline="-25000">
                <a:solidFill>
                  <a:srgbClr val="1C2128"/>
                </a:solidFill>
                <a:latin typeface="Source Sans 3"/>
              </a:rPr>
              <a:t>e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)  /  (1 − </a:t>
            </a:r>
            <a:r>
              <a:rPr sz="27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2700" b="0" i="0" baseline="-25000">
                <a:solidFill>
                  <a:srgbClr val="1C2128"/>
                </a:solidFill>
                <a:latin typeface="Source Sans 3"/>
              </a:rPr>
              <a:t>e</a:t>
            </a:r>
            <a:r>
              <a:rPr sz="2700" b="0" i="0">
                <a:solidFill>
                  <a:srgbClr val="1C2128"/>
                </a:solidFill>
                <a:latin typeface="Source Sans 3"/>
              </a:rPr>
              <a:t>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2377440"/>
            <a:ext cx="6400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1900" b="0" i="0" baseline="-25000">
                <a:solidFill>
                  <a:srgbClr val="1C2128"/>
                </a:solidFill>
                <a:latin typeface="Source Sans 3"/>
              </a:rPr>
              <a:t>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18119" y="2377440"/>
            <a:ext cx="10515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0.702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59" y="2377440"/>
            <a:ext cx="25603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observed agreement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78040" y="2852928"/>
            <a:ext cx="6400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1C2128"/>
                </a:solidFill>
                <a:latin typeface="Source Sans 3"/>
              </a:rPr>
              <a:t>p</a:t>
            </a:r>
            <a:r>
              <a:rPr sz="1900" b="0" i="0" baseline="-25000">
                <a:solidFill>
                  <a:srgbClr val="1C2128"/>
                </a:solidFill>
                <a:latin typeface="Source Sans 3"/>
              </a:rPr>
              <a:t>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18119" y="2852928"/>
            <a:ext cx="10515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0.399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52559" y="2852928"/>
            <a:ext cx="25603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expected by chance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3328416"/>
            <a:ext cx="64008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1C2128"/>
                </a:solidFill>
                <a:latin typeface="Source Sans 3"/>
              </a:rPr>
              <a:t>κ</a:t>
            </a:r>
            <a:r>
              <a:rPr sz="1900" b="0" i="0" baseline="-25000">
                <a:solidFill>
                  <a:srgbClr val="1C2128"/>
                </a:solidFill>
                <a:latin typeface="Source Sans 3"/>
              </a:rPr>
              <a:t/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18119" y="3328416"/>
            <a:ext cx="105156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1C2128"/>
                </a:solidFill>
                <a:latin typeface="Source Sans 3"/>
              </a:rPr>
              <a:t>0.505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59" y="3328416"/>
            <a:ext cx="2560320" cy="43891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chance-corrected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178040" y="4663440"/>
            <a:ext cx="892454" cy="310896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499262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slight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070494" y="4663440"/>
            <a:ext cx="892454" cy="310896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70494" y="499262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fair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962948" y="4663440"/>
            <a:ext cx="892454" cy="310896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962948" y="499262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moderate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855403" y="4663440"/>
            <a:ext cx="892454" cy="310896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855403" y="499262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substantial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0747857" y="4663440"/>
            <a:ext cx="892454" cy="310896"/>
          </a:xfrm>
          <a:prstGeom prst="rect">
            <a:avLst/>
          </a:prstGeom>
          <a:solidFill>
            <a:srgbClr val="2E4A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0747857" y="4992623"/>
            <a:ext cx="892454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almost perfect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417771" y="4517136"/>
            <a:ext cx="27432" cy="603504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08527" y="4151375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κ = 0.505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178040" y="5303520"/>
            <a:ext cx="44622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Landis–Koch bands [27]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Why the Post-Fix Label Is a Valid Reference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15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67512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HUMAN AGREEMENT ON ODC-STYLE CLASSIFICATION RISES WITH EVIDENCE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51560" y="2194560"/>
            <a:ext cx="0" cy="2286000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cxnSp>
        <p:nvCxnSpPr>
          <p:cNvPr id="16" name="Connector 15"/>
          <p:cNvCxnSpPr/>
          <p:nvPr/>
        </p:nvCxnSpPr>
        <p:spPr>
          <a:xfrm>
            <a:off x="1051560" y="4480560"/>
            <a:ext cx="4846319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7" name="TextBox 16"/>
          <p:cNvSpPr txBox="1"/>
          <p:nvPr/>
        </p:nvSpPr>
        <p:spPr>
          <a:xfrm>
            <a:off x="548640" y="431596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0.0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51560" y="3337560"/>
            <a:ext cx="4846319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317296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0.5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51560" y="2194560"/>
            <a:ext cx="4846319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1" name="TextBox 20"/>
          <p:cNvSpPr txBox="1"/>
          <p:nvPr/>
        </p:nvSpPr>
        <p:spPr>
          <a:xfrm>
            <a:off x="548640" y="2029967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1.0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1810512"/>
            <a:ext cx="12801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1">
                <a:solidFill>
                  <a:srgbClr val="8A919C"/>
                </a:solidFill>
                <a:latin typeface="Source Sans 3"/>
              </a:rPr>
              <a:t>κ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1536192" y="2880360"/>
            <a:ext cx="2035454" cy="1234440"/>
          </a:xfrm>
          <a:prstGeom prst="line">
            <a:avLst/>
          </a:prstGeom>
          <a:ln w="25400">
            <a:solidFill>
              <a:srgbClr val="12284C"/>
            </a:solidFill>
          </a:ln>
        </p:spPr>
      </p:cxnSp>
      <p:cxnSp>
        <p:nvCxnSpPr>
          <p:cNvPr id="24" name="Connector 23"/>
          <p:cNvCxnSpPr/>
          <p:nvPr/>
        </p:nvCxnSpPr>
        <p:spPr>
          <a:xfrm flipV="1">
            <a:off x="3571646" y="2354579"/>
            <a:ext cx="1986991" cy="525781"/>
          </a:xfrm>
          <a:prstGeom prst="line">
            <a:avLst/>
          </a:prstGeom>
          <a:ln w="25400">
            <a:solidFill>
              <a:srgbClr val="12284C"/>
            </a:solidFill>
          </a:ln>
        </p:spPr>
      </p:cxnSp>
      <p:sp>
        <p:nvSpPr>
          <p:cNvPr id="25" name="Oval 24"/>
          <p:cNvSpPr/>
          <p:nvPr/>
        </p:nvSpPr>
        <p:spPr>
          <a:xfrm>
            <a:off x="1435607" y="4014215"/>
            <a:ext cx="201168" cy="201168"/>
          </a:xfrm>
          <a:prstGeom prst="ellipse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1" y="3584448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A23B3B"/>
                </a:solidFill>
                <a:latin typeface="Source Sans 3"/>
              </a:rPr>
              <a:t>0.16</a:t>
            </a:r>
          </a:p>
        </p:txBody>
      </p:sp>
      <p:sp>
        <p:nvSpPr>
          <p:cNvPr id="27" name="Oval 26"/>
          <p:cNvSpPr/>
          <p:nvPr/>
        </p:nvSpPr>
        <p:spPr>
          <a:xfrm>
            <a:off x="1051560" y="4672583"/>
            <a:ext cx="164592" cy="164592"/>
          </a:xfrm>
          <a:prstGeom prst="ellipse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325880" y="4590288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fault descriptions only [22]</a:t>
            </a:r>
          </a:p>
        </p:txBody>
      </p:sp>
      <p:sp>
        <p:nvSpPr>
          <p:cNvPr id="29" name="Oval 28"/>
          <p:cNvSpPr/>
          <p:nvPr/>
        </p:nvSpPr>
        <p:spPr>
          <a:xfrm>
            <a:off x="3471062" y="2779776"/>
            <a:ext cx="201168" cy="201168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8686" y="2350008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B7791F"/>
                </a:solidFill>
                <a:latin typeface="Source Sans 3"/>
              </a:rPr>
              <a:t>0.70</a:t>
            </a:r>
          </a:p>
        </p:txBody>
      </p:sp>
      <p:sp>
        <p:nvSpPr>
          <p:cNvPr id="31" name="Oval 30"/>
          <p:cNvSpPr/>
          <p:nvPr/>
        </p:nvSpPr>
        <p:spPr>
          <a:xfrm>
            <a:off x="1051560" y="5020055"/>
            <a:ext cx="164592" cy="164592"/>
          </a:xfrm>
          <a:prstGeom prst="ellipse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325880" y="4937759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full repository context [25]</a:t>
            </a:r>
          </a:p>
        </p:txBody>
      </p:sp>
      <p:sp>
        <p:nvSpPr>
          <p:cNvPr id="33" name="Oval 32"/>
          <p:cNvSpPr/>
          <p:nvPr/>
        </p:nvSpPr>
        <p:spPr>
          <a:xfrm>
            <a:off x="5458053" y="2253996"/>
            <a:ext cx="201168" cy="201168"/>
          </a:xfrm>
          <a:prstGeom prst="ellipse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5677" y="1824227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2F7D4F"/>
                </a:solidFill>
                <a:latin typeface="Source Sans 3"/>
              </a:rPr>
              <a:t>0.93</a:t>
            </a:r>
          </a:p>
        </p:txBody>
      </p:sp>
      <p:sp>
        <p:nvSpPr>
          <p:cNvPr id="35" name="Oval 34"/>
          <p:cNvSpPr/>
          <p:nvPr/>
        </p:nvSpPr>
        <p:spPr>
          <a:xfrm>
            <a:off x="1051560" y="5367527"/>
            <a:ext cx="164592" cy="164592"/>
          </a:xfrm>
          <a:prstGeom prst="ellipse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325880" y="5285231"/>
            <a:ext cx="49377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full code and change [26]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1280160"/>
            <a:ext cx="46908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OUR DATA BEHAVE THE SAME WAY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949440" y="169164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2284C"/>
                </a:solidFill>
                <a:latin typeface="Source Sans 3"/>
              </a:rPr>
              <a:t>16 → 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949440" y="2194560"/>
            <a:ext cx="46908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human-review flags, pre-fix → post-fix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949440" y="265176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1" name="TextBox 40"/>
          <p:cNvSpPr txBox="1"/>
          <p:nvPr/>
        </p:nvSpPr>
        <p:spPr>
          <a:xfrm>
            <a:off x="6949440" y="274320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2284C"/>
                </a:solidFill>
                <a:latin typeface="Source Sans 3"/>
              </a:rPr>
              <a:t>68.0% → 76.3%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949440" y="3246120"/>
            <a:ext cx="46908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strategy agreement, without → with the fix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949440" y="370332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" name="TextBox 43"/>
          <p:cNvSpPr txBox="1"/>
          <p:nvPr/>
        </p:nvSpPr>
        <p:spPr>
          <a:xfrm>
            <a:off x="6949440" y="379476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700" b="1" i="0">
                <a:solidFill>
                  <a:srgbClr val="12284C"/>
                </a:solidFill>
                <a:latin typeface="Source Sans 3"/>
              </a:rPr>
              <a:t>6 of 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949440" y="4297680"/>
            <a:ext cx="4690872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projects agree more once the fix is visible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949440" y="475488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7" name="Rectangle 46"/>
          <p:cNvSpPr/>
          <p:nvPr/>
        </p:nvSpPr>
        <p:spPr>
          <a:xfrm>
            <a:off x="548640" y="5669280"/>
            <a:ext cx="64008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669280"/>
            <a:ext cx="10881360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The run that sees the fix is better informed — but two labels can agree and both be wrong.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Experimental Setup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47004" y="6757416"/>
            <a:ext cx="1056132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Results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16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858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410 BUGS  ·  ONE SQUARE PER 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33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0352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16916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72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801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630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945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74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603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89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47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33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062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548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2064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0352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52160" y="187452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15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972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801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630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59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288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116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945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774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603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432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260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089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8404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33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2062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891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48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9377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12064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30352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52160" y="205740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86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15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144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972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801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4630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459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8288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116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1945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3774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603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432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260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1089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2918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4747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576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404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233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062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3891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5720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548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9377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12064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0352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8640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66928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852160" y="224028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486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315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44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972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2801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4630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459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8288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116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1945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3774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5603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7432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9260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1089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2918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4747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576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8404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33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062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3891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5720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7548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377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2064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0352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48640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66928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852160" y="242316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48640" y="26060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31520" y="26060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14400" y="2606040"/>
            <a:ext cx="141732" cy="1417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72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801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4630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459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8288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0116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1945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3774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5603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9260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1089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2918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747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576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8404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233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2062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3891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5720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7548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9377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12064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30352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48640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6928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852160" y="260604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486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315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44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972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801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4630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459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288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0116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1945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774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5603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7432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9260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1089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2918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4747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6576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8404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0233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2062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3891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5720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7548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9377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12064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30352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48640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6928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852160" y="278892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86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15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144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972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2801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630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459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288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0116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1945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3774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5603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7432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9260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1089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32918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34747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6576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8404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0233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2062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43891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5720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7548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9377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12064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30352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48640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66928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852160" y="297180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486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315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144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972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28016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4630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6459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8288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0116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19456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3774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5603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7432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9260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310896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329184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347472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65760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840480" y="3154680"/>
            <a:ext cx="141732" cy="141732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02336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20624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38912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57200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475488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93776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12064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30352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48640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66928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5852160" y="315468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486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144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972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2801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4630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459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8288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0116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1945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3774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5603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7432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9260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1089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2918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4747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6576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8404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0233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2062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3891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45720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7548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9377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12064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30352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548640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566928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852160" y="333756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486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15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144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972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2801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4630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6459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8288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0116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1945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3774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5603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7432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9260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1089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29184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47472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5760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84048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023360" y="3520440"/>
            <a:ext cx="141732" cy="141732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20624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38912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7200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75488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493776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12064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530352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548640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66928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852160" y="352044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486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15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144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972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801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4630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459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8288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0116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1945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3774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5603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7432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9260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1089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2918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4747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576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8404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0233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42062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3891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5720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75488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93776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12064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530352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486400" y="3703320"/>
            <a:ext cx="141732" cy="141732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5669280" y="370332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5852160" y="370332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486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315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144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972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2801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4630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6459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8288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0116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1945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3774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5603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432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9260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1089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2918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4747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6576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8404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402336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420624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438912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457200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4754880" y="3886200"/>
            <a:ext cx="141732" cy="141732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493776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512064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530352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548640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66928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852160" y="388620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5486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315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9144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972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2801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4630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6459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8288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0116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1945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3774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5603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7432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9260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1089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29184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47472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65760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384048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023360" y="4069080"/>
            <a:ext cx="141732" cy="141732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548640" y="4507992"/>
            <a:ext cx="201168" cy="20116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41247" y="443484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Closure  153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2651760" y="4507992"/>
            <a:ext cx="201168" cy="201168"/>
          </a:xfrm>
          <a:prstGeom prst="rect">
            <a:avLst/>
          </a:prstGeom>
          <a:solidFill>
            <a:srgbClr val="24406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2944368" y="443484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Math  106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4754879" y="4507992"/>
            <a:ext cx="201168" cy="201168"/>
          </a:xfrm>
          <a:prstGeom prst="rect">
            <a:avLst/>
          </a:prstGeom>
          <a:solidFill>
            <a:srgbClr val="3A5A8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5047488" y="443484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Lang  61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548640" y="4919472"/>
            <a:ext cx="201168" cy="201168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841247" y="48463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Mockito  38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2651760" y="4919472"/>
            <a:ext cx="201168" cy="201168"/>
          </a:xfrm>
          <a:prstGeom prst="rect">
            <a:avLst/>
          </a:prstGeom>
          <a:solidFill>
            <a:srgbClr val="8A9EB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2944368" y="48463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Chart  26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4754879" y="4919472"/>
            <a:ext cx="201168" cy="201168"/>
          </a:xfrm>
          <a:prstGeom prst="rect">
            <a:avLst/>
          </a:prstGeom>
          <a:solidFill>
            <a:srgbClr val="B3C0D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5047488" y="4846320"/>
            <a:ext cx="17373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Time  26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548640" y="5394960"/>
            <a:ext cx="630936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410 bugs × 2 conditions × 2 evidence modes = </a:t>
            </a:r>
            <a:r>
              <a:rPr sz="1700" b="1" i="0">
                <a:solidFill>
                  <a:srgbClr val="12284C"/>
                </a:solidFill>
                <a:latin typeface="Source Sans 3"/>
              </a:rPr>
              <a:t>1,640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 classifications, plus a zero-free baseline.</a:t>
            </a:r>
          </a:p>
        </p:txBody>
      </p:sp>
      <p:sp>
        <p:nvSpPr>
          <p:cNvPr id="438" name="TextBox 437"/>
          <p:cNvSpPr txBox="1"/>
          <p:nvPr/>
        </p:nvSpPr>
        <p:spPr>
          <a:xfrm>
            <a:off x="7223760" y="1280160"/>
            <a:ext cx="44165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MODELS</a:t>
            </a:r>
          </a:p>
        </p:txBody>
      </p:sp>
      <p:sp>
        <p:nvSpPr>
          <p:cNvPr id="439" name="TextBox 438"/>
          <p:cNvSpPr txBox="1"/>
          <p:nvPr/>
        </p:nvSpPr>
        <p:spPr>
          <a:xfrm>
            <a:off x="7223760" y="1645920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gemini-3.1-flash-lite-preview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10515600" y="1645920"/>
            <a:ext cx="112471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410 bugs</a:t>
            </a:r>
          </a:p>
        </p:txBody>
      </p:sp>
      <p:cxnSp>
        <p:nvCxnSpPr>
          <p:cNvPr id="441" name="Connector 440"/>
          <p:cNvCxnSpPr/>
          <p:nvPr/>
        </p:nvCxnSpPr>
        <p:spPr>
          <a:xfrm>
            <a:off x="7223760" y="2084832"/>
            <a:ext cx="441655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2" name="TextBox 441"/>
          <p:cNvSpPr txBox="1"/>
          <p:nvPr/>
        </p:nvSpPr>
        <p:spPr>
          <a:xfrm>
            <a:off x="7223760" y="2103120"/>
            <a:ext cx="3291840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gpt-5-mini</a:t>
            </a:r>
          </a:p>
        </p:txBody>
      </p:sp>
      <p:sp>
        <p:nvSpPr>
          <p:cNvPr id="443" name="TextBox 442"/>
          <p:cNvSpPr txBox="1"/>
          <p:nvPr/>
        </p:nvSpPr>
        <p:spPr>
          <a:xfrm>
            <a:off x="10515600" y="2103120"/>
            <a:ext cx="1124712" cy="42062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13 bugs</a:t>
            </a:r>
          </a:p>
        </p:txBody>
      </p:sp>
      <p:cxnSp>
        <p:nvCxnSpPr>
          <p:cNvPr id="444" name="Connector 443"/>
          <p:cNvCxnSpPr/>
          <p:nvPr/>
        </p:nvCxnSpPr>
        <p:spPr>
          <a:xfrm>
            <a:off x="7223760" y="2542032"/>
            <a:ext cx="441655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5" name="TextBox 444"/>
          <p:cNvSpPr txBox="1"/>
          <p:nvPr/>
        </p:nvSpPr>
        <p:spPr>
          <a:xfrm>
            <a:off x="7223760" y="2834640"/>
            <a:ext cx="44165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STATISTICS</a:t>
            </a:r>
          </a:p>
        </p:txBody>
      </p:sp>
      <p:sp>
        <p:nvSpPr>
          <p:cNvPr id="446" name="Rectangle 445"/>
          <p:cNvSpPr/>
          <p:nvPr/>
        </p:nvSpPr>
        <p:spPr>
          <a:xfrm>
            <a:off x="7223760" y="3200400"/>
            <a:ext cx="4416552" cy="40233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7" name="TextBox 446"/>
          <p:cNvSpPr txBox="1"/>
          <p:nvPr/>
        </p:nvSpPr>
        <p:spPr>
          <a:xfrm>
            <a:off x="7406640" y="3200400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Permutation χ²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10607040" y="3200400"/>
            <a:ext cx="822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RQ1</a:t>
            </a:r>
          </a:p>
        </p:txBody>
      </p:sp>
      <p:sp>
        <p:nvSpPr>
          <p:cNvPr id="449" name="Rectangle 448"/>
          <p:cNvSpPr/>
          <p:nvPr/>
        </p:nvSpPr>
        <p:spPr>
          <a:xfrm>
            <a:off x="7223760" y="3675887"/>
            <a:ext cx="4416552" cy="40233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0" name="TextBox 449"/>
          <p:cNvSpPr txBox="1"/>
          <p:nvPr/>
        </p:nvSpPr>
        <p:spPr>
          <a:xfrm>
            <a:off x="7406640" y="3675887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Rule of three</a:t>
            </a:r>
          </a:p>
        </p:txBody>
      </p:sp>
      <p:sp>
        <p:nvSpPr>
          <p:cNvPr id="451" name="TextBox 450"/>
          <p:cNvSpPr txBox="1"/>
          <p:nvPr/>
        </p:nvSpPr>
        <p:spPr>
          <a:xfrm>
            <a:off x="10607040" y="3675887"/>
            <a:ext cx="822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RQ2</a:t>
            </a:r>
          </a:p>
        </p:txBody>
      </p:sp>
      <p:sp>
        <p:nvSpPr>
          <p:cNvPr id="452" name="Rectangle 451"/>
          <p:cNvSpPr/>
          <p:nvPr/>
        </p:nvSpPr>
        <p:spPr>
          <a:xfrm>
            <a:off x="7223760" y="4151376"/>
            <a:ext cx="4416552" cy="40233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3" name="TextBox 452"/>
          <p:cNvSpPr txBox="1"/>
          <p:nvPr/>
        </p:nvSpPr>
        <p:spPr>
          <a:xfrm>
            <a:off x="7406640" y="4151376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Bootstrap CIs</a:t>
            </a:r>
          </a:p>
        </p:txBody>
      </p:sp>
      <p:sp>
        <p:nvSpPr>
          <p:cNvPr id="454" name="TextBox 453"/>
          <p:cNvSpPr txBox="1"/>
          <p:nvPr/>
        </p:nvSpPr>
        <p:spPr>
          <a:xfrm>
            <a:off x="10607040" y="4151376"/>
            <a:ext cx="822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RQ3</a:t>
            </a:r>
          </a:p>
        </p:txBody>
      </p:sp>
      <p:sp>
        <p:nvSpPr>
          <p:cNvPr id="455" name="Rectangle 454"/>
          <p:cNvSpPr/>
          <p:nvPr/>
        </p:nvSpPr>
        <p:spPr>
          <a:xfrm>
            <a:off x="7223760" y="4626864"/>
            <a:ext cx="4416552" cy="40233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6" name="TextBox 455"/>
          <p:cNvSpPr txBox="1"/>
          <p:nvPr/>
        </p:nvSpPr>
        <p:spPr>
          <a:xfrm>
            <a:off x="7406640" y="4626864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Paired bootstrap Δκ</a:t>
            </a:r>
          </a:p>
        </p:txBody>
      </p:sp>
      <p:sp>
        <p:nvSpPr>
          <p:cNvPr id="457" name="TextBox 456"/>
          <p:cNvSpPr txBox="1"/>
          <p:nvPr/>
        </p:nvSpPr>
        <p:spPr>
          <a:xfrm>
            <a:off x="10607040" y="4626864"/>
            <a:ext cx="822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RQ4b</a:t>
            </a:r>
          </a:p>
        </p:txBody>
      </p:sp>
      <p:sp>
        <p:nvSpPr>
          <p:cNvPr id="458" name="Rectangle 457"/>
          <p:cNvSpPr/>
          <p:nvPr/>
        </p:nvSpPr>
        <p:spPr>
          <a:xfrm>
            <a:off x="7223760" y="5102352"/>
            <a:ext cx="4416552" cy="40233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9" name="TextBox 458"/>
          <p:cNvSpPr txBox="1"/>
          <p:nvPr/>
        </p:nvSpPr>
        <p:spPr>
          <a:xfrm>
            <a:off x="7406640" y="5102352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McNemar exact</a:t>
            </a:r>
          </a:p>
        </p:txBody>
      </p:sp>
      <p:sp>
        <p:nvSpPr>
          <p:cNvPr id="460" name="TextBox 459"/>
          <p:cNvSpPr txBox="1"/>
          <p:nvPr/>
        </p:nvSpPr>
        <p:spPr>
          <a:xfrm>
            <a:off x="10607040" y="5102352"/>
            <a:ext cx="822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RQ4</a:t>
            </a:r>
          </a:p>
        </p:txBody>
      </p:sp>
      <p:sp>
        <p:nvSpPr>
          <p:cNvPr id="461" name="Rectangle 460"/>
          <p:cNvSpPr/>
          <p:nvPr/>
        </p:nvSpPr>
        <p:spPr>
          <a:xfrm>
            <a:off x="7223760" y="5577840"/>
            <a:ext cx="4416552" cy="402336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2" name="TextBox 461"/>
          <p:cNvSpPr txBox="1"/>
          <p:nvPr/>
        </p:nvSpPr>
        <p:spPr>
          <a:xfrm>
            <a:off x="7406640" y="5577840"/>
            <a:ext cx="3108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Sign test</a:t>
            </a:r>
          </a:p>
        </p:txBody>
      </p:sp>
      <p:sp>
        <p:nvSpPr>
          <p:cNvPr id="463" name="TextBox 462"/>
          <p:cNvSpPr txBox="1"/>
          <p:nvPr/>
        </p:nvSpPr>
        <p:spPr>
          <a:xfrm>
            <a:off x="10607040" y="5577840"/>
            <a:ext cx="822960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RQ4b</a:t>
            </a:r>
          </a:p>
        </p:txBody>
      </p:sp>
      <p:sp>
        <p:nvSpPr>
          <p:cNvPr id="464" name="TextBox 463"/>
          <p:cNvSpPr txBox="1"/>
          <p:nvPr/>
        </p:nvSpPr>
        <p:spPr>
          <a:xfrm>
            <a:off x="7223760" y="6080760"/>
            <a:ext cx="441655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Reporting follows the LLM-study guidelines [28].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RQ1–RQ2: Distribution and Coverage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17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685800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RQ1  ·  410 PRE-FIX LABELS, ONE SQUARE PER BUG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315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144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0972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801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4630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16459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288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0116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1945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774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603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7432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9260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1089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918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747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6576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8404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0233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891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5720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47548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9377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12064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30352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548640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566928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852160" y="16642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486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315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10972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2801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14630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16459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8288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20116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21945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3774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25603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27432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29260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31089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32918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747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6576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8404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0233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2062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891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45720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47548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49377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512064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530352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548640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566928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5852160" y="18470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5486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7315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9144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10972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12801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14630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16459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18288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20116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21945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23774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25603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27432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29260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31089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32918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34747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36576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8404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40233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2062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3891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5720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7548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49377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512064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530352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548640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66928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852160" y="202996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5486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6" name="Rectangle 105"/>
          <p:cNvSpPr/>
          <p:nvPr/>
        </p:nvSpPr>
        <p:spPr>
          <a:xfrm>
            <a:off x="7315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7" name="Rectangle 106"/>
          <p:cNvSpPr/>
          <p:nvPr/>
        </p:nvSpPr>
        <p:spPr>
          <a:xfrm>
            <a:off x="9144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10972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12801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14630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6459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2" name="Rectangle 111"/>
          <p:cNvSpPr/>
          <p:nvPr/>
        </p:nvSpPr>
        <p:spPr>
          <a:xfrm>
            <a:off x="18288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3" name="Rectangle 112"/>
          <p:cNvSpPr/>
          <p:nvPr/>
        </p:nvSpPr>
        <p:spPr>
          <a:xfrm>
            <a:off x="20116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4" name="Rectangle 113"/>
          <p:cNvSpPr/>
          <p:nvPr/>
        </p:nvSpPr>
        <p:spPr>
          <a:xfrm>
            <a:off x="21945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23774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25603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7" name="Rectangle 116"/>
          <p:cNvSpPr/>
          <p:nvPr/>
        </p:nvSpPr>
        <p:spPr>
          <a:xfrm>
            <a:off x="27432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8" name="Rectangle 117"/>
          <p:cNvSpPr/>
          <p:nvPr/>
        </p:nvSpPr>
        <p:spPr>
          <a:xfrm>
            <a:off x="29260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31089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0" name="Rectangle 119"/>
          <p:cNvSpPr/>
          <p:nvPr/>
        </p:nvSpPr>
        <p:spPr>
          <a:xfrm>
            <a:off x="32918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34747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36576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3" name="Rectangle 122"/>
          <p:cNvSpPr/>
          <p:nvPr/>
        </p:nvSpPr>
        <p:spPr>
          <a:xfrm>
            <a:off x="38404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4" name="Rectangle 123"/>
          <p:cNvSpPr/>
          <p:nvPr/>
        </p:nvSpPr>
        <p:spPr>
          <a:xfrm>
            <a:off x="40233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5" name="Rectangle 124"/>
          <p:cNvSpPr/>
          <p:nvPr/>
        </p:nvSpPr>
        <p:spPr>
          <a:xfrm>
            <a:off x="42062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6" name="Rectangle 125"/>
          <p:cNvSpPr/>
          <p:nvPr/>
        </p:nvSpPr>
        <p:spPr>
          <a:xfrm>
            <a:off x="43891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45720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47548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29" name="Rectangle 128"/>
          <p:cNvSpPr/>
          <p:nvPr/>
        </p:nvSpPr>
        <p:spPr>
          <a:xfrm>
            <a:off x="49377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0" name="Rectangle 129"/>
          <p:cNvSpPr/>
          <p:nvPr/>
        </p:nvSpPr>
        <p:spPr>
          <a:xfrm>
            <a:off x="512064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1" name="Rectangle 130"/>
          <p:cNvSpPr/>
          <p:nvPr/>
        </p:nvSpPr>
        <p:spPr>
          <a:xfrm>
            <a:off x="530352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2" name="Rectangle 131"/>
          <p:cNvSpPr/>
          <p:nvPr/>
        </p:nvSpPr>
        <p:spPr>
          <a:xfrm>
            <a:off x="548640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566928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5852160" y="221284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5" name="Rectangle 134"/>
          <p:cNvSpPr/>
          <p:nvPr/>
        </p:nvSpPr>
        <p:spPr>
          <a:xfrm>
            <a:off x="5486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6" name="Rectangle 135"/>
          <p:cNvSpPr/>
          <p:nvPr/>
        </p:nvSpPr>
        <p:spPr>
          <a:xfrm>
            <a:off x="7315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7" name="Rectangle 136"/>
          <p:cNvSpPr/>
          <p:nvPr/>
        </p:nvSpPr>
        <p:spPr>
          <a:xfrm>
            <a:off x="9144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8" name="Rectangle 137"/>
          <p:cNvSpPr/>
          <p:nvPr/>
        </p:nvSpPr>
        <p:spPr>
          <a:xfrm>
            <a:off x="10972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12801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14630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1" name="Rectangle 140"/>
          <p:cNvSpPr/>
          <p:nvPr/>
        </p:nvSpPr>
        <p:spPr>
          <a:xfrm>
            <a:off x="16459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2" name="Rectangle 141"/>
          <p:cNvSpPr/>
          <p:nvPr/>
        </p:nvSpPr>
        <p:spPr>
          <a:xfrm>
            <a:off x="18288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3" name="Rectangle 142"/>
          <p:cNvSpPr/>
          <p:nvPr/>
        </p:nvSpPr>
        <p:spPr>
          <a:xfrm>
            <a:off x="20116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4" name="Rectangle 143"/>
          <p:cNvSpPr/>
          <p:nvPr/>
        </p:nvSpPr>
        <p:spPr>
          <a:xfrm>
            <a:off x="21945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23774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25603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7" name="Rectangle 146"/>
          <p:cNvSpPr/>
          <p:nvPr/>
        </p:nvSpPr>
        <p:spPr>
          <a:xfrm>
            <a:off x="27432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8" name="Rectangle 147"/>
          <p:cNvSpPr/>
          <p:nvPr/>
        </p:nvSpPr>
        <p:spPr>
          <a:xfrm>
            <a:off x="29260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49" name="Rectangle 148"/>
          <p:cNvSpPr/>
          <p:nvPr/>
        </p:nvSpPr>
        <p:spPr>
          <a:xfrm>
            <a:off x="31089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0" name="Rectangle 149"/>
          <p:cNvSpPr/>
          <p:nvPr/>
        </p:nvSpPr>
        <p:spPr>
          <a:xfrm>
            <a:off x="32918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34747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36576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3" name="Rectangle 152"/>
          <p:cNvSpPr/>
          <p:nvPr/>
        </p:nvSpPr>
        <p:spPr>
          <a:xfrm>
            <a:off x="38404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4" name="Rectangle 153"/>
          <p:cNvSpPr/>
          <p:nvPr/>
        </p:nvSpPr>
        <p:spPr>
          <a:xfrm>
            <a:off x="40233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5" name="Rectangle 154"/>
          <p:cNvSpPr/>
          <p:nvPr/>
        </p:nvSpPr>
        <p:spPr>
          <a:xfrm>
            <a:off x="42062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6" name="Rectangle 155"/>
          <p:cNvSpPr/>
          <p:nvPr/>
        </p:nvSpPr>
        <p:spPr>
          <a:xfrm>
            <a:off x="43891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45720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47548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9" name="Rectangle 158"/>
          <p:cNvSpPr/>
          <p:nvPr/>
        </p:nvSpPr>
        <p:spPr>
          <a:xfrm>
            <a:off x="49377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0" name="Rectangle 159"/>
          <p:cNvSpPr/>
          <p:nvPr/>
        </p:nvSpPr>
        <p:spPr>
          <a:xfrm>
            <a:off x="512064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1" name="Rectangle 160"/>
          <p:cNvSpPr/>
          <p:nvPr/>
        </p:nvSpPr>
        <p:spPr>
          <a:xfrm>
            <a:off x="530352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2" name="Rectangle 161"/>
          <p:cNvSpPr/>
          <p:nvPr/>
        </p:nvSpPr>
        <p:spPr>
          <a:xfrm>
            <a:off x="548640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566928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5852160" y="239572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5" name="Rectangle 164"/>
          <p:cNvSpPr/>
          <p:nvPr/>
        </p:nvSpPr>
        <p:spPr>
          <a:xfrm>
            <a:off x="5486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6" name="Rectangle 165"/>
          <p:cNvSpPr/>
          <p:nvPr/>
        </p:nvSpPr>
        <p:spPr>
          <a:xfrm>
            <a:off x="7315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7" name="Rectangle 166"/>
          <p:cNvSpPr/>
          <p:nvPr/>
        </p:nvSpPr>
        <p:spPr>
          <a:xfrm>
            <a:off x="9144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8" name="Rectangle 167"/>
          <p:cNvSpPr/>
          <p:nvPr/>
        </p:nvSpPr>
        <p:spPr>
          <a:xfrm>
            <a:off x="10972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2801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4630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1" name="Rectangle 170"/>
          <p:cNvSpPr/>
          <p:nvPr/>
        </p:nvSpPr>
        <p:spPr>
          <a:xfrm>
            <a:off x="16459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2" name="Rectangle 171"/>
          <p:cNvSpPr/>
          <p:nvPr/>
        </p:nvSpPr>
        <p:spPr>
          <a:xfrm>
            <a:off x="18288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3" name="Rectangle 172"/>
          <p:cNvSpPr/>
          <p:nvPr/>
        </p:nvSpPr>
        <p:spPr>
          <a:xfrm>
            <a:off x="20116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4" name="Rectangle 173"/>
          <p:cNvSpPr/>
          <p:nvPr/>
        </p:nvSpPr>
        <p:spPr>
          <a:xfrm>
            <a:off x="21945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23774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25603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7" name="Rectangle 176"/>
          <p:cNvSpPr/>
          <p:nvPr/>
        </p:nvSpPr>
        <p:spPr>
          <a:xfrm>
            <a:off x="27432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8" name="Rectangle 177"/>
          <p:cNvSpPr/>
          <p:nvPr/>
        </p:nvSpPr>
        <p:spPr>
          <a:xfrm>
            <a:off x="29260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9" name="Rectangle 178"/>
          <p:cNvSpPr/>
          <p:nvPr/>
        </p:nvSpPr>
        <p:spPr>
          <a:xfrm>
            <a:off x="31089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0" name="Rectangle 179"/>
          <p:cNvSpPr/>
          <p:nvPr/>
        </p:nvSpPr>
        <p:spPr>
          <a:xfrm>
            <a:off x="32918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1" name="Rectangle 180"/>
          <p:cNvSpPr/>
          <p:nvPr/>
        </p:nvSpPr>
        <p:spPr>
          <a:xfrm>
            <a:off x="34747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2" name="Rectangle 181"/>
          <p:cNvSpPr/>
          <p:nvPr/>
        </p:nvSpPr>
        <p:spPr>
          <a:xfrm>
            <a:off x="36576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3" name="Rectangle 182"/>
          <p:cNvSpPr/>
          <p:nvPr/>
        </p:nvSpPr>
        <p:spPr>
          <a:xfrm>
            <a:off x="38404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4" name="Rectangle 183"/>
          <p:cNvSpPr/>
          <p:nvPr/>
        </p:nvSpPr>
        <p:spPr>
          <a:xfrm>
            <a:off x="40233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5" name="Rectangle 184"/>
          <p:cNvSpPr/>
          <p:nvPr/>
        </p:nvSpPr>
        <p:spPr>
          <a:xfrm>
            <a:off x="42062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6" name="Rectangle 185"/>
          <p:cNvSpPr/>
          <p:nvPr/>
        </p:nvSpPr>
        <p:spPr>
          <a:xfrm>
            <a:off x="43891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7" name="Rectangle 186"/>
          <p:cNvSpPr/>
          <p:nvPr/>
        </p:nvSpPr>
        <p:spPr>
          <a:xfrm>
            <a:off x="45720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8" name="Rectangle 187"/>
          <p:cNvSpPr/>
          <p:nvPr/>
        </p:nvSpPr>
        <p:spPr>
          <a:xfrm>
            <a:off x="47548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9" name="Rectangle 188"/>
          <p:cNvSpPr/>
          <p:nvPr/>
        </p:nvSpPr>
        <p:spPr>
          <a:xfrm>
            <a:off x="49377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0" name="Rectangle 189"/>
          <p:cNvSpPr/>
          <p:nvPr/>
        </p:nvSpPr>
        <p:spPr>
          <a:xfrm>
            <a:off x="512064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1" name="Rectangle 190"/>
          <p:cNvSpPr/>
          <p:nvPr/>
        </p:nvSpPr>
        <p:spPr>
          <a:xfrm>
            <a:off x="530352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2" name="Rectangle 191"/>
          <p:cNvSpPr/>
          <p:nvPr/>
        </p:nvSpPr>
        <p:spPr>
          <a:xfrm>
            <a:off x="548640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3" name="Rectangle 192"/>
          <p:cNvSpPr/>
          <p:nvPr/>
        </p:nvSpPr>
        <p:spPr>
          <a:xfrm>
            <a:off x="566928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4" name="Rectangle 193"/>
          <p:cNvSpPr/>
          <p:nvPr/>
        </p:nvSpPr>
        <p:spPr>
          <a:xfrm>
            <a:off x="5852160" y="257860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5" name="Rectangle 194"/>
          <p:cNvSpPr/>
          <p:nvPr/>
        </p:nvSpPr>
        <p:spPr>
          <a:xfrm>
            <a:off x="5486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6" name="Rectangle 195"/>
          <p:cNvSpPr/>
          <p:nvPr/>
        </p:nvSpPr>
        <p:spPr>
          <a:xfrm>
            <a:off x="7315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7" name="Rectangle 196"/>
          <p:cNvSpPr/>
          <p:nvPr/>
        </p:nvSpPr>
        <p:spPr>
          <a:xfrm>
            <a:off x="9144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8" name="Rectangle 197"/>
          <p:cNvSpPr/>
          <p:nvPr/>
        </p:nvSpPr>
        <p:spPr>
          <a:xfrm>
            <a:off x="109728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9" name="Rectangle 198"/>
          <p:cNvSpPr/>
          <p:nvPr/>
        </p:nvSpPr>
        <p:spPr>
          <a:xfrm>
            <a:off x="128016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0" name="Rectangle 199"/>
          <p:cNvSpPr/>
          <p:nvPr/>
        </p:nvSpPr>
        <p:spPr>
          <a:xfrm>
            <a:off x="14630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1" name="Rectangle 200"/>
          <p:cNvSpPr/>
          <p:nvPr/>
        </p:nvSpPr>
        <p:spPr>
          <a:xfrm>
            <a:off x="16459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2" name="Rectangle 201"/>
          <p:cNvSpPr/>
          <p:nvPr/>
        </p:nvSpPr>
        <p:spPr>
          <a:xfrm>
            <a:off x="18288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3" name="Rectangle 202"/>
          <p:cNvSpPr/>
          <p:nvPr/>
        </p:nvSpPr>
        <p:spPr>
          <a:xfrm>
            <a:off x="201168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4" name="Rectangle 203"/>
          <p:cNvSpPr/>
          <p:nvPr/>
        </p:nvSpPr>
        <p:spPr>
          <a:xfrm>
            <a:off x="219456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5" name="Rectangle 204"/>
          <p:cNvSpPr/>
          <p:nvPr/>
        </p:nvSpPr>
        <p:spPr>
          <a:xfrm>
            <a:off x="23774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6" name="Rectangle 205"/>
          <p:cNvSpPr/>
          <p:nvPr/>
        </p:nvSpPr>
        <p:spPr>
          <a:xfrm>
            <a:off x="25603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7" name="Rectangle 206"/>
          <p:cNvSpPr/>
          <p:nvPr/>
        </p:nvSpPr>
        <p:spPr>
          <a:xfrm>
            <a:off x="27432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8" name="Rectangle 207"/>
          <p:cNvSpPr/>
          <p:nvPr/>
        </p:nvSpPr>
        <p:spPr>
          <a:xfrm>
            <a:off x="292608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9" name="Rectangle 208"/>
          <p:cNvSpPr/>
          <p:nvPr/>
        </p:nvSpPr>
        <p:spPr>
          <a:xfrm>
            <a:off x="310896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0" name="Rectangle 209"/>
          <p:cNvSpPr/>
          <p:nvPr/>
        </p:nvSpPr>
        <p:spPr>
          <a:xfrm>
            <a:off x="329184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1" name="Rectangle 210"/>
          <p:cNvSpPr/>
          <p:nvPr/>
        </p:nvSpPr>
        <p:spPr>
          <a:xfrm>
            <a:off x="347472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2" name="Rectangle 211"/>
          <p:cNvSpPr/>
          <p:nvPr/>
        </p:nvSpPr>
        <p:spPr>
          <a:xfrm>
            <a:off x="3657600" y="2761488"/>
            <a:ext cx="141732" cy="141732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3" name="Rectangle 212"/>
          <p:cNvSpPr/>
          <p:nvPr/>
        </p:nvSpPr>
        <p:spPr>
          <a:xfrm>
            <a:off x="384048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4" name="Rectangle 213"/>
          <p:cNvSpPr/>
          <p:nvPr/>
        </p:nvSpPr>
        <p:spPr>
          <a:xfrm>
            <a:off x="402336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5" name="Rectangle 214"/>
          <p:cNvSpPr/>
          <p:nvPr/>
        </p:nvSpPr>
        <p:spPr>
          <a:xfrm>
            <a:off x="420624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6" name="Rectangle 215"/>
          <p:cNvSpPr/>
          <p:nvPr/>
        </p:nvSpPr>
        <p:spPr>
          <a:xfrm>
            <a:off x="438912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7" name="Rectangle 216"/>
          <p:cNvSpPr/>
          <p:nvPr/>
        </p:nvSpPr>
        <p:spPr>
          <a:xfrm>
            <a:off x="457200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8" name="Rectangle 217"/>
          <p:cNvSpPr/>
          <p:nvPr/>
        </p:nvSpPr>
        <p:spPr>
          <a:xfrm>
            <a:off x="475488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9" name="Rectangle 218"/>
          <p:cNvSpPr/>
          <p:nvPr/>
        </p:nvSpPr>
        <p:spPr>
          <a:xfrm>
            <a:off x="493776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0" name="Rectangle 219"/>
          <p:cNvSpPr/>
          <p:nvPr/>
        </p:nvSpPr>
        <p:spPr>
          <a:xfrm>
            <a:off x="512064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1" name="Rectangle 220"/>
          <p:cNvSpPr/>
          <p:nvPr/>
        </p:nvSpPr>
        <p:spPr>
          <a:xfrm>
            <a:off x="530352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2" name="Rectangle 221"/>
          <p:cNvSpPr/>
          <p:nvPr/>
        </p:nvSpPr>
        <p:spPr>
          <a:xfrm>
            <a:off x="548640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3" name="Rectangle 222"/>
          <p:cNvSpPr/>
          <p:nvPr/>
        </p:nvSpPr>
        <p:spPr>
          <a:xfrm>
            <a:off x="566928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4" name="Rectangle 223"/>
          <p:cNvSpPr/>
          <p:nvPr/>
        </p:nvSpPr>
        <p:spPr>
          <a:xfrm>
            <a:off x="5852160" y="27614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5" name="Rectangle 224"/>
          <p:cNvSpPr/>
          <p:nvPr/>
        </p:nvSpPr>
        <p:spPr>
          <a:xfrm>
            <a:off x="5486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6" name="Rectangle 225"/>
          <p:cNvSpPr/>
          <p:nvPr/>
        </p:nvSpPr>
        <p:spPr>
          <a:xfrm>
            <a:off x="7315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7" name="Rectangle 226"/>
          <p:cNvSpPr/>
          <p:nvPr/>
        </p:nvSpPr>
        <p:spPr>
          <a:xfrm>
            <a:off x="9144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8" name="Rectangle 227"/>
          <p:cNvSpPr/>
          <p:nvPr/>
        </p:nvSpPr>
        <p:spPr>
          <a:xfrm>
            <a:off x="10972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9" name="Rectangle 228"/>
          <p:cNvSpPr/>
          <p:nvPr/>
        </p:nvSpPr>
        <p:spPr>
          <a:xfrm>
            <a:off x="12801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0" name="Rectangle 229"/>
          <p:cNvSpPr/>
          <p:nvPr/>
        </p:nvSpPr>
        <p:spPr>
          <a:xfrm>
            <a:off x="14630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1" name="Rectangle 230"/>
          <p:cNvSpPr/>
          <p:nvPr/>
        </p:nvSpPr>
        <p:spPr>
          <a:xfrm>
            <a:off x="16459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2" name="Rectangle 231"/>
          <p:cNvSpPr/>
          <p:nvPr/>
        </p:nvSpPr>
        <p:spPr>
          <a:xfrm>
            <a:off x="18288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3" name="Rectangle 232"/>
          <p:cNvSpPr/>
          <p:nvPr/>
        </p:nvSpPr>
        <p:spPr>
          <a:xfrm>
            <a:off x="20116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4" name="Rectangle 233"/>
          <p:cNvSpPr/>
          <p:nvPr/>
        </p:nvSpPr>
        <p:spPr>
          <a:xfrm>
            <a:off x="21945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5" name="Rectangle 234"/>
          <p:cNvSpPr/>
          <p:nvPr/>
        </p:nvSpPr>
        <p:spPr>
          <a:xfrm>
            <a:off x="23774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6" name="Rectangle 235"/>
          <p:cNvSpPr/>
          <p:nvPr/>
        </p:nvSpPr>
        <p:spPr>
          <a:xfrm>
            <a:off x="25603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7" name="Rectangle 236"/>
          <p:cNvSpPr/>
          <p:nvPr/>
        </p:nvSpPr>
        <p:spPr>
          <a:xfrm>
            <a:off x="27432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8" name="Rectangle 237"/>
          <p:cNvSpPr/>
          <p:nvPr/>
        </p:nvSpPr>
        <p:spPr>
          <a:xfrm>
            <a:off x="29260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9" name="Rectangle 238"/>
          <p:cNvSpPr/>
          <p:nvPr/>
        </p:nvSpPr>
        <p:spPr>
          <a:xfrm>
            <a:off x="31089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0" name="Rectangle 239"/>
          <p:cNvSpPr/>
          <p:nvPr/>
        </p:nvSpPr>
        <p:spPr>
          <a:xfrm>
            <a:off x="32918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1" name="Rectangle 240"/>
          <p:cNvSpPr/>
          <p:nvPr/>
        </p:nvSpPr>
        <p:spPr>
          <a:xfrm>
            <a:off x="34747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2" name="Rectangle 241"/>
          <p:cNvSpPr/>
          <p:nvPr/>
        </p:nvSpPr>
        <p:spPr>
          <a:xfrm>
            <a:off x="36576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3" name="Rectangle 242"/>
          <p:cNvSpPr/>
          <p:nvPr/>
        </p:nvSpPr>
        <p:spPr>
          <a:xfrm>
            <a:off x="38404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4" name="Rectangle 243"/>
          <p:cNvSpPr/>
          <p:nvPr/>
        </p:nvSpPr>
        <p:spPr>
          <a:xfrm>
            <a:off x="40233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5" name="Rectangle 244"/>
          <p:cNvSpPr/>
          <p:nvPr/>
        </p:nvSpPr>
        <p:spPr>
          <a:xfrm>
            <a:off x="42062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6" name="Rectangle 245"/>
          <p:cNvSpPr/>
          <p:nvPr/>
        </p:nvSpPr>
        <p:spPr>
          <a:xfrm>
            <a:off x="43891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7" name="Rectangle 246"/>
          <p:cNvSpPr/>
          <p:nvPr/>
        </p:nvSpPr>
        <p:spPr>
          <a:xfrm>
            <a:off x="45720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8" name="Rectangle 247"/>
          <p:cNvSpPr/>
          <p:nvPr/>
        </p:nvSpPr>
        <p:spPr>
          <a:xfrm>
            <a:off x="47548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9" name="Rectangle 248"/>
          <p:cNvSpPr/>
          <p:nvPr/>
        </p:nvSpPr>
        <p:spPr>
          <a:xfrm>
            <a:off x="49377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0" name="Rectangle 249"/>
          <p:cNvSpPr/>
          <p:nvPr/>
        </p:nvSpPr>
        <p:spPr>
          <a:xfrm>
            <a:off x="512064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1" name="Rectangle 250"/>
          <p:cNvSpPr/>
          <p:nvPr/>
        </p:nvSpPr>
        <p:spPr>
          <a:xfrm>
            <a:off x="530352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2" name="Rectangle 251"/>
          <p:cNvSpPr/>
          <p:nvPr/>
        </p:nvSpPr>
        <p:spPr>
          <a:xfrm>
            <a:off x="548640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3" name="Rectangle 252"/>
          <p:cNvSpPr/>
          <p:nvPr/>
        </p:nvSpPr>
        <p:spPr>
          <a:xfrm>
            <a:off x="566928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4" name="Rectangle 253"/>
          <p:cNvSpPr/>
          <p:nvPr/>
        </p:nvSpPr>
        <p:spPr>
          <a:xfrm>
            <a:off x="5852160" y="29443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5" name="Rectangle 254"/>
          <p:cNvSpPr/>
          <p:nvPr/>
        </p:nvSpPr>
        <p:spPr>
          <a:xfrm>
            <a:off x="5486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6" name="Rectangle 255"/>
          <p:cNvSpPr/>
          <p:nvPr/>
        </p:nvSpPr>
        <p:spPr>
          <a:xfrm>
            <a:off x="7315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7" name="Rectangle 256"/>
          <p:cNvSpPr/>
          <p:nvPr/>
        </p:nvSpPr>
        <p:spPr>
          <a:xfrm>
            <a:off x="9144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8" name="Rectangle 257"/>
          <p:cNvSpPr/>
          <p:nvPr/>
        </p:nvSpPr>
        <p:spPr>
          <a:xfrm>
            <a:off x="10972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9" name="Rectangle 258"/>
          <p:cNvSpPr/>
          <p:nvPr/>
        </p:nvSpPr>
        <p:spPr>
          <a:xfrm>
            <a:off x="12801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0" name="Rectangle 259"/>
          <p:cNvSpPr/>
          <p:nvPr/>
        </p:nvSpPr>
        <p:spPr>
          <a:xfrm>
            <a:off x="14630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1" name="Rectangle 260"/>
          <p:cNvSpPr/>
          <p:nvPr/>
        </p:nvSpPr>
        <p:spPr>
          <a:xfrm>
            <a:off x="16459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2" name="Rectangle 261"/>
          <p:cNvSpPr/>
          <p:nvPr/>
        </p:nvSpPr>
        <p:spPr>
          <a:xfrm>
            <a:off x="18288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3" name="Rectangle 262"/>
          <p:cNvSpPr/>
          <p:nvPr/>
        </p:nvSpPr>
        <p:spPr>
          <a:xfrm>
            <a:off x="20116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4" name="Rectangle 263"/>
          <p:cNvSpPr/>
          <p:nvPr/>
        </p:nvSpPr>
        <p:spPr>
          <a:xfrm>
            <a:off x="21945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5" name="Rectangle 264"/>
          <p:cNvSpPr/>
          <p:nvPr/>
        </p:nvSpPr>
        <p:spPr>
          <a:xfrm>
            <a:off x="23774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6" name="Rectangle 265"/>
          <p:cNvSpPr/>
          <p:nvPr/>
        </p:nvSpPr>
        <p:spPr>
          <a:xfrm>
            <a:off x="25603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27432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29260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31089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0" name="Rectangle 269"/>
          <p:cNvSpPr/>
          <p:nvPr/>
        </p:nvSpPr>
        <p:spPr>
          <a:xfrm>
            <a:off x="32918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1" name="Rectangle 270"/>
          <p:cNvSpPr/>
          <p:nvPr/>
        </p:nvSpPr>
        <p:spPr>
          <a:xfrm>
            <a:off x="34747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2" name="Rectangle 271"/>
          <p:cNvSpPr/>
          <p:nvPr/>
        </p:nvSpPr>
        <p:spPr>
          <a:xfrm>
            <a:off x="36576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38404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40233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5" name="Rectangle 274"/>
          <p:cNvSpPr/>
          <p:nvPr/>
        </p:nvSpPr>
        <p:spPr>
          <a:xfrm>
            <a:off x="42062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6" name="Rectangle 275"/>
          <p:cNvSpPr/>
          <p:nvPr/>
        </p:nvSpPr>
        <p:spPr>
          <a:xfrm>
            <a:off x="43891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45720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47548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9" name="Rectangle 278"/>
          <p:cNvSpPr/>
          <p:nvPr/>
        </p:nvSpPr>
        <p:spPr>
          <a:xfrm>
            <a:off x="49377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0" name="Rectangle 279"/>
          <p:cNvSpPr/>
          <p:nvPr/>
        </p:nvSpPr>
        <p:spPr>
          <a:xfrm>
            <a:off x="512064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530352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548640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3" name="Rectangle 282"/>
          <p:cNvSpPr/>
          <p:nvPr/>
        </p:nvSpPr>
        <p:spPr>
          <a:xfrm>
            <a:off x="566928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4" name="Rectangle 283"/>
          <p:cNvSpPr/>
          <p:nvPr/>
        </p:nvSpPr>
        <p:spPr>
          <a:xfrm>
            <a:off x="5852160" y="312724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5486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7315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7" name="Rectangle 286"/>
          <p:cNvSpPr/>
          <p:nvPr/>
        </p:nvSpPr>
        <p:spPr>
          <a:xfrm>
            <a:off x="9144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8" name="Rectangle 287"/>
          <p:cNvSpPr/>
          <p:nvPr/>
        </p:nvSpPr>
        <p:spPr>
          <a:xfrm>
            <a:off x="10972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12801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0" name="Rectangle 289"/>
          <p:cNvSpPr/>
          <p:nvPr/>
        </p:nvSpPr>
        <p:spPr>
          <a:xfrm>
            <a:off x="14630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1" name="Rectangle 290"/>
          <p:cNvSpPr/>
          <p:nvPr/>
        </p:nvSpPr>
        <p:spPr>
          <a:xfrm>
            <a:off x="16459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2" name="Rectangle 291"/>
          <p:cNvSpPr/>
          <p:nvPr/>
        </p:nvSpPr>
        <p:spPr>
          <a:xfrm>
            <a:off x="18288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20116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4" name="Rectangle 293"/>
          <p:cNvSpPr/>
          <p:nvPr/>
        </p:nvSpPr>
        <p:spPr>
          <a:xfrm>
            <a:off x="21945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5" name="Rectangle 294"/>
          <p:cNvSpPr/>
          <p:nvPr/>
        </p:nvSpPr>
        <p:spPr>
          <a:xfrm>
            <a:off x="23774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6" name="Rectangle 295"/>
          <p:cNvSpPr/>
          <p:nvPr/>
        </p:nvSpPr>
        <p:spPr>
          <a:xfrm>
            <a:off x="25603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27432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8" name="Rectangle 297"/>
          <p:cNvSpPr/>
          <p:nvPr/>
        </p:nvSpPr>
        <p:spPr>
          <a:xfrm>
            <a:off x="29260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9" name="Rectangle 298"/>
          <p:cNvSpPr/>
          <p:nvPr/>
        </p:nvSpPr>
        <p:spPr>
          <a:xfrm>
            <a:off x="31089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0" name="Rectangle 299"/>
          <p:cNvSpPr/>
          <p:nvPr/>
        </p:nvSpPr>
        <p:spPr>
          <a:xfrm>
            <a:off x="32918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1" name="Rectangle 300"/>
          <p:cNvSpPr/>
          <p:nvPr/>
        </p:nvSpPr>
        <p:spPr>
          <a:xfrm>
            <a:off x="34747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2" name="Rectangle 301"/>
          <p:cNvSpPr/>
          <p:nvPr/>
        </p:nvSpPr>
        <p:spPr>
          <a:xfrm>
            <a:off x="36576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3" name="Rectangle 302"/>
          <p:cNvSpPr/>
          <p:nvPr/>
        </p:nvSpPr>
        <p:spPr>
          <a:xfrm>
            <a:off x="38404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4" name="Rectangle 303"/>
          <p:cNvSpPr/>
          <p:nvPr/>
        </p:nvSpPr>
        <p:spPr>
          <a:xfrm>
            <a:off x="40233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5" name="Rectangle 304"/>
          <p:cNvSpPr/>
          <p:nvPr/>
        </p:nvSpPr>
        <p:spPr>
          <a:xfrm>
            <a:off x="42062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6" name="Rectangle 305"/>
          <p:cNvSpPr/>
          <p:nvPr/>
        </p:nvSpPr>
        <p:spPr>
          <a:xfrm>
            <a:off x="43891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7" name="Rectangle 306"/>
          <p:cNvSpPr/>
          <p:nvPr/>
        </p:nvSpPr>
        <p:spPr>
          <a:xfrm>
            <a:off x="45720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8" name="Rectangle 307"/>
          <p:cNvSpPr/>
          <p:nvPr/>
        </p:nvSpPr>
        <p:spPr>
          <a:xfrm>
            <a:off x="47548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9" name="Rectangle 308"/>
          <p:cNvSpPr/>
          <p:nvPr/>
        </p:nvSpPr>
        <p:spPr>
          <a:xfrm>
            <a:off x="49377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0" name="Rectangle 309"/>
          <p:cNvSpPr/>
          <p:nvPr/>
        </p:nvSpPr>
        <p:spPr>
          <a:xfrm>
            <a:off x="512064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1" name="Rectangle 310"/>
          <p:cNvSpPr/>
          <p:nvPr/>
        </p:nvSpPr>
        <p:spPr>
          <a:xfrm>
            <a:off x="530352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2" name="Rectangle 311"/>
          <p:cNvSpPr/>
          <p:nvPr/>
        </p:nvSpPr>
        <p:spPr>
          <a:xfrm>
            <a:off x="548640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3" name="Rectangle 312"/>
          <p:cNvSpPr/>
          <p:nvPr/>
        </p:nvSpPr>
        <p:spPr>
          <a:xfrm>
            <a:off x="566928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4" name="Rectangle 313"/>
          <p:cNvSpPr/>
          <p:nvPr/>
        </p:nvSpPr>
        <p:spPr>
          <a:xfrm>
            <a:off x="5852160" y="331012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5" name="Rectangle 314"/>
          <p:cNvSpPr/>
          <p:nvPr/>
        </p:nvSpPr>
        <p:spPr>
          <a:xfrm>
            <a:off x="5486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6" name="Rectangle 315"/>
          <p:cNvSpPr/>
          <p:nvPr/>
        </p:nvSpPr>
        <p:spPr>
          <a:xfrm>
            <a:off x="7315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7" name="Rectangle 316"/>
          <p:cNvSpPr/>
          <p:nvPr/>
        </p:nvSpPr>
        <p:spPr>
          <a:xfrm>
            <a:off x="9144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8" name="Rectangle 317"/>
          <p:cNvSpPr/>
          <p:nvPr/>
        </p:nvSpPr>
        <p:spPr>
          <a:xfrm>
            <a:off x="10972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9" name="Rectangle 318"/>
          <p:cNvSpPr/>
          <p:nvPr/>
        </p:nvSpPr>
        <p:spPr>
          <a:xfrm>
            <a:off x="12801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0" name="Rectangle 319"/>
          <p:cNvSpPr/>
          <p:nvPr/>
        </p:nvSpPr>
        <p:spPr>
          <a:xfrm>
            <a:off x="14630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1" name="Rectangle 320"/>
          <p:cNvSpPr/>
          <p:nvPr/>
        </p:nvSpPr>
        <p:spPr>
          <a:xfrm>
            <a:off x="16459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2" name="Rectangle 321"/>
          <p:cNvSpPr/>
          <p:nvPr/>
        </p:nvSpPr>
        <p:spPr>
          <a:xfrm>
            <a:off x="18288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3" name="Rectangle 322"/>
          <p:cNvSpPr/>
          <p:nvPr/>
        </p:nvSpPr>
        <p:spPr>
          <a:xfrm>
            <a:off x="20116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4" name="Rectangle 323"/>
          <p:cNvSpPr/>
          <p:nvPr/>
        </p:nvSpPr>
        <p:spPr>
          <a:xfrm>
            <a:off x="21945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5" name="Rectangle 324"/>
          <p:cNvSpPr/>
          <p:nvPr/>
        </p:nvSpPr>
        <p:spPr>
          <a:xfrm>
            <a:off x="23774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6" name="Rectangle 325"/>
          <p:cNvSpPr/>
          <p:nvPr/>
        </p:nvSpPr>
        <p:spPr>
          <a:xfrm>
            <a:off x="25603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7" name="Rectangle 326"/>
          <p:cNvSpPr/>
          <p:nvPr/>
        </p:nvSpPr>
        <p:spPr>
          <a:xfrm>
            <a:off x="27432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8" name="Rectangle 327"/>
          <p:cNvSpPr/>
          <p:nvPr/>
        </p:nvSpPr>
        <p:spPr>
          <a:xfrm>
            <a:off x="29260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9" name="Rectangle 328"/>
          <p:cNvSpPr/>
          <p:nvPr/>
        </p:nvSpPr>
        <p:spPr>
          <a:xfrm>
            <a:off x="31089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0" name="Rectangle 329"/>
          <p:cNvSpPr/>
          <p:nvPr/>
        </p:nvSpPr>
        <p:spPr>
          <a:xfrm>
            <a:off x="32918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1" name="Rectangle 330"/>
          <p:cNvSpPr/>
          <p:nvPr/>
        </p:nvSpPr>
        <p:spPr>
          <a:xfrm>
            <a:off x="34747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2" name="Rectangle 331"/>
          <p:cNvSpPr/>
          <p:nvPr/>
        </p:nvSpPr>
        <p:spPr>
          <a:xfrm>
            <a:off x="36576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3" name="Rectangle 332"/>
          <p:cNvSpPr/>
          <p:nvPr/>
        </p:nvSpPr>
        <p:spPr>
          <a:xfrm>
            <a:off x="38404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4" name="Rectangle 333"/>
          <p:cNvSpPr/>
          <p:nvPr/>
        </p:nvSpPr>
        <p:spPr>
          <a:xfrm>
            <a:off x="40233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5" name="Rectangle 334"/>
          <p:cNvSpPr/>
          <p:nvPr/>
        </p:nvSpPr>
        <p:spPr>
          <a:xfrm>
            <a:off x="42062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6" name="Rectangle 335"/>
          <p:cNvSpPr/>
          <p:nvPr/>
        </p:nvSpPr>
        <p:spPr>
          <a:xfrm>
            <a:off x="43891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7" name="Rectangle 336"/>
          <p:cNvSpPr/>
          <p:nvPr/>
        </p:nvSpPr>
        <p:spPr>
          <a:xfrm>
            <a:off x="45720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8" name="Rectangle 337"/>
          <p:cNvSpPr/>
          <p:nvPr/>
        </p:nvSpPr>
        <p:spPr>
          <a:xfrm>
            <a:off x="47548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9" name="Rectangle 338"/>
          <p:cNvSpPr/>
          <p:nvPr/>
        </p:nvSpPr>
        <p:spPr>
          <a:xfrm>
            <a:off x="49377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0" name="Rectangle 339"/>
          <p:cNvSpPr/>
          <p:nvPr/>
        </p:nvSpPr>
        <p:spPr>
          <a:xfrm>
            <a:off x="512064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1" name="Rectangle 340"/>
          <p:cNvSpPr/>
          <p:nvPr/>
        </p:nvSpPr>
        <p:spPr>
          <a:xfrm>
            <a:off x="530352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2" name="Rectangle 341"/>
          <p:cNvSpPr/>
          <p:nvPr/>
        </p:nvSpPr>
        <p:spPr>
          <a:xfrm>
            <a:off x="548640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3" name="Rectangle 342"/>
          <p:cNvSpPr/>
          <p:nvPr/>
        </p:nvSpPr>
        <p:spPr>
          <a:xfrm>
            <a:off x="566928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4" name="Rectangle 343"/>
          <p:cNvSpPr/>
          <p:nvPr/>
        </p:nvSpPr>
        <p:spPr>
          <a:xfrm>
            <a:off x="5852160" y="349300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5" name="Rectangle 344"/>
          <p:cNvSpPr/>
          <p:nvPr/>
        </p:nvSpPr>
        <p:spPr>
          <a:xfrm>
            <a:off x="5486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6" name="Rectangle 345"/>
          <p:cNvSpPr/>
          <p:nvPr/>
        </p:nvSpPr>
        <p:spPr>
          <a:xfrm>
            <a:off x="7315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7" name="Rectangle 346"/>
          <p:cNvSpPr/>
          <p:nvPr/>
        </p:nvSpPr>
        <p:spPr>
          <a:xfrm>
            <a:off x="9144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8" name="Rectangle 347"/>
          <p:cNvSpPr/>
          <p:nvPr/>
        </p:nvSpPr>
        <p:spPr>
          <a:xfrm>
            <a:off x="10972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9" name="Rectangle 348"/>
          <p:cNvSpPr/>
          <p:nvPr/>
        </p:nvSpPr>
        <p:spPr>
          <a:xfrm>
            <a:off x="12801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0" name="Rectangle 349"/>
          <p:cNvSpPr/>
          <p:nvPr/>
        </p:nvSpPr>
        <p:spPr>
          <a:xfrm>
            <a:off x="14630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1" name="Rectangle 350"/>
          <p:cNvSpPr/>
          <p:nvPr/>
        </p:nvSpPr>
        <p:spPr>
          <a:xfrm>
            <a:off x="16459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2" name="Rectangle 351"/>
          <p:cNvSpPr/>
          <p:nvPr/>
        </p:nvSpPr>
        <p:spPr>
          <a:xfrm>
            <a:off x="18288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3" name="Rectangle 352"/>
          <p:cNvSpPr/>
          <p:nvPr/>
        </p:nvSpPr>
        <p:spPr>
          <a:xfrm>
            <a:off x="20116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4" name="Rectangle 353"/>
          <p:cNvSpPr/>
          <p:nvPr/>
        </p:nvSpPr>
        <p:spPr>
          <a:xfrm>
            <a:off x="21945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5" name="Rectangle 354"/>
          <p:cNvSpPr/>
          <p:nvPr/>
        </p:nvSpPr>
        <p:spPr>
          <a:xfrm>
            <a:off x="23774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6" name="Rectangle 355"/>
          <p:cNvSpPr/>
          <p:nvPr/>
        </p:nvSpPr>
        <p:spPr>
          <a:xfrm>
            <a:off x="25603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7" name="Rectangle 356"/>
          <p:cNvSpPr/>
          <p:nvPr/>
        </p:nvSpPr>
        <p:spPr>
          <a:xfrm>
            <a:off x="27432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8" name="Rectangle 357"/>
          <p:cNvSpPr/>
          <p:nvPr/>
        </p:nvSpPr>
        <p:spPr>
          <a:xfrm>
            <a:off x="29260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9" name="Rectangle 358"/>
          <p:cNvSpPr/>
          <p:nvPr/>
        </p:nvSpPr>
        <p:spPr>
          <a:xfrm>
            <a:off x="31089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0" name="Rectangle 359"/>
          <p:cNvSpPr/>
          <p:nvPr/>
        </p:nvSpPr>
        <p:spPr>
          <a:xfrm>
            <a:off x="32918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1" name="Rectangle 360"/>
          <p:cNvSpPr/>
          <p:nvPr/>
        </p:nvSpPr>
        <p:spPr>
          <a:xfrm>
            <a:off x="34747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2" name="Rectangle 361"/>
          <p:cNvSpPr/>
          <p:nvPr/>
        </p:nvSpPr>
        <p:spPr>
          <a:xfrm>
            <a:off x="36576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3" name="Rectangle 362"/>
          <p:cNvSpPr/>
          <p:nvPr/>
        </p:nvSpPr>
        <p:spPr>
          <a:xfrm>
            <a:off x="38404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4" name="Rectangle 363"/>
          <p:cNvSpPr/>
          <p:nvPr/>
        </p:nvSpPr>
        <p:spPr>
          <a:xfrm>
            <a:off x="40233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5" name="Rectangle 364"/>
          <p:cNvSpPr/>
          <p:nvPr/>
        </p:nvSpPr>
        <p:spPr>
          <a:xfrm>
            <a:off x="42062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6" name="Rectangle 365"/>
          <p:cNvSpPr/>
          <p:nvPr/>
        </p:nvSpPr>
        <p:spPr>
          <a:xfrm>
            <a:off x="43891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7" name="Rectangle 366"/>
          <p:cNvSpPr/>
          <p:nvPr/>
        </p:nvSpPr>
        <p:spPr>
          <a:xfrm>
            <a:off x="45720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8" name="Rectangle 367"/>
          <p:cNvSpPr/>
          <p:nvPr/>
        </p:nvSpPr>
        <p:spPr>
          <a:xfrm>
            <a:off x="47548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9" name="Rectangle 368"/>
          <p:cNvSpPr/>
          <p:nvPr/>
        </p:nvSpPr>
        <p:spPr>
          <a:xfrm>
            <a:off x="49377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0" name="Rectangle 369"/>
          <p:cNvSpPr/>
          <p:nvPr/>
        </p:nvSpPr>
        <p:spPr>
          <a:xfrm>
            <a:off x="512064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1" name="Rectangle 370"/>
          <p:cNvSpPr/>
          <p:nvPr/>
        </p:nvSpPr>
        <p:spPr>
          <a:xfrm>
            <a:off x="530352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2" name="Rectangle 371"/>
          <p:cNvSpPr/>
          <p:nvPr/>
        </p:nvSpPr>
        <p:spPr>
          <a:xfrm>
            <a:off x="548640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3" name="Rectangle 372"/>
          <p:cNvSpPr/>
          <p:nvPr/>
        </p:nvSpPr>
        <p:spPr>
          <a:xfrm>
            <a:off x="566928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4" name="Rectangle 373"/>
          <p:cNvSpPr/>
          <p:nvPr/>
        </p:nvSpPr>
        <p:spPr>
          <a:xfrm>
            <a:off x="5852160" y="367588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5" name="Rectangle 374"/>
          <p:cNvSpPr/>
          <p:nvPr/>
        </p:nvSpPr>
        <p:spPr>
          <a:xfrm>
            <a:off x="54864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6" name="Rectangle 375"/>
          <p:cNvSpPr/>
          <p:nvPr/>
        </p:nvSpPr>
        <p:spPr>
          <a:xfrm>
            <a:off x="73152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7" name="Rectangle 376"/>
          <p:cNvSpPr/>
          <p:nvPr/>
        </p:nvSpPr>
        <p:spPr>
          <a:xfrm>
            <a:off x="91440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8" name="Rectangle 377"/>
          <p:cNvSpPr/>
          <p:nvPr/>
        </p:nvSpPr>
        <p:spPr>
          <a:xfrm>
            <a:off x="109728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9" name="Rectangle 378"/>
          <p:cNvSpPr/>
          <p:nvPr/>
        </p:nvSpPr>
        <p:spPr>
          <a:xfrm>
            <a:off x="128016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0" name="Rectangle 379"/>
          <p:cNvSpPr/>
          <p:nvPr/>
        </p:nvSpPr>
        <p:spPr>
          <a:xfrm>
            <a:off x="146304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1" name="Rectangle 380"/>
          <p:cNvSpPr/>
          <p:nvPr/>
        </p:nvSpPr>
        <p:spPr>
          <a:xfrm>
            <a:off x="164592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2" name="Rectangle 381"/>
          <p:cNvSpPr/>
          <p:nvPr/>
        </p:nvSpPr>
        <p:spPr>
          <a:xfrm>
            <a:off x="182880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3" name="Rectangle 382"/>
          <p:cNvSpPr/>
          <p:nvPr/>
        </p:nvSpPr>
        <p:spPr>
          <a:xfrm>
            <a:off x="201168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4" name="Rectangle 383"/>
          <p:cNvSpPr/>
          <p:nvPr/>
        </p:nvSpPr>
        <p:spPr>
          <a:xfrm>
            <a:off x="219456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5" name="Rectangle 384"/>
          <p:cNvSpPr/>
          <p:nvPr/>
        </p:nvSpPr>
        <p:spPr>
          <a:xfrm>
            <a:off x="237744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6" name="Rectangle 385"/>
          <p:cNvSpPr/>
          <p:nvPr/>
        </p:nvSpPr>
        <p:spPr>
          <a:xfrm>
            <a:off x="256032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7" name="Rectangle 386"/>
          <p:cNvSpPr/>
          <p:nvPr/>
        </p:nvSpPr>
        <p:spPr>
          <a:xfrm>
            <a:off x="2743200" y="3858768"/>
            <a:ext cx="141732" cy="141732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8" name="Rectangle 387"/>
          <p:cNvSpPr/>
          <p:nvPr/>
        </p:nvSpPr>
        <p:spPr>
          <a:xfrm>
            <a:off x="29260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9" name="Rectangle 388"/>
          <p:cNvSpPr/>
          <p:nvPr/>
        </p:nvSpPr>
        <p:spPr>
          <a:xfrm>
            <a:off x="31089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0" name="Rectangle 389"/>
          <p:cNvSpPr/>
          <p:nvPr/>
        </p:nvSpPr>
        <p:spPr>
          <a:xfrm>
            <a:off x="329184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1" name="Rectangle 390"/>
          <p:cNvSpPr/>
          <p:nvPr/>
        </p:nvSpPr>
        <p:spPr>
          <a:xfrm>
            <a:off x="347472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2" name="Rectangle 391"/>
          <p:cNvSpPr/>
          <p:nvPr/>
        </p:nvSpPr>
        <p:spPr>
          <a:xfrm>
            <a:off x="365760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3" name="Rectangle 392"/>
          <p:cNvSpPr/>
          <p:nvPr/>
        </p:nvSpPr>
        <p:spPr>
          <a:xfrm>
            <a:off x="38404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4" name="Rectangle 393"/>
          <p:cNvSpPr/>
          <p:nvPr/>
        </p:nvSpPr>
        <p:spPr>
          <a:xfrm>
            <a:off x="40233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5" name="Rectangle 394"/>
          <p:cNvSpPr/>
          <p:nvPr/>
        </p:nvSpPr>
        <p:spPr>
          <a:xfrm>
            <a:off x="420624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6" name="Rectangle 395"/>
          <p:cNvSpPr/>
          <p:nvPr/>
        </p:nvSpPr>
        <p:spPr>
          <a:xfrm>
            <a:off x="438912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7" name="Rectangle 396"/>
          <p:cNvSpPr/>
          <p:nvPr/>
        </p:nvSpPr>
        <p:spPr>
          <a:xfrm>
            <a:off x="457200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8" name="Rectangle 397"/>
          <p:cNvSpPr/>
          <p:nvPr/>
        </p:nvSpPr>
        <p:spPr>
          <a:xfrm>
            <a:off x="47548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9" name="Rectangle 398"/>
          <p:cNvSpPr/>
          <p:nvPr/>
        </p:nvSpPr>
        <p:spPr>
          <a:xfrm>
            <a:off x="49377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0" name="Rectangle 399"/>
          <p:cNvSpPr/>
          <p:nvPr/>
        </p:nvSpPr>
        <p:spPr>
          <a:xfrm>
            <a:off x="512064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1" name="Rectangle 400"/>
          <p:cNvSpPr/>
          <p:nvPr/>
        </p:nvSpPr>
        <p:spPr>
          <a:xfrm>
            <a:off x="530352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2" name="Rectangle 401"/>
          <p:cNvSpPr/>
          <p:nvPr/>
        </p:nvSpPr>
        <p:spPr>
          <a:xfrm>
            <a:off x="548640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3" name="Rectangle 402"/>
          <p:cNvSpPr/>
          <p:nvPr/>
        </p:nvSpPr>
        <p:spPr>
          <a:xfrm>
            <a:off x="566928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4" name="Rectangle 403"/>
          <p:cNvSpPr/>
          <p:nvPr/>
        </p:nvSpPr>
        <p:spPr>
          <a:xfrm>
            <a:off x="5852160" y="385876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5" name="Rectangle 404"/>
          <p:cNvSpPr/>
          <p:nvPr/>
        </p:nvSpPr>
        <p:spPr>
          <a:xfrm>
            <a:off x="54864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6" name="Rectangle 405"/>
          <p:cNvSpPr/>
          <p:nvPr/>
        </p:nvSpPr>
        <p:spPr>
          <a:xfrm>
            <a:off x="73152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7" name="Rectangle 406"/>
          <p:cNvSpPr/>
          <p:nvPr/>
        </p:nvSpPr>
        <p:spPr>
          <a:xfrm>
            <a:off x="91440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8" name="Rectangle 407"/>
          <p:cNvSpPr/>
          <p:nvPr/>
        </p:nvSpPr>
        <p:spPr>
          <a:xfrm>
            <a:off x="109728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9" name="Rectangle 408"/>
          <p:cNvSpPr/>
          <p:nvPr/>
        </p:nvSpPr>
        <p:spPr>
          <a:xfrm>
            <a:off x="128016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0" name="Rectangle 409"/>
          <p:cNvSpPr/>
          <p:nvPr/>
        </p:nvSpPr>
        <p:spPr>
          <a:xfrm>
            <a:off x="146304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1" name="Rectangle 410"/>
          <p:cNvSpPr/>
          <p:nvPr/>
        </p:nvSpPr>
        <p:spPr>
          <a:xfrm>
            <a:off x="164592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2" name="Rectangle 411"/>
          <p:cNvSpPr/>
          <p:nvPr/>
        </p:nvSpPr>
        <p:spPr>
          <a:xfrm>
            <a:off x="182880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3" name="Rectangle 412"/>
          <p:cNvSpPr/>
          <p:nvPr/>
        </p:nvSpPr>
        <p:spPr>
          <a:xfrm>
            <a:off x="201168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4" name="Rectangle 413"/>
          <p:cNvSpPr/>
          <p:nvPr/>
        </p:nvSpPr>
        <p:spPr>
          <a:xfrm>
            <a:off x="219456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5" name="Rectangle 414"/>
          <p:cNvSpPr/>
          <p:nvPr/>
        </p:nvSpPr>
        <p:spPr>
          <a:xfrm>
            <a:off x="2377440" y="4041648"/>
            <a:ext cx="141732" cy="141732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6" name="Rectangle 415"/>
          <p:cNvSpPr/>
          <p:nvPr/>
        </p:nvSpPr>
        <p:spPr>
          <a:xfrm>
            <a:off x="256032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7" name="Rectangle 416"/>
          <p:cNvSpPr/>
          <p:nvPr/>
        </p:nvSpPr>
        <p:spPr>
          <a:xfrm>
            <a:off x="274320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8" name="Rectangle 417"/>
          <p:cNvSpPr/>
          <p:nvPr/>
        </p:nvSpPr>
        <p:spPr>
          <a:xfrm>
            <a:off x="292608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9" name="Rectangle 418"/>
          <p:cNvSpPr/>
          <p:nvPr/>
        </p:nvSpPr>
        <p:spPr>
          <a:xfrm>
            <a:off x="310896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0" name="Rectangle 419"/>
          <p:cNvSpPr/>
          <p:nvPr/>
        </p:nvSpPr>
        <p:spPr>
          <a:xfrm>
            <a:off x="3291840" y="4041648"/>
            <a:ext cx="141732" cy="141732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1" name="Rectangle 420"/>
          <p:cNvSpPr/>
          <p:nvPr/>
        </p:nvSpPr>
        <p:spPr>
          <a:xfrm>
            <a:off x="3474720" y="4041648"/>
            <a:ext cx="141732" cy="141732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2" name="Rectangle 421"/>
          <p:cNvSpPr/>
          <p:nvPr/>
        </p:nvSpPr>
        <p:spPr>
          <a:xfrm>
            <a:off x="3657600" y="4041648"/>
            <a:ext cx="141732" cy="141732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3" name="Rectangle 422"/>
          <p:cNvSpPr/>
          <p:nvPr/>
        </p:nvSpPr>
        <p:spPr>
          <a:xfrm>
            <a:off x="3840480" y="4041648"/>
            <a:ext cx="141732" cy="141732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4" name="Rectangle 423"/>
          <p:cNvSpPr/>
          <p:nvPr/>
        </p:nvSpPr>
        <p:spPr>
          <a:xfrm>
            <a:off x="4023360" y="4041648"/>
            <a:ext cx="141732" cy="141732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5" name="Rectangle 424"/>
          <p:cNvSpPr/>
          <p:nvPr/>
        </p:nvSpPr>
        <p:spPr>
          <a:xfrm>
            <a:off x="548640" y="4462272"/>
            <a:ext cx="201168" cy="201168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6" name="TextBox 425"/>
          <p:cNvSpPr txBox="1"/>
          <p:nvPr/>
        </p:nvSpPr>
        <p:spPr>
          <a:xfrm>
            <a:off x="841247" y="4389120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Checking  48.3%</a:t>
            </a:r>
          </a:p>
        </p:txBody>
      </p:sp>
      <p:sp>
        <p:nvSpPr>
          <p:cNvPr id="427" name="Rectangle 426"/>
          <p:cNvSpPr/>
          <p:nvPr/>
        </p:nvSpPr>
        <p:spPr>
          <a:xfrm>
            <a:off x="4023359" y="4462272"/>
            <a:ext cx="201168" cy="201168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8" name="TextBox 427"/>
          <p:cNvSpPr txBox="1"/>
          <p:nvPr/>
        </p:nvSpPr>
        <p:spPr>
          <a:xfrm>
            <a:off x="4315968" y="4389120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Algorithm/Method  42.7%</a:t>
            </a:r>
          </a:p>
        </p:txBody>
      </p:sp>
      <p:sp>
        <p:nvSpPr>
          <p:cNvPr id="429" name="Rectangle 428"/>
          <p:cNvSpPr/>
          <p:nvPr/>
        </p:nvSpPr>
        <p:spPr>
          <a:xfrm>
            <a:off x="548640" y="4864608"/>
            <a:ext cx="201168" cy="201168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0" name="TextBox 429"/>
          <p:cNvSpPr txBox="1"/>
          <p:nvPr/>
        </p:nvSpPr>
        <p:spPr>
          <a:xfrm>
            <a:off x="841247" y="4791456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Assignment  6.8%</a:t>
            </a:r>
          </a:p>
        </p:txBody>
      </p:sp>
      <p:sp>
        <p:nvSpPr>
          <p:cNvPr id="431" name="Rectangle 430"/>
          <p:cNvSpPr/>
          <p:nvPr/>
        </p:nvSpPr>
        <p:spPr>
          <a:xfrm>
            <a:off x="4023359" y="4864608"/>
            <a:ext cx="201168" cy="201168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2" name="TextBox 431"/>
          <p:cNvSpPr txBox="1"/>
          <p:nvPr/>
        </p:nvSpPr>
        <p:spPr>
          <a:xfrm>
            <a:off x="4315968" y="4791456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Relationship  1.2%</a:t>
            </a:r>
          </a:p>
        </p:txBody>
      </p:sp>
      <p:sp>
        <p:nvSpPr>
          <p:cNvPr id="433" name="Rectangle 432"/>
          <p:cNvSpPr/>
          <p:nvPr/>
        </p:nvSpPr>
        <p:spPr>
          <a:xfrm>
            <a:off x="548640" y="5266944"/>
            <a:ext cx="201168" cy="201168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4" name="TextBox 433"/>
          <p:cNvSpPr txBox="1"/>
          <p:nvPr/>
        </p:nvSpPr>
        <p:spPr>
          <a:xfrm>
            <a:off x="841247" y="5193792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Function/Class  0.7%</a:t>
            </a:r>
          </a:p>
        </p:txBody>
      </p:sp>
      <p:sp>
        <p:nvSpPr>
          <p:cNvPr id="435" name="Rectangle 434"/>
          <p:cNvSpPr/>
          <p:nvPr/>
        </p:nvSpPr>
        <p:spPr>
          <a:xfrm>
            <a:off x="4023359" y="5266944"/>
            <a:ext cx="201168" cy="201168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6" name="TextBox 435"/>
          <p:cNvSpPr txBox="1"/>
          <p:nvPr/>
        </p:nvSpPr>
        <p:spPr>
          <a:xfrm>
            <a:off x="4315968" y="5193792"/>
            <a:ext cx="31089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Interface  0.2%</a:t>
            </a:r>
          </a:p>
        </p:txBody>
      </p:sp>
      <p:sp>
        <p:nvSpPr>
          <p:cNvPr id="437" name="TextBox 436"/>
          <p:cNvSpPr txBox="1"/>
          <p:nvPr/>
        </p:nvSpPr>
        <p:spPr>
          <a:xfrm>
            <a:off x="548640" y="5669280"/>
            <a:ext cx="6675120" cy="7772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6000"/>
              </a:lnSpc>
              <a:spcAft>
                <a:spcPts val="0"/>
              </a:spcAft>
            </a:pPr>
            <a:r>
              <a:rPr sz="1600" b="1" i="0">
                <a:solidFill>
                  <a:srgbClr val="12284C"/>
                </a:solidFill>
                <a:latin typeface="Source Sans 3"/>
              </a:rPr>
              <a:t>97.8%</a:t>
            </a:r>
            <a:r>
              <a:rPr sz="1600" b="0" i="0">
                <a:solidFill>
                  <a:srgbClr val="1C2128"/>
                </a:solidFill>
                <a:latin typeface="Source Sans 3"/>
              </a:rPr>
              <a:t> in three Control and Data Flow types; Timing never occurs. Mix by project: scientific </a:t>
            </a:r>
            <a:r>
              <a:rPr sz="1600" b="1" i="0">
                <a:solidFill>
                  <a:srgbClr val="1C2128"/>
                </a:solidFill>
                <a:latin typeface="Source Sans 3"/>
              </a:rPr>
              <a:t>p = 0.096</a:t>
            </a:r>
            <a:r>
              <a:rPr sz="1600" b="0" i="0">
                <a:solidFill>
                  <a:srgbClr val="1C2128"/>
                </a:solidFill>
                <a:latin typeface="Source Sans 3"/>
              </a:rPr>
              <a:t>, few-shot </a:t>
            </a:r>
            <a:r>
              <a:rPr sz="1600" b="1" i="0">
                <a:solidFill>
                  <a:srgbClr val="1C2128"/>
                </a:solidFill>
                <a:latin typeface="Source Sans 3"/>
              </a:rPr>
              <a:t>p = 0.010</a:t>
            </a:r>
            <a:r>
              <a:rPr sz="1600" b="0" i="0">
                <a:solidFill>
                  <a:srgbClr val="1C2128"/>
                </a:solidFill>
                <a:latin typeface="Source Sans 3"/>
              </a:rPr>
              <a:t>.</a:t>
            </a:r>
          </a:p>
        </p:txBody>
      </p:sp>
      <p:sp>
        <p:nvSpPr>
          <p:cNvPr id="438" name="Rectangle 437"/>
          <p:cNvSpPr/>
          <p:nvPr/>
        </p:nvSpPr>
        <p:spPr>
          <a:xfrm>
            <a:off x="7635240" y="1280160"/>
            <a:ext cx="4005072" cy="461772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9" name="TextBox 438"/>
          <p:cNvSpPr txBox="1"/>
          <p:nvPr/>
        </p:nvSpPr>
        <p:spPr>
          <a:xfrm>
            <a:off x="7909560" y="1417320"/>
            <a:ext cx="35478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RQ2  ·  THE “OTHER” CATEGORY</a:t>
            </a:r>
          </a:p>
        </p:txBody>
      </p:sp>
      <p:sp>
        <p:nvSpPr>
          <p:cNvPr id="440" name="TextBox 439"/>
          <p:cNvSpPr txBox="1"/>
          <p:nvPr/>
        </p:nvSpPr>
        <p:spPr>
          <a:xfrm>
            <a:off x="7909560" y="1737360"/>
            <a:ext cx="3547872" cy="10515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800" b="1" i="0">
                <a:solidFill>
                  <a:srgbClr val="12284C"/>
                </a:solidFill>
                <a:latin typeface="Source Sans 3"/>
              </a:rPr>
              <a:t>0</a:t>
            </a:r>
            <a:r>
              <a:rPr sz="2400" b="0" i="0">
                <a:solidFill>
                  <a:srgbClr val="5A6270"/>
                </a:solidFill>
                <a:latin typeface="Source Sans 3"/>
              </a:rPr>
              <a:t>  of 1,640</a:t>
            </a:r>
          </a:p>
        </p:txBody>
      </p:sp>
      <p:sp>
        <p:nvSpPr>
          <p:cNvPr id="441" name="TextBox 440"/>
          <p:cNvSpPr txBox="1"/>
          <p:nvPr/>
        </p:nvSpPr>
        <p:spPr>
          <a:xfrm>
            <a:off x="7909560" y="2788920"/>
            <a:ext cx="3547872" cy="7315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classifications chose “Other”, although it was offered every time.</a:t>
            </a:r>
          </a:p>
        </p:txBody>
      </p:sp>
      <p:cxnSp>
        <p:nvCxnSpPr>
          <p:cNvPr id="442" name="Connector 441"/>
          <p:cNvCxnSpPr/>
          <p:nvPr/>
        </p:nvCxnSpPr>
        <p:spPr>
          <a:xfrm>
            <a:off x="7909560" y="3566160"/>
            <a:ext cx="34564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443" name="TextBox 442"/>
          <p:cNvSpPr txBox="1"/>
          <p:nvPr/>
        </p:nvSpPr>
        <p:spPr>
          <a:xfrm>
            <a:off x="7909560" y="3703320"/>
            <a:ext cx="11887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≤ 0.2%</a:t>
            </a:r>
          </a:p>
        </p:txBody>
      </p:sp>
      <p:sp>
        <p:nvSpPr>
          <p:cNvPr id="444" name="TextBox 443"/>
          <p:cNvSpPr txBox="1"/>
          <p:nvPr/>
        </p:nvSpPr>
        <p:spPr>
          <a:xfrm>
            <a:off x="9144000" y="3703320"/>
            <a:ext cx="2221991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95% upper bound on the escape rate</a:t>
            </a:r>
          </a:p>
        </p:txBody>
      </p:sp>
      <p:sp>
        <p:nvSpPr>
          <p:cNvPr id="445" name="TextBox 444"/>
          <p:cNvSpPr txBox="1"/>
          <p:nvPr/>
        </p:nvSpPr>
        <p:spPr>
          <a:xfrm>
            <a:off x="7909560" y="4416552"/>
            <a:ext cx="11887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6 of 7</a:t>
            </a:r>
          </a:p>
        </p:txBody>
      </p:sp>
      <p:sp>
        <p:nvSpPr>
          <p:cNvPr id="446" name="TextBox 445"/>
          <p:cNvSpPr txBox="1"/>
          <p:nvPr/>
        </p:nvSpPr>
        <p:spPr>
          <a:xfrm>
            <a:off x="9144000" y="4416552"/>
            <a:ext cx="2221991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ODC types actually used</a:t>
            </a:r>
          </a:p>
        </p:txBody>
      </p:sp>
      <p:sp>
        <p:nvSpPr>
          <p:cNvPr id="447" name="TextBox 446"/>
          <p:cNvSpPr txBox="1"/>
          <p:nvPr/>
        </p:nvSpPr>
        <p:spPr>
          <a:xfrm>
            <a:off x="7909560" y="5129783"/>
            <a:ext cx="1188720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366</a:t>
            </a:r>
          </a:p>
        </p:txBody>
      </p:sp>
      <p:sp>
        <p:nvSpPr>
          <p:cNvPr id="448" name="TextBox 447"/>
          <p:cNvSpPr txBox="1"/>
          <p:nvPr/>
        </p:nvSpPr>
        <p:spPr>
          <a:xfrm>
            <a:off x="9144000" y="5129783"/>
            <a:ext cx="2221991" cy="6400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98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distinct labels without a taxonomy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RQ3: Agreement with the Fix-Informed Reference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18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2743200" cy="9144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5400" b="1" i="0">
                <a:solidFill>
                  <a:srgbClr val="12284C"/>
                </a:solidFill>
                <a:latin typeface="Source Sans 3"/>
              </a:rPr>
              <a:t>70.2%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1280160"/>
            <a:ext cx="4023360" cy="8229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900" b="0" i="0">
                <a:solidFill>
                  <a:srgbClr val="1C2128"/>
                </a:solidFill>
                <a:latin typeface="Source Sans 3"/>
              </a:rPr>
              <a:t>of pre-fix labels match the post-fix reference exactly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1234440"/>
            <a:ext cx="4142232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95% CI [65.6, 74.9]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240280"/>
            <a:ext cx="1109167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ALL 410 BUGS (SCIENTIFIC-OPEN)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578608"/>
            <a:ext cx="7786353" cy="658368"/>
          </a:xfrm>
          <a:prstGeom prst="rect">
            <a:avLst/>
          </a:prstGeom>
          <a:solidFill>
            <a:srgbClr val="2F7D4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578608"/>
            <a:ext cx="7786353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exact match  70.2%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34993" y="2578608"/>
            <a:ext cx="3028026" cy="658368"/>
          </a:xfrm>
          <a:prstGeom prst="rect">
            <a:avLst/>
          </a:prstGeom>
          <a:solidFill>
            <a:srgbClr val="B7791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34993" y="2578608"/>
            <a:ext cx="3028026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near miss  27.3%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363020" y="2578608"/>
            <a:ext cx="266200" cy="65836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273552"/>
            <a:ext cx="87782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near miss: one label is the other's alternative, or both share a family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26880" y="3273552"/>
            <a:ext cx="2313432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23B3B"/>
                </a:solidFill>
                <a:latin typeface="Source Sans 3"/>
              </a:rPr>
              <a:t>unrelated  2.4%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3931920"/>
            <a:ext cx="566928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CHANCE-CORRECTED AGREEMENT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48640" y="4709160"/>
            <a:ext cx="1133856" cy="310896"/>
          </a:xfrm>
          <a:prstGeom prst="rect">
            <a:avLst/>
          </a:prstGeom>
          <a:solidFill>
            <a:srgbClr val="EDF0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5038344"/>
            <a:ext cx="1133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slight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682496" y="4709160"/>
            <a:ext cx="1133856" cy="310896"/>
          </a:xfrm>
          <a:prstGeom prst="rect">
            <a:avLst/>
          </a:prstGeom>
          <a:solidFill>
            <a:srgbClr val="D3DAE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682496" y="5038344"/>
            <a:ext cx="1133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fair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16352" y="4709160"/>
            <a:ext cx="1133855" cy="310896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16352" y="5038344"/>
            <a:ext cx="113385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moderate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50207" y="4709160"/>
            <a:ext cx="1133856" cy="310896"/>
          </a:xfrm>
          <a:prstGeom prst="rect">
            <a:avLst/>
          </a:prstGeom>
          <a:solidFill>
            <a:srgbClr val="5E789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950207" y="5038344"/>
            <a:ext cx="1133856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substantial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84064" y="4709160"/>
            <a:ext cx="1133855" cy="310896"/>
          </a:xfrm>
          <a:prstGeom prst="rect">
            <a:avLst/>
          </a:prstGeom>
          <a:solidFill>
            <a:srgbClr val="2E4A7D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084064" y="5038344"/>
            <a:ext cx="1133855" cy="27432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5A6270"/>
                </a:solidFill>
                <a:latin typeface="Source Sans 3"/>
              </a:rPr>
              <a:t>almost perfect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397910" y="4562856"/>
            <a:ext cx="27432" cy="603504"/>
          </a:xfrm>
          <a:prstGeom prst="rect">
            <a:avLst/>
          </a:prstGeom>
          <a:solidFill>
            <a:srgbClr val="1C212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588666" y="4197096"/>
            <a:ext cx="16459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1C2128"/>
                </a:solidFill>
                <a:latin typeface="Source Sans 3"/>
              </a:rPr>
              <a:t>κ = 0.505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5303520"/>
            <a:ext cx="56692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few-shot reaches κ = 0.389 (fair)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766560" y="3931920"/>
            <a:ext cx="48737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WHERE THE DISAGREEMENT COMES FROM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766560" y="4279392"/>
            <a:ext cx="4873752" cy="11430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Two fix-aware classifications agree only </a:t>
            </a:r>
            <a:r>
              <a:rPr sz="1700" b="1" i="0">
                <a:solidFill>
                  <a:srgbClr val="1C2128"/>
                </a:solidFill>
                <a:latin typeface="Source Sans 3"/>
              </a:rPr>
              <a:t>76.3%</a:t>
            </a:r>
            <a:r>
              <a:rPr sz="1700" b="0" i="0">
                <a:solidFill>
                  <a:srgbClr val="1C2128"/>
                </a:solidFill>
                <a:latin typeface="Source Sans 3"/>
              </a:rPr>
              <a:t> of the time. Pre-fix sits about 6 points below that ceiling; the rest is ODC boundary ambiguity.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766560" y="5440680"/>
            <a:ext cx="4873752" cy="65836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49440" y="5440680"/>
            <a:ext cx="1051560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12284C"/>
                </a:solidFill>
                <a:latin typeface="Source Sans 3"/>
              </a:rPr>
              <a:t>93.2%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092440" y="5440680"/>
            <a:ext cx="3364992" cy="65836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name the reference type as the label or as a recorded alternative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RQ3: How Labels Change When the Fix Is Visible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19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61872"/>
            <a:ext cx="694944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PRE-FIX LABEL (ROW)  →  POST-FIX LABEL (COLUMN)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456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Checking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Algorithm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Assignment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760720" y="1746504"/>
            <a:ext cx="11887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other types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1" y="2148840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Checking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221991" y="2176272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19456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148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410712" y="2176272"/>
            <a:ext cx="1133856" cy="65836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38328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37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99432" y="2176272"/>
            <a:ext cx="1133856" cy="658368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8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788152" y="2176272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760720" y="2148840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8911" y="2862072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Algorithm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221991" y="2889503"/>
            <a:ext cx="1133856" cy="65836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19456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Source Sans 3"/>
              </a:rPr>
              <a:t>38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410712" y="2889503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8328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119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99432" y="2889503"/>
            <a:ext cx="1133856" cy="658368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10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88152" y="2889503"/>
            <a:ext cx="1133856" cy="658368"/>
          </a:xfrm>
          <a:prstGeom prst="rect">
            <a:avLst/>
          </a:prstGeom>
          <a:solidFill>
            <a:srgbClr val="9FB0C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760720" y="2862072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8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38911" y="3575304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Assignment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221991" y="3602736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19456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3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410712" y="3602736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38328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99432" y="3602736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18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88152" y="3602736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760720" y="3575304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38911" y="4288536"/>
            <a:ext cx="16459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other types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221991" y="4315968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9456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3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410712" y="4315968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38328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2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599432" y="4315968"/>
            <a:ext cx="1133856" cy="658368"/>
          </a:xfrm>
          <a:prstGeom prst="rect">
            <a:avLst/>
          </a:prstGeom>
          <a:solidFill>
            <a:srgbClr val="DEE4E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57200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1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788152" y="4315968"/>
            <a:ext cx="1133856" cy="658368"/>
          </a:xfrm>
          <a:prstGeom prst="rect">
            <a:avLst/>
          </a:prstGeom>
          <a:solidFill>
            <a:srgbClr val="E6EAF0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0" y="4288536"/>
            <a:ext cx="1188720" cy="71323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3</a:t>
            </a:r>
          </a:p>
        </p:txBody>
      </p:sp>
      <p:sp>
        <p:nvSpPr>
          <p:cNvPr id="55" name="Rectangle 54"/>
          <p:cNvSpPr/>
          <p:nvPr/>
        </p:nvSpPr>
        <p:spPr>
          <a:xfrm>
            <a:off x="2221991" y="2176272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10712" y="2889503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4599432" y="3602736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5788152" y="4315968"/>
            <a:ext cx="1133856" cy="658368"/>
          </a:xfrm>
          <a:prstGeom prst="rect">
            <a:avLst/>
          </a:prstGeom>
          <a:noFill/>
          <a:ln w="22225">
            <a:solidFill>
              <a:srgbClr val="2F7D4F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548640" y="5138928"/>
            <a:ext cx="69494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2F7D4F"/>
                </a:solidFill>
                <a:latin typeface="Source Sans 3"/>
              </a:rPr>
              <a:t>outlined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  the label did not change        </a:t>
            </a:r>
            <a:r>
              <a:rPr sz="1500" b="1" i="0">
                <a:solidFill>
                  <a:srgbClr val="12284C"/>
                </a:solidFill>
                <a:latin typeface="Source Sans 3"/>
              </a:rPr>
              <a:t>darker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  more bugs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48640" y="5550408"/>
            <a:ext cx="731520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The two dark cells cancel out: 38 bugs move one way, 37 the other.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863840" y="1508760"/>
            <a:ext cx="377647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29.8%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863840" y="2075688"/>
            <a:ext cx="377647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of bugs change label (122 of 410)</a:t>
            </a:r>
          </a:p>
        </p:txBody>
      </p:sp>
      <p:cxnSp>
        <p:nvCxnSpPr>
          <p:cNvPr id="63" name="Connector 62"/>
          <p:cNvCxnSpPr/>
          <p:nvPr/>
        </p:nvCxnSpPr>
        <p:spPr>
          <a:xfrm>
            <a:off x="7863840" y="2697480"/>
            <a:ext cx="37764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4" name="TextBox 63"/>
          <p:cNvSpPr txBox="1"/>
          <p:nvPr/>
        </p:nvSpPr>
        <p:spPr>
          <a:xfrm>
            <a:off x="7863840" y="2880360"/>
            <a:ext cx="377647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80.3%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7863840" y="3447288"/>
            <a:ext cx="377647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of changes stay in these three types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7863840" y="4069080"/>
            <a:ext cx="37764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7863840" y="4251960"/>
            <a:ext cx="3776472" cy="56692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0.051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863840" y="4818888"/>
            <a:ext cx="3776472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3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total variation distance: the mix barely moves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Algorithm/Method vs Checking is also the boundary that human raters confuse [22].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RQ4a: Contribution of the ODC Taxonomy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20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5760720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A23B3B"/>
                </a:solidFill>
                <a:latin typeface="Source Sans 3"/>
              </a:rPr>
              <a:t>366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  different labels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737360"/>
            <a:ext cx="576072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when the model writes its own (zero-free, 410 bugs)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40080" y="4709160"/>
            <a:ext cx="5760720" cy="0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cxnSp>
        <p:nvCxnSpPr>
          <p:cNvPr id="17" name="Connector 16"/>
          <p:cNvCxnSpPr/>
          <p:nvPr/>
        </p:nvCxnSpPr>
        <p:spPr>
          <a:xfrm>
            <a:off x="640080" y="4008120"/>
            <a:ext cx="57607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8" name="TextBox 17"/>
          <p:cNvSpPr txBox="1"/>
          <p:nvPr/>
        </p:nvSpPr>
        <p:spPr>
          <a:xfrm>
            <a:off x="548640" y="3861816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5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40080" y="3307080"/>
            <a:ext cx="57607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0" name="TextBox 19"/>
          <p:cNvSpPr txBox="1"/>
          <p:nvPr/>
        </p:nvSpPr>
        <p:spPr>
          <a:xfrm>
            <a:off x="548640" y="3160776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10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40080" y="2606040"/>
            <a:ext cx="57607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2459736"/>
            <a:ext cx="274320" cy="29260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15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68680" y="2606040"/>
            <a:ext cx="105156" cy="2103120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1014983" y="4148328"/>
            <a:ext cx="105156" cy="560832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161288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07592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1453895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600200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746504" y="4288536"/>
            <a:ext cx="105156" cy="420623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189280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03911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185415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2331720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2478024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2432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77063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916936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063239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9544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335584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350215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48456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794760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941063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4087368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4233672" y="4428744"/>
            <a:ext cx="105156" cy="280416"/>
          </a:xfrm>
          <a:prstGeom prst="rect">
            <a:avLst/>
          </a:prstGeom>
          <a:solidFill>
            <a:srgbClr val="C8858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4489704" y="4568952"/>
            <a:ext cx="1865376" cy="140208"/>
          </a:xfrm>
          <a:prstGeom prst="rect">
            <a:avLst/>
          </a:prstGeom>
          <a:solidFill>
            <a:srgbClr val="E3BEB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48" name="Connector 47"/>
          <p:cNvCxnSpPr/>
          <p:nvPr/>
        </p:nvCxnSpPr>
        <p:spPr>
          <a:xfrm>
            <a:off x="4489704" y="4873752"/>
            <a:ext cx="1865376" cy="0"/>
          </a:xfrm>
          <a:prstGeom prst="line">
            <a:avLst/>
          </a:prstGeom>
          <a:ln w="12700">
            <a:solidFill>
              <a:srgbClr val="8A919C"/>
            </a:solidFill>
          </a:ln>
        </p:spPr>
      </p:cxnSp>
      <p:sp>
        <p:nvSpPr>
          <p:cNvPr id="49" name="TextBox 48"/>
          <p:cNvSpPr txBox="1"/>
          <p:nvPr/>
        </p:nvSpPr>
        <p:spPr>
          <a:xfrm>
            <a:off x="3941064" y="4928616"/>
            <a:ext cx="2962656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A23B3B"/>
                </a:solidFill>
                <a:latin typeface="Source Sans 3"/>
              </a:rPr>
              <a:t>342 labels used exactly once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48640" y="2221992"/>
            <a:ext cx="2926080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“Null Pointer Dereference”  15 bugs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5230368"/>
            <a:ext cx="5943600" cy="8686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The same bug (Chart_9), written twice: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600" b="0" i="0">
                <a:solidFill>
                  <a:srgbClr val="A23B3B"/>
                </a:solidFill>
                <a:latin typeface="Source Sans 3"/>
              </a:rPr>
              <a:t>“Improper input validation logic”</a:t>
            </a:r>
          </a:p>
          <a:p>
            <a:pPr algn="l">
              <a:lnSpc>
                <a:spcPct val="105000"/>
              </a:lnSpc>
              <a:spcAft>
                <a:spcPts val="100"/>
              </a:spcAft>
            </a:pPr>
            <a:r>
              <a:rPr sz="1600" b="0" i="0">
                <a:solidFill>
                  <a:srgbClr val="2F7D4F"/>
                </a:solidFill>
                <a:latin typeface="Source Sans 3"/>
              </a:rPr>
              <a:t>“Incorrect boundary condition logic”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949440" y="1234440"/>
            <a:ext cx="4690872" cy="5029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6</a:t>
            </a:r>
            <a:r>
              <a:rPr sz="1900" b="0" i="0">
                <a:solidFill>
                  <a:srgbClr val="1C2128"/>
                </a:solidFill>
                <a:latin typeface="Source Sans 3"/>
              </a:rPr>
              <a:t>  comparable labels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49440" y="1737360"/>
            <a:ext cx="46908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with the ODC taxonomy (scientific-open)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949440" y="2194560"/>
            <a:ext cx="2265347" cy="731520"/>
          </a:xfrm>
          <a:prstGeom prst="rect">
            <a:avLst/>
          </a:prstGeom>
          <a:solidFill>
            <a:srgbClr val="C07A2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949440" y="2194560"/>
            <a:ext cx="2265347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ource Sans 3"/>
              </a:rPr>
              <a:t>198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214787" y="2194560"/>
            <a:ext cx="2002201" cy="731520"/>
          </a:xfrm>
          <a:prstGeom prst="rect">
            <a:avLst/>
          </a:prstGeom>
          <a:solidFill>
            <a:srgbClr val="2F5D9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14787" y="2194560"/>
            <a:ext cx="2002201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Source Sans 3"/>
              </a:rPr>
              <a:t>175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1216989" y="2194560"/>
            <a:ext cx="320352" cy="731520"/>
          </a:xfrm>
          <a:prstGeom prst="rect">
            <a:avLst/>
          </a:prstGeom>
          <a:solidFill>
            <a:srgbClr val="6D4C9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11537341" y="2194560"/>
            <a:ext cx="57205" cy="731520"/>
          </a:xfrm>
          <a:prstGeom prst="rect">
            <a:avLst/>
          </a:prstGeom>
          <a:solidFill>
            <a:srgbClr val="8A6E5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11594547" y="2194560"/>
            <a:ext cx="34323" cy="731520"/>
          </a:xfrm>
          <a:prstGeom prst="rect">
            <a:avLst/>
          </a:prstGeom>
          <a:solidFill>
            <a:srgbClr val="9B3D4E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1628870" y="2194560"/>
            <a:ext cx="27432" cy="731520"/>
          </a:xfrm>
          <a:prstGeom prst="rect">
            <a:avLst/>
          </a:prstGeom>
          <a:solidFill>
            <a:srgbClr val="2B7F72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949440" y="3017520"/>
            <a:ext cx="46908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every bug lands in one of six buckets that can be counted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949440" y="3611880"/>
            <a:ext cx="1828800" cy="384048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/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8778240" y="3611880"/>
            <a:ext cx="1463040" cy="384048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Same label in both modes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241280" y="3611880"/>
            <a:ext cx="1399032" cy="384048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Sans 3"/>
              </a:rPr>
              <a:t>Entropy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949440" y="4041648"/>
            <a:ext cx="4690872" cy="0"/>
          </a:xfrm>
          <a:prstGeom prst="line">
            <a:avLst/>
          </a:prstGeom>
          <a:ln w="15875">
            <a:solidFill>
              <a:srgbClr val="12284C"/>
            </a:solidFill>
          </a:ln>
        </p:spPr>
      </p:cxnSp>
      <p:sp>
        <p:nvSpPr>
          <p:cNvPr id="67" name="TextBox 66"/>
          <p:cNvSpPr txBox="1"/>
          <p:nvPr/>
        </p:nvSpPr>
        <p:spPr>
          <a:xfrm>
            <a:off x="6949440" y="4087368"/>
            <a:ext cx="18288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zero-free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778240" y="4087368"/>
            <a:ext cx="14630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A23B3B"/>
                </a:solidFill>
                <a:latin typeface="Source Sans 3"/>
              </a:rPr>
              <a:t>15.1%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241280" y="4087368"/>
            <a:ext cx="139903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8.38 bits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6949440" y="4599432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71" name="TextBox 70"/>
          <p:cNvSpPr txBox="1"/>
          <p:nvPr/>
        </p:nvSpPr>
        <p:spPr>
          <a:xfrm>
            <a:off x="6949440" y="4599432"/>
            <a:ext cx="18288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few-open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8778240" y="4599432"/>
            <a:ext cx="14630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66.6%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241280" y="4599432"/>
            <a:ext cx="139903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1.29 bits</a:t>
            </a:r>
          </a:p>
        </p:txBody>
      </p:sp>
      <p:cxnSp>
        <p:nvCxnSpPr>
          <p:cNvPr id="74" name="Connector 73"/>
          <p:cNvCxnSpPr/>
          <p:nvPr/>
        </p:nvCxnSpPr>
        <p:spPr>
          <a:xfrm>
            <a:off x="6949440" y="5111496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75" name="TextBox 74"/>
          <p:cNvSpPr txBox="1"/>
          <p:nvPr/>
        </p:nvSpPr>
        <p:spPr>
          <a:xfrm>
            <a:off x="6949440" y="5111496"/>
            <a:ext cx="182880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scientific-open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778240" y="5111496"/>
            <a:ext cx="1463040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C2128"/>
                </a:solidFill>
                <a:latin typeface="Source Sans 3"/>
              </a:rPr>
              <a:t>70.2%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241280" y="5111496"/>
            <a:ext cx="1399032" cy="51206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1.45 bits</a:t>
            </a:r>
          </a:p>
        </p:txBody>
      </p:sp>
      <p:cxnSp>
        <p:nvCxnSpPr>
          <p:cNvPr id="78" name="Connector 77"/>
          <p:cNvCxnSpPr/>
          <p:nvPr/>
        </p:nvCxnSpPr>
        <p:spPr>
          <a:xfrm>
            <a:off x="6949440" y="5623560"/>
            <a:ext cx="46908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79" name="Rectangle 78"/>
          <p:cNvSpPr/>
          <p:nvPr/>
        </p:nvSpPr>
        <p:spPr>
          <a:xfrm>
            <a:off x="6949440" y="5596128"/>
            <a:ext cx="64008" cy="54864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7178040" y="5596128"/>
            <a:ext cx="4416552" cy="54864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A fixed taxonomy lets us count anything at all.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RQ4b: Contribution of the Scientific Loop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21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34440"/>
            <a:ext cx="457200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12284C"/>
                </a:solidFill>
                <a:latin typeface="Source Sans 3"/>
              </a:rPr>
              <a:t>Δκ = +0.115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1965960"/>
            <a:ext cx="45720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5A6270"/>
                </a:solidFill>
                <a:latin typeface="Source Sans 3"/>
              </a:rPr>
              <a:t>κ 0.389</a:t>
            </a:r>
            <a:r>
              <a:rPr sz="2000" b="0" i="0">
                <a:solidFill>
                  <a:srgbClr val="1C2128"/>
                </a:solidFill>
                <a:latin typeface="Source Sans 3"/>
              </a:rPr>
              <a:t>  →  </a:t>
            </a:r>
            <a:r>
              <a:rPr sz="2000" b="1" i="0">
                <a:solidFill>
                  <a:srgbClr val="12284C"/>
                </a:solidFill>
                <a:latin typeface="Source Sans 3"/>
              </a:rPr>
              <a:t>0.505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560320"/>
            <a:ext cx="4846320" cy="868680"/>
          </a:xfrm>
          <a:prstGeom prst="rect">
            <a:avLst/>
          </a:prstGeom>
          <a:solidFill>
            <a:srgbClr val="E3F1E8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2560320"/>
            <a:ext cx="4480560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1" i="0">
                <a:solidFill>
                  <a:srgbClr val="2F7D4F"/>
                </a:solidFill>
                <a:latin typeface="Source Sans 3"/>
              </a:rPr>
              <a:t>Statistically significant: </a:t>
            </a:r>
          </a:p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600" b="0" i="0">
                <a:solidFill>
                  <a:srgbClr val="1C2128"/>
                </a:solidFill>
                <a:latin typeface="Source Sans 3"/>
              </a:rPr>
              <a:t>95% CI [0.026, 0.208],  p ≈ 0.012  (paired bootstrap)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48640" y="3703320"/>
            <a:ext cx="48463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9" name="TextBox 18"/>
          <p:cNvSpPr txBox="1"/>
          <p:nvPr/>
        </p:nvSpPr>
        <p:spPr>
          <a:xfrm>
            <a:off x="548640" y="3749039"/>
            <a:ext cx="132588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6 of 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0240" y="3749039"/>
            <a:ext cx="347472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projects improve; sign test p = 0.016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4572000"/>
            <a:ext cx="48463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2" name="TextBox 21"/>
          <p:cNvSpPr txBox="1"/>
          <p:nvPr/>
        </p:nvSpPr>
        <p:spPr>
          <a:xfrm>
            <a:off x="548640" y="4617720"/>
            <a:ext cx="132588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p = 0.221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17720"/>
            <a:ext cx="347472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McNemar on raw agreement: few-shot's 265 Algorithm labels inflate chance agreement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48640" y="5440680"/>
            <a:ext cx="4846320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5" name="TextBox 24"/>
          <p:cNvSpPr txBox="1"/>
          <p:nvPr/>
        </p:nvSpPr>
        <p:spPr>
          <a:xfrm>
            <a:off x="548640" y="5486400"/>
            <a:ext cx="132588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Closure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920240" y="5486400"/>
            <a:ext cx="3474720" cy="8046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smallest gain (+0.065); its interval still includes 0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52160" y="1234440"/>
            <a:ext cx="578815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PER-PROJECT Κ  ·  EVERY PROJECT IMPROVES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355080" y="5257800"/>
            <a:ext cx="5285232" cy="0"/>
          </a:xfrm>
          <a:prstGeom prst="line">
            <a:avLst/>
          </a:prstGeom>
          <a:ln w="9525">
            <a:solidFill>
              <a:srgbClr val="8A919C"/>
            </a:solidFill>
          </a:ln>
        </p:spPr>
      </p:cxnSp>
      <p:sp>
        <p:nvSpPr>
          <p:cNvPr id="29" name="TextBox 28"/>
          <p:cNvSpPr txBox="1"/>
          <p:nvPr/>
        </p:nvSpPr>
        <p:spPr>
          <a:xfrm>
            <a:off x="5852160" y="509320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0.00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355080" y="4190999"/>
            <a:ext cx="52852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1" name="TextBox 30"/>
          <p:cNvSpPr txBox="1"/>
          <p:nvPr/>
        </p:nvSpPr>
        <p:spPr>
          <a:xfrm>
            <a:off x="5852160" y="4026408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0.25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355080" y="3124200"/>
            <a:ext cx="52852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3" name="TextBox 32"/>
          <p:cNvSpPr txBox="1"/>
          <p:nvPr/>
        </p:nvSpPr>
        <p:spPr>
          <a:xfrm>
            <a:off x="5852160" y="2959607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0.50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355080" y="2057400"/>
            <a:ext cx="528523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5" name="TextBox 34"/>
          <p:cNvSpPr txBox="1"/>
          <p:nvPr/>
        </p:nvSpPr>
        <p:spPr>
          <a:xfrm>
            <a:off x="5852160" y="1892807"/>
            <a:ext cx="43891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8A919C"/>
                </a:solidFill>
                <a:latin typeface="Source Sans 3"/>
              </a:rPr>
              <a:t>0.75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601968" y="3768547"/>
            <a:ext cx="283143" cy="1489252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930831" y="2390241"/>
            <a:ext cx="283143" cy="286755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40" y="2006193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+0.32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46520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Chart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459980" y="2966313"/>
            <a:ext cx="283143" cy="2291486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788843" y="2684678"/>
            <a:ext cx="283143" cy="2573121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350252" y="2300630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+0.07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304532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Math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317991" y="3137001"/>
            <a:ext cx="283143" cy="2120798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646855" y="2927908"/>
            <a:ext cx="283143" cy="2329891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08264" y="2543860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+0.05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162543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Lang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176004" y="4097121"/>
            <a:ext cx="283143" cy="1160678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9504867" y="3128467"/>
            <a:ext cx="283143" cy="2129332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6276" y="2744419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+0.23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20556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Mockito</a:t>
            </a:r>
          </a:p>
        </p:txBody>
      </p:sp>
      <p:sp>
        <p:nvSpPr>
          <p:cNvPr id="52" name="Rectangle 51"/>
          <p:cNvSpPr/>
          <p:nvPr/>
        </p:nvSpPr>
        <p:spPr>
          <a:xfrm>
            <a:off x="10034016" y="4353153"/>
            <a:ext cx="283143" cy="904646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0362879" y="3209544"/>
            <a:ext cx="283143" cy="2048255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924288" y="2825496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+0.27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9878568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Time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10892028" y="4003243"/>
            <a:ext cx="283143" cy="1254556"/>
          </a:xfrm>
          <a:prstGeom prst="rect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1220891" y="3725875"/>
            <a:ext cx="283143" cy="153192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782300" y="3341827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2F7D4F"/>
                </a:solidFill>
                <a:latin typeface="Source Sans 3"/>
              </a:rPr>
              <a:t>+0.07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736580" y="5312664"/>
            <a:ext cx="858012" cy="347472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C2128"/>
                </a:solidFill>
                <a:latin typeface="Source Sans 3"/>
              </a:rPr>
              <a:t>Closure</a:t>
            </a:r>
          </a:p>
        </p:txBody>
      </p:sp>
      <p:sp>
        <p:nvSpPr>
          <p:cNvPr id="60" name="Oval 59"/>
          <p:cNvSpPr/>
          <p:nvPr/>
        </p:nvSpPr>
        <p:spPr>
          <a:xfrm>
            <a:off x="7223760" y="5797296"/>
            <a:ext cx="182880" cy="182880"/>
          </a:xfrm>
          <a:prstGeom prst="ellipse">
            <a:avLst/>
          </a:prstGeom>
          <a:solidFill>
            <a:srgbClr val="B3B9C3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479792" y="5715000"/>
            <a:ext cx="105156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few-shot</a:t>
            </a:r>
          </a:p>
        </p:txBody>
      </p:sp>
      <p:sp>
        <p:nvSpPr>
          <p:cNvPr id="62" name="Oval 61"/>
          <p:cNvSpPr/>
          <p:nvPr/>
        </p:nvSpPr>
        <p:spPr>
          <a:xfrm>
            <a:off x="8595360" y="5797296"/>
            <a:ext cx="182880" cy="182880"/>
          </a:xfrm>
          <a:prstGeom prst="ellipse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851392" y="5715000"/>
            <a:ext cx="1234440" cy="347472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5A6270"/>
                </a:solidFill>
                <a:latin typeface="Source Sans 3"/>
              </a:rPr>
              <a:t>scientific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Qualitative Analysis of Thirteen Bugs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22 / 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1280160"/>
            <a:ext cx="5394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FAILURE MODES WE FOUND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1719072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1719072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Symptom-site bias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23360" y="1719072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Chart_17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2103120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label follows where the exception surfaced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48640" y="2743200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2743200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Bug-report anchoring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023360" y="2743200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Math_90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127248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a fix suggested in the report becomes the label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3767328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767328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Surface syntax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023360" y="3767328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Math_23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151376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the post-fix label follows the patch shape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791456"/>
            <a:ext cx="54864" cy="841248"/>
          </a:xfrm>
          <a:prstGeom prst="rect">
            <a:avLst/>
          </a:prstGeom>
          <a:solidFill>
            <a:srgbClr val="A23B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791456"/>
            <a:ext cx="329184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C2128"/>
                </a:solidFill>
                <a:latin typeface="Source Sans 3"/>
              </a:rPr>
              <a:t>Underdetermined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023360" y="4791456"/>
            <a:ext cx="1600200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2284C"/>
                </a:solidFill>
                <a:latin typeface="Source Code Pro"/>
              </a:rPr>
              <a:t>Lang_20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7240" y="5175504"/>
            <a:ext cx="4846320" cy="411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two valid fixes imply two ODC types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55080" y="1280160"/>
            <a:ext cx="52852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WHERE THE DEVELOPER HAD A CHOICE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80" y="1719072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537960" y="1755648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Math_90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55279" y="1737360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a Comparable check (CHK)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2139696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a typed overload (INT)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355080" y="2743200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37960" y="2779776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Math_17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955279" y="2761488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a range check (CHK)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955279" y="3163824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both: check + fallback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355080" y="3767328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537960" y="3803904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Time_3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79" y="3785615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better arithmetic (ALG)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55279" y="4187952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amount != 0 guards (CHK)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355080" y="4791456"/>
            <a:ext cx="5285232" cy="841248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537960" y="4828032"/>
            <a:ext cx="137160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12284C"/>
                </a:solidFill>
                <a:latin typeface="Source Code Pro"/>
              </a:rPr>
              <a:t>Lang_20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55279" y="4809744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could have been  </a:t>
            </a:r>
            <a:r>
              <a:rPr sz="1500" b="0" i="0">
                <a:solidFill>
                  <a:srgbClr val="5A6270"/>
                </a:solidFill>
                <a:latin typeface="Source Sans 3"/>
              </a:rPr>
              <a:t>a null check (CHK)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55279" y="5212080"/>
            <a:ext cx="3502152" cy="384048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developer chose  </a:t>
            </a:r>
            <a:r>
              <a:rPr sz="1500" b="1" i="0">
                <a:solidFill>
                  <a:srgbClr val="1C2128"/>
                </a:solidFill>
                <a:latin typeface="Source Sans 3"/>
              </a:rPr>
              <a:t>a new capacity (ASN)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48640" y="5852160"/>
            <a:ext cx="64008" cy="457200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" y="5852160"/>
            <a:ext cx="10881360" cy="45720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It records the repair chosen — for </a:t>
            </a:r>
            <a:r>
              <a:rPr sz="1800" b="1" i="0">
                <a:solidFill>
                  <a:srgbClr val="12284C"/>
                </a:solidFill>
                <a:latin typeface="Source Sans 3"/>
              </a:rPr>
              <a:t>77%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 of changed labels that type is already a recorded alternative.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Threats to Validity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23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417320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17320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Internal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1325880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non-deterministic output; evidence sanitized against fix leakage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48640" y="2231136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18" name="Rectangle 17"/>
          <p:cNvSpPr/>
          <p:nvPr/>
        </p:nvSpPr>
        <p:spPr>
          <a:xfrm>
            <a:off x="548640" y="2368296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2368296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Construct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0" y="2276856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agreement is a proxy; the modified class is absent for 285 of 410 bugs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548640" y="318211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2" name="Rectangle 21"/>
          <p:cNvSpPr/>
          <p:nvPr/>
        </p:nvSpPr>
        <p:spPr>
          <a:xfrm>
            <a:off x="548640" y="3319272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3319272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External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17520" y="3227832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6 of 17 projects; corpus results from one model; Java only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48640" y="4133088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26" name="Rectangle 25"/>
          <p:cNvSpPr/>
          <p:nvPr/>
        </p:nvSpPr>
        <p:spPr>
          <a:xfrm>
            <a:off x="548640" y="4270248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270248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Conclusion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017520" y="4178808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one run per condition; resampled values are estimates; a single rater for 13 bugs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548640" y="5084064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0" name="Rectangle 29"/>
          <p:cNvSpPr/>
          <p:nvPr/>
        </p:nvSpPr>
        <p:spPr>
          <a:xfrm>
            <a:off x="548640" y="5221224"/>
            <a:ext cx="2240280" cy="694944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221224"/>
            <a:ext cx="2240280" cy="694944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12284C"/>
                </a:solidFill>
                <a:latin typeface="Source Sans 3"/>
              </a:rPr>
              <a:t>Other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5129784"/>
            <a:ext cx="8622792" cy="86868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800" b="0" i="0">
                <a:solidFill>
                  <a:srgbClr val="1C2128"/>
                </a:solidFill>
                <a:latin typeface="Source Sans 3"/>
              </a:rPr>
              <a:t>possible pre-training exposure; confidence fields are not a usable signal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548640" y="603504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34" name="TextBox 33"/>
          <p:cNvSpPr txBox="1"/>
          <p:nvPr/>
        </p:nvSpPr>
        <p:spPr>
          <a:xfrm>
            <a:off x="548640" y="5989320"/>
            <a:ext cx="11091672" cy="36576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270"/>
                </a:solidFill>
                <a:latin typeface="Source Sans 3"/>
              </a:rPr>
              <a:t>Each threat is stated in the book together with the mitigation applied.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Conclusion and Future Work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7" name="Connector 6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8" name="TextBox 7"/>
          <p:cNvSpPr txBox="1"/>
          <p:nvPr/>
        </p:nvSpPr>
        <p:spPr>
          <a:xfrm>
            <a:off x="548640" y="6437376"/>
            <a:ext cx="3931920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ODC on Defects4J  ·  Thesis Defence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55564" y="6437376"/>
            <a:ext cx="1239012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8A919C"/>
                </a:solidFill>
                <a:latin typeface="Source Sans 3"/>
              </a:rPr>
              <a:t>Methodology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23176" y="6437376"/>
            <a:ext cx="854964" cy="36576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2284C"/>
                </a:solidFill>
                <a:latin typeface="Source Sans 3"/>
              </a:rPr>
              <a:t>Results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14616" y="6757416"/>
            <a:ext cx="672084" cy="32004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24 / 24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97.8%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three types (RQ1)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38328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38328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0 of 1,640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“Other” (RQ2)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1792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70.2%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pre-fix match (RQ3)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52560" y="1280160"/>
            <a:ext cx="2651760" cy="6400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52560" y="1444752"/>
            <a:ext cx="2651760" cy="731520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600" b="1" i="0">
                <a:solidFill>
                  <a:srgbClr val="12284C"/>
                </a:solidFill>
                <a:latin typeface="Source Sans 3"/>
              </a:rPr>
              <a:t>+0.115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176272"/>
            <a:ext cx="2651760" cy="384048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0">
                <a:solidFill>
                  <a:srgbClr val="5A6270"/>
                </a:solidFill>
                <a:latin typeface="Source Sans 3"/>
              </a:rPr>
              <a:t>Δκ from the loop (RQ4)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2834640"/>
            <a:ext cx="5394960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CONTRIBUTIONS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200400"/>
            <a:ext cx="5394960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A taxonomy × strategy condition space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Open ODC with a justified “Other”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An enforced loop with auditable transcripts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Evaluation without ground truth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410 bugs, analysed with two LLMs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55080" y="2834640"/>
            <a:ext cx="5285232" cy="329184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270"/>
                </a:solidFill>
                <a:latin typeface="Source Sans 3"/>
              </a:rPr>
              <a:t>FUTURE WORK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55080" y="3200400"/>
            <a:ext cx="5285232" cy="2743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Human reference labels for a sample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Grade the reasoning, not only the label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Full corpus, more models, consensus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Impact, Trigger and Age attributes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</a:pPr>
            <a:r>
              <a:rPr sz="1400" b="0" i="0">
                <a:solidFill>
                  <a:srgbClr val="12284C"/>
                </a:solidFill>
                <a:latin typeface="Source Sans 3"/>
              </a:rPr>
              <a:t>▪  </a:t>
            </a:r>
            <a:r>
              <a:rPr sz="1800" b="0" i="0">
                <a:solidFill>
                  <a:srgbClr val="1C2128"/>
                </a:solidFill>
                <a:latin typeface="Source Sans 3"/>
              </a:rPr>
              <a:t>Other benchmarks and languages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References (1/3)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983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[1] G. Catolino et al., “Not All Bugs Are the Same: Understanding, Characterizing, and Classifying Bug Types,” Journal of Systems and Software, vol. 152, 2019.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[2] T. Hirsch and B. Hofer, “Using Textual Bug Reports to Predict the Fault Category of Software Bugs,” Array, vol. 15, 2022.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[3] R. Andrade et al., “An Empirical Study on the Classification of Bug Reports with Machine Learning,” arXiv preprint,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[4] R. Chillarege et al., “Orthogonal Defect Classification – A Concept for In-Process Measurements,” IEEE Transactions on Software Engineering, vol. 18, no. 11, 1992.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[5] R. Just, D. Jalali, and M. D. Ernst, “Defects4J: A Database of Existing Faults to Enable Controlled Testing Studies for Java Programs,” Proc. International Symposium on Software Testing and Analysis (ISSTA), 2014.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[6] M. N. Rafi et al., “Revisiting Defects4J for Fault Localization in Diverse Development Scenarios,” IEEE/ACM 22nd International Conference on Mining Software Repositories (MSR),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[7] M. Martinez et al., “Automatic Repair of Real Bugs in Java: A Large-Scale Experiment on the Defects4J Dataset,” Empirical Software Engineering, vol. 22, no. 4, 2017.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[8] A. Van der Spuy and B. Fischer, “An Anatomy of 488 Faults from Defects4J Based on the Control- and Data-Flow Graph Representations of Programs,” Proc. 29th International Conference on Evaluation and Assessment in Software Engineering (EASE),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[9] V. Sobreira et al., “Dissection of a Bug Dataset: Anatomy of 395 Patches from Defects4J,” IEEE International Conference on Software Analysis, Evolution and Reengineering (SANER), 2018.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[10] J. Jiang, Y. Xiong, and X. Xia, “A Manual Inspection of Defects4J Bugs and Its Implications for Automatic Program Repair,” Science China Information Sciences, vol. 62, no. 10, 2019.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References (2/3)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983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[11] G. Colavito et al., “Large Language Models for Issue Report Classification,” Ital-IA 2024 Thematic Workshops, CEUR Workshop Proceedings, vol. 3762,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[12] A. Koyuncu, “Exploring Fine-Grained Bug Report Categorization with Large Language Models and Prompt Engineering: An Empirical Study,” ACM Transactions on Software Engineering and Methodology, vol. 35, no. 3, 2026.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[13] Y. Nong et al., “Chain-of-Thought Prompting of Large Language Models for Discovering and Fixing Software Vulnerabilities,” arXiv preprint,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[14] C. Li et al., “KnowBug: Enhancing Large Language Models with Bug Report Knowledge for Deep Learning Framework Bug Prediction,” Knowledge-Based Systems, vol. 305,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[15] IBM, “Orthogonal Defect Classification v5.2 for Software Design and Code,” IBM Research, 2013.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[16] X. Du et al., “LLM-BRC: A Large Language Model-Based Bug Report Classification Framework,” Software Quality Journal, vol. 32, no. 3,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[17] S. Kang et al., “Explainable Automated Debugging via Large Language Model-driven Scientific Debugging,” Empirical Software Engineering, vol. 30, no. 2, 2025.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[18] S. Kang, G. An, and S. Yoo, “A Quantitative and Qualitative Evaluation of LLM-Based Explainable Fault Localization,” Proc. ACM on Software Engineering, vol. 1, no. FSE,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[19] L. Huang et al., “AutoODC: Automated Generation of Orthogonal Defect Classifications,” Automated Software Engineering, vol. 22, no. 1, 2015.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74320"/>
            <a:ext cx="10332720" cy="731520"/>
          </a:xfrm>
          <a:prstGeom prst="rect">
            <a:avLst/>
          </a:prstGeom>
          <a:noFill/>
        </p:spPr>
        <p:txBody>
          <a:bodyPr wrap="square" lIns="27432" rIns="27432" tIns="27432" bIns="27432" anchor="b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2284C"/>
                </a:solidFill>
                <a:latin typeface="Source Sans 3"/>
              </a:rPr>
              <a:t>References (3/3)</a:t>
            </a:r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28832" y="292608"/>
            <a:ext cx="43347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548640" y="1078992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6" name="Rectangle 5"/>
          <p:cNvSpPr/>
          <p:nvPr/>
        </p:nvSpPr>
        <p:spPr>
          <a:xfrm>
            <a:off x="548640" y="1060704"/>
            <a:ext cx="914400" cy="4114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298448"/>
            <a:ext cx="11091672" cy="498348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[20] F. Thung, D. Lo, and L. Jiang, “Automatic Defect Categorization,” Proc. 19th Working Conference on Reverse Engineering (WCRE), 2012.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[21] A. M. Esfahani, N. Kahani, and S. A. Ajila, “Understanding Defects in Generated Codes by Language Models,” 34th International Conference on Collaborative Advances in Software and Computing (CASCON), 2024.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[22] K. Henningsson and C. Wohlin, “Assuring Fault Classification Agreement – An Empirical Evaluation,” Proc. 2004 International Symposium on Empirical Software Engineering (ISESE), 2004.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[23] J. Hernández-González et al., “Learning to Classify Software Defects from Crowds: A Novel Approach,” Applied Soft Computing, vol. 62, 2018.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[24] K. El Emam and I. Wieczorek, “The Repeatability of Code Defect Classifications,” Proc. Ninth International Symposium on Software Reliability Engineering (ISSRE), 1998.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[25] A. Rahman and E. Farhana, “An Exploratory Characterization of Bugs in COVID-19 Software Projects,” arXiv preprint, 2020.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[26] J. Agnelo, N. Laranjeiro, and J. Bernardino, “Using Orthogonal Defect Classification to Characterize NoSQL Database Defects,” Journal of Systems and Software, vol. 159, 2020.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[27] J. R. Landis and G. G. Koch, “The Measurement of Observer Agreement for Categorical Data,” Biometrics, vol. 33, no. 1, 1977.</a:t>
            </a:r>
          </a:p>
          <a:p>
            <a:pPr algn="l">
              <a:lnSpc>
                <a:spcPct val="104000"/>
              </a:lnSpc>
              <a:spcAft>
                <a:spcPts val="900"/>
              </a:spcAft>
            </a:pPr>
            <a:r>
              <a:rPr sz="1400" b="0" i="0">
                <a:solidFill>
                  <a:srgbClr val="1C2128"/>
                </a:solidFill>
                <a:latin typeface="Source Sans 3"/>
              </a:rPr>
              <a:t>[28] S. Baltes et al., “Guidelines for Empirical Studies in Software Engineering involving Large Language Models,” Empirical Software Engineering, 2026.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48640" y="6400800"/>
            <a:ext cx="11091672" cy="0"/>
          </a:xfrm>
          <a:prstGeom prst="line">
            <a:avLst/>
          </a:prstGeom>
          <a:ln w="9525">
            <a:solidFill>
              <a:srgbClr val="D5D9DF"/>
            </a:solidFill>
          </a:ln>
        </p:spPr>
      </p:cxnSp>
      <p:sp>
        <p:nvSpPr>
          <p:cNvPr id="9" name="TextBox 8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pic>
        <p:nvPicPr>
          <p:cNvPr id="4" name="Picture 3" descr="iu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737360"/>
            <a:ext cx="1278189" cy="2103120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2377440" y="1828800"/>
            <a:ext cx="0" cy="1920239"/>
          </a:xfrm>
          <a:prstGeom prst="line">
            <a:avLst/>
          </a:prstGeom>
          <a:ln w="12700">
            <a:solidFill>
              <a:srgbClr val="D5D9DF"/>
            </a:solidFill>
          </a:ln>
        </p:spPr>
      </p:cxnSp>
      <p:sp>
        <p:nvSpPr>
          <p:cNvPr id="6" name="TextBox 5"/>
          <p:cNvSpPr txBox="1"/>
          <p:nvPr/>
        </p:nvSpPr>
        <p:spPr>
          <a:xfrm>
            <a:off x="2697480" y="1783080"/>
            <a:ext cx="8686800" cy="9144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12284C"/>
                </a:solidFill>
                <a:latin typeface="Source Sans 3"/>
              </a:rPr>
              <a:t>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2697480"/>
            <a:ext cx="8686800" cy="54864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600" b="0" i="0">
                <a:solidFill>
                  <a:srgbClr val="1C2128"/>
                </a:solidFill>
                <a:latin typeface="Source Sans 3"/>
              </a:rPr>
              <a:t>Questions and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697480" y="3337560"/>
            <a:ext cx="8686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5A6270"/>
                </a:solidFill>
                <a:latin typeface="Source Sans 3"/>
              </a:rPr>
              <a:t>Orthogonal Defect Classification on Defects4J Using an LLM-Driven Scientific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4297680"/>
            <a:ext cx="8686800" cy="457200"/>
          </a:xfrm>
          <a:prstGeom prst="rect">
            <a:avLst/>
          </a:prstGeom>
          <a:noFill/>
        </p:spPr>
        <p:txBody>
          <a:bodyPr wrap="square" lIns="27432" rIns="27432" tIns="27432" bIns="27432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0">
                <a:solidFill>
                  <a:srgbClr val="1C2128"/>
                </a:solidFill>
                <a:latin typeface="Source Sans 3"/>
              </a:rPr>
              <a:t>Md. Sakib Hossain  ·  Mohammad Nahiyan Kabir  ·  Hasin Mahtab Alvee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12284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966960" y="6419088"/>
            <a:ext cx="1673352" cy="402336"/>
          </a:xfrm>
          <a:prstGeom prst="rect">
            <a:avLst/>
          </a:prstGeom>
          <a:noFill/>
        </p:spPr>
        <p:txBody>
          <a:bodyPr wrap="square" lIns="27432" rIns="27432" tIns="27432" bIns="27432" anchor="ctr">
            <a:no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12284C"/>
                </a:solidFill>
                <a:latin typeface="Source Sans 3"/>
              </a:rPr>
              <a:t>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