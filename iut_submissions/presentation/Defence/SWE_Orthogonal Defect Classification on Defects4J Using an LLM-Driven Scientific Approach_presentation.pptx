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750241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658368"/>
            <a:ext cx="6400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Islamic University of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024128"/>
            <a:ext cx="6400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Department of Computer Science and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9692640" cy="1554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Orthogonal Defect Classification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on Defects4J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969264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C2128"/>
                </a:solidFill>
                <a:latin typeface="Source Sans 3"/>
              </a:rPr>
              <a:t>Using an LLM-Driven Scientific 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343400"/>
            <a:ext cx="2377440" cy="0"/>
          </a:xfrm>
          <a:prstGeom prst="line">
            <a:avLst/>
          </a:prstGeom>
          <a:ln w="19050">
            <a:solidFill>
              <a:srgbClr val="12284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31520" y="4453128"/>
            <a:ext cx="76809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Thesis Defence  ·  B.Sc. in Computer Science and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Presented by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Md. Sakib Hossain  (210042133)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Mohammad Nahiyan Kabir  (210042168)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Hasin Mahtab Alvee  (210042174)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Lutfun Nahar Lota, Assistant Professor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Co-supervisor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Ishmam Tashdeed, Lecturer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Motivation: Classifying Defects in Defects4J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836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reproducible real bugs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Java projects [5]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2514600"/>
            <a:ext cx="521208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48640" y="2651760"/>
            <a:ext cx="5486400" cy="2651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A standard benchmark for debugging research [6, 7]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Defect types need different debugging strategies [1]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Manual triage is accurate, but does not scale [3]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LLMs can read all this evidence —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but should they answer at once, or investigate?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25880"/>
            <a:ext cx="53309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EVERY DEFECTS4J BUG SHIPS WITH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719072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719072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719072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Bug 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32304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432304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432304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Failing tests + stack traces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45536"/>
            <a:ext cx="5330952" cy="603504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45536"/>
            <a:ext cx="64008" cy="603504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145536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Buggy source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858768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858768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58768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Fixed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572000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4572000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572000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 diff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440680"/>
            <a:ext cx="64008" cy="6400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440680"/>
            <a:ext cx="1088136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Every bug ships with its fix, so one bug can be classified </a:t>
            </a:r>
            <a:r>
              <a:rPr sz="1800" b="1" i="0">
                <a:solidFill>
                  <a:srgbClr val="A23B3B"/>
                </a:solidFill>
                <a:latin typeface="Source Sans 3"/>
              </a:rPr>
              <a:t>before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and </a:t>
            </a:r>
            <a:r>
              <a:rPr sz="1800" b="1" i="0">
                <a:solidFill>
                  <a:srgbClr val="2F7D4F"/>
                </a:solidFill>
                <a:latin typeface="Source Sans 3"/>
              </a:rPr>
              <a:t>after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Orthogonal Defect Classification (ODC)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ODC [4, 15] describes a defect when it is found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opener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 and when it is fixed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closer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). We classify one closer attribute: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ource Sans 3"/>
              </a:rPr>
              <a:t>Defect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783080"/>
            <a:ext cx="365760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nature of the correction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03520" y="2331720"/>
            <a:ext cx="0" cy="27432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406140" y="2606040"/>
            <a:ext cx="5660136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406140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21" name="Rectangle 20"/>
          <p:cNvSpPr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Control and Data Flow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21867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4" name="Rectangle 23"/>
          <p:cNvSpPr/>
          <p:nvPr/>
        </p:nvSpPr>
        <p:spPr>
          <a:xfrm>
            <a:off x="548640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10712"/>
            <a:ext cx="1346454" cy="6400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or wrong condition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8049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2004822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04822" y="3410712"/>
            <a:ext cx="1346454" cy="6400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9686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Algorithm/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77974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computation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34230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3461003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61003" y="3410712"/>
            <a:ext cx="1346454" cy="6400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5868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Assignment/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Initialization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4156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value or initialization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90413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4917186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17186" y="3410712"/>
            <a:ext cx="1346454" cy="64008"/>
          </a:xfrm>
          <a:prstGeom prst="rect">
            <a:avLst/>
          </a:prstGeom>
          <a:solidFill>
            <a:srgbClr val="8A91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2049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Timing/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Serialization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0338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ordering or concurrency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066276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Structural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136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7" name="Rectangle 46"/>
          <p:cNvSpPr/>
          <p:nvPr/>
        </p:nvSpPr>
        <p:spPr>
          <a:xfrm>
            <a:off x="64922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92240" y="3410712"/>
            <a:ext cx="1642872" cy="6400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47103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Function/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Class/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Object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653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capability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662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2" name="Rectangle 51"/>
          <p:cNvSpPr/>
          <p:nvPr/>
        </p:nvSpPr>
        <p:spPr>
          <a:xfrm>
            <a:off x="8244839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44839" y="3410712"/>
            <a:ext cx="1642872" cy="6400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997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Interface/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O-O Messages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7991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interaction across a boundary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8188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7" name="Rectangle 56"/>
          <p:cNvSpPr/>
          <p:nvPr/>
        </p:nvSpPr>
        <p:spPr>
          <a:xfrm>
            <a:off x="99974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997440" y="3410712"/>
            <a:ext cx="1642872" cy="6400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23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Relationship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705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broken association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+ Other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 —  escape category added in this study, allowed only with a written justification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Related Work and the Research Gap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PRIOR WORK ON DEFECTS4J ACTUALLY LABELS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880360"/>
            <a:ext cx="1005840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153619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how a bug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manifests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Van der Spuy &amp;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Fischer 2025 [8]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488 faults</a:t>
            </a:r>
          </a:p>
        </p:txBody>
      </p:sp>
      <p:sp>
        <p:nvSpPr>
          <p:cNvPr id="20" name="Oval 19"/>
          <p:cNvSpPr/>
          <p:nvPr/>
        </p:nvSpPr>
        <p:spPr>
          <a:xfrm>
            <a:off x="4453128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3864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what the patch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Sobreira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2018 [9]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395 patches</a:t>
            </a:r>
          </a:p>
        </p:txBody>
      </p:sp>
      <p:sp>
        <p:nvSpPr>
          <p:cNvPr id="24" name="Oval 23"/>
          <p:cNvSpPr/>
          <p:nvPr/>
        </p:nvSpPr>
        <p:spPr>
          <a:xfrm>
            <a:off x="706831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904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one-off manual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inspection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04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Jiang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2019 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50 bugs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1554480"/>
            <a:ext cx="2011679" cy="246888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1645919"/>
            <a:ext cx="2011679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semantic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defect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108960"/>
            <a:ext cx="2011679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not labelled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at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06240"/>
            <a:ext cx="3566160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2F5D9B"/>
                </a:solidFill>
                <a:latin typeface="Source Sans 3"/>
              </a:rPr>
              <a:t>LLM classifiers [11–14, 16]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read report text only; without a fixed taxonomy, labels drift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79" y="4206240"/>
            <a:ext cx="3566160" cy="54864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2B7F72"/>
                </a:solidFill>
                <a:latin typeface="Source Sans 3"/>
              </a:rPr>
              <a:t>ODC studies [19–21]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classify other corpora, never Defects4J at scale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9" y="4206240"/>
            <a:ext cx="3566160" cy="54864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19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5B4B9A"/>
                </a:solidFill>
                <a:latin typeface="Source Sans 3"/>
              </a:rPr>
              <a:t>Scientific debugging [17, 18]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hypothesis → experiment loops, used to find faults, not to type them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468112"/>
            <a:ext cx="64008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468112"/>
            <a:ext cx="1088136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Gap: no semantic defect types for Defects4J, no way to evaluate them, and no test of whether investigating helps.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Problem Statement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5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325880"/>
            <a:ext cx="64008" cy="1097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280160"/>
            <a:ext cx="10698480" cy="11887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C2128"/>
                </a:solidFill>
                <a:latin typeface="Source Sans 3"/>
              </a:rPr>
              <a:t>Classify Defects4J bugs into ODC defect types </a:t>
            </a:r>
            <a:r>
              <a:rPr sz="2400" b="1" i="0">
                <a:solidFill>
                  <a:srgbClr val="12284C"/>
                </a:solidFill>
                <a:latin typeface="Source Sans 3"/>
              </a:rPr>
              <a:t>from pre-fix evidence alone</a:t>
            </a:r>
            <a:r>
              <a:rPr sz="2400" b="0" i="0">
                <a:solidFill>
                  <a:srgbClr val="1C2128"/>
                </a:solidFill>
                <a:latin typeface="Source Sans 3"/>
              </a:rPr>
              <a:t> — and evaluate that classification </a:t>
            </a:r>
            <a:r>
              <a:rPr sz="2400" b="1" i="0">
                <a:solidFill>
                  <a:srgbClr val="12284C"/>
                </a:solidFill>
                <a:latin typeface="Source Sans 3"/>
              </a:rPr>
              <a:t>without ground-truth labels.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 SOLUTION HAS TO BE …   →   HOW WE MEET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72384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Context-aware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code, tests, traces,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01752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50208" y="3236976"/>
            <a:ext cx="1874519" cy="47548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0208" y="323697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one case file per bug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01752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072384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Semantic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47472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mechanism, not syntax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01752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236976"/>
            <a:ext cx="1874519" cy="47548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9488" y="323697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ODC defect type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069079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12394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Taxonomy-constrained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79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a fixed, comparable label space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069079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0208" y="428853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0208" y="428853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7 ODC types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069079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12394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Open to its own limits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526279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can say a bug does not fit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4069079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19488" y="428853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19488" y="428853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“Other” + justification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2064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17550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Scalable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57784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no manual labelling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512064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50208" y="534009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50208" y="534009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LLM strategies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12064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517550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Evaluable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57784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brings its own reference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512064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19488" y="5340096"/>
            <a:ext cx="1874519" cy="47548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19488" y="534009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post-fix reference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Core Idea: One Bug, Two Classifications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6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58978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CHART_9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45920"/>
            <a:ext cx="5897880" cy="402336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45920"/>
            <a:ext cx="56235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Code Pro"/>
              </a:rPr>
              <a:t>org.jfree.data.time.TimeSeries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48256"/>
            <a:ext cx="5897880" cy="18836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121408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endIndex = endIndex - 1;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68880"/>
            <a:ext cx="5897880" cy="347472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68880"/>
            <a:ext cx="45720" cy="347472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468880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A23B3B"/>
                </a:solidFill>
                <a:latin typeface="Source Code Pro"/>
              </a:rPr>
              <a:t>- if (endIndex &lt; 0) {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16352"/>
            <a:ext cx="5897880" cy="347472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816352"/>
            <a:ext cx="45720" cy="347472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16352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F7D4F"/>
                </a:solidFill>
                <a:latin typeface="Source Code Pro"/>
              </a:rPr>
              <a:t>+ if ((endIndex &lt; 0) || (endIndex &lt; startIndex)) {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163824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emptyRange = true;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511296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23360"/>
            <a:ext cx="5897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The fix widens a guard to catch an empty range.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1280160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1280160"/>
            <a:ext cx="64008" cy="137160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135331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23B3B"/>
                </a:solidFill>
                <a:latin typeface="Source Sans 3"/>
              </a:rPr>
              <a:t>Pre-fix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176479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report · tests · trace ·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17627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Triage: no fix exists yet.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834639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6560" y="2834639"/>
            <a:ext cx="64008" cy="137160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2907791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F7D4F"/>
                </a:solidFill>
                <a:latin typeface="Source Sans 3"/>
              </a:rPr>
              <a:t>Post-fix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31927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the same evidence + the fix diff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373075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Informed by the correction.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52628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HAS NO ODC LABELS, SO WE DEFINE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54864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Post-fix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the reference answer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34340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434340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Pre-fix vs post-fix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does the triage label hold?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3816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813816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Labels differ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drift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Agreement is not correctness: we measure how closely a pre-fix label reproduces a better-informed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Research Questions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7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389888"/>
            <a:ext cx="1143000" cy="73152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389888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371600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773936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Which ODC types dominate, and does the mix differ by project?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389888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p. 16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24028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548640" y="2377440"/>
            <a:ext cx="1143000" cy="73152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377440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359152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2761488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Do the seven types cover every bug, or is “Other” needed?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377440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p. 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322783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548640" y="3364992"/>
            <a:ext cx="1143000" cy="7315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64992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346704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Accuracy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749039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How often does the pre-fix label match the post-fix reference?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3364992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B7791F"/>
                </a:solidFill>
                <a:latin typeface="Source Sans 3"/>
              </a:rPr>
              <a:t>pp. 17–18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4215384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548640" y="4352544"/>
            <a:ext cx="1143000" cy="731520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352544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RQ4a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4334256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Taxonomy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736592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What does the ODC taxonomy add over the model’s own words?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4352544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p. 19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5202936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8" name="Rectangle 37"/>
          <p:cNvSpPr/>
          <p:nvPr/>
        </p:nvSpPr>
        <p:spPr>
          <a:xfrm>
            <a:off x="548640" y="5340096"/>
            <a:ext cx="1143000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340096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RQ4b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321808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Scientific 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5724144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What does the scientific strategy add over a strong few-shot prompt?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5340096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pp. 20–22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Pipeline Overview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8 /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234440"/>
            <a:ext cx="3154680" cy="384048"/>
          </a:xfrm>
          <a:prstGeom prst="roundRect">
            <a:avLst>
              <a:gd name="adj" fmla="val 12000"/>
            </a:avLst>
          </a:prstGeom>
          <a:solidFill>
            <a:srgbClr val="2F5D9B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234440"/>
            <a:ext cx="3154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  Preprocessing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1234440"/>
            <a:ext cx="4617720" cy="384048"/>
          </a:xfrm>
          <a:prstGeom prst="roundRect">
            <a:avLst>
              <a:gd name="adj" fmla="val 12000"/>
            </a:avLst>
          </a:prstGeom>
          <a:solidFill>
            <a:srgbClr val="5B4B9A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234440"/>
            <a:ext cx="46177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2  Classification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234440"/>
            <a:ext cx="2679192" cy="384048"/>
          </a:xfrm>
          <a:prstGeom prst="roundRect">
            <a:avLst>
              <a:gd name="adj" fmla="val 12000"/>
            </a:avLst>
          </a:prstGeom>
          <a:solidFill>
            <a:srgbClr val="2B7F72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234440"/>
            <a:ext cx="2679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3  Evaluation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783080"/>
            <a:ext cx="3154680" cy="658368"/>
          </a:xfrm>
          <a:prstGeom prst="roundRect">
            <a:avLst>
              <a:gd name="adj" fmla="val 11111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783080"/>
            <a:ext cx="306324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2F5D9B"/>
                </a:solidFill>
                <a:latin typeface="Source Sans 3"/>
              </a:rPr>
              <a:t>Defects4J v3.0.1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17 Java projects  ·  836 bugs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25980" y="2441448"/>
            <a:ext cx="0" cy="182880"/>
          </a:xfrm>
          <a:prstGeom prst="line">
            <a:avLst/>
          </a:prstGeom>
          <a:ln w="19050">
            <a:solidFill>
              <a:srgbClr val="2F5D9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548640" y="2651760"/>
            <a:ext cx="3154680" cy="1755648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697480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Collect, per bug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108960"/>
            <a:ext cx="137160" cy="13716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044952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Bug report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374136"/>
            <a:ext cx="137160" cy="13716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310128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Failing tests + stack traces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639312"/>
            <a:ext cx="137160" cy="13716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575304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Suspicious frames + code snippets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904488"/>
            <a:ext cx="137160" cy="13716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40480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Coverage (optional)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169664"/>
            <a:ext cx="137160" cy="13716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105656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Fix diff: buggy → fixed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25980" y="4407408"/>
            <a:ext cx="0" cy="182880"/>
          </a:xfrm>
          <a:prstGeom prst="line">
            <a:avLst/>
          </a:prstGeom>
          <a:ln w="19050">
            <a:solidFill>
              <a:srgbClr val="2F5D9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548640" y="4617720"/>
            <a:ext cx="315468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663440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Code Pro"/>
              </a:rPr>
              <a:t>context.json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one case file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029200"/>
            <a:ext cx="2880360" cy="347472"/>
          </a:xfrm>
          <a:prstGeom prst="roundRect">
            <a:avLst>
              <a:gd name="adj" fmla="val 12000"/>
            </a:avLst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29200"/>
            <a:ext cx="2788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Pre-fix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symptoms, sanitised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440680"/>
            <a:ext cx="2880360" cy="347472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440680"/>
            <a:ext cx="2788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Post-fix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symptoms + fix diff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24728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modified classes = hidden oracle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703320" y="5394960"/>
            <a:ext cx="301752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4023360" y="178308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9080" y="1783080"/>
            <a:ext cx="214884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LLM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Gemini · gpt-5-mini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178308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1783080"/>
            <a:ext cx="214884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ODC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7 types + “Other”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023360" y="2377440"/>
            <a:ext cx="1417320" cy="3063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87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3360" y="2414016"/>
            <a:ext cx="14173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single call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2743200"/>
            <a:ext cx="123444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2743200"/>
            <a:ext cx="11430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732020" y="3154680"/>
            <a:ext cx="0" cy="10972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53" name="Rounded Rectangle 52"/>
          <p:cNvSpPr/>
          <p:nvPr/>
        </p:nvSpPr>
        <p:spPr>
          <a:xfrm>
            <a:off x="4114800" y="3291840"/>
            <a:ext cx="123444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A919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60520" y="3291840"/>
            <a:ext cx="11430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 i="0">
                <a:solidFill>
                  <a:srgbClr val="8A919C"/>
                </a:solidFill>
                <a:latin typeface="Source Sans 3"/>
              </a:rPr>
              <a:t>zero-shot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own words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23360" y="3794760"/>
            <a:ext cx="141732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A6270"/>
                </a:solidFill>
                <a:latin typeface="Source Sans 3"/>
              </a:rPr>
              <a:t>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0" y="3995928"/>
            <a:ext cx="1234440" cy="50292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3995928"/>
            <a:ext cx="11430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 i="0">
                <a:solidFill>
                  <a:srgbClr val="2F5D9B"/>
                </a:solidFill>
                <a:latin typeface="Source Sans 3"/>
              </a:rPr>
              <a:t>few-shot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+ 5 examples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732020" y="4498848"/>
            <a:ext cx="0" cy="36576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4777740" y="4553712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A6270"/>
                </a:solidFill>
                <a:latin typeface="Source Sans 3"/>
              </a:rPr>
              <a:t>1 call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0" y="4892040"/>
            <a:ext cx="1234440" cy="411480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60520" y="4892040"/>
            <a:ext cx="11430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Label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32120" y="2377440"/>
            <a:ext cx="31089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32120" y="2414016"/>
            <a:ext cx="31089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scientific: enforced loop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41848" y="27432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87568" y="2743200"/>
            <a:ext cx="1600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487668" y="3127248"/>
            <a:ext cx="0" cy="118872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67" name="Rounded Rectangle 66"/>
          <p:cNvSpPr/>
          <p:nvPr/>
        </p:nvSpPr>
        <p:spPr>
          <a:xfrm>
            <a:off x="5641848" y="3273552"/>
            <a:ext cx="1691640" cy="50292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87568" y="3273552"/>
            <a:ext cx="16002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Hypothesis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+ prediction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87668" y="3776472"/>
            <a:ext cx="0" cy="15544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70" name="Rounded Rectangle 69"/>
          <p:cNvSpPr/>
          <p:nvPr/>
        </p:nvSpPr>
        <p:spPr>
          <a:xfrm>
            <a:off x="5641848" y="3959352"/>
            <a:ext cx="1691640" cy="411480"/>
          </a:xfrm>
          <a:prstGeom prst="roundRect">
            <a:avLst>
              <a:gd name="adj" fmla="val 12000"/>
            </a:avLst>
          </a:prstGeom>
          <a:solidFill>
            <a:srgbClr val="FBF1DF"/>
          </a:solidFill>
          <a:ln w="12700">
            <a:solidFill>
              <a:srgbClr val="B7791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87568" y="3959352"/>
            <a:ext cx="1600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Enough evidence?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87668" y="4370832"/>
            <a:ext cx="0" cy="493776"/>
          </a:xfrm>
          <a:prstGeom prst="line">
            <a:avLst/>
          </a:prstGeom>
          <a:ln w="15875">
            <a:solidFill>
              <a:srgbClr val="2F7D4F"/>
            </a:solidFill>
            <a:tailEnd type="triangle" w="med" len="med"/>
          </a:ln>
        </p:spPr>
      </p:cxnSp>
      <p:sp>
        <p:nvSpPr>
          <p:cNvPr id="73" name="TextBox 72"/>
          <p:cNvSpPr txBox="1"/>
          <p:nvPr/>
        </p:nvSpPr>
        <p:spPr>
          <a:xfrm>
            <a:off x="6533388" y="4443984"/>
            <a:ext cx="5486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yes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41848" y="4892040"/>
            <a:ext cx="1691640" cy="411480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87568" y="4892040"/>
            <a:ext cx="1600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Conclude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626096" y="3959352"/>
            <a:ext cx="905255" cy="41148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671816" y="3959352"/>
            <a:ext cx="813815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Sans 3"/>
              </a:rPr>
              <a:t>Probe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333488" y="4165091"/>
            <a:ext cx="292608" cy="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7315200" y="3931920"/>
            <a:ext cx="329184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A6270"/>
                </a:solidFill>
                <a:latin typeface="Source Sans 3"/>
              </a:rPr>
              <a:t>no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8078724" y="3803904"/>
            <a:ext cx="0" cy="15544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1" name="Rounded Rectangle 80"/>
          <p:cNvSpPr/>
          <p:nvPr/>
        </p:nvSpPr>
        <p:spPr>
          <a:xfrm>
            <a:off x="7626096" y="3273552"/>
            <a:ext cx="905255" cy="50292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71816" y="3273552"/>
            <a:ext cx="813815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2F5D9B"/>
                </a:solidFill>
                <a:latin typeface="Source Sans 3"/>
              </a:rPr>
              <a:t>Observe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7333488" y="3525012"/>
            <a:ext cx="292608" cy="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4" name="TextBox 83"/>
          <p:cNvSpPr txBox="1"/>
          <p:nvPr/>
        </p:nvSpPr>
        <p:spPr>
          <a:xfrm>
            <a:off x="7580376" y="4498848"/>
            <a:ext cx="996695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max 6 turns,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then forced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conclusion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732020" y="5303520"/>
            <a:ext cx="0" cy="27432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cxnSp>
        <p:nvCxnSpPr>
          <p:cNvPr id="86" name="Connector 85"/>
          <p:cNvCxnSpPr/>
          <p:nvPr/>
        </p:nvCxnSpPr>
        <p:spPr>
          <a:xfrm>
            <a:off x="6487668" y="5303520"/>
            <a:ext cx="0" cy="27432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7" name="Rounded Rectangle 86"/>
          <p:cNvSpPr/>
          <p:nvPr/>
        </p:nvSpPr>
        <p:spPr>
          <a:xfrm>
            <a:off x="4023360" y="5596128"/>
            <a:ext cx="4617720" cy="621792"/>
          </a:xfrm>
          <a:prstGeom prst="roundRect">
            <a:avLst>
              <a:gd name="adj" fmla="val 11764"/>
            </a:avLst>
          </a:prstGeom>
          <a:solidFill>
            <a:srgbClr val="F4F5F7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069080" y="5596128"/>
            <a:ext cx="4526280" cy="6217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Code Pro"/>
              </a:rPr>
              <a:t>classification.json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ODC label  ·  alternative types  ·  reasoning transcript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641080" y="5907024"/>
            <a:ext cx="155448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cxnSp>
        <p:nvCxnSpPr>
          <p:cNvPr id="90" name="Connector 89"/>
          <p:cNvCxnSpPr/>
          <p:nvPr/>
        </p:nvCxnSpPr>
        <p:spPr>
          <a:xfrm flipV="1">
            <a:off x="8796528" y="2240280"/>
            <a:ext cx="0" cy="3666744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8796528" y="2240280"/>
            <a:ext cx="146304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92" name="Rounded Rectangle 91"/>
          <p:cNvSpPr/>
          <p:nvPr/>
        </p:nvSpPr>
        <p:spPr>
          <a:xfrm>
            <a:off x="8961120" y="1783080"/>
            <a:ext cx="2679192" cy="1024128"/>
          </a:xfrm>
          <a:prstGeom prst="roundRect">
            <a:avLst>
              <a:gd name="adj" fmla="val 7142"/>
            </a:avLst>
          </a:prstGeom>
          <a:solidFill>
            <a:srgbClr val="E0F0ED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61120" y="1801368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Compare labels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52560" y="21031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pre-fix vs post-fix: 4 tiers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52560" y="23317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scientific vs few-shot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52560" y="25603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manual reading: 13 bugs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300716" y="2807208"/>
            <a:ext cx="0" cy="118872"/>
          </a:xfrm>
          <a:prstGeom prst="line">
            <a:avLst/>
          </a:prstGeom>
          <a:ln w="19050">
            <a:solidFill>
              <a:srgbClr val="2B7F72"/>
            </a:solidFill>
            <a:tailEnd type="triangle" w="med" len="med"/>
          </a:ln>
        </p:spPr>
      </p:cxnSp>
      <p:sp>
        <p:nvSpPr>
          <p:cNvPr id="98" name="Rounded Rectangle 97"/>
          <p:cNvSpPr/>
          <p:nvPr/>
        </p:nvSpPr>
        <p:spPr>
          <a:xfrm>
            <a:off x="8961120" y="2944368"/>
            <a:ext cx="2679192" cy="1856231"/>
          </a:xfrm>
          <a:prstGeom prst="roundRect">
            <a:avLst>
              <a:gd name="adj" fmla="val 3940"/>
            </a:avLst>
          </a:prstGeom>
          <a:solidFill>
            <a:srgbClr val="FFFFFF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61120" y="2971800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Research questions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98280" y="3319272"/>
            <a:ext cx="566928" cy="23774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98280" y="3319272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38360" y="3291840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type distribution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3611879"/>
            <a:ext cx="566928" cy="237744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098280" y="3611879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38360" y="3584448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taxonomy coverage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098280" y="3904488"/>
            <a:ext cx="566928" cy="23774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098280" y="3904488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38360" y="3877056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pre-fix accuracy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098280" y="4197096"/>
            <a:ext cx="566928" cy="237744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098280" y="4197096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RQ4a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38360" y="4169664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taxonomy's value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98280" y="4489704"/>
            <a:ext cx="566928" cy="2377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98280" y="4489704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RQ4b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4462272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scientific vs few-shot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0300716" y="4800600"/>
            <a:ext cx="0" cy="137160"/>
          </a:xfrm>
          <a:prstGeom prst="line">
            <a:avLst/>
          </a:prstGeom>
          <a:ln w="19050">
            <a:solidFill>
              <a:srgbClr val="2B7F72"/>
            </a:solidFill>
            <a:tailEnd type="triangle" w="med" len="med"/>
          </a:ln>
        </p:spPr>
      </p:cxnSp>
      <p:sp>
        <p:nvSpPr>
          <p:cNvPr id="116" name="Rounded Rectangle 115"/>
          <p:cNvSpPr/>
          <p:nvPr/>
        </p:nvSpPr>
        <p:spPr>
          <a:xfrm>
            <a:off x="8961120" y="4956048"/>
            <a:ext cx="2679192" cy="1261872"/>
          </a:xfrm>
          <a:prstGeom prst="roundRect">
            <a:avLst>
              <a:gd name="adj" fmla="val 5797"/>
            </a:avLst>
          </a:prstGeom>
          <a:solidFill>
            <a:srgbClr val="F4F5F7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961120" y="4983480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Outputs</a:t>
            </a:r>
          </a:p>
        </p:txBody>
      </p:sp>
      <p:sp>
        <p:nvSpPr>
          <p:cNvPr id="118" name="Oval 117"/>
          <p:cNvSpPr/>
          <p:nvPr/>
        </p:nvSpPr>
        <p:spPr>
          <a:xfrm>
            <a:off x="9144000" y="5404104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308592" y="5303520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ODC labels with transcripts</a:t>
            </a:r>
          </a:p>
        </p:txBody>
      </p:sp>
      <p:sp>
        <p:nvSpPr>
          <p:cNvPr id="120" name="Oval 119"/>
          <p:cNvSpPr/>
          <p:nvPr/>
        </p:nvSpPr>
        <p:spPr>
          <a:xfrm>
            <a:off x="9144000" y="5696712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08592" y="5596128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Statistics and result tables</a:t>
            </a:r>
          </a:p>
        </p:txBody>
      </p:sp>
      <p:sp>
        <p:nvSpPr>
          <p:cNvPr id="122" name="Oval 121"/>
          <p:cNvSpPr/>
          <p:nvPr/>
        </p:nvSpPr>
        <p:spPr>
          <a:xfrm>
            <a:off x="9144000" y="5989320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308592" y="5888736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Code, prompts and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Evidence Collection: One Case File per Bug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9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1508760" cy="2240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645920"/>
            <a:ext cx="1508760" cy="2240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ource Sans 3"/>
              </a:rPr>
              <a:t>Defects4J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bug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ource Sans 3"/>
              </a:rPr>
              <a:t/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buggy version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fixed version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issue link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03120" y="2761488"/>
            <a:ext cx="365760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2514600" y="1280160"/>
            <a:ext cx="46177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1 · COLLECT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16459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16459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Bug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6459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fetched from the issue tracker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600" y="21031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21031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Failing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1031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buggy version run: error + trace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5603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25603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Suspicious frames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5603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trace lines in the project’s own code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4600" y="30175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30175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Code snippets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0175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±12 lines of code, ±18 of tests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4747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4747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4747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line and branch data (optional)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178040" y="2761488"/>
            <a:ext cx="320039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543800" y="1280160"/>
            <a:ext cx="40965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2 · STORE: CONTEXT.JSON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1645920"/>
            <a:ext cx="4096512" cy="6949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43800" y="1645920"/>
            <a:ext cx="64008" cy="69494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1664208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1984248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cleaned and deduplicated; shown to the model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2404872"/>
            <a:ext cx="4096512" cy="694944"/>
          </a:xfrm>
          <a:prstGeom prst="rect">
            <a:avLst/>
          </a:prstGeom>
          <a:solidFill>
            <a:srgbClr val="FBF1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3800" y="2404872"/>
            <a:ext cx="64008" cy="69494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423160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B7791F"/>
                </a:solidFill>
                <a:latin typeface="Source Sans 3"/>
              </a:rPr>
              <a:t>Hidden oracle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743200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modified classes; for evaluation only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3163824"/>
            <a:ext cx="4096512" cy="69494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3800" y="3163824"/>
            <a:ext cx="64008" cy="6949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82112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Fix diff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3502152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buggy → fixed code; post-fix only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11480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3 · BUILD TWO CASE FILES  ·  THE ONLY DIFFERENCE IS THE FIX DIFF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62272"/>
            <a:ext cx="5422392" cy="932688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4462272"/>
            <a:ext cx="64008" cy="93268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498848"/>
            <a:ext cx="29260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Pre-fix case file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4498848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A23B3B"/>
                </a:solidFill>
                <a:latin typeface="Source Sans 3"/>
              </a:rPr>
              <a:t>→ the label we evaluate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4901184"/>
            <a:ext cx="5074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evidence only; fix hints removed from the report and metadata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4462272"/>
            <a:ext cx="5422392" cy="93268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4462272"/>
            <a:ext cx="64008" cy="93268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46520" y="4498848"/>
            <a:ext cx="29260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Post-fix case file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4498848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→ the reference label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4901184"/>
            <a:ext cx="5074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the same evidence + the fix diff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559552"/>
            <a:ext cx="11091672" cy="676656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559552"/>
            <a:ext cx="10789920" cy="6766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Every strategy and both LLMs read the same file.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few-shot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reads the evidence summary once;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scientific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reads the same summary, then probes for the held-back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Classification Conditions and Models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A condition =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taxonomy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(which labels)  × 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strategy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(how it reasons),  run by an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LLM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783080"/>
            <a:ext cx="444398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TAXONOMY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free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own words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closed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7 ODC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open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7 types + “Other”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103120"/>
            <a:ext cx="155448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STRATEGY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2715768"/>
            <a:ext cx="6044184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276148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plain prompt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83464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2848" y="283464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zero-free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76148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1496" y="276148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63016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48640" y="363016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worked examples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63016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94176" y="370332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4176" y="370332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370332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370332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few-open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449884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48640" y="449884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hypothesis → probe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9884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94176" y="457200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4176" y="457200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scientific-closed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4572000"/>
            <a:ext cx="1353312" cy="722375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75504" y="457200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scientific-open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urce Sans 3"/>
              </a:rPr>
              <a:t>default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536752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548640" y="5440680"/>
            <a:ext cx="65836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Five of nine combinations are valid: zero-shot uses no taxonomy, so it pairs only with free.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1783080"/>
            <a:ext cx="43251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THIRD AXIS: THE LLM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2167128"/>
            <a:ext cx="4325112" cy="11704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315200" y="2167128"/>
            <a:ext cx="64008" cy="11704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2240280"/>
            <a:ext cx="40050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Gemini 3.1 Flash-Lite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2606040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Google  ·  main model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2935224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structured output enforced by the API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3493008"/>
            <a:ext cx="4325112" cy="11704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0" y="3493008"/>
            <a:ext cx="64008" cy="11704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3566160"/>
            <a:ext cx="40050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gpt-5-mini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3931920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OpenAI  ·  second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4261104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a reasoning model, used to cross-check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4846320"/>
            <a:ext cx="4325112" cy="86868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4846320"/>
            <a:ext cx="395935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Only the model changes: 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same case files, prompts, taxonomy and 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Prompt Design: What Each Strategy Sends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11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234440"/>
            <a:ext cx="11091672" cy="50292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234440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Same in both: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ODC taxonomy  ·  anti-bias rules  ·  the bug’s evidence summary  ·  JSON answer format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920240"/>
            <a:ext cx="5376672" cy="43891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920240"/>
            <a:ext cx="5102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few-shot</a:t>
            </a:r>
            <a:r>
              <a:rPr sz="1500" b="0" i="0">
                <a:solidFill>
                  <a:srgbClr val="FFFFFF"/>
                </a:solidFill>
                <a:latin typeface="Source Sans 3"/>
              </a:rPr>
              <a:t>   ·   one call, one answer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920240"/>
            <a:ext cx="5376672" cy="438912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20240"/>
            <a:ext cx="5102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scientific</a:t>
            </a:r>
            <a:r>
              <a:rPr sz="1500" b="0" i="0">
                <a:solidFill>
                  <a:srgbClr val="FFFFFF"/>
                </a:solidFill>
                <a:latin typeface="Source Sans 3"/>
              </a:rPr>
              <a:t>   ·   up to 6 turns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514600"/>
            <a:ext cx="5376672" cy="86868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514600"/>
            <a:ext cx="64008" cy="86868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5511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Sans 3"/>
              </a:rPr>
              <a:t>① Instructions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843784"/>
            <a:ext cx="5010912" cy="502919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ODC definitions, a 7-question decision tree, 5 worked examples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5376672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20440"/>
            <a:ext cx="64008" cy="731520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55701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② The bug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4962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evidence summary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36976" y="4297680"/>
            <a:ext cx="0" cy="1143000"/>
          </a:xfrm>
          <a:prstGeom prst="line">
            <a:avLst/>
          </a:prstGeom>
          <a:ln w="19050">
            <a:solidFill>
              <a:srgbClr val="8A919C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3374136" y="4526280"/>
            <a:ext cx="237744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5A6270"/>
                </a:solidFill>
                <a:latin typeface="Source Sans 3"/>
              </a:rPr>
              <a:t>one call,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5A6270"/>
                </a:solidFill>
                <a:latin typeface="Source Sans 3"/>
              </a:rPr>
              <a:t>no extra evidence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5376672" cy="7315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486400"/>
            <a:ext cx="64008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③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81558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one JSON: type, alternatives, reasoning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514600"/>
            <a:ext cx="5376672" cy="868680"/>
          </a:xfrm>
          <a:prstGeom prst="rect">
            <a:avLst/>
          </a:prstGeom>
          <a:solidFill>
            <a:srgbClr val="ECE8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2514600"/>
            <a:ext cx="64008" cy="868680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5511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① Instructions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843784"/>
            <a:ext cx="5010912" cy="502919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ODC definitions, the list of 5 probes, turn rules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520440"/>
            <a:ext cx="5376672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520440"/>
            <a:ext cx="64008" cy="731520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55701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② The bug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84962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same summary; the rest is held back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389120"/>
            <a:ext cx="537667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4407408"/>
            <a:ext cx="18288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B4B9A"/>
                </a:solidFill>
                <a:latin typeface="Source Sans 3"/>
              </a:rPr>
              <a:t>EACH TURN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681728"/>
            <a:ext cx="501091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model 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hypothesis → prediction → probe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92624"/>
            <a:ext cx="501091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B7791F"/>
                </a:solidFill>
                <a:latin typeface="Source Sans 3"/>
              </a:rPr>
              <a:t>pipeline 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returns what the probe found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5486400"/>
            <a:ext cx="5376672" cy="7315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5486400"/>
            <a:ext cx="64008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55229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③ Answer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81558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same JSON + the full turn transcript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How the Scientific Strategy Reasons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THE SUMMARY IS READ ONCE  ·  EVERY TURN THEN STARTS AT HYPOTHESIS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627632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4F5F7"/>
          </a:solidFill>
          <a:ln w="15875">
            <a:solidFill>
              <a:srgbClr val="5A62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700784"/>
            <a:ext cx="16916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A6270"/>
                </a:solidFill>
                <a:latin typeface="Source Sans 3"/>
              </a:rPr>
              <a:t>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2066543"/>
            <a:ext cx="154533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CE8F6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B4B9A"/>
                </a:solidFill>
                <a:latin typeface="Source Sans 3"/>
              </a:rPr>
              <a:t>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 specific cause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CE8F6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B4B9A"/>
                </a:solidFill>
                <a:latin typeface="Source Sans 3"/>
              </a:rPr>
              <a:t>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what must be there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BF1DF"/>
          </a:solidFill>
          <a:ln w="15875">
            <a:solidFill>
              <a:srgbClr val="B7791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7791F"/>
                </a:solidFill>
                <a:latin typeface="Source Sans 3"/>
              </a:rPr>
              <a:t>Enough evidence?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the model decides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28632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3F1E8"/>
          </a:solidFill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28632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Conclude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1784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ODC label + alternatives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67712" y="2107692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4599432" y="2107692"/>
            <a:ext cx="265175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6931152" y="2107692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9262872" y="2107692"/>
            <a:ext cx="338328" cy="0"/>
          </a:xfrm>
          <a:prstGeom prst="line">
            <a:avLst/>
          </a:prstGeom>
          <a:ln w="25400">
            <a:solidFill>
              <a:srgbClr val="2F7D4F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9162288" y="1719072"/>
            <a:ext cx="5486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yes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587752"/>
            <a:ext cx="0" cy="356616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8302752" y="2633472"/>
            <a:ext cx="4572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A6270"/>
                </a:solidFill>
                <a:latin typeface="Source Sans 3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23760" y="29718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0" y="3044952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5D9B"/>
                </a:solidFill>
                <a:latin typeface="Source Sans 3"/>
              </a:rPr>
              <a:t>Probe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6912" y="3410712"/>
            <a:ext cx="1865376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ask for hidden evidence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6931152" y="3429000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892040" y="29718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3044952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5D9B"/>
                </a:solidFill>
                <a:latin typeface="Source Sans 3"/>
              </a:rPr>
              <a:t>Observation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65192" y="3410712"/>
            <a:ext cx="1865376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read what came back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566160" y="3429000"/>
            <a:ext cx="1298448" cy="0"/>
          </a:xfrm>
          <a:prstGeom prst="line">
            <a:avLst/>
          </a:prstGeom>
          <a:ln w="22225">
            <a:solidFill>
              <a:srgbClr val="12284C"/>
            </a:solidFill>
            <a:prstDash val="dash"/>
          </a:ln>
        </p:spPr>
      </p:cxnSp>
      <p:cxnSp>
        <p:nvCxnSpPr>
          <p:cNvPr id="45" name="Connector 44"/>
          <p:cNvCxnSpPr/>
          <p:nvPr/>
        </p:nvCxnSpPr>
        <p:spPr>
          <a:xfrm flipV="1">
            <a:off x="3566160" y="2615184"/>
            <a:ext cx="0" cy="813816"/>
          </a:xfrm>
          <a:prstGeom prst="line">
            <a:avLst/>
          </a:prstGeom>
          <a:ln w="22225">
            <a:solidFill>
              <a:srgbClr val="12284C"/>
            </a:solidFill>
            <a:prstDash val="dash"/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3639312" y="3081528"/>
            <a:ext cx="11887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12284C"/>
                </a:solidFill>
                <a:latin typeface="Source Sans 3"/>
              </a:rPr>
              <a:t>next turn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28632" y="3017520"/>
            <a:ext cx="201168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at most 6 turns;</a:t>
            </a:r>
          </a:p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on the last one it</a:t>
            </a:r>
          </a:p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must conclude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3063240"/>
            <a:ext cx="283464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Adapted from AutoSD [17, 18]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from locating a fault to naming its type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16052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FIVE PROBES: THE ONLY WAY TO SEE EVIDENCE HELD BACK FROM THE PROMPT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list_evidence()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what evidence exists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94406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94406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04134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full_stack_trace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(test)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04134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full trace and message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40172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40172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49900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snippet(class)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49900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source of a class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85939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285939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95667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coverage(class)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95667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line and branch data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31705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531705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41433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bug_report()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41433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the full report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66928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669280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The prediction is written before the evidence arrives, so a first guess cannot be rationalised afterwards.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Evaluation: How We Compare Two Labels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For each bug we compare its </a:t>
            </a:r>
            <a:r>
              <a:rPr sz="1700" b="1" i="0">
                <a:solidFill>
                  <a:srgbClr val="A23B3B"/>
                </a:solidFill>
                <a:latin typeface="Source Sans 3"/>
              </a:rPr>
              <a:t>pre-fix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label with its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post-fix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label, from strict to forgiving.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83080"/>
            <a:ext cx="2601468" cy="2971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83080"/>
            <a:ext cx="2601468" cy="6400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920240"/>
            <a:ext cx="232714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5D9B"/>
                </a:solidFill>
                <a:latin typeface="Source Sans 3"/>
              </a:rPr>
              <a:t>TIER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221991"/>
            <a:ext cx="232714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Strict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624328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ODC type?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37560"/>
            <a:ext cx="5029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1872" y="3355848"/>
            <a:ext cx="16870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3355848"/>
            <a:ext cx="1687068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721608"/>
            <a:ext cx="5029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61872" y="3739896"/>
            <a:ext cx="16870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1872" y="3739896"/>
            <a:ext cx="1687068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160520"/>
            <a:ext cx="2327148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same 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820" y="2697480"/>
            <a:ext cx="2651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8A919C"/>
                </a:solidFill>
                <a:latin typeface="Source Sans 3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78708" y="1783080"/>
            <a:ext cx="2601468" cy="2971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78708" y="1783080"/>
            <a:ext cx="2601468" cy="6400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1588" y="1920240"/>
            <a:ext cx="232714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B4B9A"/>
                </a:solidFill>
                <a:latin typeface="Source Sans 3"/>
              </a:rPr>
              <a:t>TIER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1588" y="2221991"/>
            <a:ext cx="232714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Top-2 match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1588" y="2624328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Is one label the other’s alternative?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1588" y="3337560"/>
            <a:ext cx="5029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91940" y="3355848"/>
            <a:ext cx="16870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1940" y="3355848"/>
            <a:ext cx="1687068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1588" y="3721608"/>
            <a:ext cx="5029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91940" y="3739896"/>
            <a:ext cx="16870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91940" y="3739896"/>
            <a:ext cx="1687068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Algorithm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1588" y="4160520"/>
            <a:ext cx="2327148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Algorithm was listed as an alternative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1888" y="2697480"/>
            <a:ext cx="2651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8A919C"/>
                </a:solidFill>
                <a:latin typeface="Source Sans 3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08776" y="1783080"/>
            <a:ext cx="2601468" cy="2971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08776" y="1783080"/>
            <a:ext cx="2601468" cy="6400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1920240"/>
            <a:ext cx="232714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B7F72"/>
                </a:solidFill>
                <a:latin typeface="Source Sans 3"/>
              </a:rPr>
              <a:t>TIER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1656" y="2221991"/>
            <a:ext cx="232714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Family match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1656" y="2624328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ODC family?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91656" y="3337560"/>
            <a:ext cx="5029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22008" y="3355848"/>
            <a:ext cx="16870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22008" y="3355848"/>
            <a:ext cx="1687068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1656" y="3721608"/>
            <a:ext cx="5029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22008" y="3739896"/>
            <a:ext cx="16870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22008" y="3739896"/>
            <a:ext cx="1687068" cy="3017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Assignment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1656" y="4160520"/>
            <a:ext cx="2327148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both in Control and Data Flow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38844" y="1783080"/>
            <a:ext cx="2601468" cy="2971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38844" y="1783080"/>
            <a:ext cx="2601468" cy="6400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21724" y="1920240"/>
            <a:ext cx="2327148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7791F"/>
                </a:solidFill>
                <a:latin typeface="Source Sans 3"/>
              </a:rPr>
              <a:t>TIER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21724" y="2221991"/>
            <a:ext cx="232714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Cohen’s 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21724" y="2624328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Agreement beyond chance, over all bugs?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21724" y="3520440"/>
            <a:ext cx="223570" cy="310896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445294" y="3520440"/>
            <a:ext cx="223570" cy="310896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668865" y="3520440"/>
            <a:ext cx="223570" cy="310896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2436" y="3520440"/>
            <a:ext cx="223570" cy="310896"/>
          </a:xfrm>
          <a:prstGeom prst="rect">
            <a:avLst/>
          </a:prstGeom>
          <a:solidFill>
            <a:srgbClr val="BCC8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16007" y="3520440"/>
            <a:ext cx="223570" cy="310896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39578" y="3520440"/>
            <a:ext cx="223570" cy="310896"/>
          </a:xfrm>
          <a:prstGeom prst="rect">
            <a:avLst/>
          </a:prstGeom>
          <a:solidFill>
            <a:srgbClr val="8196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63148" y="3520440"/>
            <a:ext cx="223570" cy="31089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786719" y="3520440"/>
            <a:ext cx="223570" cy="310896"/>
          </a:xfrm>
          <a:prstGeom prst="rect">
            <a:avLst/>
          </a:prstGeom>
          <a:solidFill>
            <a:srgbClr val="46628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010290" y="3520440"/>
            <a:ext cx="223570" cy="310896"/>
          </a:xfrm>
          <a:prstGeom prst="rect">
            <a:avLst/>
          </a:prstGeom>
          <a:solidFill>
            <a:srgbClr val="2E4A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233861" y="3520440"/>
            <a:ext cx="223570" cy="310896"/>
          </a:xfrm>
          <a:prstGeom prst="rect">
            <a:avLst/>
          </a:prstGeom>
          <a:solidFill>
            <a:srgbClr val="1D35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76004" y="3867911"/>
            <a:ext cx="10972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0 = chance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05872" y="3867911"/>
            <a:ext cx="10972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1 = perfect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21724" y="4160520"/>
            <a:ext cx="2327148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read on the Landis–Koch scale [27]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4800600"/>
            <a:ext cx="822960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Tier 1 and κ are the scores; Tiers 2–3 tell a near miss from an unrelated label.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5230368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COMPARING SCIENTIFIC WITH FEW-SHOT: EVERY BUG FALLS INTO ONE OF FOUR OUTCOMES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577840"/>
            <a:ext cx="2670048" cy="56692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77840"/>
            <a:ext cx="267004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both right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5577840"/>
            <a:ext cx="2670048" cy="56692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5848" y="5577840"/>
            <a:ext cx="267004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only scientific right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63056" y="5577840"/>
            <a:ext cx="2670048" cy="56692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63056" y="5577840"/>
            <a:ext cx="267004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only few-shot right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70264" y="5577840"/>
            <a:ext cx="2670048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70264" y="5577840"/>
            <a:ext cx="267004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8A919C"/>
                </a:solidFill>
                <a:latin typeface="Source Sans 3"/>
              </a:rPr>
              <a:t>both wrong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Why the Post-Fix Label Is a Reliable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post-fix run is the same classifier given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one extra piece of evidence: the developer’s fix.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Four reasons make it the better-informed rater.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1856231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856231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1810512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It sees what defines the answer.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231136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In ODC, the Defect Type is the nature of the correction [4, 15]. Pre-fix has to guess the correction from symptoms; post-fix can read it.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86207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9418320" y="1883664"/>
            <a:ext cx="2221992" cy="384048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883664"/>
            <a:ext cx="22219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A23B3B"/>
                </a:solidFill>
                <a:latin typeface="Source Code Pro"/>
              </a:rPr>
              <a:t>− buggy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340864"/>
            <a:ext cx="2221992" cy="38404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2340864"/>
            <a:ext cx="22219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F7D4F"/>
                </a:solidFill>
                <a:latin typeface="Source Code Pro"/>
              </a:rPr>
              <a:t>+ fixed line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971800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2926080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More evidence makes raters agree.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346704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Human raters agree far more when they see the code and the change than when they read only a fault description [22–26].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3977639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555480" y="3777203"/>
            <a:ext cx="502920" cy="9070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3502883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κ 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87000" y="3471062"/>
            <a:ext cx="502920" cy="396849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3196742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7791F"/>
                </a:solidFill>
                <a:latin typeface="Source Sans 3"/>
              </a:rPr>
              <a:t>κ 0.70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18520" y="3340668"/>
            <a:ext cx="502920" cy="527243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3066348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κ 0.93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418320" y="3867912"/>
            <a:ext cx="2221992" cy="0"/>
          </a:xfrm>
          <a:prstGeom prst="line">
            <a:avLst/>
          </a:prstGeom>
          <a:ln w="9525">
            <a:solidFill>
              <a:srgbClr val="8A919C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548640" y="4087368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087368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041648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It points at one specific fault.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4462272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 buggy version holds about 9.2 faults [29]. The fix diff shows exactly the one the benchmark bug is about.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509320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9646920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857232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67544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277856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88168" y="4416552"/>
            <a:ext cx="173736" cy="173736"/>
          </a:xfrm>
          <a:prstGeom prst="ellipse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98480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08792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19104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329416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4645152"/>
            <a:ext cx="22219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the fix repairs one</a:t>
            </a:r>
          </a:p>
        </p:txBody>
      </p:sp>
      <p:sp>
        <p:nvSpPr>
          <p:cNvPr id="51" name="Oval 50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202936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8720" y="5157216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Nothing else changes.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8720" y="5577840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model, same prompt, same taxonomy, same evidence. Any difference between the two labels comes from the fix alone.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5230368"/>
            <a:ext cx="7772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pre-fix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41280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543032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44784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18320" y="5687568"/>
            <a:ext cx="7772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post-fix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43032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44784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146536" y="5760720"/>
            <a:ext cx="475488" cy="2377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46536" y="5760720"/>
            <a:ext cx="47548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+fix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Experimental Setup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15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47548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410 BUGS FROM 6 PROJECTS  · 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241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0700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3619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0078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6537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2996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9456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5915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2374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8833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5292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8211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4670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1129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588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0507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966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3425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9884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2803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9262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323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782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241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7160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53619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0078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6537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2996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9456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5915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8833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5292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01752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8211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4670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51129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7588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0507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6966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3425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49884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6344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2803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99262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323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7782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241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0700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3619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70078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86537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02996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9456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35915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52374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68833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5292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1752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8211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4670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1129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7588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84048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0507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6966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33425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9884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6344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2803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99262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864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323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241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0700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7160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3619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0078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6537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02996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9456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35915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2374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8833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5292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01752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18211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4670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51129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67588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84048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00507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16966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3425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9884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6344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82803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9262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864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1323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7782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4241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0700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37160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53619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70078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86537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02996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19456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35915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52374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8833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85292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01752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8211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4670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51129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67588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4048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00507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16966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33425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49884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6344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82803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99262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4864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1323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782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42416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207008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37160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3619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70078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865376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029968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19456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35915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52374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68833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85292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01752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18211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34670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51129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7588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4048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507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6966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33425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49884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66344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82803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99262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4864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71323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7782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4241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20700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37160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3619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70078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86537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02996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19456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35915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52374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68833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85292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01752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8211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34670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51129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67588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84048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00507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16966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33425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49884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6344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82803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99262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4864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1323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782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4241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20700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37160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53619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70078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86537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202996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19456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35915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252374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268833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85292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01752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18211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34670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351129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367588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84048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00507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16966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33425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49884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66344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2803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99262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864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1323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7782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04241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20700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37160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53619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70078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86537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202996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219456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235915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252374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68833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85292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301752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18211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4670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51129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7588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84048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00507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16966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33425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49884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466344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82803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99262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548640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13232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877824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042416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207008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371600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36192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70078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6537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02996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9456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35915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52374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68833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85292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01752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18211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334670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351129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367588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384048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400507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16966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33425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449884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466344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82803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99262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54864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1323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7782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4241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0700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37160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3619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70078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86537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202996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219456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35915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52374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68833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85292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301752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318211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34670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51129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67588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84048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00507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416966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433425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449884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466344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482803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499262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54864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1323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77824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1042416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1207008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137160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153619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1700784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1865376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2029968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19456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235915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252374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68833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285292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301752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8211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334670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351129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367588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384048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00507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416966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33425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49884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66344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82803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99262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54864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1323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87782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4241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0700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37160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53619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70078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6537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202996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219456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235915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52374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68833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85292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301752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318211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334670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351129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67588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84048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400507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4169664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4334256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498848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663440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828032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4992624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4864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71323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87782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04241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20700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7160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53619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170078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86537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02996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219456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235915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252374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268833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285292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301752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318211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334670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351129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367588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3840480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4005072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4169664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4334256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4498848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4663440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4828032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4992624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54864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1323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87782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4241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20700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37160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53619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70078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86537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02996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19456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35915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252374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268833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285292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01752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18211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334670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443984"/>
            <a:ext cx="201168" cy="2011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Closure 153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2121408" y="4443984"/>
            <a:ext cx="201168" cy="201168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2414015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Math 106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3694176" y="4443984"/>
            <a:ext cx="201168" cy="20116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3986784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Lang 61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548640" y="4855464"/>
            <a:ext cx="201168" cy="201168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841247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Mockito 38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2121408" y="4855464"/>
            <a:ext cx="201168" cy="201168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2414015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Chart 26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3694176" y="4855464"/>
            <a:ext cx="201168" cy="201168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3986784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Time 26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5577840" y="128016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WE RAN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5577840" y="169164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Main study  ·  Gemini 3.1 Flash-Lite</a:t>
            </a:r>
          </a:p>
        </p:txBody>
      </p:sp>
      <p:sp>
        <p:nvSpPr>
          <p:cNvPr id="439" name="Rectangle 438"/>
          <p:cNvSpPr/>
          <p:nvPr/>
        </p:nvSpPr>
        <p:spPr>
          <a:xfrm>
            <a:off x="5577840" y="210312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0" name="TextBox 439"/>
          <p:cNvSpPr txBox="1"/>
          <p:nvPr/>
        </p:nvSpPr>
        <p:spPr>
          <a:xfrm>
            <a:off x="5577840" y="210312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410 bugs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6583679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6876288" y="210312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6876288" y="210312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scientific + few-shot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8705088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45" name="Rectangle 444"/>
          <p:cNvSpPr/>
          <p:nvPr/>
        </p:nvSpPr>
        <p:spPr>
          <a:xfrm>
            <a:off x="8997696" y="210312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8997696" y="210312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049256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10341864" y="2103120"/>
            <a:ext cx="1298448" cy="53035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10341864" y="210312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ource Sans 3"/>
              </a:rPr>
              <a:t>1,640</a:t>
            </a:r>
            <a:r>
              <a:rPr sz="1400" b="0" i="0">
                <a:solidFill>
                  <a:srgbClr val="FFFFFF"/>
                </a:solidFill>
                <a:latin typeface="Source Sans 3"/>
              </a:rPr>
              <a:t> runs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577840" y="297180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Baseline for RQ4a  ·  Gemini 3.1 Flash-Lite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5577840" y="338328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5577840" y="338328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410 bugs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583679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6876288" y="338328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6876288" y="338328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zero-free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8705088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57" name="Rectangle 456"/>
          <p:cNvSpPr/>
          <p:nvPr/>
        </p:nvSpPr>
        <p:spPr>
          <a:xfrm>
            <a:off x="8997696" y="338328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8997696" y="338328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0049256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10341864" y="3383280"/>
            <a:ext cx="1298448" cy="5303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10341864" y="338328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820</a:t>
            </a:r>
            <a:r>
              <a:rPr sz="1400" b="0" i="0">
                <a:solidFill>
                  <a:srgbClr val="12284C"/>
                </a:solidFill>
                <a:latin typeface="Source Sans 3"/>
              </a:rPr>
              <a:t> runs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5577840" y="425196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Cross-model check  ·  gpt-5-mini</a:t>
            </a:r>
          </a:p>
        </p:txBody>
      </p:sp>
      <p:sp>
        <p:nvSpPr>
          <p:cNvPr id="463" name="Rectangle 462"/>
          <p:cNvSpPr/>
          <p:nvPr/>
        </p:nvSpPr>
        <p:spPr>
          <a:xfrm>
            <a:off x="5577840" y="466344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5577840" y="466344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13 bugs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6583679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6876288" y="466344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6876288" y="466344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scientific + few-shot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8705088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8997696" y="466344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8997696" y="466344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0049256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10341864" y="4663440"/>
            <a:ext cx="1298448" cy="5303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10341864" y="466344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52</a:t>
            </a:r>
            <a:r>
              <a:rPr sz="1400" b="0" i="0">
                <a:solidFill>
                  <a:srgbClr val="12284C"/>
                </a:solidFill>
                <a:latin typeface="Source Sans 3"/>
              </a:rPr>
              <a:t> runs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548640" y="566928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777240" y="5669280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The 13 cross-model bugs are the ones we also read by hand.  Reporting follows the LLM study guidelines [28].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RQ1–RQ2: Distribution and Coverage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16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6858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RQ1  ·  410 PRE-FIX LABELS,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116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945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774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33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80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630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459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116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1945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774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260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089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18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747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33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062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891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720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548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77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20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03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69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852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8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31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97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80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630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59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288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116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945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3774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5603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432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260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1089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918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747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8404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2062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3891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20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548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77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20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03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86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669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852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48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31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97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80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4630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459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8288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116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1945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3774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5603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7432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260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1089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2918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4747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576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8404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33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2062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720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7548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377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20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303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486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669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852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8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31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14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97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280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4630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88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0116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1945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3774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5603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7432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9260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1089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2918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4747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576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8404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33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062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3891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720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7548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377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120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303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486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669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852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8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31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14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097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280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4630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459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8288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0116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945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3774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5603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7432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260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1089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918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747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576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8404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0233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2062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3891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720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7548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377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20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303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86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69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852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486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315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9144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972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2801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4630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6459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8288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0116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945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3774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5603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432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9260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1089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2918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4747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576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404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0233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2062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3891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5720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7548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49377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1206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3035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4864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692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8521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48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31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14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097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280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4630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6459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8288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0116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1945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3774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25603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7432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29260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1089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2918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4747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576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8404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40233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42062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43891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5720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7548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49377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5120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5303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486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669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5852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48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31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14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097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280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4630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6459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8288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116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1945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3774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25603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27432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29260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1089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2918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4747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576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38404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0233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2062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3891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45720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7548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9377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5120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5303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486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5669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5852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548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31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914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97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280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4630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6459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8288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0116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1945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3774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25603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27432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29260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1089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2918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4747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576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8404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0233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2062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3891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45720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47548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9377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120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303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5486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669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852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48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1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14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1097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280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4630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6459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8288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0116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1945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3774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5603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7432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9260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1089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2918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4747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576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8404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0233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2062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3891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720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7548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9377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120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303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5486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669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852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8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31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14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097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80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4630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459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8288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0116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1945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3774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25603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27432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29260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1089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2918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4747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576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38404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0233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42062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43891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5720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47548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49377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5120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5303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486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5669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5852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486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7315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144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10972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12801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4630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16459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8288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0116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1945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3774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5603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432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9260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1089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2918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4747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576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38404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40233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42062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43891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45720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47548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49377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51206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53035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54864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56692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58521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5486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7315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9144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972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2801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4630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6459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8288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0116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1945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3774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56032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74320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92608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10896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29184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47472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5760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84048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4023360" y="4041648"/>
            <a:ext cx="141732" cy="141732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462272"/>
            <a:ext cx="201168" cy="20116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Checking  48.3%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4023359" y="4462272"/>
            <a:ext cx="201168" cy="20116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4315968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Algorithm/Method  42.7%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548640" y="4864608"/>
            <a:ext cx="201168" cy="20116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841247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Assignment  6.8%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4023359" y="4864608"/>
            <a:ext cx="201168" cy="20116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4315968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Relationship  1.2%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548640" y="5266944"/>
            <a:ext cx="201168" cy="20116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841247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Function/Class  0.7%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4023359" y="5266944"/>
            <a:ext cx="201168" cy="20116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4315968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Interface  0.2%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548640" y="5669280"/>
            <a:ext cx="667512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97.8%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 in three Control and Data Flow types; Timing never occurs. Mix by project: scientific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p = 0.096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, few-shot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p = 0.010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.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7635240" y="1280160"/>
            <a:ext cx="4005072" cy="46177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909560" y="1417320"/>
            <a:ext cx="35478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RQ2  ·  THE “OTHER” CATEGORY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7909560" y="1737360"/>
            <a:ext cx="3547872" cy="10515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12284C"/>
                </a:solidFill>
                <a:latin typeface="Source Sans 3"/>
              </a:rPr>
              <a:t>0</a:t>
            </a:r>
            <a:r>
              <a:rPr sz="2400" b="0" i="0">
                <a:solidFill>
                  <a:srgbClr val="5A6270"/>
                </a:solidFill>
                <a:latin typeface="Source Sans 3"/>
              </a:rPr>
              <a:t>  of 1,640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7909560" y="2788920"/>
            <a:ext cx="3547872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classifications chose “Other”, although it was offered every time.</a:t>
            </a:r>
          </a:p>
        </p:txBody>
      </p:sp>
      <p:cxnSp>
        <p:nvCxnSpPr>
          <p:cNvPr id="442" name="Connector 441"/>
          <p:cNvCxnSpPr/>
          <p:nvPr/>
        </p:nvCxnSpPr>
        <p:spPr>
          <a:xfrm>
            <a:off x="7909560" y="3566160"/>
            <a:ext cx="345643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43" name="TextBox 442"/>
          <p:cNvSpPr txBox="1"/>
          <p:nvPr/>
        </p:nvSpPr>
        <p:spPr>
          <a:xfrm>
            <a:off x="7909560" y="3886200"/>
            <a:ext cx="11887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≤ 0.2%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144000" y="3886200"/>
            <a:ext cx="22219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95% upper bound on the escape rate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7909560" y="4754880"/>
            <a:ext cx="11887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6 of 7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9144000" y="4754880"/>
            <a:ext cx="22219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ODC types actually used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Agreement with the Post-Fix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17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274320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280160"/>
            <a:ext cx="402336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1C2128"/>
                </a:solidFill>
                <a:latin typeface="Source Sans 3"/>
              </a:rPr>
              <a:t>of pre-fix labels match the post-fix reference exactly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234440"/>
            <a:ext cx="414223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95% CI [65.6, 74.9]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24028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ALL 410 BUGS (SCIENTIFIC-OPEN)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78608"/>
            <a:ext cx="7786353" cy="65836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78608"/>
            <a:ext cx="7786353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exact match  70.2%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34993" y="2578608"/>
            <a:ext cx="3028026" cy="65836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993" y="2578608"/>
            <a:ext cx="3028026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near miss  27.3%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363020" y="2578608"/>
            <a:ext cx="266200" cy="65836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273552"/>
            <a:ext cx="87782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near miss: one label is the other's alternative, or both share a family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73552"/>
            <a:ext cx="231343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unrelated  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56692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CHANCE-CORRECTED AGREEMENT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09160"/>
            <a:ext cx="1133856" cy="310896"/>
          </a:xfrm>
          <a:prstGeom prst="rect">
            <a:avLst/>
          </a:prstGeom>
          <a:solidFill>
            <a:srgbClr val="EDF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038344"/>
            <a:ext cx="113385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slight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82496" y="4709160"/>
            <a:ext cx="1133856" cy="310896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82496" y="5038344"/>
            <a:ext cx="113385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fair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16352" y="4709160"/>
            <a:ext cx="1133855" cy="310896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6352" y="5038344"/>
            <a:ext cx="1133855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moderate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0207" y="4709160"/>
            <a:ext cx="1133856" cy="31089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50207" y="5038344"/>
            <a:ext cx="113385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substantial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4064" y="4709160"/>
            <a:ext cx="1133855" cy="310896"/>
          </a:xfrm>
          <a:prstGeom prst="rect">
            <a:avLst/>
          </a:prstGeom>
          <a:solidFill>
            <a:srgbClr val="2E4A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4064" y="5038344"/>
            <a:ext cx="1133855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almost perfect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7910" y="4562856"/>
            <a:ext cx="27432" cy="603504"/>
          </a:xfrm>
          <a:prstGeom prst="rect">
            <a:avLst/>
          </a:prstGeom>
          <a:solidFill>
            <a:srgbClr val="1C212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88666" y="4197096"/>
            <a:ext cx="16459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κ = 0.505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03520"/>
            <a:ext cx="56692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few-shot reaches κ = 0.389 (fair)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3931920"/>
            <a:ext cx="48737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WHERE THE DISAGREEMENT COMES FROM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79392"/>
            <a:ext cx="4873752" cy="11430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Two fix-aware classifications agree only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76.3%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of the time. Pre-fix sits about 6 points below that ceiling; the rest is ODC boundary ambiguity.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5440680"/>
            <a:ext cx="4873752" cy="6583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5440680"/>
            <a:ext cx="105156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284C"/>
                </a:solidFill>
                <a:latin typeface="Source Sans 3"/>
              </a:rPr>
              <a:t>93.2%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5440680"/>
            <a:ext cx="3364992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name the reference type as the label or as a recorded alternative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How Labels Change When the Fix Is Visible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18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61872"/>
            <a:ext cx="69494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PRE-FIX LABEL (ROW)  →  POST-FIX LABEL (COLUMN)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" y="2148840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10712" y="2176272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2176272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8152" y="2176272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1" y="2862072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21991" y="2889503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943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1" y="3575304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21991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1071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8815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1" y="4288536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21991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9456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1071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8328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9943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6949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outlined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the label did not change        </a:t>
            </a:r>
            <a:r>
              <a:rPr sz="1500" b="1" i="0">
                <a:solidFill>
                  <a:srgbClr val="12284C"/>
                </a:solidFill>
                <a:latin typeface="Source Sans 3"/>
              </a:rPr>
              <a:t>darker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more bugs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550408"/>
            <a:ext cx="73152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two dark cells cancel out: 38 bugs move one way, 37 the other.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15087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29.8%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20756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bugs change label (122 of 410)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63840" y="26974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863840" y="28803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80.3%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4472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changes stay in these three types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863840" y="40690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7863840" y="42519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0.051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48188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total variation distance: the mix barely moves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Algorithm/Method vs Checking is also the boundary human raters confuse [22]; the fix shows one fault of several [29].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RQ4a: Contribution of the ODC Taxonomy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19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5760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A23B3B"/>
                </a:solidFill>
                <a:latin typeface="Source Sans 3"/>
              </a:rPr>
              <a:t>366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different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57607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when the model writes its own (zero-free, 410 bugs)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09160"/>
            <a:ext cx="5760720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40080" y="400812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48640" y="386181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30708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48640" y="316077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260604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48640" y="245973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606040"/>
            <a:ext cx="105156" cy="210312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4983" y="4148328"/>
            <a:ext cx="105156" cy="560832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1288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07592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3895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00200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46504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9280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911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5415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7802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2432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7063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1693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63239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954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0215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4845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9476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41063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8736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3367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9704" y="4568952"/>
            <a:ext cx="1865376" cy="140208"/>
          </a:xfrm>
          <a:prstGeom prst="rect">
            <a:avLst/>
          </a:prstGeom>
          <a:solidFill>
            <a:srgbClr val="E3BE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489704" y="4873752"/>
            <a:ext cx="1865376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3941064" y="4928616"/>
            <a:ext cx="296265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342 labels used exactly once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2221992"/>
            <a:ext cx="29260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“Null Pointer Dereference”  15 bugs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230368"/>
            <a:ext cx="594360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The same bug (Chart_9), written twice: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“Improper input validation logic”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2F7D4F"/>
                </a:solidFill>
                <a:latin typeface="Source Sans 3"/>
              </a:rPr>
              <a:t>“Incorrect boundary condition logic”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234440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comparable labels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9440" y="173736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with the ODC taxonomy (scientific-open)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198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216989" y="2194560"/>
            <a:ext cx="320352" cy="731520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37341" y="2194560"/>
            <a:ext cx="57205" cy="731520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94547" y="2194560"/>
            <a:ext cx="34323" cy="731520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628870" y="2194560"/>
            <a:ext cx="27432" cy="73152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0" y="301752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every bug lands in one of six buckets that can be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3611880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Condition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611880"/>
            <a:ext cx="2313432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Same label, both modes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949440" y="4041648"/>
            <a:ext cx="4690872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949440" y="4087368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zero-free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4087368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A23B3B"/>
                </a:solidFill>
                <a:latin typeface="Source Sans 3"/>
              </a:rPr>
              <a:t>15.1%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949440" y="4581144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949440" y="4581144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few-open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0" y="4581144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66.6%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949440" y="5074920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949440" y="5074920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scientific-open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26880" y="5074920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70.2%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949440" y="5568696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5" name="Rectangle 74"/>
          <p:cNvSpPr/>
          <p:nvPr/>
        </p:nvSpPr>
        <p:spPr>
          <a:xfrm>
            <a:off x="6949440" y="576072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40" y="5760720"/>
            <a:ext cx="441655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A fixed taxonomy lets us count anything at 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RQ4b: Scientific Beats Few-Shot, Bug by Bug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32588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2F7D4F"/>
                </a:solidFill>
                <a:latin typeface="Source Sans 3"/>
              </a:rPr>
              <a:t>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43584"/>
            <a:ext cx="219456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2F7D4F"/>
                </a:solidFill>
                <a:latin typeface="Source Sans 3"/>
              </a:rPr>
              <a:t>bugs </a:t>
            </a:r>
            <a:r>
              <a:rPr sz="1800" b="1" i="0">
                <a:solidFill>
                  <a:srgbClr val="2F7D4F"/>
                </a:solidFill>
                <a:latin typeface="Source Sans 3"/>
              </a:rPr>
              <a:t>only scientific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2F7D4F"/>
                </a:solidFill>
                <a:latin typeface="Source Sans 3"/>
              </a:rPr>
              <a:t>gets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1188720"/>
            <a:ext cx="10058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8A919C"/>
                </a:solidFill>
                <a:latin typeface="Source Sans 3"/>
              </a:rPr>
              <a:t>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243584"/>
            <a:ext cx="201168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bugs </a:t>
            </a:r>
            <a:r>
              <a:rPr sz="1800" b="1" i="0">
                <a:solidFill>
                  <a:srgbClr val="8A919C"/>
                </a:solidFill>
                <a:latin typeface="Source Sans 3"/>
              </a:rPr>
              <a:t>only few-shot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gets right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1325880"/>
            <a:ext cx="45720" cy="685800"/>
          </a:xfrm>
          <a:prstGeom prst="rect">
            <a:avLst/>
          </a:prstGeom>
          <a:solidFill>
            <a:srgbClr val="D5D9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1188720"/>
            <a:ext cx="137160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12284C"/>
                </a:solidFill>
                <a:latin typeface="Source Sans 3"/>
              </a:rPr>
              <a:t>+15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1243584"/>
            <a:ext cx="3182112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more bugs right with scientific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than with few-shot (73 − 58)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212848"/>
            <a:ext cx="69494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ALL 410 BUGS  ·  DOES THE PRE-FIX LABEL MATCH THE POST-FIX LABEL?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176272"/>
            <a:ext cx="414223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κ 0.389 → 0.505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·  significant, p ≈ 0.012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60320"/>
            <a:ext cx="5816364" cy="56692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60320"/>
            <a:ext cx="5816364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both right  215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5004" y="2560320"/>
            <a:ext cx="1974858" cy="56692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5004" y="2560320"/>
            <a:ext cx="197485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only scientific  73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9863" y="2560320"/>
            <a:ext cx="1569065" cy="56692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863" y="2560320"/>
            <a:ext cx="1569065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only few-shot  58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08929" y="2560320"/>
            <a:ext cx="1731382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08929" y="2560320"/>
            <a:ext cx="1731382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A919C"/>
                </a:solidFill>
                <a:latin typeface="Source Sans 3"/>
              </a:rPr>
              <a:t>both wrong  64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383280"/>
            <a:ext cx="310896" cy="1828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310128"/>
            <a:ext cx="237744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only scientific right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3383280"/>
            <a:ext cx="310896" cy="18288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3310128"/>
            <a:ext cx="25603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8A919C"/>
                </a:solidFill>
                <a:latin typeface="Source Sans 3"/>
              </a:rPr>
              <a:t>only few-shot right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373075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548640" y="3858768"/>
            <a:ext cx="6035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MORE HIDDEN EVIDENCE ASKED FOR  →  MORE SCIENTIFIC WINS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315968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never asked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4352544"/>
            <a:ext cx="418011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96035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23160" y="4526280"/>
            <a:ext cx="278674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56698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asked 1–2 times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23160" y="4773168"/>
            <a:ext cx="292608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04103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42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23160" y="4946904"/>
            <a:ext cx="285641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4435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157216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asked 3+ times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3160" y="5193792"/>
            <a:ext cx="1741714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19738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23160" y="5367528"/>
            <a:ext cx="90569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715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577840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got the fixed code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23160" y="5614416"/>
            <a:ext cx="836022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14046" y="5541264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23160" y="5788152"/>
            <a:ext cx="41801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96035" y="5724144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423160" y="4297680"/>
            <a:ext cx="0" cy="164592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903720" y="3858768"/>
            <a:ext cx="473659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SCIENTIFIC WINS AS OFTEN OR MORE, IN EVERY PROJECT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03720" y="4315968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Chart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55279" y="4352544"/>
            <a:ext cx="379306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89450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79" y="4526280"/>
            <a:ext cx="9482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04970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4736592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Mockito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4773168"/>
            <a:ext cx="331893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42037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55279" y="4946904"/>
            <a:ext cx="9482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04970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5157216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Time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55279" y="5193792"/>
            <a:ext cx="331893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42037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955279" y="5367528"/>
            <a:ext cx="189653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99797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955279" y="4297680"/>
            <a:ext cx="0" cy="1225296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9326880" y="4315968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Math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86999" y="4352544"/>
            <a:ext cx="71120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053064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286999" y="4526280"/>
            <a:ext cx="66378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005650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26880" y="4736592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Lang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86999" y="4773168"/>
            <a:ext cx="42672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68583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86999" y="4946904"/>
            <a:ext cx="426720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768583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26880" y="5157216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Closure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286999" y="5193792"/>
            <a:ext cx="128016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622024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27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286999" y="5367528"/>
            <a:ext cx="1280160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622024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27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286999" y="4297680"/>
            <a:ext cx="0" cy="1225296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Qualitative Analysis of Thirteen Bugs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We read every artifact by hand: </a:t>
            </a:r>
            <a:r>
              <a:rPr sz="1600" b="0" i="0">
                <a:solidFill>
                  <a:srgbClr val="5A6270"/>
                </a:solidFill>
                <a:latin typeface="Source Sans 3"/>
              </a:rPr>
              <a:t>evidence, full reasoning transcript and developer’s fix, for both strategies and both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37360"/>
            <a:ext cx="5440680" cy="4572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37360"/>
            <a:ext cx="51663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A23B3B"/>
                </a:solidFill>
                <a:latin typeface="Source Sans 3"/>
              </a:rPr>
              <a:t>1  </a:t>
            </a:r>
            <a:r>
              <a:rPr sz="1700" b="1" i="0">
                <a:solidFill>
                  <a:srgbClr val="A23B3B"/>
                </a:solidFill>
                <a:latin typeface="Source Sans 3"/>
              </a:rPr>
              <a:t>How the classification goes wrong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31720"/>
            <a:ext cx="329184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Symptom-site bias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 Chart_17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2697480" cy="365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15768"/>
            <a:ext cx="2514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cue: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the exception site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91840" y="2898648"/>
            <a:ext cx="36576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3703320" y="2715768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94759" y="2715768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A23B3B"/>
                </a:solidFill>
                <a:latin typeface="Source Sans 3"/>
              </a:rPr>
              <a:t>said </a:t>
            </a:r>
            <a:r>
              <a:rPr sz="1500" b="1" i="0">
                <a:solidFill>
                  <a:srgbClr val="A23B3B"/>
                </a:solidFill>
                <a:latin typeface="Source Sans 3"/>
              </a:rPr>
              <a:t>CHK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2040" y="2715768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79" y="2715768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F7D4F"/>
                </a:solidFill>
                <a:latin typeface="Source Sans 3"/>
              </a:rPr>
              <a:t>fix </a:t>
            </a:r>
            <a:r>
              <a:rPr sz="1500" b="1" i="0">
                <a:solidFill>
                  <a:srgbClr val="2F7D4F"/>
                </a:solidFill>
                <a:latin typeface="Source Sans 3"/>
              </a:rPr>
              <a:t>ALG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200400"/>
            <a:ext cx="329184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Bug-report anchoring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 Math_90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584448"/>
            <a:ext cx="2697480" cy="365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584448"/>
            <a:ext cx="2514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cue: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a fix suggested in the report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767328"/>
            <a:ext cx="36576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29" name="Rectangle 28"/>
          <p:cNvSpPr/>
          <p:nvPr/>
        </p:nvSpPr>
        <p:spPr>
          <a:xfrm>
            <a:off x="3703320" y="3584448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94759" y="3584448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A23B3B"/>
                </a:solidFill>
                <a:latin typeface="Source Sans 3"/>
              </a:rPr>
              <a:t>said </a:t>
            </a:r>
            <a:r>
              <a:rPr sz="1500" b="1" i="0">
                <a:solidFill>
                  <a:srgbClr val="A23B3B"/>
                </a:solidFill>
                <a:latin typeface="Source Sans 3"/>
              </a:rPr>
              <a:t>CHK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3584448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83479" y="3584448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F7D4F"/>
                </a:solidFill>
                <a:latin typeface="Source Sans 3"/>
              </a:rPr>
              <a:t>fix </a:t>
            </a:r>
            <a:r>
              <a:rPr sz="1500" b="1" i="0">
                <a:solidFill>
                  <a:srgbClr val="2F7D4F"/>
                </a:solidFill>
                <a:latin typeface="Source Sans 3"/>
              </a:rPr>
              <a:t>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79"/>
            <a:ext cx="329184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Surface syntax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 Math_23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453127"/>
            <a:ext cx="2697480" cy="365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453127"/>
            <a:ext cx="2514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cue: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the shape of the patch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291840" y="4636007"/>
            <a:ext cx="36576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3703320" y="4453127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94759" y="4453127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A23B3B"/>
                </a:solidFill>
                <a:latin typeface="Source Sans 3"/>
              </a:rPr>
              <a:t>said </a:t>
            </a:r>
            <a:r>
              <a:rPr sz="1500" b="1" i="0">
                <a:solidFill>
                  <a:srgbClr val="A23B3B"/>
                </a:solidFill>
                <a:latin typeface="Source Sans 3"/>
              </a:rPr>
              <a:t>ASN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92040" y="4453127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83479" y="4453127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F7D4F"/>
                </a:solidFill>
                <a:latin typeface="Source Sans 3"/>
              </a:rPr>
              <a:t>fix </a:t>
            </a:r>
            <a:r>
              <a:rPr sz="1500" b="1" i="0">
                <a:solidFill>
                  <a:srgbClr val="2F7D4F"/>
                </a:solidFill>
                <a:latin typeface="Source Sans 3"/>
              </a:rPr>
              <a:t>ALG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937759"/>
            <a:ext cx="329184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Underdetermined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 Lang_20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321807"/>
            <a:ext cx="2697480" cy="365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321807"/>
            <a:ext cx="25146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cue: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two equally valid fixes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291840" y="5504688"/>
            <a:ext cx="36576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45" name="Rectangle 44"/>
          <p:cNvSpPr/>
          <p:nvPr/>
        </p:nvSpPr>
        <p:spPr>
          <a:xfrm>
            <a:off x="3703320" y="5321807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94759" y="5321807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A23B3B"/>
                </a:solidFill>
                <a:latin typeface="Source Sans 3"/>
              </a:rPr>
              <a:t>said </a:t>
            </a:r>
            <a:r>
              <a:rPr sz="1500" b="1" i="0">
                <a:solidFill>
                  <a:srgbClr val="A23B3B"/>
                </a:solidFill>
                <a:latin typeface="Source Sans 3"/>
              </a:rPr>
              <a:t>CHK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92040" y="5321807"/>
            <a:ext cx="10972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83479" y="5321807"/>
            <a:ext cx="91440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F7D4F"/>
                </a:solidFill>
                <a:latin typeface="Source Sans 3"/>
              </a:rPr>
              <a:t>fix </a:t>
            </a:r>
            <a:r>
              <a:rPr sz="1500" b="1" i="0">
                <a:solidFill>
                  <a:srgbClr val="2F7D4F"/>
                </a:solidFill>
                <a:latin typeface="Source Sans 3"/>
              </a:rPr>
              <a:t>ASN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1737360"/>
            <a:ext cx="5285232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1737360"/>
            <a:ext cx="50109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2 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Where the developer had a choice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2532888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2532888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Math_90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498079" y="274320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7680959" y="251460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7680959" y="251460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56" name="Connector 55"/>
          <p:cNvCxnSpPr/>
          <p:nvPr/>
        </p:nvCxnSpPr>
        <p:spPr>
          <a:xfrm>
            <a:off x="7680959" y="297180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57" name="Rectangle 56"/>
          <p:cNvSpPr/>
          <p:nvPr/>
        </p:nvSpPr>
        <p:spPr>
          <a:xfrm>
            <a:off x="7955279" y="2350008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9" y="235000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Comparable check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2807208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19" y="280720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 typed overload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INT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55080" y="3401568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5080" y="3401568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Math_17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498079" y="361188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64" name="Connector 63"/>
          <p:cNvCxnSpPr/>
          <p:nvPr/>
        </p:nvCxnSpPr>
        <p:spPr>
          <a:xfrm>
            <a:off x="7680959" y="338328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65" name="Connector 64"/>
          <p:cNvCxnSpPr/>
          <p:nvPr/>
        </p:nvCxnSpPr>
        <p:spPr>
          <a:xfrm>
            <a:off x="7680959" y="338328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66" name="Connector 65"/>
          <p:cNvCxnSpPr/>
          <p:nvPr/>
        </p:nvCxnSpPr>
        <p:spPr>
          <a:xfrm>
            <a:off x="7680959" y="384048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67" name="Rectangle 66"/>
          <p:cNvSpPr/>
          <p:nvPr/>
        </p:nvSpPr>
        <p:spPr>
          <a:xfrm>
            <a:off x="7955279" y="3218688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46719" y="321868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range check only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55279" y="3675887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46719" y="367588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check + fallback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CHK+ALG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4270247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55080" y="4270247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Time_3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498079" y="4480559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74" name="Connector 73"/>
          <p:cNvCxnSpPr/>
          <p:nvPr/>
        </p:nvCxnSpPr>
        <p:spPr>
          <a:xfrm>
            <a:off x="7680959" y="4251959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75" name="Connector 74"/>
          <p:cNvCxnSpPr/>
          <p:nvPr/>
        </p:nvCxnSpPr>
        <p:spPr>
          <a:xfrm>
            <a:off x="7680959" y="4251959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76" name="Connector 75"/>
          <p:cNvCxnSpPr/>
          <p:nvPr/>
        </p:nvCxnSpPr>
        <p:spPr>
          <a:xfrm>
            <a:off x="7680959" y="4709159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77" name="Rectangle 76"/>
          <p:cNvSpPr/>
          <p:nvPr/>
        </p:nvSpPr>
        <p:spPr>
          <a:xfrm>
            <a:off x="7955279" y="4087367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19" y="408736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better arithmetic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ALG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955279" y="4544567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19" y="454456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amount != 0 guards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CHK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5138927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55080" y="5138927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Lang_20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498079" y="534924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680959" y="512064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85" name="Connector 84"/>
          <p:cNvCxnSpPr/>
          <p:nvPr/>
        </p:nvCxnSpPr>
        <p:spPr>
          <a:xfrm>
            <a:off x="7680959" y="512064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86" name="Connector 85"/>
          <p:cNvCxnSpPr/>
          <p:nvPr/>
        </p:nvCxnSpPr>
        <p:spPr>
          <a:xfrm>
            <a:off x="7680959" y="557784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87" name="Rectangle 86"/>
          <p:cNvSpPr/>
          <p:nvPr/>
        </p:nvSpPr>
        <p:spPr>
          <a:xfrm>
            <a:off x="7955279" y="4956047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46719" y="495604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null check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955279" y="5413248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19" y="541324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 new capacity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ASN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8640" y="5870448"/>
            <a:ext cx="64008" cy="43891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7240" y="5870448"/>
            <a:ext cx="1088136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A fix repairs one of several faults [29] — for </a:t>
            </a:r>
            <a:r>
              <a:rPr sz="1800" b="1" i="0">
                <a:solidFill>
                  <a:srgbClr val="12284C"/>
                </a:solidFill>
                <a:latin typeface="Source Sans 3"/>
              </a:rPr>
              <a:t>77%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of changed labels, the other type is already a recorded alternative.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RQ4b: Why Scientific Wins — Evidence from the 13 Bugs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70432"/>
            <a:ext cx="265176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F7D4F"/>
                </a:solidFill>
                <a:latin typeface="Source Sans 3"/>
              </a:rPr>
              <a:t>5</a:t>
            </a:r>
            <a:r>
              <a:rPr sz="4600" b="1" i="0">
                <a:solidFill>
                  <a:srgbClr val="8A919C"/>
                </a:solidFill>
                <a:latin typeface="Source Sans 3"/>
              </a:rPr>
              <a:t> : </a:t>
            </a:r>
            <a:r>
              <a:rPr sz="4600" b="1" i="0">
                <a:solidFill>
                  <a:srgbClr val="8A919C"/>
                </a:solidFill>
                <a:latin typeface="Source Sans 3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847088"/>
            <a:ext cx="28346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5 bugs vs 1 bug, all pre-fix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45720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2F7D4F"/>
                </a:solidFill>
                <a:latin typeface="Source Sans 3"/>
              </a:rPr>
              <a:t>■ </a:t>
            </a:r>
            <a:r>
              <a:rPr sz="1500" b="1" i="0">
                <a:solidFill>
                  <a:srgbClr val="2F7D4F"/>
                </a:solidFill>
                <a:latin typeface="Source Sans 3"/>
              </a:rPr>
              <a:t>only scientific 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188720"/>
            <a:ext cx="22219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B3B9C3"/>
                </a:solidFill>
                <a:latin typeface="Source Sans 3"/>
              </a:rPr>
              <a:t>■ </a:t>
            </a:r>
            <a:r>
              <a:rPr sz="1500" b="1" i="0">
                <a:solidFill>
                  <a:srgbClr val="8A919C"/>
                </a:solidFill>
                <a:latin typeface="Source Sans 3"/>
              </a:rPr>
              <a:t>only few-shot 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572768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Gemini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591056"/>
            <a:ext cx="854964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591056"/>
            <a:ext cx="8549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Math_17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01284" y="1591056"/>
            <a:ext cx="1143000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4" y="1591056"/>
            <a:ext cx="11430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Mockito_26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35724" y="1591056"/>
            <a:ext cx="854964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5724" y="1591056"/>
            <a:ext cx="8549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Chart_7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1591056"/>
            <a:ext cx="950976" cy="27432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91056"/>
            <a:ext cx="95097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Math_104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1938528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gpt-5-mini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1956816"/>
            <a:ext cx="758952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1956816"/>
            <a:ext cx="75895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Time_3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05272" y="1956816"/>
            <a:ext cx="950976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2" y="1956816"/>
            <a:ext cx="95097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Chart_11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1938528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8A919C"/>
                </a:solidFill>
                <a:latin typeface="Source Sans 3"/>
              </a:rPr>
              <a:t>none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1188720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model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22860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548640" y="24231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THE TRANSCRIPTS SHOW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Time_3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gpt-5-mini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Checking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kept testing “a zero guard is missing” for six turns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8708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8708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3300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Chart_11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gpt-5-mini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3300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3300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43300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narrowed its prediction to one wrong assignment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08776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08776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3368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Math_17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Gemini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3368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Checking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3368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Function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3368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had to name a concrete cause: a range check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38844" y="2788920"/>
            <a:ext cx="2601468" cy="1874519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038844" y="2788920"/>
            <a:ext cx="2601468" cy="6400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03436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Math_104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Gemini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3436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03436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03436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named the wrong constant, but chose Algorithm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4690872"/>
            <a:ext cx="110916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green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= the label that matches our manual reading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138928"/>
            <a:ext cx="64008" cy="10972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5138928"/>
            <a:ext cx="512064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Same with both models  →  the pipeline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5522976"/>
            <a:ext cx="512064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Scientific beats few-shot pre-fix: 6 vs 4 of 13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Misleading clues can stop it too early (Chart_17)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5138928"/>
            <a:ext cx="64008" cy="1097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5138928"/>
            <a:ext cx="51480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Differs between models  →  the model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5522976"/>
            <a:ext cx="5148072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Evidence requests per bug: Gemini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1.7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, gpt-5-mini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3.0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Gemini trusts its first summary and stops early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Threats to Validity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23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0817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0817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Internal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29844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model can give a different answer each time it runs.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We removed fix hints from the pre-fix evidence, so it cannot see the answer.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225856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48640" y="241401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41401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Construct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30428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Matching the post-fix label is not the same as being right.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class that was fixed is missing from the evidence for 285 of 410 bugs.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26440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548640" y="341985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1985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External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31012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We studied 6 of the 17 projects, all in Java, with one model on all 410 bugs.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Other projects or models may give different numbers; a second model ran on 13 bugs.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27024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548640" y="442569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42569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31596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Each setup ran once, so our intervals are estimates, not repeated measurements.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One person did the manual reading of the 13 bugs.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527608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548640" y="543153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3153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Other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532180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These bugs are public, so the model may have seen them during training.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confidence score the model reports does not warn us when it is wrong.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Conclusion and Future Work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24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97.8%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three types (RQ1)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0 of 1,640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“Other” (RQ2)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pre-fix match (RQ3)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73 vs 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scientific vs few-shot wins (RQ4)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61488"/>
            <a:ext cx="539496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CONTRIBUTIONS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200400"/>
            <a:ext cx="5394960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A taxonomy × strategy condition space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Enforced scientific reasoning + transcripts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Where scientific beats few-shot, bug by bug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Evaluation without ground truth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761488"/>
            <a:ext cx="528523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200400"/>
            <a:ext cx="5285232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Strengthen scientific's weak spots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Pick scientific or few-shot per bug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Human reference labels for a sample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More models, Impact, Trigger, Age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(1/3)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[1] G. Catolino et al., “Not All Bugs Are the Same: Understanding, Characterizing, and Classifying Bug Types,” Journal of Systems and Software, vol. 152, 2019.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[2] T. Hirsch and B. Hofer, “Using Textual Bug Reports to Predict the Fault Category of Software Bugs,” Array, vol. 15, 2022.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[3] R. Andrade et al., “An Empirical Study on the Classification of Bug Reports with Machine Learning,” arXiv preprint,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[4] R. Chillarege et al., “Orthogonal Defect Classification – A Concept for In-Process Measurements,” IEEE Transactions on Software Engineering, vol. 18, no. 11, 1992.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[5] R. Just, D. Jalali, and M. D. Ernst, “Defects4J: A Database of Existing Faults to Enable Controlled Testing Studies for Java Programs,” Proc. International Symposium on Software Testing and Analysis (ISSTA), 2014.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[6] M. N. Rafi et al., “Revisiting Defects4J for Fault Localization in Diverse Development Scenarios,” IEEE/ACM 22nd International Conference on Mining Software Repositories (MSR),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[7] M. Martinez et al., “Automatic Repair of Real Bugs in Java: A Large-Scale Experiment on the Defects4J Dataset,” Empirical Software Engineering, vol. 22, no. 4, 2017.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[8] A. Van der Spuy and B. Fischer, “An Anatomy of 488 Faults from Defects4J Based on the Control- and Data-Flow Graph Representations of Programs,” Proc. 29th International Conference on Evaluation and Assessment in Software Engineering (EASE),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[9] V. Sobreira et al., “Dissection of a Bug Dataset: Anatomy of 395 Patches from Defects4J,” IEEE International Conference on Software Analysis, Evolution and Reengineering (SANER),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[10] J. Jiang, Y. Xiong, and X. Xia, “A Manual Inspection of Defects4J Bugs and Its Implications for Automatic Program Repair,” Science China Information Sciences, vol. 62, no. 10, 2019.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(2/3)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[11] G. Colavito et al., “Large Language Models for Issue Report Classification,” Ital-IA 2024 Thematic Workshops, CEUR Workshop Proceedings, vol. 3762,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[12] A. Koyuncu, “Exploring Fine-Grained Bug Report Categorization with Large Language Models and Prompt Engineering: An Empirical Study,” ACM Transactions on Software Engineering and Methodology, vol. 35, no. 3, 2026.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[13] Y. Nong et al., “Chain-of-Thought Prompting of Large Language Models for Discovering and Fixing Software Vulnerabilities,” arXiv preprint,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[14] C. Li et al., “KnowBug: Enhancing Large Language Models with Bug Report Knowledge for Deep Learning Framework Bug Prediction,” Knowledge-Based Systems, vol. 305,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[15] IBM, “Orthogonal Defect Classification v5.2 for Software Design and Code,” IBM Research, 2013.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[16] X. Du et al., “LLM-BRC: A Large Language Model-Based Bug Report Classification Framework,” Software Quality Journal, vol. 32, no. 3,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[17] S. Kang et al., “Explainable Automated Debugging via Large Language Model-driven Scientific Debugging,” Empirical Software Engineering, vol. 30, no. 2,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[18] S. Kang, G. An, and S. Yoo, “A Quantitative and Qualitative Evaluation of LLM-Based Explainable Fault Localization,” Proc. ACM on Software Engineering, vol. 1, no. FSE,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[19] L. Huang et al., “AutoODC: Automated Generation of Orthogonal Defect Classifications,” Automated Software Engineering, vol. 22, no. 1, 2015.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[20] F. Thung, D. Lo, and L. Jiang, “Automatic Defect Categorization,” Proc. 19th Working Conference on Reverse Engineering (WCRE), 2012.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(3/3)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[21] A. M. Esfahani, N. Kahani, and S. A. Ajila, “Understanding Defects in Generated Codes by Language Models,” 34th International Conference on Collaborative Advances in Software and Computing (CASCON),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[22] K. Henningsson and C. Wohlin, “Assuring Fault Classification Agreement – An Empirical Evaluation,” Proc. 2004 International Symposium on Empirical Software Engineering (ISESE), 2004.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[23] J. Hernández-González et al., “Learning to Classify Software Defects from Crowds: A Novel Approach,” Applied Soft Computing, vol. 62,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[24] K. El Emam and I. Wieczorek, “The Repeatability of Code Defect Classifications,” Proc. Ninth International Symposium on Software Reliability Engineering (ISSRE), 1998.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[25] A. Rahman and E. Farhana, “An Exploratory Characterization of Bugs in COVID-19 Software Projects,” arXiv preprint,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[26] J. Agnelo, N. Laranjeiro, and J. Bernardino, “Using Orthogonal Defect Classification to Characterize NoSQL Database Defects,” Journal of Systems and Software, vol. 159,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[27] J. R. Landis and G. G. Koch, “The Measurement of Observer Agreement for Categorical Data,” Biometrics, vol. 33, no. 1, 1977.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[28] S. Baltes et al., “Guidelines for Empirical Studies in Software Engineering involving Large Language Models,” Empirical Software Engineering, 2026.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[29] D. Callaghan and B. Fischer, “Mining Bug Repositories for Multi-Fault Programs,” IEEE/ACM 22nd International Conference on Mining Software Repositories (MSR), Data and Tool Showcase Track, 2025.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278189" cy="210312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2377440" y="1828800"/>
            <a:ext cx="0" cy="1920239"/>
          </a:xfrm>
          <a:prstGeom prst="line">
            <a:avLst/>
          </a:prstGeom>
          <a:ln w="12700">
            <a:solidFill>
              <a:srgbClr val="D5D9D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697480" y="1783080"/>
            <a:ext cx="868680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12284C"/>
                </a:solidFill>
                <a:latin typeface="Source Sans 3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697480"/>
            <a:ext cx="868680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1C2128"/>
                </a:solidFill>
                <a:latin typeface="Source Sans 3"/>
              </a:rPr>
              <a:t>Questions and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33756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Orthogonal Defect Classification on Defects4J Using an LLM-Driven Scientific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429768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Md. Sakib Hossain  ·  Mohammad Nahiyan Kabir  ·  Hasin Mahtab Alvee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