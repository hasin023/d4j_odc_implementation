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750241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658368"/>
            <a:ext cx="6400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Islamic University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24128"/>
            <a:ext cx="6400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76656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12284C"/>
                </a:solidFill>
                <a:latin typeface="Source Sans 3"/>
              </a:rPr>
              <a:t>Orthogonal Defect Classification on Defects4J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6766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1C2128"/>
                </a:solidFill>
                <a:latin typeface="Source Sans 3"/>
              </a:rPr>
              <a:t>Using an LLM-Driven Scientific Approach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51960"/>
            <a:ext cx="2377440" cy="0"/>
          </a:xfrm>
          <a:prstGeom prst="line">
            <a:avLst/>
          </a:prstGeom>
          <a:ln w="19050">
            <a:solidFill>
              <a:srgbClr val="12284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4343400"/>
            <a:ext cx="6766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Thesis Defence  ·  B.Sc. in 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356616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Presented by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Md. Sakib Hossain  (210042133)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Mohammad Nahiyan Kabir  (210042168)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Hasin Mahtab Alvee  (210042174)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92040"/>
            <a:ext cx="329184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Supervisor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Lutfun Nahar Lota, Assistant Professor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Co-supervisor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Ishmam Tashdeed, Lecturer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3703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 ·  CHART_9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468880"/>
            <a:ext cx="3703320" cy="402336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468880"/>
            <a:ext cx="342900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Code Pro"/>
              </a:rPr>
              <a:t>TimeSeries.java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871216"/>
            <a:ext cx="3703320" cy="12984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944368"/>
            <a:ext cx="3703320" cy="384048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944368"/>
            <a:ext cx="45720" cy="3840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4436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23B3B"/>
                </a:solidFill>
                <a:latin typeface="Source Code Pro"/>
              </a:rPr>
              <a:t>- if (endIndex &lt; 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328416"/>
            <a:ext cx="3703320" cy="38404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3328416"/>
            <a:ext cx="45720" cy="38404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328416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if ((endIndex &lt; 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712464"/>
            <a:ext cx="3703320" cy="38404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712464"/>
            <a:ext cx="45720" cy="38404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712464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  || (endIndex &lt; startIndex))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398264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23B3B"/>
                </a:solidFill>
                <a:latin typeface="Source Sans 3"/>
              </a:rPr>
              <a:t>pre-fix 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98264"/>
            <a:ext cx="192024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55279" y="4828032"/>
            <a:ext cx="3703321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55279" y="4855464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post-fix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55464"/>
            <a:ext cx="192024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9" y="5285232"/>
            <a:ext cx="3703321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Outline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 / 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3–8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Motivation and Defects4J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ODC and related work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Pre-fix vs post-fix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Research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9–16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Pipeline and evidence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Conditions and prompts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The reasoning loop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Evaluation and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17–24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RQ1–RQ2: types, coverage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RQ3: agreement and drift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RQ4: taxonomy and loop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Threats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Motivation: Classifying Defects in Defects4J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3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325880"/>
            <a:ext cx="24688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2284C"/>
                </a:solidFill>
                <a:latin typeface="Source Sans 3"/>
              </a:rPr>
              <a:t>836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85416"/>
            <a:ext cx="2468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reproducible real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325880"/>
            <a:ext cx="24688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2284C"/>
                </a:solidFill>
                <a:latin typeface="Source Sans 3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85416"/>
            <a:ext cx="2468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Java projects [5]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14600"/>
            <a:ext cx="521208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2697480"/>
            <a:ext cx="5394960" cy="2194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Defect types need different debugging strategies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Aggregated labels expose recurring mistakes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Manual triage is accurate, but does not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330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WHAT EVERY DEFECTS4J BUG SHIPS WITH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19072"/>
            <a:ext cx="5330952" cy="6035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719072"/>
            <a:ext cx="64008" cy="603504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719072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Bug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32304"/>
            <a:ext cx="5330952" cy="6035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432304"/>
            <a:ext cx="64008" cy="603504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32304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Failing tests + stack traces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45536"/>
            <a:ext cx="5330952" cy="603504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145536"/>
            <a:ext cx="64008" cy="603504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145536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A23B3B"/>
                </a:solidFill>
                <a:latin typeface="Source Sans 3"/>
              </a:rPr>
              <a:t>Buggy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58768"/>
            <a:ext cx="5330952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858768"/>
            <a:ext cx="64008" cy="603504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Fixed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572000"/>
            <a:ext cx="5330952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64008" cy="603504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Fix diff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64008" cy="64008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108813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Every bug ships with its fix, so one bug can be classified </a:t>
            </a:r>
            <a:r>
              <a:rPr sz="1800" b="1" i="0">
                <a:solidFill>
                  <a:srgbClr val="A23B3B"/>
                </a:solidFill>
                <a:latin typeface="Source Sans 3"/>
              </a:rPr>
              <a:t>before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and </a:t>
            </a:r>
            <a:r>
              <a:rPr sz="1800" b="1" i="0">
                <a:solidFill>
                  <a:srgbClr val="2F7D4F"/>
                </a:solidFill>
                <a:latin typeface="Source Sans 3"/>
              </a:rPr>
              <a:t>after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Orthogonal Defect Classification (ODC)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4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ODC [4, 15] describes a defect when it is found (</a:t>
            </a:r>
            <a:r>
              <a:rPr sz="1800" b="0" i="1">
                <a:solidFill>
                  <a:srgbClr val="1C2128"/>
                </a:solidFill>
                <a:latin typeface="Source Sans 3"/>
              </a:rPr>
              <a:t>opener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) and when it is fixed (</a:t>
            </a:r>
            <a:r>
              <a:rPr sz="1800" b="0" i="1">
                <a:solidFill>
                  <a:srgbClr val="1C2128"/>
                </a:solidFill>
                <a:latin typeface="Source Sans 3"/>
              </a:rPr>
              <a:t>closer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). We classify one closer attribute: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783080"/>
            <a:ext cx="2377440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83080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ource Sans 3"/>
              </a:rPr>
              <a:t>Defect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36576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the nature of the correction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331720"/>
            <a:ext cx="0" cy="27432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406140" y="2606040"/>
            <a:ext cx="5660136" cy="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406140" y="2606040"/>
            <a:ext cx="0" cy="18288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48640" y="2788920"/>
            <a:ext cx="5715000" cy="45720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57150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Control and Data 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21867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10712"/>
            <a:ext cx="1346454" cy="64008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missing or wrong condition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78049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2004822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04822" y="3410712"/>
            <a:ext cx="1346454" cy="64008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9686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Algorithm/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7974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computation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34230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3461003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1003" y="3410712"/>
            <a:ext cx="1346454" cy="64008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5868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Assignment/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Initialization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4156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value or initialization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90413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4917186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17186" y="3410712"/>
            <a:ext cx="1346454" cy="64008"/>
          </a:xfrm>
          <a:prstGeom prst="rect">
            <a:avLst/>
          </a:prstGeom>
          <a:solidFill>
            <a:srgbClr val="8A91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72049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Timing/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Serialization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0338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ordering or concurrency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66276" y="2606040"/>
            <a:ext cx="0" cy="18288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92240" y="2788920"/>
            <a:ext cx="5148072" cy="45720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788920"/>
            <a:ext cx="5148072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Structural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36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6492240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410712"/>
            <a:ext cx="1642872" cy="64008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3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Function/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Class/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Object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missing capability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662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8244839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4839" y="3410712"/>
            <a:ext cx="1642872" cy="64008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9704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Interface/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O-O Messages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7991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interaction across a boundary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8188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9997440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7440" y="3410712"/>
            <a:ext cx="1642872" cy="64008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2304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Relationship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70592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broken association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+ Other</a:t>
            </a:r>
            <a:r>
              <a:rPr sz="1700" b="0" i="0">
                <a:solidFill>
                  <a:srgbClr val="5A6270"/>
                </a:solidFill>
                <a:latin typeface="Source Sans 3"/>
              </a:rPr>
              <a:t>  —  escape category added in this study, allowed only with a written justification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Related Work and the Research Gap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5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WHAT PRIOR WORK ON DEFECTS4J ACTUALLY LABELS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880360"/>
            <a:ext cx="10058400" cy="0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1536192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how a bug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manifests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Van der Spuy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Fischer 2025 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488 faults</a:t>
            </a:r>
          </a:p>
        </p:txBody>
      </p:sp>
      <p:sp>
        <p:nvSpPr>
          <p:cNvPr id="20" name="Oval 19"/>
          <p:cNvSpPr/>
          <p:nvPr/>
        </p:nvSpPr>
        <p:spPr>
          <a:xfrm>
            <a:off x="4453128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what the patch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Sobreira et al.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2018 [9]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395 patches</a:t>
            </a:r>
          </a:p>
        </p:txBody>
      </p:sp>
      <p:sp>
        <p:nvSpPr>
          <p:cNvPr id="24" name="Oval 23"/>
          <p:cNvSpPr/>
          <p:nvPr/>
        </p:nvSpPr>
        <p:spPr>
          <a:xfrm>
            <a:off x="7068312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one-off manual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Jiang et al.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2019 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50 bugs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554480"/>
            <a:ext cx="2011679" cy="246888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645919"/>
            <a:ext cx="2011679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semantic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defect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108960"/>
            <a:ext cx="2011679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not labelled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539496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LLM classifiers [11, 12, 14, 16]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read bug-report text only; without a fixed taxonomy their labels are inconsistent.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51960"/>
            <a:ext cx="5330952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ODC studies [19, 20, 21]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classify other corpora — never Defects4J at benchmark scale.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40680"/>
            <a:ext cx="64008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8813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Gap: no semantic defect-type labels for Defects4J, and no way to evaluate them without ground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Problem Statement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6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371600"/>
            <a:ext cx="64008" cy="14630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25880"/>
            <a:ext cx="10698480" cy="1554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1C2128"/>
                </a:solidFill>
                <a:latin typeface="Source Sans 3"/>
              </a:rPr>
              <a:t>Classify Defects4J bugs into ODC defect types </a:t>
            </a:r>
            <a:r>
              <a:rPr sz="2700" b="1" i="0">
                <a:solidFill>
                  <a:srgbClr val="12284C"/>
                </a:solidFill>
                <a:latin typeface="Source Sans 3"/>
              </a:rPr>
              <a:t>from pre-fix evidence alone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— and evaluate that classification </a:t>
            </a:r>
            <a:r>
              <a:rPr sz="2700" b="1" i="0">
                <a:solidFill>
                  <a:srgbClr val="12284C"/>
                </a:solidFill>
                <a:latin typeface="Source Sans 3"/>
              </a:rPr>
              <a:t>without ground-truth 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A SOLUTION THEREFORE HAS TO BE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749039"/>
            <a:ext cx="5422391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877055"/>
            <a:ext cx="54223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Context-aware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52544"/>
            <a:ext cx="54223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code, tests, traces and reports together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749039"/>
            <a:ext cx="5422392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217920" y="3877055"/>
            <a:ext cx="54223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52544"/>
            <a:ext cx="54223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the defect mechanism, not the syntax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120640"/>
            <a:ext cx="5422391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5248655"/>
            <a:ext cx="54223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Taxonomy-constrained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24144"/>
            <a:ext cx="54223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a fixed, comparable label space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" y="5120640"/>
            <a:ext cx="5422392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217920" y="5248655"/>
            <a:ext cx="54223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Evaluable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724144"/>
            <a:ext cx="54223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carries its own reference, without ground truth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Core Idea: One Bug, Two Classifications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7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5897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CHART_9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45920"/>
            <a:ext cx="5897880" cy="402336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45920"/>
            <a:ext cx="56235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Code Pro"/>
              </a:rPr>
              <a:t>org.jfree.data.time.TimeSeries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48256"/>
            <a:ext cx="5897880" cy="18836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121408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    endIndex = endIndex - 1;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5897880" cy="347472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45720" cy="347472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468880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23B3B"/>
                </a:solidFill>
                <a:latin typeface="Source Code Pro"/>
              </a:rPr>
              <a:t>- if (endIndex &lt; 0) {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16352"/>
            <a:ext cx="5897880" cy="347472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45720" cy="347472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16352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if ((endIndex &lt; 0) || (endIndex &lt; startIndex))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63824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    emptyRange = true;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511296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5897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fix widens a guard to catch an empty range.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1280160"/>
            <a:ext cx="4873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1280160"/>
            <a:ext cx="64008" cy="1371600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35331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A23B3B"/>
                </a:solidFill>
                <a:latin typeface="Source Sans 3"/>
              </a:rPr>
              <a:t>Pre-fix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764792"/>
            <a:ext cx="4507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Code Pro"/>
              </a:rPr>
              <a:t>report · tests · trace ·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17627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Triage: no fix exists yet.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834639"/>
            <a:ext cx="4873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2834639"/>
            <a:ext cx="64008" cy="137160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2907791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F7D4F"/>
                </a:solidFill>
                <a:latin typeface="Source Sans 3"/>
              </a:rPr>
              <a:t>Post-fix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319272"/>
            <a:ext cx="4507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Code Pro"/>
              </a:rPr>
              <a:t>the same evidence + the fix diff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73075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Informed by the correction.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52628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HAS NO ODC LABELS, SO WE DEFINE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54864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Post-fix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the fix-informed reference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4340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434340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Pre-fix vs post-fix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does the triage label hold?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3816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813816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Labels differ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drift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Agreement is not correctness: we measure how closely a pre-fix label reproduces a better-informed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Research Questions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8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4475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4475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4475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84708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Which ODC types dominate, and does the mix differ by project?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39572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54203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4203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54203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94436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Do the seven types cover every bug, or is “Other” needed?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49300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363931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63931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4164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How often does the pre-fix label match the post-fix reference?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59028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473659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3659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73659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38927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What do (a) the taxonomy and (b) the enforced loop contribute?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410 bugs  ·  six Defects4J projects  ·  1,640 classifications.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Pipeline Overview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9 / 24</a:t>
            </a:r>
          </a:p>
        </p:txBody>
      </p:sp>
      <p:pic>
        <p:nvPicPr>
          <p:cNvPr id="14" name="Picture 13" descr="methodolog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706" y="1280160"/>
            <a:ext cx="956828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Evidence Collection: the Case File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10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98448"/>
            <a:ext cx="5577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CONTEXT.JSON  ·  ONE PER BUG AND EVIDENCE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64208"/>
            <a:ext cx="5577840" cy="4023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94560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"bug_report":        sanitized,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78608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"failing_tests":     name, message,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                     stack trace,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46704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"suspicious_frames": project frames,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"code_snippets":     ±12 / ±18 lines,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"coverage":          line, branch,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791F"/>
                </a:solidFill>
                <a:latin typeface="Source Code Pro"/>
              </a:rPr>
              <a:t>  "hidden_oracles":    modified classes,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F7D4F"/>
                </a:solidFill>
                <a:latin typeface="Source Code Pro"/>
              </a:rPr>
              <a:t>  "fix_diff":          post-fix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66944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746504"/>
            <a:ext cx="54864" cy="10058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6916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Suspicious frames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1031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Only frames in the project's own source; JUnit, JDK and build-tool frames are dropped.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118104"/>
            <a:ext cx="54864" cy="10058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632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Sanitized pre-fix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4747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Classes touched by the fix and “fixed in” discussion are removed.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489703"/>
            <a:ext cx="54864" cy="10058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4348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Hidden oracle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Modified classes are kept for evaluation, never put in the prompt.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Pre-fix and post-fix runs share one evidence store; only the fix diff differs.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Classification Conditions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11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6270"/>
                </a:solidFill>
                <a:latin typeface="Source Sans 3"/>
              </a:rPr>
              <a:t>A condition = taxonomy (label space) × strategy (reasoning).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783080"/>
            <a:ext cx="5074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open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651760"/>
            <a:ext cx="662940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2697480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76272" y="2770632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6272" y="2770632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zero-free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697480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697480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538728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3538728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few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538728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2" y="3611880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3611880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few-closed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3611880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3611880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few-open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379976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4379976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scientific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379976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67912" y="4453128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7912" y="4453128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scientific-closed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552" y="4453128"/>
            <a:ext cx="1545336" cy="69494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9552" y="4453128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scientific-open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urce Sans 3"/>
              </a:rPr>
              <a:t>default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221224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548640" y="5212080"/>
            <a:ext cx="6583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Five of nine combinations are valid: zero uses no taxonomy, and free defines none.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1783080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TAXONOMY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16712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16712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the model's own words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60920" y="269748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7360920" y="271576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closed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71576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one of the 7 ODC types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60920" y="324612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7360920" y="326440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open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26440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7 types + a justified “Other”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60920" y="379476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7360920" y="4041648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STRATEGY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425696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zero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425696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one plain prompt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60920" y="4956048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7360920" y="4974336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few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974336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definitions, tree, 5 examples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60920" y="5504688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7360920" y="5522975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scientific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5522975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enforced hypothesis–probe loop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60920" y="6053327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Prompt Design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12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188720"/>
            <a:ext cx="11091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Capitalised names are prompt components: defined once, or filled in per bug.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19072"/>
            <a:ext cx="5440680" cy="4206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719072"/>
            <a:ext cx="50749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ource Code Pro"/>
              </a:rPr>
              <a:t>few-open</a:t>
            </a:r>
            <a:r>
              <a:rPr sz="1500" b="0" i="0">
                <a:solidFill>
                  <a:srgbClr val="FFFFFF"/>
                </a:solidFill>
                <a:latin typeface="Source Code Pro"/>
              </a:rPr>
              <a:t>     one call, one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31720"/>
            <a:ext cx="5440680" cy="1371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31720"/>
            <a:ext cx="54864" cy="13716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38658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368296"/>
            <a:ext cx="393192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ODC_TAXONOMY  ANTI_BIAS_RULES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DECISION_TREE      (7 questions)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FEW_SHOT_EXAMPLES  (5 bugs)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OUTPUT_SCHEMA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68980" y="3703320"/>
            <a:ext cx="0" cy="246888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548640" y="3950208"/>
            <a:ext cx="54406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50208"/>
            <a:ext cx="54864" cy="566928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05072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270"/>
                </a:solidFill>
                <a:latin typeface="Source Code Pro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986784"/>
            <a:ext cx="393192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BUG_CONTEXT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68980" y="4517136"/>
            <a:ext cx="0" cy="246888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548640" y="4764024"/>
            <a:ext cx="5440680" cy="56692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64024"/>
            <a:ext cx="54864" cy="56692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18888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4F"/>
                </a:solidFill>
                <a:latin typeface="Source Code Pro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800600"/>
            <a:ext cx="393192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one JSON 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719072"/>
            <a:ext cx="5440680" cy="4206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719072"/>
            <a:ext cx="50749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ource Code Pro"/>
              </a:rPr>
              <a:t>scientific-open</a:t>
            </a:r>
            <a:r>
              <a:rPr sz="1500" b="0" i="0">
                <a:solidFill>
                  <a:srgbClr val="FFFFFF"/>
                </a:solidFill>
                <a:latin typeface="Source Code Pro"/>
              </a:rPr>
              <a:t>     up to 6 turns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2331720"/>
            <a:ext cx="5440680" cy="914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2331720"/>
            <a:ext cx="54864" cy="9144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38658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2368296"/>
            <a:ext cx="3931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ODC_TAXONOMY  ANTI_BIAS_RULES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PROBE_CATALOGUE  TURN_SCHEMA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19972" y="3246120"/>
            <a:ext cx="0" cy="210312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6199632" y="3456432"/>
            <a:ext cx="5440680" cy="49377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9632" y="3456432"/>
            <a:ext cx="54864" cy="493776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511296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270"/>
                </a:solidFill>
                <a:latin typeface="Source Code Pro"/>
              </a:rPr>
              <a:t>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3493008"/>
            <a:ext cx="39319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BUG_CONTEXT (summary)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9904" y="4114800"/>
            <a:ext cx="566013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14223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Sans 3"/>
              </a:rPr>
              <a:t>EACH TURN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4443984"/>
            <a:ext cx="5440680" cy="43891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4443984"/>
            <a:ext cx="54864" cy="43891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498848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4480560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hypothesis · prediction · probe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4919472"/>
            <a:ext cx="5440680" cy="438912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4919472"/>
            <a:ext cx="54864" cy="43891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74336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7791F"/>
                </a:solidFill>
                <a:latin typeface="Source Code Pro"/>
              </a:rPr>
              <a:t>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5512" y="4956048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PROBE_RESULT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58600" y="4114800"/>
            <a:ext cx="502920" cy="1298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284C"/>
                </a:solidFill>
                <a:latin typeface="Source Sans 3"/>
              </a:rPr>
              <a:t>×6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919972" y="5413248"/>
            <a:ext cx="0" cy="210312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54" name="Rectangle 53"/>
          <p:cNvSpPr/>
          <p:nvPr/>
        </p:nvSpPr>
        <p:spPr>
          <a:xfrm>
            <a:off x="6199632" y="5623560"/>
            <a:ext cx="5440680" cy="50292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9632" y="5623560"/>
            <a:ext cx="54864" cy="50292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67842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4F"/>
                </a:solidFill>
                <a:latin typeface="Source Code Pro"/>
              </a:rPr>
              <a:t>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5512" y="5660136"/>
            <a:ext cx="39319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conclude → ODC defect 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623560"/>
            <a:ext cx="544068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5A6270"/>
                </a:solidFill>
                <a:latin typeface="Source Sans 3"/>
              </a:rPr>
              <a:t>The taxonomy and the evidence are identical in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The Enforced Scientific Reasoning Loop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13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commit to a type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35224" y="1965960"/>
            <a:ext cx="475488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3465576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65576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evidence that must exist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59" y="1965960"/>
            <a:ext cx="475489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6382512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Probe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request that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9096" y="1965960"/>
            <a:ext cx="475488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9299448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9448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Observation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read what came 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65308" y="2468880"/>
            <a:ext cx="0" cy="411480"/>
          </a:xfrm>
          <a:prstGeom prst="line">
            <a:avLst/>
          </a:prstGeom>
          <a:ln w="19050">
            <a:solidFill>
              <a:srgbClr val="12284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1714500" y="2880360"/>
            <a:ext cx="8750808" cy="0"/>
          </a:xfrm>
          <a:prstGeom prst="line">
            <a:avLst/>
          </a:prstGeom>
          <a:ln w="19050">
            <a:solidFill>
              <a:srgbClr val="12284C"/>
            </a:solidFill>
            <a:prstDash val="dash"/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714500" y="2505456"/>
            <a:ext cx="0" cy="374904"/>
          </a:xfrm>
          <a:prstGeom prst="line">
            <a:avLst/>
          </a:prstGeom>
          <a:ln w="19050">
            <a:solidFill>
              <a:srgbClr val="12284C"/>
            </a:solidFill>
            <a:prstDash val="dash"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2926080" y="2898648"/>
            <a:ext cx="6309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next turn while the evidence is insufficient  ·  at most 6 turns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08592" y="3355848"/>
            <a:ext cx="2331720" cy="50292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3355848"/>
            <a:ext cx="2331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Conclude: ODC label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55848"/>
            <a:ext cx="85039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Adapted from AutoSD [17, 18]: from locating a fault to naming its type.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3192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FIVE PROBES, EXECUTED AGAINST THE EVIDENCE STORE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15968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315968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list_evidence()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315968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what evidence exists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59" y="4315968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315968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full_stack_trace(test)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315968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trace and message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937759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937759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snippet(class)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937759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source snippets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59" y="4937759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937759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coverage(class)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937759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line and branch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559552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559552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bug_report()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5559552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the full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480560"/>
            <a:ext cx="3136392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1">
                <a:solidFill>
                  <a:srgbClr val="1C2128"/>
                </a:solidFill>
                <a:latin typeface="Source Sans 3"/>
              </a:rPr>
              <a:t>The prediction is fixed before the evidence arrives, so a first guess cannot be rationalised.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Evaluation Framework: Four Tiers of Agreement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14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309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TIERS 1–3 ARE NESTED: STRICT INSIDE FORGIVING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91640"/>
            <a:ext cx="6309360" cy="77724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91640"/>
            <a:ext cx="6035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5A6270"/>
                </a:solidFill>
                <a:latin typeface="Source Sans 3"/>
              </a:rPr>
              <a:t>Tier 3   Family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075688"/>
            <a:ext cx="6035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both types in the same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2560320"/>
            <a:ext cx="4846320" cy="777240"/>
          </a:xfrm>
          <a:prstGeom prst="rect">
            <a:avLst/>
          </a:prstGeom>
          <a:solidFill>
            <a:srgbClr val="C9D3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256032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Tier 2   Top-2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944368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either label is the other's alternative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29000"/>
            <a:ext cx="3383280" cy="777240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429000"/>
            <a:ext cx="3108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Tier 1   Strict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81304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ource Sans 3"/>
              </a:rPr>
              <a:t>the same ODC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6309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Three types cover 97.8% of labels, so shuffled labels still reach &gt;92% on Tiers 2–3: we use them to grade disagreements, not as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1280160"/>
            <a:ext cx="44622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TIER 4  ·  COHEN'S KAPPA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600200"/>
            <a:ext cx="4462272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1">
                <a:solidFill>
                  <a:srgbClr val="1C2128"/>
                </a:solidFill>
                <a:latin typeface="Source Sans 3"/>
              </a:rPr>
              <a:t>κ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 =  (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o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− 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)  /  (1 − 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286000"/>
            <a:ext cx="4462272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1700" b="0" i="0" baseline="-25000">
                <a:solidFill>
                  <a:srgbClr val="1C2128"/>
                </a:solidFill>
                <a:latin typeface="Source Sans 3"/>
              </a:rPr>
              <a:t>o</a:t>
            </a:r>
            <a:r>
              <a:rPr sz="1700" b="0" i="0">
                <a:solidFill>
                  <a:srgbClr val="5A6270"/>
                </a:solidFill>
                <a:latin typeface="Source Sans 3"/>
              </a:rPr>
              <a:t> is observed agreement, </a:t>
            </a:r>
            <a:r>
              <a:rPr sz="1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1700" b="0" i="0" baseline="-25000">
                <a:solidFill>
                  <a:srgbClr val="1C2128"/>
                </a:solidFill>
                <a:latin typeface="Source Sans 3"/>
              </a:rPr>
              <a:t>e</a:t>
            </a:r>
            <a:r>
              <a:rPr sz="1700" b="0" i="0">
                <a:solidFill>
                  <a:srgbClr val="5A6270"/>
                </a:solidFill>
                <a:latin typeface="Source Sans 3"/>
              </a:rPr>
              <a:t> the agreement expected by chance.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4114800"/>
            <a:ext cx="892454" cy="310896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44398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slight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0494" y="4114800"/>
            <a:ext cx="892454" cy="310896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0494" y="444398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fair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2948" y="4114800"/>
            <a:ext cx="892454" cy="310896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2948" y="444398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moderate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55403" y="4114800"/>
            <a:ext cx="892454" cy="310896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5403" y="444398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substantial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47857" y="4114800"/>
            <a:ext cx="892454" cy="310896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7857" y="444398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almost perfect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7771" y="3968496"/>
            <a:ext cx="27432" cy="603504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8527" y="3602736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κ = 0.505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754880"/>
            <a:ext cx="44622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Landis–Koch bands [27]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Why the Post-Fix Label Is a Valid Reference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15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675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HUMAN AGREEMENT ON ODC-STYLE CLASSIFICATION RISES WITH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2194560"/>
            <a:ext cx="0" cy="228600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051560" y="4480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431596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0.0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1560" y="3337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17296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1560" y="2194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202996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810512"/>
            <a:ext cx="1280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1">
                <a:solidFill>
                  <a:srgbClr val="8A919C"/>
                </a:solidFill>
                <a:latin typeface="Source Sans 3"/>
              </a:rPr>
              <a:t>κ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536192" y="2880360"/>
            <a:ext cx="2035454" cy="1234440"/>
          </a:xfrm>
          <a:prstGeom prst="line">
            <a:avLst/>
          </a:prstGeom>
          <a:ln w="25400">
            <a:solidFill>
              <a:srgbClr val="12284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3571646" y="2354579"/>
            <a:ext cx="1986991" cy="525781"/>
          </a:xfrm>
          <a:prstGeom prst="line">
            <a:avLst/>
          </a:prstGeom>
          <a:ln w="25400">
            <a:solidFill>
              <a:srgbClr val="12284C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1435607" y="4014215"/>
            <a:ext cx="201168" cy="201168"/>
          </a:xfrm>
          <a:prstGeom prst="ellipse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3584448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A23B3B"/>
                </a:solidFill>
                <a:latin typeface="Source Sans 3"/>
              </a:rPr>
              <a:t>0.16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4672583"/>
            <a:ext cx="164592" cy="164592"/>
          </a:xfrm>
          <a:prstGeom prst="ellipse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590288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fault descriptions only [22]</a:t>
            </a:r>
          </a:p>
        </p:txBody>
      </p:sp>
      <p:sp>
        <p:nvSpPr>
          <p:cNvPr id="29" name="Oval 28"/>
          <p:cNvSpPr/>
          <p:nvPr/>
        </p:nvSpPr>
        <p:spPr>
          <a:xfrm>
            <a:off x="3471062" y="2779776"/>
            <a:ext cx="201168" cy="20116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8686" y="2350008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7791F"/>
                </a:solidFill>
                <a:latin typeface="Source Sans 3"/>
              </a:rPr>
              <a:t>0.70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" y="5020055"/>
            <a:ext cx="164592" cy="16459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59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full repository context [25]</a:t>
            </a:r>
          </a:p>
        </p:txBody>
      </p:sp>
      <p:sp>
        <p:nvSpPr>
          <p:cNvPr id="33" name="Oval 32"/>
          <p:cNvSpPr/>
          <p:nvPr/>
        </p:nvSpPr>
        <p:spPr>
          <a:xfrm>
            <a:off x="5458053" y="2253996"/>
            <a:ext cx="201168" cy="201168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5677" y="1824227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0.93</a:t>
            </a:r>
          </a:p>
        </p:txBody>
      </p:sp>
      <p:sp>
        <p:nvSpPr>
          <p:cNvPr id="35" name="Oval 34"/>
          <p:cNvSpPr/>
          <p:nvPr/>
        </p:nvSpPr>
        <p:spPr>
          <a:xfrm>
            <a:off x="1051560" y="5367527"/>
            <a:ext cx="164592" cy="164592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285231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full code and change [26]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280160"/>
            <a:ext cx="46908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OUR DATA BEHAVE THE SAME 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92024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2284C"/>
                </a:solidFill>
                <a:latin typeface="Source Sans 3"/>
              </a:rPr>
              <a:t>68.0% → 76.3%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423160"/>
            <a:ext cx="4690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strategy agreement, without → with the fix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49440" y="288036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949440" y="329184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2284C"/>
                </a:solidFill>
                <a:latin typeface="Source Sans 3"/>
              </a:rPr>
              <a:t>6 of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794760"/>
            <a:ext cx="4690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projects agree more once the fix is visible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49440" y="425196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48640" y="5669280"/>
            <a:ext cx="64008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669280"/>
            <a:ext cx="108813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The run that sees the fix is better informed — but two labels can agree and both be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Experimental Setup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16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858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410 BUGS  ·  ONE SQUARE PER 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33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801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630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45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89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33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035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521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15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972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801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630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288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16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45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774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432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260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33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062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891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377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1206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3035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521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15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4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972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801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630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459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8288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116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1945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3774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603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432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260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089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2918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576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404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33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062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3891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548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9377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1206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035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6692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8521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86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315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44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972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2801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4630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459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8288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116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1945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774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5603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7432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260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1089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2918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747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576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404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33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062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891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5720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548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77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206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035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4864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6692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8521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864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3152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1440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72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801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4630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459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8288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0116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945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3774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5603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9260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1089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2918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747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576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404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33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2062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3891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5720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7548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9377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1206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3035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4864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692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8521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486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15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44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972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801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4630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288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0116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1945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774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603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432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9260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1089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2918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747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576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8404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0233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2062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3891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5720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7548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9377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1206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3035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4864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692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8521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86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15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144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972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2801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630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459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288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0116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1945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3774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5603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7432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9260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1089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2918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4747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6576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8404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0233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2062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3891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5720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7548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9377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1206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3035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4864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6692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8521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486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315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144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972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801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4630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6459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288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0116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1945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3774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5603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7432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9260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1089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32918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4747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576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8404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0233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20624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38912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7200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75488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9377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12064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30352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48640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66928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58521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486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144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972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801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4630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8288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0116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1945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3774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603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7432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9260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1089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2918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4747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6576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8404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0233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2062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3891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5720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7548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9377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1206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3035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54864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56692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8521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486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15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144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972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2801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4630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6459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8288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116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945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3774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5603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7432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9260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1089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2918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4747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576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8404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0233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20624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38912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7200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75488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93776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12064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30352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548640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66928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85216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486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144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972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801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4630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459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8288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0116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1945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3774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5603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7432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9260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1089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2918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4747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576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8404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0233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2062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3891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5720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7548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9377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1206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53035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4864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5669280" y="370332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852160" y="370332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486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315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144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972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2801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4630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6459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8288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0116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945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3774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5603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432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9260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1089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2918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4747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6576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8404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0233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42062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43891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5720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47548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493776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12064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530352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48640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66928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85216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486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15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9144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972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2801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4630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6459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8288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0116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1945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3774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5603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7432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9260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1089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2918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4747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576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8404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0233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548640" y="4507992"/>
            <a:ext cx="201168" cy="2011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41247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Closure  153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2651760" y="4507992"/>
            <a:ext cx="201168" cy="201168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2944368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Math  106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4754879" y="4507992"/>
            <a:ext cx="201168" cy="20116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5047488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Lang  61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548640" y="4919472"/>
            <a:ext cx="201168" cy="201168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841247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Mockito  38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2651760" y="4919472"/>
            <a:ext cx="201168" cy="201168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2944368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Chart  26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4754879" y="4919472"/>
            <a:ext cx="201168" cy="201168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5047488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Time  26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7223760" y="1280160"/>
            <a:ext cx="44165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MODELS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7223760" y="1645920"/>
            <a:ext cx="32918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gemini-3.1-flash-lite-preview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515600" y="1645920"/>
            <a:ext cx="11247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410 bugs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7223760" y="2103120"/>
            <a:ext cx="441655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1" name="TextBox 440"/>
          <p:cNvSpPr txBox="1"/>
          <p:nvPr/>
        </p:nvSpPr>
        <p:spPr>
          <a:xfrm>
            <a:off x="7223760" y="2121408"/>
            <a:ext cx="32918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gpt-5-mini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0515600" y="2121408"/>
            <a:ext cx="11247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13 bugs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7223760" y="2578608"/>
            <a:ext cx="441655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4" name="TextBox 443"/>
          <p:cNvSpPr txBox="1"/>
          <p:nvPr/>
        </p:nvSpPr>
        <p:spPr>
          <a:xfrm>
            <a:off x="7223760" y="2880360"/>
            <a:ext cx="44165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EVERY BUG, FOUR TIMES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223760" y="3291840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284C"/>
                </a:solidFill>
                <a:latin typeface="Source Sans 3"/>
              </a:rPr>
              <a:t>2 conditions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7223760" y="3675888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scientific-open and few-open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7223760" y="4133088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284C"/>
                </a:solidFill>
                <a:latin typeface="Source Sans 3"/>
              </a:rPr>
              <a:t>2 evidence modes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7223760" y="4517136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pre-fix and post-fix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7223760" y="4974336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2284C"/>
                </a:solidFill>
                <a:latin typeface="Source Sans 3"/>
              </a:rPr>
              <a:t>1,640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7223760" y="5358384"/>
            <a:ext cx="4416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classifications, plus a zero-free baseline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548640" y="5623560"/>
            <a:ext cx="64008" cy="4572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777240" y="5623560"/>
            <a:ext cx="108813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Reporting follows the guidelines for empirical studies with LLMs [28].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RQ1–RQ2: Distribution and Coverage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17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858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RQ1  ·  410 PRE-FIX LABELS, ONE SQUARE PER 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33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801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630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45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89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33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035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521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15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972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801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630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288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16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45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774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432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260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33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062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891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377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1206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3035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521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15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4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972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801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630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459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8288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116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1945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3774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603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432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260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089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2918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576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404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33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062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3891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548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9377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1206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035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6692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8521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86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315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44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972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2801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4630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459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8288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116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1945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774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5603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7432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260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1089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2918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747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576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404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33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062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891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5720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548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77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206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035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4864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6692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8521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86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315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144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72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801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4630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459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8288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0116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945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3774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5603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9260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1089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2918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747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576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404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33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2062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3891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5720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7548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9377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1206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3035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4864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692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8521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486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15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44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972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801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4630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288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0116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1945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774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603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432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9260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1089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2918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747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576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8404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0233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20624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38912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57200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7548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9377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12064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30352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48640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692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8521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86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15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144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972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2801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630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459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288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0116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1945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3774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5603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7432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9260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1089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2918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4747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6576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8404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0233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2062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3891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5720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7548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9377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1206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3035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4864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6692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8521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486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315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144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972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801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4630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6459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288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0116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1945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3774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5603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7432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9260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1089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32918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4747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576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8404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0233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2062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3891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720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7548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9377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1206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3035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4864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6692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58521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486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144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972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801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4630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8288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0116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1945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3774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603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7432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9260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1089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2918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4747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6576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8404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0233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2062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3891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5720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7548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9377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1206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3035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54864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56692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8521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486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15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144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972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2801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4630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6459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8288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116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945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3774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5603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7432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9260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1089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2918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4747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576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8404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0233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2062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3891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720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7548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9377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1206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3035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54864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6692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8521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486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144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972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801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4630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459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8288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0116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1945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3774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5603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7432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9260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1089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2918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4747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576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8404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0233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2062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3891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5720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7548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9377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1206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53035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4864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56692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8521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486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315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144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9728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28016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4630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6459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8288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01168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9456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3774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5603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432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9260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1089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2918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4747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6576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8404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0233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42062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43891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5720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47548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49377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1206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53035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4864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6692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8521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486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152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91440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9728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28016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4630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64592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82880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01168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19456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3774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56032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74320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92608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10896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29184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47472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5760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84048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023360" y="4041648"/>
            <a:ext cx="141732" cy="141732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548640" y="4462272"/>
            <a:ext cx="201168" cy="201168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41247" y="4389120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Checking  48.3%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4023359" y="4462272"/>
            <a:ext cx="201168" cy="201168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4315968" y="4389120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Algorithm/Method  42.7%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548640" y="4864608"/>
            <a:ext cx="201168" cy="201168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841247" y="4791456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Assignment  6.8%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4023359" y="4864608"/>
            <a:ext cx="201168" cy="201168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4315968" y="4791456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Relationship  1.2%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548640" y="5266944"/>
            <a:ext cx="201168" cy="201168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41247" y="5193792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Function/Class  0.7%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4023359" y="5266944"/>
            <a:ext cx="201168" cy="201168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315968" y="5193792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Interface  0.2%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548640" y="5669280"/>
            <a:ext cx="6675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12284C"/>
                </a:solidFill>
                <a:latin typeface="Source Sans 3"/>
              </a:rPr>
              <a:t>97.8%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 in three Control and Data Flow types; Timing never occurs. Mix by project: scientific </a:t>
            </a:r>
            <a:r>
              <a:rPr sz="1600" b="1" i="0">
                <a:solidFill>
                  <a:srgbClr val="1C2128"/>
                </a:solidFill>
                <a:latin typeface="Source Sans 3"/>
              </a:rPr>
              <a:t>p = 0.096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, few-shot </a:t>
            </a:r>
            <a:r>
              <a:rPr sz="1600" b="1" i="0">
                <a:solidFill>
                  <a:srgbClr val="1C2128"/>
                </a:solidFill>
                <a:latin typeface="Source Sans 3"/>
              </a:rPr>
              <a:t>p = 0.010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.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7635240" y="1280160"/>
            <a:ext cx="4005072" cy="46177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7909560" y="1417320"/>
            <a:ext cx="35478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RQ2  ·  THE “OTHER” CATEGORY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7909560" y="1737360"/>
            <a:ext cx="3547872" cy="1051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12284C"/>
                </a:solidFill>
                <a:latin typeface="Source Sans 3"/>
              </a:rPr>
              <a:t>0</a:t>
            </a:r>
            <a:r>
              <a:rPr sz="2400" b="0" i="0">
                <a:solidFill>
                  <a:srgbClr val="5A6270"/>
                </a:solidFill>
                <a:latin typeface="Source Sans 3"/>
              </a:rPr>
              <a:t>  of 1,640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909560" y="2788920"/>
            <a:ext cx="35478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classifications chose “Other”, although it was offered every time.</a:t>
            </a:r>
          </a:p>
        </p:txBody>
      </p:sp>
      <p:cxnSp>
        <p:nvCxnSpPr>
          <p:cNvPr id="442" name="Connector 441"/>
          <p:cNvCxnSpPr/>
          <p:nvPr/>
        </p:nvCxnSpPr>
        <p:spPr>
          <a:xfrm>
            <a:off x="7909560" y="3566160"/>
            <a:ext cx="34564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3" name="TextBox 442"/>
          <p:cNvSpPr txBox="1"/>
          <p:nvPr/>
        </p:nvSpPr>
        <p:spPr>
          <a:xfrm>
            <a:off x="7909560" y="3886200"/>
            <a:ext cx="11887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≤ 0.2%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144000" y="3886200"/>
            <a:ext cx="2221991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95% upper bound on the escape rate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909560" y="4754880"/>
            <a:ext cx="11887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6 of 7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9144000" y="4754880"/>
            <a:ext cx="2221991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ODC types actually used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RQ3: Agreement with the Fix-Informed Reference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18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12284C"/>
                </a:solidFill>
                <a:latin typeface="Source Sans 3"/>
              </a:rPr>
              <a:t>70.2%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280160"/>
            <a:ext cx="402336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1C2128"/>
                </a:solidFill>
                <a:latin typeface="Source Sans 3"/>
              </a:rPr>
              <a:t>of pre-fix labels match the post-fix reference exactly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234440"/>
            <a:ext cx="4142232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95% CI [65.6, 74.9]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4028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ALL 410 BUGS (SCIENTIFIC-OPEN)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78608"/>
            <a:ext cx="7786353" cy="65836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78608"/>
            <a:ext cx="7786353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exact match  70.2%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4993" y="2578608"/>
            <a:ext cx="3028026" cy="65836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993" y="2578608"/>
            <a:ext cx="3028026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near miss  27.3%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63020" y="2578608"/>
            <a:ext cx="266200" cy="65836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73552"/>
            <a:ext cx="8778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near miss: one label is the other's alternative, or both share a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73552"/>
            <a:ext cx="231343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23B3B"/>
                </a:solidFill>
                <a:latin typeface="Source Sans 3"/>
              </a:rPr>
              <a:t>unrelated  2.4%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5669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CHANCE-CORRECTED AGREEMENT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1133856" cy="310896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82496" y="4709160"/>
            <a:ext cx="1133856" cy="310896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82496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fair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4709160"/>
            <a:ext cx="1133855" cy="310896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5038344"/>
            <a:ext cx="113385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7" y="4709160"/>
            <a:ext cx="1133856" cy="310896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0207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substantial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4" y="4709160"/>
            <a:ext cx="1133855" cy="310896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5038344"/>
            <a:ext cx="113385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almost perfect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7910" y="4562856"/>
            <a:ext cx="27432" cy="603504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88666" y="4197096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κ = 0.505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5669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few-shot reaches κ = 0.389 (fair)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931920"/>
            <a:ext cx="48737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WHERE THE DISAGREEMENT COMES FROM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79392"/>
            <a:ext cx="487375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Two fix-aware classifications agree only </a:t>
            </a:r>
            <a:r>
              <a:rPr sz="1700" b="1" i="0">
                <a:solidFill>
                  <a:srgbClr val="1C2128"/>
                </a:solidFill>
                <a:latin typeface="Source Sans 3"/>
              </a:rPr>
              <a:t>76.3%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 of the time. Pre-fix sits about 6 points below that ceiling; the rest is ODC boundary ambiguity.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440680"/>
            <a:ext cx="4873752" cy="65836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5440680"/>
            <a:ext cx="10515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2284C"/>
                </a:solidFill>
                <a:latin typeface="Source Sans 3"/>
              </a:rPr>
              <a:t>93.2%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440680"/>
            <a:ext cx="3364992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name the reference type as the label or as a recorded alternative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RQ3: How Labels Change When the Fix Is Visible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19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61872"/>
            <a:ext cx="6949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PRE-FIX LABEL (ROW)  →  POST-FIX LABEL (COLUMN)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Checking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other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" y="2148840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Checking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21991" y="2176272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0712" y="2176272"/>
            <a:ext cx="1133856" cy="6583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2176272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88152" y="2176272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" y="2862072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Algorithm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21991" y="2889503"/>
            <a:ext cx="1133856" cy="6583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0712" y="2889503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9432" y="2889503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88152" y="2889503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" y="3575304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Assignment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21991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9432" y="3602736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88152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1" y="4288536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other types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1991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10712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9432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88152" y="4315968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21991" y="2176272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10712" y="2889503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9432" y="3602736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88152" y="4315968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138928"/>
            <a:ext cx="6949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D4F"/>
                </a:solidFill>
                <a:latin typeface="Source Sans 3"/>
              </a:rPr>
              <a:t>outlined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  the label did not change        </a:t>
            </a:r>
            <a:r>
              <a:rPr sz="1500" b="1" i="0">
                <a:solidFill>
                  <a:srgbClr val="12284C"/>
                </a:solidFill>
                <a:latin typeface="Source Sans 3"/>
              </a:rPr>
              <a:t>darker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  more bugs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550408"/>
            <a:ext cx="7315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The two dark cells cancel out: 38 bugs move one way, 37 the other.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15087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29.8%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20756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of bugs change label (122 of 410)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863840" y="2697480"/>
            <a:ext cx="37764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863840" y="28803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80.3%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34472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of changes stay in these three types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863840" y="4069080"/>
            <a:ext cx="37764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7863840" y="42519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0.051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8188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total variation distance: the mix barely moves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Algorithm/Method vs Checking is also the boundary that human raters confuse [22].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RQ4a: Contribution of the ODC Taxonomy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20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5760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A23B3B"/>
                </a:solidFill>
                <a:latin typeface="Source Sans 3"/>
              </a:rPr>
              <a:t>366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  different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760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when the model writes its own (zero-free, 410 bugs)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09160"/>
            <a:ext cx="5760720" cy="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40080" y="400812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86181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30708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48640" y="316077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60604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245973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606040"/>
            <a:ext cx="105156" cy="2103120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3" y="4148328"/>
            <a:ext cx="105156" cy="560832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1288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7592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53895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46504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9280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3911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5415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78024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2432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7063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16936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3239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9544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584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215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48456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41063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8736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367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9704" y="4568952"/>
            <a:ext cx="1865376" cy="140208"/>
          </a:xfrm>
          <a:prstGeom prst="rect">
            <a:avLst/>
          </a:prstGeom>
          <a:solidFill>
            <a:srgbClr val="E3BE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489704" y="4873752"/>
            <a:ext cx="1865376" cy="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3941064" y="4928616"/>
            <a:ext cx="29626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23B3B"/>
                </a:solidFill>
                <a:latin typeface="Source Sans 3"/>
              </a:rPr>
              <a:t>342 labels used exactly once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221992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“Null Pointer Dereference”  15 bugs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230368"/>
            <a:ext cx="59436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The same bug (Chart_9), written twice: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“Improper input validation logic”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600" b="0" i="0">
                <a:solidFill>
                  <a:srgbClr val="2F7D4F"/>
                </a:solidFill>
                <a:latin typeface="Source Sans 3"/>
              </a:rPr>
              <a:t>“Incorrect boundary condition logic”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23444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6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  comparable labels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1737360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with the ODC taxonomy (scientific-open)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2194560"/>
            <a:ext cx="2265347" cy="731520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194560"/>
            <a:ext cx="2265347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198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4787" y="2194560"/>
            <a:ext cx="2002201" cy="731520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14787" y="2194560"/>
            <a:ext cx="2002201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175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16989" y="2194560"/>
            <a:ext cx="320352" cy="731520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37341" y="2194560"/>
            <a:ext cx="57205" cy="731520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94547" y="2194560"/>
            <a:ext cx="34323" cy="731520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28870" y="2194560"/>
            <a:ext cx="27432" cy="731520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017520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every bug lands in one of six buckets that can be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3611880"/>
            <a:ext cx="2377440" cy="384048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Condition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611880"/>
            <a:ext cx="2313432" cy="384048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Same label, both modes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949440" y="4041648"/>
            <a:ext cx="4690872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949440" y="4087368"/>
            <a:ext cx="23774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zero-free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4087368"/>
            <a:ext cx="2313432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A23B3B"/>
                </a:solidFill>
                <a:latin typeface="Source Sans 3"/>
              </a:rPr>
              <a:t>15.1%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949440" y="4581144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949440" y="4581144"/>
            <a:ext cx="23774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few-open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4581144"/>
            <a:ext cx="2313432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66.6%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949440" y="507492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949440" y="5074920"/>
            <a:ext cx="23774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scientific-open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5074920"/>
            <a:ext cx="2313432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70.2%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949440" y="5568696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75" name="Rectangle 74"/>
          <p:cNvSpPr/>
          <p:nvPr/>
        </p:nvSpPr>
        <p:spPr>
          <a:xfrm>
            <a:off x="6949440" y="5760720"/>
            <a:ext cx="64008" cy="50292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5760720"/>
            <a:ext cx="4416552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A fixed taxonomy lets us count anything at 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RQ4b: Contribution of the Scientific Loop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21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457200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2284C"/>
                </a:solidFill>
                <a:latin typeface="Source Sans 3"/>
              </a:rPr>
              <a:t>Δκ = +0.115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270"/>
                </a:solidFill>
                <a:latin typeface="Source Sans 3"/>
              </a:rPr>
              <a:t>κ 0.389</a:t>
            </a:r>
            <a:r>
              <a:rPr sz="2000" b="0" i="0">
                <a:solidFill>
                  <a:srgbClr val="1C2128"/>
                </a:solidFill>
                <a:latin typeface="Source Sans 3"/>
              </a:rPr>
              <a:t>  →  </a:t>
            </a:r>
            <a:r>
              <a:rPr sz="2000" b="1" i="0">
                <a:solidFill>
                  <a:srgbClr val="12284C"/>
                </a:solidFill>
                <a:latin typeface="Source Sans 3"/>
              </a:rPr>
              <a:t>0.505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4846320" cy="86868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4480560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Statistically significant: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95% CI [0.026, 0.208],  p ≈ 0.012  (paired bootstrap)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70332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749039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39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projects improve; sign test p = 0.016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57200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4617720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p = 0.221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17720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McNemar on raw agreement: few-shot's 265 Algorithm labels inflate chance agreement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44068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48640" y="5486400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486400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smallest gain (+0.065); its interval still includes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234440"/>
            <a:ext cx="57881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PER-PROJECT Κ  ·  EVERY PROJECT IMPROVES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55080" y="5257800"/>
            <a:ext cx="5285232" cy="0"/>
          </a:xfrm>
          <a:prstGeom prst="line">
            <a:avLst/>
          </a:prstGeom>
          <a:ln w="9525">
            <a:solidFill>
              <a:srgbClr val="8A919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852160" y="509320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80" y="4190999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5852160" y="402640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0.25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3124200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852160" y="295960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0.50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55080" y="2057400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852160" y="189280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3768547"/>
            <a:ext cx="283143" cy="1489252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30831" y="2390241"/>
            <a:ext cx="283143" cy="286755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006193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Chart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9980" y="2966313"/>
            <a:ext cx="283143" cy="229148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88843" y="2684678"/>
            <a:ext cx="283143" cy="2573121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0252" y="2300630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4532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Math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7991" y="3137001"/>
            <a:ext cx="283143" cy="2120798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46855" y="2927908"/>
            <a:ext cx="283143" cy="2329891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264" y="2543860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2543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Lang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76004" y="4097121"/>
            <a:ext cx="283143" cy="1160678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4867" y="3128467"/>
            <a:ext cx="283143" cy="21293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6276" y="2744419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0556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Mockito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34016" y="4353153"/>
            <a:ext cx="283143" cy="90464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2879" y="3209544"/>
            <a:ext cx="283143" cy="2048255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4288" y="2825496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8568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92028" y="4003243"/>
            <a:ext cx="283143" cy="125455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220891" y="3725875"/>
            <a:ext cx="283143" cy="15319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2300" y="3341827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36580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Closure</a:t>
            </a:r>
          </a:p>
        </p:txBody>
      </p:sp>
      <p:sp>
        <p:nvSpPr>
          <p:cNvPr id="60" name="Oval 59"/>
          <p:cNvSpPr/>
          <p:nvPr/>
        </p:nvSpPr>
        <p:spPr>
          <a:xfrm>
            <a:off x="7223760" y="5797296"/>
            <a:ext cx="182880" cy="182880"/>
          </a:xfrm>
          <a:prstGeom prst="ellipse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9792" y="5715000"/>
            <a:ext cx="1051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few-shot</a:t>
            </a:r>
          </a:p>
        </p:txBody>
      </p:sp>
      <p:sp>
        <p:nvSpPr>
          <p:cNvPr id="62" name="Oval 61"/>
          <p:cNvSpPr/>
          <p:nvPr/>
        </p:nvSpPr>
        <p:spPr>
          <a:xfrm>
            <a:off x="8595360" y="5797296"/>
            <a:ext cx="182880" cy="182880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51392" y="5715000"/>
            <a:ext cx="1234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scientific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Qualitative Analysis of Thirteen Bugs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22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5394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FAILURE MODES WE FOUND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19072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19072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Symptom-site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719072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Chart_17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label follows where the exception surfaced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Bug-report anchoring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43200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Math_90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27248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a fix suggested in the report becomes the label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67328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67328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Surface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767328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Math_23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51376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post-fix label follows the patch shape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91456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91456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Underdetermined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791456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Lang_20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two valid fixes imply two ODC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280160"/>
            <a:ext cx="52852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WHERE THE DEVELOPER HAD A CHOICE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719072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755648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Math_90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737360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Comparable check (CHK)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2139696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 typed overload (INT)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743200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779776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Math_17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761488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range check (CHK)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163824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both: check +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767328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03904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Time_3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785615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better arithmetic (ALG)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187952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amount != 0 guards (CHK)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791456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828032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Lang_20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809744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null check (CHK)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5212080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 new capacity (ASN)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64008" cy="4572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52160"/>
            <a:ext cx="108813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It records the repair chosen — for </a:t>
            </a:r>
            <a:r>
              <a:rPr sz="1800" b="1" i="0">
                <a:solidFill>
                  <a:srgbClr val="12284C"/>
                </a:solidFill>
                <a:latin typeface="Source Sans 3"/>
              </a:rPr>
              <a:t>77%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of changed labels that type is already a recorded alternative.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Threats to Validity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23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17320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17320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325880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non-deterministic output; evidence sanitized against fix leakage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231136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368296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68296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Construct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276856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agreement is a proxy; the modified class is absent for 285 of 410 bugs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8211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548640" y="3319272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19272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27832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6 of 17 projects; corpus results from one model; Java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13308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4270248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70248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178808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one run per condition; resampled values are estimates; a single rater for 13 bugs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084064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5221224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21224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129784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possible pre-training exposure; confidence fields are not a usable signal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03504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Each threat is stated in the book together with the mitigation applied.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Conclusion and Future Work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24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three types (RQ1)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0 of 1,640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“Other” (RQ2)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70.2%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pre-fix match (RQ3)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+0.115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Δκ from the loop (RQ4)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5394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539496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A taxonomy × strategy condition space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An enforced loop with auditable transcripts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Evaluation without ground truth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410 bugs, analysed with two 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834640"/>
            <a:ext cx="52852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5285232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Human reference labels for a sample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Grade the reasoning, not only the label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Full corpus, more models, consensus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Impact, Trigger and Age attributes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(1/3)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[1] G. Catolino et al., “Not All Bugs Are the Same: Understanding, Characterizing, and Classifying Bug Types,” Journal of Systems and Software, vol. 152, 2019.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[2] T. Hirsch and B. Hofer, “Using Textual Bug Reports to Predict the Fault Category of Software Bugs,” Array, vol. 15, 2022.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[3] R. Andrade et al., “An Empirical Study on the Classification of Bug Reports with Machine Learning,” arXiv preprint,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[4] R. Chillarege et al., “Orthogonal Defect Classification – A Concept for In-Process Measurements,” IEEE Transactions on Software Engineering, vol. 18, no. 11, 1992.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[5] R. Just, D. Jalali, and M. D. Ernst, “Defects4J: A Database of Existing Faults to Enable Controlled Testing Studies for Java Programs,” Proc. International Symposium on Software Testing and Analysis (ISSTA), 2014.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[6] M. N. Rafi et al., “Revisiting Defects4J for Fault Localization in Diverse Development Scenarios,” IEEE/ACM 22nd International Conference on Mining Software Repositories (MSR),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[7] M. Martinez et al., “Automatic Repair of Real Bugs in Java: A Large-Scale Experiment on the Defects4J Dataset,” Empirical Software Engineering, vol. 22, no. 4, 2017.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[8] A. Van der Spuy and B. Fischer, “An Anatomy of 488 Faults from Defects4J Based on the Control- and Data-Flow Graph Representations of Programs,” Proc. 29th International Conference on Evaluation and Assessment in Software Engineering (EASE),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[9] V. Sobreira et al., “Dissection of a Bug Dataset: Anatomy of 395 Patches from Defects4J,” IEEE International Conference on Software Analysis, Evolution and Reengineering (SANER), 2018.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[10] J. Jiang, Y. Xiong, and X. Xia, “A Manual Inspection of Defects4J Bugs and Its Implications for Automatic Program Repair,” Science China Information Sciences, vol. 62, no. 10, 2019.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(2/3)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[11] G. Colavito et al., “Large Language Models for Issue Report Classification,” Ital-IA 2024 Thematic Workshops, CEUR Workshop Proceedings, vol. 3762,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[12] A. Koyuncu, “Exploring Fine-Grained Bug Report Categorization with Large Language Models and Prompt Engineering: An Empirical Study,” ACM Transactions on Software Engineering and Methodology, vol. 35, no. 3, 2026.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[13] Y. Nong et al., “Chain-of-Thought Prompting of Large Language Models for Discovering and Fixing Software Vulnerabilities,” arXiv preprint,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[14] C. Li et al., “KnowBug: Enhancing Large Language Models with Bug Report Knowledge for Deep Learning Framework Bug Prediction,” Knowledge-Based Systems, vol. 305,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[15] IBM, “Orthogonal Defect Classification v5.2 for Software Design and Code,” IBM Research, 2013.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[16] X. Du et al., “LLM-BRC: A Large Language Model-Based Bug Report Classification Framework,” Software Quality Journal, vol. 32, no. 3,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[17] S. Kang et al., “Explainable Automated Debugging via Large Language Model-driven Scientific Debugging,” Empirical Software Engineering, vol. 30, no. 2,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[18] S. Kang, G. An, and S. Yoo, “A Quantitative and Qualitative Evaluation of LLM-Based Explainable Fault Localization,” Proc. ACM on Software Engineering, vol. 1, no. FSE,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[19] L. Huang et al., “AutoODC: Automated Generation of Orthogonal Defect Classifications,” Automated Software Engineering, vol. 22, no. 1, 2015.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(3/3)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[20] F. Thung, D. Lo, and L. Jiang, “Automatic Defect Categorization,” Proc. 19th Working Conference on Reverse Engineering (WCRE), 2012.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[21] A. M. Esfahani, N. Kahani, and S. A. Ajila, “Understanding Defects in Generated Codes by Language Models,” 34th International Conference on Collaborative Advances in Software and Computing (CASCON),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[22] K. Henningsson and C. Wohlin, “Assuring Fault Classification Agreement – An Empirical Evaluation,” Proc. 2004 International Symposium on Empirical Software Engineering (ISESE), 2004.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[23] J. Hernández-González et al., “Learning to Classify Software Defects from Crowds: A Novel Approach,” Applied Soft Computing, vol. 62, 2018.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[24] K. El Emam and I. Wieczorek, “The Repeatability of Code Defect Classifications,” Proc. Ninth International Symposium on Software Reliability Engineering (ISSRE), 1998.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[25] A. Rahman and E. Farhana, “An Exploratory Characterization of Bugs in COVID-19 Software Projects,” arXiv preprint, 2020.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[26] J. Agnelo, N. Laranjeiro, and J. Bernardino, “Using Orthogonal Defect Classification to Characterize NoSQL Database Defects,” Journal of Systems and Software, vol. 159, 2020.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[27] J. R. Landis and G. G. Koch, “The Measurement of Observer Agreement for Categorical Data,” Biometrics, vol. 33, no. 1, 1977.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[28] S. Baltes et al., “Guidelines for Empirical Studies in Software Engineering involving Large Language Models,” Empirical Software Engineering, 2026.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278189" cy="210312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2377440" y="1828800"/>
            <a:ext cx="0" cy="1920239"/>
          </a:xfrm>
          <a:prstGeom prst="line">
            <a:avLst/>
          </a:prstGeom>
          <a:ln w="12700">
            <a:solidFill>
              <a:srgbClr val="D5D9D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697480" y="178308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12284C"/>
                </a:solidFill>
                <a:latin typeface="Source Sans 3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697480"/>
            <a:ext cx="86868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1C2128"/>
                </a:solidFill>
                <a:latin typeface="Source Sans 3"/>
              </a:rPr>
              <a:t>Questions and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337560"/>
            <a:ext cx="8686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4297680"/>
            <a:ext cx="8686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Md. Sakib Hossain  ·  Mohammad Nahiyan Kabir  ·  Hasin Mahtab Alvee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