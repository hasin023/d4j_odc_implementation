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</p:sldIdLst>
  <p:sldSz cy="6858000" cx="12191675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160">
          <p15:clr>
            <a:srgbClr val="000000"/>
          </p15:clr>
        </p15:guide>
        <p15:guide id="2" pos="2880">
          <p15:clr>
            <a:srgbClr val="000000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16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2.xml"/><Relationship Id="rId18" Type="http://schemas.openxmlformats.org/officeDocument/2006/relationships/slide" Target="slides/slide13.xml"/><Relationship Id="rId19" Type="http://schemas.openxmlformats.org/officeDocument/2006/relationships/slide" Target="slides/slide14.xml"/><Relationship Id="rId20" Type="http://schemas.openxmlformats.org/officeDocument/2006/relationships/slide" Target="slides/slide15.xml"/><Relationship Id="rId21" Type="http://schemas.openxmlformats.org/officeDocument/2006/relationships/slide" Target="slides/slide16.xml"/><Relationship Id="rId22" Type="http://schemas.openxmlformats.org/officeDocument/2006/relationships/slide" Target="slides/slide17.xml"/><Relationship Id="rId23" Type="http://schemas.openxmlformats.org/officeDocument/2006/relationships/slide" Target="slides/slide18.xml"/><Relationship Id="rId24" Type="http://schemas.openxmlformats.org/officeDocument/2006/relationships/slide" Target="slides/slide19.xml"/><Relationship Id="rId25" Type="http://schemas.openxmlformats.org/officeDocument/2006/relationships/slide" Target="slides/slide20.xml"/><Relationship Id="rId26" Type="http://schemas.openxmlformats.org/officeDocument/2006/relationships/slide" Target="slides/slide21.xml"/><Relationship Id="rId27" Type="http://schemas.openxmlformats.org/officeDocument/2006/relationships/slide" Target="slides/slide22.xml"/><Relationship Id="rId28" Type="http://schemas.openxmlformats.org/officeDocument/2006/relationships/slide" Target="slides/slide23.xml"/><Relationship Id="rId29" Type="http://schemas.openxmlformats.org/officeDocument/2006/relationships/slide" Target="slides/slide24.xml"/><Relationship Id="rId30" Type="http://schemas.openxmlformats.org/officeDocument/2006/relationships/slide" Target="slides/slide25.xml"/><Relationship Id="rId31" Type="http://schemas.openxmlformats.org/officeDocument/2006/relationships/slide" Target="slides/slide26.xml"/><Relationship Id="rId32" Type="http://schemas.openxmlformats.org/officeDocument/2006/relationships/slide" Target="slides/slide2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" name="Google Shape;13;p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" name="Google Shape;14;p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 txBox="1"/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3"/>
          <p:cNvSpPr txBox="1"/>
          <p:nvPr>
            <p:ph idx="1" type="subTitle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18" name="Google Shape;18;p3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" name="Google Shape;19;p3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3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4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" name="Google Shape;23;p4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4" name="Google Shape;24;p4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" name="Google Shape;25;p4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4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5"/>
          <p:cNvSpPr txBox="1"/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b="1" sz="4000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5"/>
          <p:cNvSpPr txBox="1"/>
          <p:nvPr>
            <p:ph idx="1" type="body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indent="-228600" lvl="1" marL="9144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0" name="Google Shape;30;p5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" name="Google Shape;31;p5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5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6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6"/>
          <p:cNvSpPr txBox="1"/>
          <p:nvPr>
            <p:ph idx="1" type="body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6" name="Google Shape;36;p6"/>
          <p:cNvSpPr txBox="1"/>
          <p:nvPr>
            <p:ph idx="2" type="body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7" name="Google Shape;37;p6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6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6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7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7"/>
          <p:cNvSpPr txBox="1"/>
          <p:nvPr>
            <p:ph idx="1" type="body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3" name="Google Shape;43;p7"/>
          <p:cNvSpPr txBox="1"/>
          <p:nvPr>
            <p:ph idx="2" type="body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4" name="Google Shape;44;p7"/>
          <p:cNvSpPr txBox="1"/>
          <p:nvPr>
            <p:ph idx="3" type="body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5" name="Google Shape;45;p7"/>
          <p:cNvSpPr txBox="1"/>
          <p:nvPr>
            <p:ph idx="4" type="body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6" name="Google Shape;46;p7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7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7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8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8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8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8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9"/>
          <p:cNvSpPr txBox="1"/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9"/>
          <p:cNvSpPr txBox="1"/>
          <p:nvPr>
            <p:ph idx="1" type="body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indent="-381000" lvl="2" marL="1371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indent="-355600" lvl="4" marL="22860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indent="-355600" lvl="5" marL="27432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57" name="Google Shape;57;p9"/>
          <p:cNvSpPr txBox="1"/>
          <p:nvPr>
            <p:ph idx="2" type="body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58" name="Google Shape;58;p9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9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9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0"/>
          <p:cNvSpPr txBox="1"/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10"/>
          <p:cNvSpPr/>
          <p:nvPr>
            <p:ph idx="2" type="pic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10"/>
          <p:cNvSpPr txBox="1"/>
          <p:nvPr>
            <p:ph idx="1" type="body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65" name="Google Shape;65;p10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6" name="Google Shape;66;p10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10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1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11"/>
          <p:cNvSpPr txBox="1"/>
          <p:nvPr>
            <p:ph idx="1" type="body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1" name="Google Shape;71;p1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3" name="Google Shape;73;p1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2"/>
          <p:cNvSpPr txBox="1"/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2"/>
          <p:cNvSpPr txBox="1"/>
          <p:nvPr>
            <p:ph idx="1" type="body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7" name="Google Shape;77;p1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8" name="Google Shape;78;p1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b="0" i="0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marR="0" rtl="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b="0" i="0" sz="3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406400" lvl="1" marL="914400" marR="0" rtl="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81000" lvl="2" marL="1371600" marR="0" rtl="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55600" lvl="3" marL="1828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55600" lvl="4" marL="22860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55600" lvl="5" marL="2743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9" name="Google Shape;9;p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" name="Google Shape;10;p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E22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731520" y="502920"/>
            <a:ext cx="10789920" cy="4114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5B6272"/>
                </a:solidFill>
                <a:latin typeface="IBM Plex Mono"/>
              </a:rPr>
              <a:t>ISLAMIC UNIVERSITY OF TECHNOLOGY  ·  DEPARTMENT OF COMPUTER SCIENCE AND ENGINEERING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34440"/>
            <a:ext cx="6766560" cy="17373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no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4000" b="1" i="0">
                <a:solidFill>
                  <a:srgbClr val="1E2230"/>
                </a:solidFill>
                <a:latin typeface="IBM Plex Sans"/>
              </a:rPr>
              <a:t>Orthogonal Defect Classification on </a:t>
            </a:r>
            <a:r>
              <a:rPr sz="4000" b="1" i="0">
                <a:solidFill>
                  <a:srgbClr val="2F4B9A"/>
                </a:solidFill>
                <a:latin typeface="IBM Plex Sans"/>
              </a:rPr>
              <a:t>Defects4J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926080"/>
            <a:ext cx="6766560" cy="5486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400" b="0" i="0">
                <a:solidFill>
                  <a:srgbClr val="5B6272"/>
                </a:solidFill>
                <a:latin typeface="IBM Plex Sans"/>
              </a:rPr>
              <a:t>Using an LLM-Driven Scientific Approach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3657600"/>
            <a:ext cx="2468880" cy="420624"/>
          </a:xfrm>
          <a:prstGeom prst="roundRect">
            <a:avLst>
              <a:gd name="adj" fmla="val 30000"/>
            </a:avLst>
          </a:prstGeom>
          <a:solidFill>
            <a:srgbClr val="1E22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731520" y="3657600"/>
            <a:ext cx="2468880" cy="420624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IBM Plex Mono"/>
              </a:rPr>
              <a:t>THESIS DEFENCE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434840"/>
            <a:ext cx="3931920" cy="15544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no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500" b="1" i="0">
                <a:solidFill>
                  <a:srgbClr val="5B6272"/>
                </a:solidFill>
                <a:latin typeface="IBM Plex Mono"/>
              </a:rPr>
              <a:t>Presented by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600" b="0" i="0">
                <a:solidFill>
                  <a:srgbClr val="1E2230"/>
                </a:solidFill>
                <a:latin typeface="IBM Plex Sans"/>
              </a:rPr>
              <a:t>Md. Sakib Hossain  ·  210042133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600" b="0" i="0">
                <a:solidFill>
                  <a:srgbClr val="1E2230"/>
                </a:solidFill>
                <a:latin typeface="IBM Plex Sans"/>
              </a:rPr>
              <a:t>Mohammad Nahiyan Kabir  ·  210042168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600" b="0" i="0">
                <a:solidFill>
                  <a:srgbClr val="1E2230"/>
                </a:solidFill>
                <a:latin typeface="IBM Plex Sans"/>
              </a:rPr>
              <a:t>Hasin Mahtab Alvee  ·  210042174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0" y="4434840"/>
            <a:ext cx="2743200" cy="21031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noAutofit/>
          </a:bodyPr>
          <a:lstStyle/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500" b="1" i="0">
                <a:solidFill>
                  <a:srgbClr val="5B6272"/>
                </a:solidFill>
                <a:latin typeface="IBM Plex Mono"/>
              </a:rPr>
              <a:t>Supervised by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600" b="0" i="0">
                <a:solidFill>
                  <a:srgbClr val="1E2230"/>
                </a:solidFill>
                <a:latin typeface="IBM Plex Sans"/>
              </a:rPr>
              <a:t>Lutfun Nahar Lota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500" b="0" i="0">
                <a:solidFill>
                  <a:srgbClr val="5B6272"/>
                </a:solidFill>
                <a:latin typeface="IBM Plex Sans"/>
              </a:rPr>
              <a:t>Assistant Professor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500" b="0" i="0">
                <a:solidFill>
                  <a:srgbClr val="5B6272"/>
                </a:solidFill>
                <a:latin typeface="IBM Plex Sans"/>
              </a:rPr>
              <a:t>Co-supervisor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600" b="0" i="0">
                <a:solidFill>
                  <a:srgbClr val="1E2230"/>
                </a:solidFill>
                <a:latin typeface="IBM Plex Sans"/>
              </a:rPr>
              <a:t>Ishmam Tashdeed</a:t>
            </a:r>
            <a:r>
              <a:rPr sz="1500" b="0" i="0">
                <a:solidFill>
                  <a:srgbClr val="5B6272"/>
                </a:solidFill>
                <a:latin typeface="IBM Plex Sans"/>
              </a:rPr>
              <a:t>  Lecturer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89520" y="1234440"/>
            <a:ext cx="4069080" cy="4343400"/>
          </a:xfrm>
          <a:prstGeom prst="roundRect">
            <a:avLst>
              <a:gd name="adj" fmla="val 4000"/>
            </a:avLst>
          </a:prstGeom>
          <a:solidFill>
            <a:srgbClr val="1E22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7818120" y="1417320"/>
            <a:ext cx="3611880" cy="3657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9AA3B5"/>
                </a:solidFill>
                <a:latin typeface="IBM Plex Mono"/>
              </a:rPr>
              <a:t>bug.diff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18120" y="1920240"/>
            <a:ext cx="3611880" cy="4114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1" i="0">
                <a:solidFill>
                  <a:srgbClr val="C9CFDB"/>
                </a:solidFill>
                <a:latin typeface="IBM Plex Mono"/>
              </a:rPr>
              <a:t>  </a:t>
            </a:r>
            <a:r>
              <a:rPr sz="1600" b="1" i="0">
                <a:solidFill>
                  <a:srgbClr val="C9CFDB"/>
                </a:solidFill>
                <a:latin typeface="IBM Plex Mono"/>
              </a:rPr>
              <a:t>one bug, two views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18120" y="2377440"/>
            <a:ext cx="3611880" cy="4114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1" i="0">
                <a:solidFill>
                  <a:srgbClr val="F1959B"/>
                </a:solidFill>
                <a:latin typeface="IBM Plex Mono"/>
              </a:rPr>
              <a:t>- </a:t>
            </a:r>
            <a:r>
              <a:rPr sz="1600" b="1" i="0">
                <a:solidFill>
                  <a:srgbClr val="F1959B"/>
                </a:solidFill>
                <a:latin typeface="IBM Plex Mono"/>
              </a:rPr>
              <a:t>pre-fix:  symptoms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18120" y="2834640"/>
            <a:ext cx="3611880" cy="4114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1" i="0">
                <a:solidFill>
                  <a:srgbClr val="8FD3A2"/>
                </a:solidFill>
                <a:latin typeface="IBM Plex Mono"/>
              </a:rPr>
              <a:t>+ </a:t>
            </a:r>
            <a:r>
              <a:rPr sz="1600" b="1" i="0">
                <a:solidFill>
                  <a:srgbClr val="8FD3A2"/>
                </a:solidFill>
                <a:latin typeface="IBM Plex Mono"/>
              </a:rPr>
              <a:t>post-fix: + the fix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18120" y="3291840"/>
            <a:ext cx="3611880" cy="4114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1" i="0">
                <a:solidFill>
                  <a:srgbClr val="C9CFDB"/>
                </a:solidFill>
                <a:latin typeface="IBM Plex Mono"/>
              </a:rPr>
              <a:t>  </a:t>
            </a:r>
            <a:r>
              <a:rPr sz="1600" b="1" i="0">
                <a:solidFill>
                  <a:srgbClr val="C9CFDB"/>
                </a:solidFill>
                <a:latin typeface="IBM Plex Mono"/>
              </a:rPr>
              <a:t/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18120" y="3749039"/>
            <a:ext cx="3611880" cy="4114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1" i="0">
                <a:solidFill>
                  <a:srgbClr val="C9CFDB"/>
                </a:solidFill>
                <a:latin typeface="IBM Plex Mono"/>
              </a:rPr>
              <a:t>  </a:t>
            </a:r>
            <a:r>
              <a:rPr sz="1600" b="1" i="0">
                <a:solidFill>
                  <a:srgbClr val="C9CFDB"/>
                </a:solidFill>
                <a:latin typeface="IBM Plex Mono"/>
              </a:rPr>
              <a:t>7 ODC defect types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818120" y="4297680"/>
            <a:ext cx="713232" cy="384048"/>
          </a:xfrm>
          <a:prstGeom prst="roundRect">
            <a:avLst>
              <a:gd name="adj" fmla="val 30000"/>
            </a:avLst>
          </a:prstGeom>
          <a:solidFill>
            <a:srgbClr val="3867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7818120" y="4297680"/>
            <a:ext cx="713232" cy="38404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IBM Plex Mono"/>
              </a:rPr>
              <a:t>ALG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604504" y="4297680"/>
            <a:ext cx="713232" cy="384048"/>
          </a:xfrm>
          <a:prstGeom prst="roundRect">
            <a:avLst>
              <a:gd name="adj" fmla="val 30000"/>
            </a:avLst>
          </a:prstGeom>
          <a:solidFill>
            <a:srgbClr val="8A5B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604504" y="4297680"/>
            <a:ext cx="713232" cy="38404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IBM Plex Mono"/>
              </a:rPr>
              <a:t>ASN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390888" y="4297680"/>
            <a:ext cx="713232" cy="384048"/>
          </a:xfrm>
          <a:prstGeom prst="roundRect">
            <a:avLst>
              <a:gd name="adj" fmla="val 30000"/>
            </a:avLst>
          </a:prstGeom>
          <a:solidFill>
            <a:srgbClr val="D982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9390888" y="4297680"/>
            <a:ext cx="713232" cy="38404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IBM Plex Mono"/>
              </a:rPr>
              <a:t>CHK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177272" y="4297680"/>
            <a:ext cx="713232" cy="384048"/>
          </a:xfrm>
          <a:prstGeom prst="roundRect">
            <a:avLst>
              <a:gd name="adj" fmla="val 30000"/>
            </a:avLst>
          </a:prstGeom>
          <a:solidFill>
            <a:srgbClr val="8C95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10177272" y="4297680"/>
            <a:ext cx="713232" cy="38404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IBM Plex Mono"/>
              </a:rPr>
              <a:t>TIM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818120" y="4800600"/>
            <a:ext cx="713232" cy="384048"/>
          </a:xfrm>
          <a:prstGeom prst="roundRect">
            <a:avLst>
              <a:gd name="adj" fmla="val 30000"/>
            </a:avLst>
          </a:prstGeom>
          <a:solidFill>
            <a:srgbClr val="B23A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7818120" y="4800600"/>
            <a:ext cx="713232" cy="38404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IBM Plex Mono"/>
              </a:rPr>
              <a:t>FCO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604504" y="4800600"/>
            <a:ext cx="713232" cy="384048"/>
          </a:xfrm>
          <a:prstGeom prst="roundRect">
            <a:avLst>
              <a:gd name="adj" fmla="val 30000"/>
            </a:avLst>
          </a:prstGeom>
          <a:solidFill>
            <a:srgbClr val="1F8A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8604504" y="4800600"/>
            <a:ext cx="713232" cy="38404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IBM Plex Mono"/>
              </a:rPr>
              <a:t>INT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390888" y="4800600"/>
            <a:ext cx="713232" cy="384048"/>
          </a:xfrm>
          <a:prstGeom prst="roundRect">
            <a:avLst>
              <a:gd name="adj" fmla="val 30000"/>
            </a:avLst>
          </a:prstGeom>
          <a:solidFill>
            <a:srgbClr val="A07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9390888" y="4800600"/>
            <a:ext cx="713232" cy="38404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IBM Plex Mono"/>
              </a:rPr>
              <a:t>REL</a:t>
            </a:r>
          </a:p>
        </p:txBody>
      </p:sp>
      <p:sp>
        <p:nvSpPr>
          <p:cNvPr id="32" name="Rectangle 31"/>
          <p:cNvSpPr/>
          <p:nvPr/>
        </p:nvSpPr>
        <p:spPr>
          <a:xfrm>
            <a:off x="0" y="6729984"/>
            <a:ext cx="12191695" cy="128016"/>
          </a:xfrm>
          <a:prstGeom prst="rect">
            <a:avLst/>
          </a:prstGeom>
          <a:solidFill>
            <a:srgbClr val="1E22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713232" y="274320"/>
            <a:ext cx="10515600" cy="384048"/>
          </a:xfrm>
          <a:prstGeom prst="rect">
            <a:avLst/>
          </a:prstGeom>
          <a:noFill/>
        </p:spPr>
        <p:txBody>
          <a:bodyPr wrap="square" lIns="36576" rIns="36576" tIns="36576" bIns="36576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1E2230"/>
                </a:solidFill>
                <a:latin typeface="IBM Plex Mono"/>
              </a:rPr>
              <a:t>// </a:t>
            </a:r>
            <a:r>
              <a:rPr sz="1500" b="1" i="0">
                <a:solidFill>
                  <a:srgbClr val="1E2230"/>
                </a:solidFill>
                <a:latin typeface="IBM Plex Mono"/>
              </a:rPr>
              <a:t>02  ROADMAP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384048"/>
            <a:ext cx="82296" cy="868680"/>
          </a:xfrm>
          <a:prstGeom prst="rect">
            <a:avLst/>
          </a:prstGeom>
          <a:solidFill>
            <a:srgbClr val="1E22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713232" y="603504"/>
            <a:ext cx="10972800" cy="6858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1E2230"/>
                </a:solidFill>
                <a:latin typeface="IBM Plex Sans"/>
              </a:rPr>
              <a:t>Presentation Roadmap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600200"/>
            <a:ext cx="3611880" cy="44348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8D4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ectangle 6"/>
          <p:cNvSpPr/>
          <p:nvPr/>
        </p:nvSpPr>
        <p:spPr>
          <a:xfrm>
            <a:off x="502920" y="1600200"/>
            <a:ext cx="3611880" cy="91440"/>
          </a:xfrm>
          <a:prstGeom prst="rect">
            <a:avLst/>
          </a:prstGeom>
          <a:solidFill>
            <a:srgbClr val="2F4B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731520" y="1920240"/>
            <a:ext cx="566928" cy="384048"/>
          </a:xfrm>
          <a:prstGeom prst="roundRect">
            <a:avLst>
              <a:gd name="adj" fmla="val 30000"/>
            </a:avLst>
          </a:prstGeom>
          <a:solidFill>
            <a:srgbClr val="2F4B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731520" y="1920240"/>
            <a:ext cx="566928" cy="38404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IBM Plex Mono"/>
              </a:rPr>
              <a:t>P1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17320" y="1874519"/>
            <a:ext cx="2560320" cy="45720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100" b="1" i="0">
                <a:solidFill>
                  <a:srgbClr val="1E2230"/>
                </a:solidFill>
                <a:latin typeface="IBM Plex Sans"/>
              </a:rPr>
              <a:t>Context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423160"/>
            <a:ext cx="3200400" cy="3657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5B6272"/>
                </a:solidFill>
                <a:latin typeface="IBM Plex Mono"/>
              </a:rPr>
              <a:t>slides 03–08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926080"/>
            <a:ext cx="3200400" cy="29260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noAutofit/>
          </a:bodyPr>
          <a:lstStyle/>
          <a:p>
            <a:pPr algn="l">
              <a:lnSpc>
                <a:spcPct val="100000"/>
              </a:lnSpc>
              <a:spcAft>
                <a:spcPts val="900"/>
              </a:spcAft>
            </a:pPr>
            <a:r>
              <a:rPr sz="1700" b="1" i="0">
                <a:solidFill>
                  <a:srgbClr val="2F4B9A"/>
                </a:solidFill>
                <a:latin typeface="IBM Plex Sans"/>
              </a:rPr>
              <a:t>› </a:t>
            </a:r>
            <a:r>
              <a:rPr sz="1700" b="0" i="0">
                <a:solidFill>
                  <a:srgbClr val="1E2230"/>
                </a:solidFill>
                <a:latin typeface="IBM Plex Sans"/>
              </a:rPr>
              <a:t>Why classify defects</a:t>
            </a:r>
          </a:p>
          <a:p>
            <a:pPr algn="l">
              <a:lnSpc>
                <a:spcPct val="100000"/>
              </a:lnSpc>
              <a:spcAft>
                <a:spcPts val="900"/>
              </a:spcAft>
            </a:pPr>
            <a:r>
              <a:rPr sz="1700" b="1" i="0">
                <a:solidFill>
                  <a:srgbClr val="2F4B9A"/>
                </a:solidFill>
                <a:latin typeface="IBM Plex Sans"/>
              </a:rPr>
              <a:t>› </a:t>
            </a:r>
            <a:r>
              <a:rPr sz="1700" b="0" i="0">
                <a:solidFill>
                  <a:srgbClr val="1E2230"/>
                </a:solidFill>
                <a:latin typeface="IBM Plex Sans"/>
              </a:rPr>
              <a:t>Defects4J &amp; ODC</a:t>
            </a:r>
          </a:p>
          <a:p>
            <a:pPr algn="l">
              <a:lnSpc>
                <a:spcPct val="100000"/>
              </a:lnSpc>
              <a:spcAft>
                <a:spcPts val="900"/>
              </a:spcAft>
            </a:pPr>
            <a:r>
              <a:rPr sz="1700" b="1" i="0">
                <a:solidFill>
                  <a:srgbClr val="2F4B9A"/>
                </a:solidFill>
                <a:latin typeface="IBM Plex Sans"/>
              </a:rPr>
              <a:t>› </a:t>
            </a:r>
            <a:r>
              <a:rPr sz="1700" b="0" i="0">
                <a:solidFill>
                  <a:srgbClr val="1E2230"/>
                </a:solidFill>
                <a:latin typeface="IBM Plex Sans"/>
              </a:rPr>
              <a:t>Related work &amp; gap</a:t>
            </a:r>
          </a:p>
          <a:p>
            <a:pPr algn="l">
              <a:lnSpc>
                <a:spcPct val="100000"/>
              </a:lnSpc>
              <a:spcAft>
                <a:spcPts val="900"/>
              </a:spcAft>
            </a:pPr>
            <a:r>
              <a:rPr sz="1700" b="1" i="0">
                <a:solidFill>
                  <a:srgbClr val="2F4B9A"/>
                </a:solidFill>
                <a:latin typeface="IBM Plex Sans"/>
              </a:rPr>
              <a:t>› </a:t>
            </a:r>
            <a:r>
              <a:rPr sz="1700" b="0" i="0">
                <a:solidFill>
                  <a:srgbClr val="1E2230"/>
                </a:solidFill>
                <a:latin typeface="IBM Plex Sans"/>
              </a:rPr>
              <a:t>Pre-fix / post-fix idea</a:t>
            </a:r>
          </a:p>
          <a:p>
            <a:pPr algn="l">
              <a:lnSpc>
                <a:spcPct val="100000"/>
              </a:lnSpc>
              <a:spcAft>
                <a:spcPts val="900"/>
              </a:spcAft>
            </a:pPr>
            <a:r>
              <a:rPr sz="1700" b="1" i="0">
                <a:solidFill>
                  <a:srgbClr val="2F4B9A"/>
                </a:solidFill>
                <a:latin typeface="IBM Plex Sans"/>
              </a:rPr>
              <a:t>› </a:t>
            </a:r>
            <a:r>
              <a:rPr sz="1700" b="0" i="0">
                <a:solidFill>
                  <a:srgbClr val="1E2230"/>
                </a:solidFill>
                <a:latin typeface="IBM Plex Sans"/>
              </a:rPr>
              <a:t>Research questions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06824" y="1600200"/>
            <a:ext cx="3611880" cy="44348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8D4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4306824" y="1600200"/>
            <a:ext cx="3611880" cy="91440"/>
          </a:xfrm>
          <a:prstGeom prst="rect">
            <a:avLst/>
          </a:prstGeom>
          <a:solidFill>
            <a:srgbClr val="1D7F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ounded Rectangle 14"/>
          <p:cNvSpPr/>
          <p:nvPr/>
        </p:nvSpPr>
        <p:spPr>
          <a:xfrm>
            <a:off x="4535424" y="1920240"/>
            <a:ext cx="566928" cy="384048"/>
          </a:xfrm>
          <a:prstGeom prst="roundRect">
            <a:avLst>
              <a:gd name="adj" fmla="val 30000"/>
            </a:avLst>
          </a:prstGeom>
          <a:solidFill>
            <a:srgbClr val="1D7F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4535424" y="1920240"/>
            <a:ext cx="566928" cy="38404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IBM Plex Mono"/>
              </a:rPr>
              <a:t>P2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221224" y="1874519"/>
            <a:ext cx="2560320" cy="45720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100" b="1" i="0">
                <a:solidFill>
                  <a:srgbClr val="1E2230"/>
                </a:solidFill>
                <a:latin typeface="IBM Plex Sans"/>
              </a:rPr>
              <a:t>Methodology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35424" y="2423160"/>
            <a:ext cx="3200400" cy="3657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5B6272"/>
                </a:solidFill>
                <a:latin typeface="IBM Plex Mono"/>
              </a:rPr>
              <a:t>slides 09–16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35424" y="2926080"/>
            <a:ext cx="3200400" cy="29260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noAutofit/>
          </a:bodyPr>
          <a:lstStyle/>
          <a:p>
            <a:pPr algn="l">
              <a:lnSpc>
                <a:spcPct val="100000"/>
              </a:lnSpc>
              <a:spcAft>
                <a:spcPts val="900"/>
              </a:spcAft>
            </a:pPr>
            <a:r>
              <a:rPr sz="1700" b="1" i="0">
                <a:solidFill>
                  <a:srgbClr val="1D7F6E"/>
                </a:solidFill>
                <a:latin typeface="IBM Plex Sans"/>
              </a:rPr>
              <a:t>› </a:t>
            </a:r>
            <a:r>
              <a:rPr sz="1700" b="0" i="0">
                <a:solidFill>
                  <a:srgbClr val="1E2230"/>
                </a:solidFill>
                <a:latin typeface="IBM Plex Sans"/>
              </a:rPr>
              <a:t>Pipeline &amp; evidence</a:t>
            </a:r>
          </a:p>
          <a:p>
            <a:pPr algn="l">
              <a:lnSpc>
                <a:spcPct val="100000"/>
              </a:lnSpc>
              <a:spcAft>
                <a:spcPts val="900"/>
              </a:spcAft>
            </a:pPr>
            <a:r>
              <a:rPr sz="1700" b="1" i="0">
                <a:solidFill>
                  <a:srgbClr val="1D7F6E"/>
                </a:solidFill>
                <a:latin typeface="IBM Plex Sans"/>
              </a:rPr>
              <a:t>› </a:t>
            </a:r>
            <a:r>
              <a:rPr sz="1700" b="0" i="0">
                <a:solidFill>
                  <a:srgbClr val="1E2230"/>
                </a:solidFill>
                <a:latin typeface="IBM Plex Sans"/>
              </a:rPr>
              <a:t>Classification conditions</a:t>
            </a:r>
          </a:p>
          <a:p>
            <a:pPr algn="l">
              <a:lnSpc>
                <a:spcPct val="100000"/>
              </a:lnSpc>
              <a:spcAft>
                <a:spcPts val="900"/>
              </a:spcAft>
            </a:pPr>
            <a:r>
              <a:rPr sz="1700" b="1" i="0">
                <a:solidFill>
                  <a:srgbClr val="1D7F6E"/>
                </a:solidFill>
                <a:latin typeface="IBM Plex Sans"/>
              </a:rPr>
              <a:t>› </a:t>
            </a:r>
            <a:r>
              <a:rPr sz="1700" b="0" i="0">
                <a:solidFill>
                  <a:srgbClr val="1E2230"/>
                </a:solidFill>
                <a:latin typeface="IBM Plex Sans"/>
              </a:rPr>
              <a:t>Prompts &amp; scientific loop</a:t>
            </a:r>
          </a:p>
          <a:p>
            <a:pPr algn="l">
              <a:lnSpc>
                <a:spcPct val="100000"/>
              </a:lnSpc>
              <a:spcAft>
                <a:spcPts val="900"/>
              </a:spcAft>
            </a:pPr>
            <a:r>
              <a:rPr sz="1700" b="1" i="0">
                <a:solidFill>
                  <a:srgbClr val="1D7F6E"/>
                </a:solidFill>
                <a:latin typeface="IBM Plex Sans"/>
              </a:rPr>
              <a:t>› </a:t>
            </a:r>
            <a:r>
              <a:rPr sz="1700" b="0" i="0">
                <a:solidFill>
                  <a:srgbClr val="1E2230"/>
                </a:solidFill>
                <a:latin typeface="IBM Plex Sans"/>
              </a:rPr>
              <a:t>Evaluation framework</a:t>
            </a:r>
          </a:p>
          <a:p>
            <a:pPr algn="l">
              <a:lnSpc>
                <a:spcPct val="100000"/>
              </a:lnSpc>
              <a:spcAft>
                <a:spcPts val="900"/>
              </a:spcAft>
            </a:pPr>
            <a:r>
              <a:rPr sz="1700" b="1" i="0">
                <a:solidFill>
                  <a:srgbClr val="1D7F6E"/>
                </a:solidFill>
                <a:latin typeface="IBM Plex Sans"/>
              </a:rPr>
              <a:t>› </a:t>
            </a:r>
            <a:r>
              <a:rPr sz="1700" b="0" i="0">
                <a:solidFill>
                  <a:srgbClr val="1E2230"/>
                </a:solidFill>
                <a:latin typeface="IBM Plex Sans"/>
              </a:rPr>
              <a:t>Experimental setup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110728" y="1600200"/>
            <a:ext cx="3611880" cy="44348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8D4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ectangle 20"/>
          <p:cNvSpPr/>
          <p:nvPr/>
        </p:nvSpPr>
        <p:spPr>
          <a:xfrm>
            <a:off x="8110728" y="1600200"/>
            <a:ext cx="3611880" cy="91440"/>
          </a:xfrm>
          <a:prstGeom prst="rect">
            <a:avLst/>
          </a:prstGeom>
          <a:solidFill>
            <a:srgbClr val="C466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Rounded Rectangle 21"/>
          <p:cNvSpPr/>
          <p:nvPr/>
        </p:nvSpPr>
        <p:spPr>
          <a:xfrm>
            <a:off x="8339328" y="1920240"/>
            <a:ext cx="566928" cy="384048"/>
          </a:xfrm>
          <a:prstGeom prst="roundRect">
            <a:avLst>
              <a:gd name="adj" fmla="val 30000"/>
            </a:avLst>
          </a:prstGeom>
          <a:solidFill>
            <a:srgbClr val="C466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8339328" y="1920240"/>
            <a:ext cx="566928" cy="38404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IBM Plex Mono"/>
              </a:rPr>
              <a:t>P3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025128" y="1874519"/>
            <a:ext cx="2560320" cy="45720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100" b="1" i="0">
                <a:solidFill>
                  <a:srgbClr val="1E2230"/>
                </a:solidFill>
                <a:latin typeface="IBM Plex Sans"/>
              </a:rPr>
              <a:t>Results &amp; Analysis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39328" y="2423160"/>
            <a:ext cx="3200400" cy="3657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5B6272"/>
                </a:solidFill>
                <a:latin typeface="IBM Plex Mono"/>
              </a:rPr>
              <a:t>slides 17–24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39328" y="2926080"/>
            <a:ext cx="3200400" cy="29260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noAutofit/>
          </a:bodyPr>
          <a:lstStyle/>
          <a:p>
            <a:pPr algn="l">
              <a:lnSpc>
                <a:spcPct val="100000"/>
              </a:lnSpc>
              <a:spcAft>
                <a:spcPts val="900"/>
              </a:spcAft>
            </a:pPr>
            <a:r>
              <a:rPr sz="1700" b="1" i="0">
                <a:solidFill>
                  <a:srgbClr val="C4661F"/>
                </a:solidFill>
                <a:latin typeface="IBM Plex Sans"/>
              </a:rPr>
              <a:t>› </a:t>
            </a:r>
            <a:r>
              <a:rPr sz="1700" b="0" i="0">
                <a:solidFill>
                  <a:srgbClr val="1E2230"/>
                </a:solidFill>
                <a:latin typeface="IBM Plex Sans"/>
              </a:rPr>
              <a:t>RQ1–RQ2: distribution &amp; coverage</a:t>
            </a:r>
          </a:p>
          <a:p>
            <a:pPr algn="l">
              <a:lnSpc>
                <a:spcPct val="100000"/>
              </a:lnSpc>
              <a:spcAft>
                <a:spcPts val="900"/>
              </a:spcAft>
            </a:pPr>
            <a:r>
              <a:rPr sz="1700" b="1" i="0">
                <a:solidFill>
                  <a:srgbClr val="C4661F"/>
                </a:solidFill>
                <a:latin typeface="IBM Plex Sans"/>
              </a:rPr>
              <a:t>› </a:t>
            </a:r>
            <a:r>
              <a:rPr sz="1700" b="0" i="0">
                <a:solidFill>
                  <a:srgbClr val="1E2230"/>
                </a:solidFill>
                <a:latin typeface="IBM Plex Sans"/>
              </a:rPr>
              <a:t>RQ3: agreement &amp; label changes</a:t>
            </a:r>
          </a:p>
          <a:p>
            <a:pPr algn="l">
              <a:lnSpc>
                <a:spcPct val="100000"/>
              </a:lnSpc>
              <a:spcAft>
                <a:spcPts val="900"/>
              </a:spcAft>
            </a:pPr>
            <a:r>
              <a:rPr sz="1700" b="1" i="0">
                <a:solidFill>
                  <a:srgbClr val="C4661F"/>
                </a:solidFill>
                <a:latin typeface="IBM Plex Sans"/>
              </a:rPr>
              <a:t>› </a:t>
            </a:r>
            <a:r>
              <a:rPr sz="1700" b="0" i="0">
                <a:solidFill>
                  <a:srgbClr val="1E2230"/>
                </a:solidFill>
                <a:latin typeface="IBM Plex Sans"/>
              </a:rPr>
              <a:t>RQ4: taxonomy &amp; loop</a:t>
            </a:r>
          </a:p>
          <a:p>
            <a:pPr algn="l">
              <a:lnSpc>
                <a:spcPct val="100000"/>
              </a:lnSpc>
              <a:spcAft>
                <a:spcPts val="900"/>
              </a:spcAft>
            </a:pPr>
            <a:r>
              <a:rPr sz="1700" b="1" i="0">
                <a:solidFill>
                  <a:srgbClr val="C4661F"/>
                </a:solidFill>
                <a:latin typeface="IBM Plex Sans"/>
              </a:rPr>
              <a:t>› </a:t>
            </a:r>
            <a:r>
              <a:rPr sz="1700" b="0" i="0">
                <a:solidFill>
                  <a:srgbClr val="1E2230"/>
                </a:solidFill>
                <a:latin typeface="IBM Plex Sans"/>
              </a:rPr>
              <a:t>Failure modes &amp; two models</a:t>
            </a:r>
          </a:p>
          <a:p>
            <a:pPr algn="l">
              <a:lnSpc>
                <a:spcPct val="100000"/>
              </a:lnSpc>
              <a:spcAft>
                <a:spcPts val="900"/>
              </a:spcAft>
            </a:pPr>
            <a:r>
              <a:rPr sz="1700" b="1" i="0">
                <a:solidFill>
                  <a:srgbClr val="C4661F"/>
                </a:solidFill>
                <a:latin typeface="IBM Plex Sans"/>
              </a:rPr>
              <a:t>› </a:t>
            </a:r>
            <a:r>
              <a:rPr sz="1700" b="0" i="0">
                <a:solidFill>
                  <a:srgbClr val="1E2230"/>
                </a:solidFill>
                <a:latin typeface="IBM Plex Sans"/>
              </a:rPr>
              <a:t>Threats &amp; conclusion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502920" y="6355080"/>
            <a:ext cx="11183112" cy="0"/>
          </a:xfrm>
          <a:prstGeom prst="line">
            <a:avLst/>
          </a:prstGeom>
          <a:ln w="12700">
            <a:solidFill>
              <a:srgbClr val="D8D4C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502920" y="6419088"/>
            <a:ext cx="6400800" cy="36576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5B6272"/>
                </a:solidFill>
                <a:latin typeface="IBM Plex Mono"/>
              </a:rPr>
              <a:t>ODC × DEFECTS4J  ·  THESIS DEFENCE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692640" y="6382512"/>
            <a:ext cx="2011680" cy="43891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no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800" b="1" i="0">
                <a:solidFill>
                  <a:srgbClr val="1E2230"/>
                </a:solidFill>
                <a:latin typeface="IBM Plex Mono"/>
              </a:rPr>
              <a:t>02 / 24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502920" y="384048"/>
            <a:ext cx="82296" cy="868680"/>
          </a:xfrm>
          <a:prstGeom prst="rect">
            <a:avLst/>
          </a:prstGeom>
          <a:solidFill>
            <a:srgbClr val="2F4B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713232" y="274320"/>
            <a:ext cx="10515600" cy="384048"/>
          </a:xfrm>
          <a:prstGeom prst="rect">
            <a:avLst/>
          </a:prstGeom>
          <a:noFill/>
        </p:spPr>
        <p:txBody>
          <a:bodyPr wrap="square" lIns="36576" rIns="36576" tIns="36576" bIns="36576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2F4B9A"/>
                </a:solidFill>
                <a:latin typeface="IBM Plex Mono"/>
              </a:rPr>
              <a:t>// </a:t>
            </a:r>
            <a:r>
              <a:rPr sz="1500" b="1" i="0">
                <a:solidFill>
                  <a:srgbClr val="2F4B9A"/>
                </a:solidFill>
                <a:latin typeface="IBM Plex Mono"/>
              </a:rPr>
              <a:t>03  CONTEXT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603504"/>
            <a:ext cx="10972800" cy="6858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1E2230"/>
                </a:solidFill>
                <a:latin typeface="IBM Plex Sans"/>
              </a:rPr>
              <a:t>Why Classify Defects — and Why Defects4J?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02920" y="6355080"/>
            <a:ext cx="11183112" cy="0"/>
          </a:xfrm>
          <a:prstGeom prst="line">
            <a:avLst/>
          </a:prstGeom>
          <a:ln w="12700">
            <a:solidFill>
              <a:srgbClr val="D8D4C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502920" y="6437376"/>
            <a:ext cx="502920" cy="329184"/>
          </a:xfrm>
          <a:prstGeom prst="roundRect">
            <a:avLst>
              <a:gd name="adj" fmla="val 30000"/>
            </a:avLst>
          </a:prstGeom>
          <a:solidFill>
            <a:srgbClr val="2F4B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502920" y="6437376"/>
            <a:ext cx="502920" cy="329184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IBM Plex Mono"/>
              </a:rPr>
              <a:t>P1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6419088"/>
            <a:ext cx="6400800" cy="36576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5B6272"/>
                </a:solidFill>
                <a:latin typeface="IBM Plex Mono"/>
              </a:rPr>
              <a:t>CONTEXT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92640" y="6382512"/>
            <a:ext cx="2011680" cy="43891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no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800" b="1" i="0">
                <a:solidFill>
                  <a:srgbClr val="1E2230"/>
                </a:solidFill>
                <a:latin typeface="IBM Plex Mono"/>
              </a:rPr>
              <a:t>03 / 24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1508760"/>
            <a:ext cx="5120640" cy="3429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8D4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ectangle 11"/>
          <p:cNvSpPr/>
          <p:nvPr/>
        </p:nvSpPr>
        <p:spPr>
          <a:xfrm>
            <a:off x="502920" y="1508760"/>
            <a:ext cx="5120640" cy="73152"/>
          </a:xfrm>
          <a:prstGeom prst="rect">
            <a:avLst/>
          </a:prstGeom>
          <a:solidFill>
            <a:srgbClr val="2F4B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667512" y="1673351"/>
            <a:ext cx="4791455" cy="4572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900" b="1" i="0">
                <a:solidFill>
                  <a:srgbClr val="1E2230"/>
                </a:solidFill>
                <a:latin typeface="IBM Plex Sans"/>
              </a:rPr>
              <a:t>Why classify defects?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7512" y="2112264"/>
            <a:ext cx="4791455" cy="26974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no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700" b="0" i="0">
                <a:solidFill>
                  <a:srgbClr val="2F4B9A"/>
                </a:solidFill>
                <a:latin typeface="IBM Plex Sans"/>
              </a:rPr>
              <a:t>› </a:t>
            </a:r>
            <a:r>
              <a:rPr sz="1700" b="0" i="0">
                <a:solidFill>
                  <a:srgbClr val="5B6272"/>
                </a:solidFill>
                <a:latin typeface="IBM Plex Sans"/>
              </a:rPr>
              <a:t>Turns bug reports into process signals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700" b="0" i="0">
                <a:solidFill>
                  <a:srgbClr val="2F4B9A"/>
                </a:solidFill>
                <a:latin typeface="IBM Plex Sans"/>
              </a:rPr>
              <a:t>› </a:t>
            </a:r>
            <a:r>
              <a:rPr sz="1700" b="0" i="0">
                <a:solidFill>
                  <a:srgbClr val="5B6272"/>
                </a:solidFill>
                <a:latin typeface="IBM Plex Sans"/>
              </a:rPr>
              <a:t>Different defect types need different debugging and repair strategies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700" b="0" i="0">
                <a:solidFill>
                  <a:srgbClr val="2F4B9A"/>
                </a:solidFill>
                <a:latin typeface="IBM Plex Sans"/>
              </a:rPr>
              <a:t>› </a:t>
            </a:r>
            <a:r>
              <a:rPr sz="1700" b="0" i="0">
                <a:solidFill>
                  <a:srgbClr val="5B6272"/>
                </a:solidFill>
                <a:latin typeface="IBM Plex Sans"/>
              </a:rPr>
              <a:t>Aggregated labels show which mistakes a process keeps producing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700" b="0" i="0">
                <a:solidFill>
                  <a:srgbClr val="2F4B9A"/>
                </a:solidFill>
                <a:latin typeface="IBM Plex Sans"/>
              </a:rPr>
              <a:t>› </a:t>
            </a:r>
            <a:r>
              <a:rPr sz="1700" b="0" i="0">
                <a:solidFill>
                  <a:srgbClr val="5B6272"/>
                </a:solidFill>
                <a:latin typeface="IBM Plex Sans"/>
              </a:rPr>
              <a:t>Manual triage gives good labels but does not scale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897880" y="1508760"/>
            <a:ext cx="5788152" cy="3429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8D4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5897880" y="1508760"/>
            <a:ext cx="5788152" cy="73152"/>
          </a:xfrm>
          <a:prstGeom prst="rect">
            <a:avLst/>
          </a:prstGeom>
          <a:solidFill>
            <a:srgbClr val="2F4B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080760" y="1673352"/>
            <a:ext cx="3291840" cy="4572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900" b="1" i="0">
                <a:solidFill>
                  <a:srgbClr val="1E2230"/>
                </a:solidFill>
                <a:latin typeface="IBM Plex Sans"/>
              </a:rPr>
              <a:t>Defects4J benchmark </a:t>
            </a:r>
            <a:r>
              <a:rPr sz="1900" b="0" i="0">
                <a:solidFill>
                  <a:srgbClr val="5B6272"/>
                </a:solidFill>
                <a:latin typeface="IBM Plex Sans"/>
              </a:rPr>
              <a:t>[1]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080760" y="2103120"/>
            <a:ext cx="1645920" cy="6400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600" b="1" i="0">
                <a:solidFill>
                  <a:srgbClr val="2F4B9A"/>
                </a:solidFill>
                <a:latin typeface="IBM Plex Mono"/>
              </a:rPr>
              <a:t>836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080760" y="2724912"/>
            <a:ext cx="1645920" cy="3657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0" i="0">
                <a:solidFill>
                  <a:srgbClr val="5B6272"/>
                </a:solidFill>
                <a:latin typeface="IBM Plex Sans"/>
              </a:rPr>
              <a:t>active bugs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818120" y="2103120"/>
            <a:ext cx="1645920" cy="6400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600" b="1" i="0">
                <a:solidFill>
                  <a:srgbClr val="2F4B9A"/>
                </a:solidFill>
                <a:latin typeface="IBM Plex Mono"/>
              </a:rPr>
              <a:t>17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818120" y="2724912"/>
            <a:ext cx="1645920" cy="3657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0" i="0">
                <a:solidFill>
                  <a:srgbClr val="5B6272"/>
                </a:solidFill>
                <a:latin typeface="IBM Plex Sans"/>
              </a:rPr>
              <a:t>Java projects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509760" y="1673352"/>
            <a:ext cx="2103120" cy="3657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5B6272"/>
                </a:solidFill>
                <a:latin typeface="IBM Plex Mono"/>
              </a:rPr>
              <a:t>per bug</a:t>
            </a:r>
          </a:p>
        </p:txBody>
      </p:sp>
      <p:sp>
        <p:nvSpPr>
          <p:cNvPr id="23" name="Oval 22"/>
          <p:cNvSpPr/>
          <p:nvPr/>
        </p:nvSpPr>
        <p:spPr>
          <a:xfrm>
            <a:off x="9509760" y="2176272"/>
            <a:ext cx="164592" cy="164592"/>
          </a:xfrm>
          <a:prstGeom prst="ellipse">
            <a:avLst/>
          </a:prstGeom>
          <a:solidFill>
            <a:srgbClr val="5B62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9784080" y="2057400"/>
            <a:ext cx="1828800" cy="41148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0" i="0">
                <a:solidFill>
                  <a:srgbClr val="1E2230"/>
                </a:solidFill>
                <a:latin typeface="IBM Plex Mono"/>
              </a:rPr>
              <a:t>bug report</a:t>
            </a:r>
          </a:p>
        </p:txBody>
      </p:sp>
      <p:sp>
        <p:nvSpPr>
          <p:cNvPr id="25" name="Oval 24"/>
          <p:cNvSpPr/>
          <p:nvPr/>
        </p:nvSpPr>
        <p:spPr>
          <a:xfrm>
            <a:off x="9509760" y="2651760"/>
            <a:ext cx="164592" cy="164592"/>
          </a:xfrm>
          <a:prstGeom prst="ellipse">
            <a:avLst/>
          </a:prstGeom>
          <a:solidFill>
            <a:srgbClr val="5B62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9784080" y="2532888"/>
            <a:ext cx="1828800" cy="41148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0" i="0">
                <a:solidFill>
                  <a:srgbClr val="1E2230"/>
                </a:solidFill>
                <a:latin typeface="IBM Plex Mono"/>
              </a:rPr>
              <a:t>failing tests</a:t>
            </a:r>
          </a:p>
        </p:txBody>
      </p:sp>
      <p:sp>
        <p:nvSpPr>
          <p:cNvPr id="27" name="Oval 26"/>
          <p:cNvSpPr/>
          <p:nvPr/>
        </p:nvSpPr>
        <p:spPr>
          <a:xfrm>
            <a:off x="9509760" y="3127248"/>
            <a:ext cx="164592" cy="164592"/>
          </a:xfrm>
          <a:prstGeom prst="ellipse">
            <a:avLst/>
          </a:prstGeom>
          <a:solidFill>
            <a:srgbClr val="C62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9784080" y="3008376"/>
            <a:ext cx="1828800" cy="41148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0" i="0">
                <a:solidFill>
                  <a:srgbClr val="1E2230"/>
                </a:solidFill>
                <a:latin typeface="IBM Plex Mono"/>
              </a:rPr>
              <a:t>buggy source</a:t>
            </a:r>
          </a:p>
        </p:txBody>
      </p:sp>
      <p:sp>
        <p:nvSpPr>
          <p:cNvPr id="29" name="Oval 28"/>
          <p:cNvSpPr/>
          <p:nvPr/>
        </p:nvSpPr>
        <p:spPr>
          <a:xfrm>
            <a:off x="9509760" y="3602736"/>
            <a:ext cx="164592" cy="164592"/>
          </a:xfrm>
          <a:prstGeom prst="ellipse">
            <a:avLst/>
          </a:prstGeom>
          <a:solidFill>
            <a:srgbClr val="2381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9784080" y="3483864"/>
            <a:ext cx="1828800" cy="41148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0" i="0">
                <a:solidFill>
                  <a:srgbClr val="1E2230"/>
                </a:solidFill>
                <a:latin typeface="IBM Plex Mono"/>
              </a:rPr>
              <a:t>fixed source</a:t>
            </a:r>
          </a:p>
        </p:txBody>
      </p:sp>
      <p:sp>
        <p:nvSpPr>
          <p:cNvPr id="31" name="Oval 30"/>
          <p:cNvSpPr/>
          <p:nvPr/>
        </p:nvSpPr>
        <p:spPr>
          <a:xfrm>
            <a:off x="9509760" y="4078224"/>
            <a:ext cx="164592" cy="164592"/>
          </a:xfrm>
          <a:prstGeom prst="ellipse">
            <a:avLst/>
          </a:prstGeom>
          <a:solidFill>
            <a:srgbClr val="2381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TextBox 31"/>
          <p:cNvSpPr txBox="1"/>
          <p:nvPr/>
        </p:nvSpPr>
        <p:spPr>
          <a:xfrm>
            <a:off x="9784080" y="3959352"/>
            <a:ext cx="1828800" cy="41148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0" i="0">
                <a:solidFill>
                  <a:srgbClr val="1E2230"/>
                </a:solidFill>
                <a:latin typeface="IBM Plex Mono"/>
              </a:rPr>
              <a:t>fix diff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080760" y="3383280"/>
            <a:ext cx="3291840" cy="1371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no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600" b="0" i="0">
                <a:solidFill>
                  <a:srgbClr val="5B6272"/>
                </a:solidFill>
                <a:latin typeface="IBM Plex Sans"/>
              </a:rPr>
              <a:t>Reproducible real-world bugs with developer patches and tests — the standard benchmark for Java fault studies.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02920" y="5166360"/>
            <a:ext cx="11183112" cy="8229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2F4B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Rectangle 34"/>
          <p:cNvSpPr/>
          <p:nvPr/>
        </p:nvSpPr>
        <p:spPr>
          <a:xfrm>
            <a:off x="502920" y="5166360"/>
            <a:ext cx="109728" cy="822960"/>
          </a:xfrm>
          <a:prstGeom prst="rect">
            <a:avLst/>
          </a:prstGeom>
          <a:solidFill>
            <a:srgbClr val="2F4B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TextBox 35"/>
          <p:cNvSpPr txBox="1"/>
          <p:nvPr/>
        </p:nvSpPr>
        <p:spPr>
          <a:xfrm>
            <a:off x="777240" y="5166360"/>
            <a:ext cx="10789920" cy="82296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00" b="1" i="0">
                <a:solidFill>
                  <a:srgbClr val="1E2230"/>
                </a:solidFill>
                <a:latin typeface="IBM Plex Sans"/>
              </a:rPr>
              <a:t>Key property: </a:t>
            </a:r>
            <a:r>
              <a:rPr sz="1700" b="0" i="0">
                <a:solidFill>
                  <a:srgbClr val="1E2230"/>
                </a:solidFill>
                <a:latin typeface="IBM Plex Sans"/>
              </a:rPr>
              <a:t>every bug ships with its fix, so the same bug can be examined </a:t>
            </a:r>
            <a:r>
              <a:rPr sz="1700" b="1" i="0">
                <a:solidFill>
                  <a:srgbClr val="C62F3A"/>
                </a:solidFill>
                <a:latin typeface="IBM Plex Sans"/>
              </a:rPr>
              <a:t>before</a:t>
            </a:r>
            <a:r>
              <a:rPr sz="1700" b="0" i="0">
                <a:solidFill>
                  <a:srgbClr val="1E2230"/>
                </a:solidFill>
                <a:latin typeface="IBM Plex Sans"/>
              </a:rPr>
              <a:t> and </a:t>
            </a:r>
            <a:r>
              <a:rPr sz="1700" b="1" i="0">
                <a:solidFill>
                  <a:srgbClr val="23813F"/>
                </a:solidFill>
                <a:latin typeface="IBM Plex Sans"/>
              </a:rPr>
              <a:t>after</a:t>
            </a:r>
            <a:r>
              <a:rPr sz="1700" b="0" i="0">
                <a:solidFill>
                  <a:srgbClr val="1E2230"/>
                </a:solidFill>
                <a:latin typeface="IBM Plex Sans"/>
              </a:rPr>
              <a:t> the fix.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502920" y="384048"/>
            <a:ext cx="82296" cy="868680"/>
          </a:xfrm>
          <a:prstGeom prst="rect">
            <a:avLst/>
          </a:prstGeom>
          <a:solidFill>
            <a:srgbClr val="2F4B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713232" y="274320"/>
            <a:ext cx="10515600" cy="384048"/>
          </a:xfrm>
          <a:prstGeom prst="rect">
            <a:avLst/>
          </a:prstGeom>
          <a:noFill/>
        </p:spPr>
        <p:txBody>
          <a:bodyPr wrap="square" lIns="36576" rIns="36576" tIns="36576" bIns="36576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2F4B9A"/>
                </a:solidFill>
                <a:latin typeface="IBM Plex Mono"/>
              </a:rPr>
              <a:t>// </a:t>
            </a:r>
            <a:r>
              <a:rPr sz="1500" b="1" i="0">
                <a:solidFill>
                  <a:srgbClr val="2F4B9A"/>
                </a:solidFill>
                <a:latin typeface="IBM Plex Mono"/>
              </a:rPr>
              <a:t>04  BACKGROUND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603504"/>
            <a:ext cx="10972800" cy="6858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1E2230"/>
                </a:solidFill>
                <a:latin typeface="IBM Plex Sans"/>
              </a:rPr>
              <a:t>Orthogonal Defect Classification (ODC)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02920" y="6355080"/>
            <a:ext cx="11183112" cy="0"/>
          </a:xfrm>
          <a:prstGeom prst="line">
            <a:avLst/>
          </a:prstGeom>
          <a:ln w="12700">
            <a:solidFill>
              <a:srgbClr val="D8D4C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502920" y="6437376"/>
            <a:ext cx="502920" cy="329184"/>
          </a:xfrm>
          <a:prstGeom prst="roundRect">
            <a:avLst>
              <a:gd name="adj" fmla="val 30000"/>
            </a:avLst>
          </a:prstGeom>
          <a:solidFill>
            <a:srgbClr val="2F4B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502920" y="6437376"/>
            <a:ext cx="502920" cy="329184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IBM Plex Mono"/>
              </a:rPr>
              <a:t>P1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6419088"/>
            <a:ext cx="6400800" cy="36576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5B6272"/>
                </a:solidFill>
                <a:latin typeface="IBM Plex Mono"/>
              </a:rPr>
              <a:t>CONTEXT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92640" y="6382512"/>
            <a:ext cx="2011680" cy="43891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no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800" b="1" i="0">
                <a:solidFill>
                  <a:srgbClr val="1E2230"/>
                </a:solidFill>
                <a:latin typeface="IBM Plex Mono"/>
              </a:rPr>
              <a:t>04 / 24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1463040"/>
            <a:ext cx="11183112" cy="960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D4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731520" y="1517904"/>
            <a:ext cx="2011680" cy="4114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C62F3A"/>
                </a:solidFill>
                <a:latin typeface="IBM Plex Mono"/>
              </a:rPr>
              <a:t>OPENER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1874519"/>
            <a:ext cx="4572000" cy="4572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00" b="0" i="0">
                <a:solidFill>
                  <a:srgbClr val="5B6272"/>
                </a:solidFill>
                <a:latin typeface="IBM Plex Sans"/>
              </a:rPr>
              <a:t>found:  Activity · Trigger · Impact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089904" y="1600200"/>
            <a:ext cx="0" cy="685800"/>
          </a:xfrm>
          <a:prstGeom prst="line">
            <a:avLst/>
          </a:prstGeom>
          <a:ln w="12700">
            <a:solidFill>
              <a:srgbClr val="D8D4C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309360" y="1517904"/>
            <a:ext cx="2011680" cy="4114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23813F"/>
                </a:solidFill>
                <a:latin typeface="IBM Plex Mono"/>
              </a:rPr>
              <a:t>CLOSER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60" y="1874519"/>
            <a:ext cx="5303520" cy="4572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00" b="0" i="0">
                <a:solidFill>
                  <a:srgbClr val="5B6272"/>
                </a:solidFill>
                <a:latin typeface="IBM Plex Sans"/>
              </a:rPr>
              <a:t>fixed:  </a:t>
            </a:r>
            <a:r>
              <a:rPr sz="1700" b="1" i="0">
                <a:solidFill>
                  <a:srgbClr val="1E2230"/>
                </a:solidFill>
                <a:latin typeface="IBM Plex Sans"/>
              </a:rPr>
              <a:t>Defect Type</a:t>
            </a:r>
            <a:r>
              <a:rPr sz="1700" b="0" i="0">
                <a:solidFill>
                  <a:srgbClr val="5B6272"/>
                </a:solidFill>
                <a:latin typeface="IBM Plex Sans"/>
              </a:rPr>
              <a:t> · Target · Qualifier · Age · Source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2606040"/>
            <a:ext cx="11155680" cy="4572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800" b="0" i="0">
                <a:solidFill>
                  <a:srgbClr val="1E2230"/>
                </a:solidFill>
                <a:latin typeface="IBM Plex Sans"/>
              </a:rPr>
              <a:t>This thesis classifies the </a:t>
            </a:r>
            <a:r>
              <a:rPr sz="1800" b="1" i="0">
                <a:solidFill>
                  <a:srgbClr val="1E2230"/>
                </a:solidFill>
                <a:latin typeface="IBM Plex Sans"/>
              </a:rPr>
              <a:t>Defect Type</a:t>
            </a:r>
            <a:r>
              <a:rPr sz="1800" b="0" i="0">
                <a:solidFill>
                  <a:srgbClr val="1E2230"/>
                </a:solidFill>
                <a:latin typeface="IBM Plex Sans"/>
              </a:rPr>
              <a:t>: the nature of the correction, one of seven types in two families [2, 3]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3127248"/>
            <a:ext cx="5577840" cy="4114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5B6272"/>
                </a:solidFill>
                <a:latin typeface="IBM Plex Mono"/>
              </a:rPr>
              <a:t>Control and Data Flow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3520440"/>
            <a:ext cx="5577840" cy="56692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8D4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ectangle 19"/>
          <p:cNvSpPr/>
          <p:nvPr/>
        </p:nvSpPr>
        <p:spPr>
          <a:xfrm>
            <a:off x="502920" y="3520440"/>
            <a:ext cx="109728" cy="566928"/>
          </a:xfrm>
          <a:prstGeom prst="rect">
            <a:avLst/>
          </a:prstGeom>
          <a:solidFill>
            <a:srgbClr val="D982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758952" y="3520440"/>
            <a:ext cx="2651760" cy="56692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1" i="0">
                <a:solidFill>
                  <a:srgbClr val="1E2230"/>
                </a:solidFill>
                <a:latin typeface="IBM Plex Sans"/>
              </a:rPr>
              <a:t>Checking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383280" y="3520440"/>
            <a:ext cx="2606039" cy="56692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0" i="0">
                <a:solidFill>
                  <a:srgbClr val="5B6272"/>
                </a:solidFill>
                <a:latin typeface="IBM Plex Sans"/>
              </a:rPr>
              <a:t>missing or wrong guard / condition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02920" y="4178808"/>
            <a:ext cx="5577840" cy="56692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8D4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ectangle 23"/>
          <p:cNvSpPr/>
          <p:nvPr/>
        </p:nvSpPr>
        <p:spPr>
          <a:xfrm>
            <a:off x="502920" y="4178808"/>
            <a:ext cx="109728" cy="566928"/>
          </a:xfrm>
          <a:prstGeom prst="rect">
            <a:avLst/>
          </a:prstGeom>
          <a:solidFill>
            <a:srgbClr val="3867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758952" y="4178808"/>
            <a:ext cx="2651760" cy="56692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1" i="0">
                <a:solidFill>
                  <a:srgbClr val="1E2230"/>
                </a:solidFill>
                <a:latin typeface="IBM Plex Sans"/>
              </a:rPr>
              <a:t>Algorithm/Method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383280" y="4178808"/>
            <a:ext cx="2606039" cy="56692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0" i="0">
                <a:solidFill>
                  <a:srgbClr val="5B6272"/>
                </a:solidFill>
                <a:latin typeface="IBM Plex Sans"/>
              </a:rPr>
              <a:t>wrong computation or procedure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02920" y="4837176"/>
            <a:ext cx="5577840" cy="56692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8D4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Rectangle 27"/>
          <p:cNvSpPr/>
          <p:nvPr/>
        </p:nvSpPr>
        <p:spPr>
          <a:xfrm>
            <a:off x="502920" y="4837176"/>
            <a:ext cx="109728" cy="566928"/>
          </a:xfrm>
          <a:prstGeom prst="rect">
            <a:avLst/>
          </a:prstGeom>
          <a:solidFill>
            <a:srgbClr val="8A5B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758952" y="4837176"/>
            <a:ext cx="2651760" cy="56692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1" i="0">
                <a:solidFill>
                  <a:srgbClr val="1E2230"/>
                </a:solidFill>
                <a:latin typeface="IBM Plex Sans"/>
              </a:rPr>
              <a:t>Assignment/Initialization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80" y="4837176"/>
            <a:ext cx="2606039" cy="56692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0" i="0">
                <a:solidFill>
                  <a:srgbClr val="5B6272"/>
                </a:solidFill>
                <a:latin typeface="IBM Plex Sans"/>
              </a:rPr>
              <a:t>wrong value or initialization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02920" y="5495544"/>
            <a:ext cx="5577840" cy="56692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8D4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Rectangle 31"/>
          <p:cNvSpPr/>
          <p:nvPr/>
        </p:nvSpPr>
        <p:spPr>
          <a:xfrm>
            <a:off x="502920" y="5495544"/>
            <a:ext cx="109728" cy="566928"/>
          </a:xfrm>
          <a:prstGeom prst="rect">
            <a:avLst/>
          </a:prstGeom>
          <a:solidFill>
            <a:srgbClr val="8C95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758952" y="5495544"/>
            <a:ext cx="2651760" cy="56692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1" i="0">
                <a:solidFill>
                  <a:srgbClr val="1E2230"/>
                </a:solidFill>
                <a:latin typeface="IBM Plex Sans"/>
              </a:rPr>
              <a:t>Timing/Serialization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383280" y="5495544"/>
            <a:ext cx="2606039" cy="56692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0" i="0">
                <a:solidFill>
                  <a:srgbClr val="5B6272"/>
                </a:solidFill>
                <a:latin typeface="IBM Plex Sans"/>
              </a:rPr>
              <a:t>wrong concurrency / ordering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72784" y="3127248"/>
            <a:ext cx="5413248" cy="4114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5B6272"/>
                </a:solidFill>
                <a:latin typeface="IBM Plex Mono"/>
              </a:rPr>
              <a:t>Structural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272784" y="3520440"/>
            <a:ext cx="5413248" cy="56692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8D4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Rectangle 36"/>
          <p:cNvSpPr/>
          <p:nvPr/>
        </p:nvSpPr>
        <p:spPr>
          <a:xfrm>
            <a:off x="6272784" y="3520440"/>
            <a:ext cx="109728" cy="566928"/>
          </a:xfrm>
          <a:prstGeom prst="rect">
            <a:avLst/>
          </a:prstGeom>
          <a:solidFill>
            <a:srgbClr val="B23A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6528816" y="3520440"/>
            <a:ext cx="2606040" cy="56692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1" i="0">
                <a:solidFill>
                  <a:srgbClr val="1E2230"/>
                </a:solidFill>
                <a:latin typeface="IBM Plex Sans"/>
              </a:rPr>
              <a:t>Function/Class/Object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153144" y="3520440"/>
            <a:ext cx="2441448" cy="56692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0" i="0">
                <a:solidFill>
                  <a:srgbClr val="5B6272"/>
                </a:solidFill>
                <a:latin typeface="IBM Plex Sans"/>
              </a:rPr>
              <a:t>missing design-level capability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272784" y="4178808"/>
            <a:ext cx="5413248" cy="56692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8D4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1" name="Rectangle 40"/>
          <p:cNvSpPr/>
          <p:nvPr/>
        </p:nvSpPr>
        <p:spPr>
          <a:xfrm>
            <a:off x="6272784" y="4178808"/>
            <a:ext cx="109728" cy="566928"/>
          </a:xfrm>
          <a:prstGeom prst="rect">
            <a:avLst/>
          </a:prstGeom>
          <a:solidFill>
            <a:srgbClr val="1F8A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2" name="TextBox 41"/>
          <p:cNvSpPr txBox="1"/>
          <p:nvPr/>
        </p:nvSpPr>
        <p:spPr>
          <a:xfrm>
            <a:off x="6528816" y="4178808"/>
            <a:ext cx="2606040" cy="56692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1" i="0">
                <a:solidFill>
                  <a:srgbClr val="1E2230"/>
                </a:solidFill>
                <a:latin typeface="IBM Plex Sans"/>
              </a:rPr>
              <a:t>Interface/O-O Messages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153144" y="4178808"/>
            <a:ext cx="2441448" cy="56692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0" i="0">
                <a:solidFill>
                  <a:srgbClr val="5B6272"/>
                </a:solidFill>
                <a:latin typeface="IBM Plex Sans"/>
              </a:rPr>
              <a:t>wrong interaction across a boundary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6272784" y="4837176"/>
            <a:ext cx="5413248" cy="56692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8D4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5" name="Rectangle 44"/>
          <p:cNvSpPr/>
          <p:nvPr/>
        </p:nvSpPr>
        <p:spPr>
          <a:xfrm>
            <a:off x="6272784" y="4837176"/>
            <a:ext cx="109728" cy="566928"/>
          </a:xfrm>
          <a:prstGeom prst="rect">
            <a:avLst/>
          </a:prstGeom>
          <a:solidFill>
            <a:srgbClr val="A07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6" name="TextBox 45"/>
          <p:cNvSpPr txBox="1"/>
          <p:nvPr/>
        </p:nvSpPr>
        <p:spPr>
          <a:xfrm>
            <a:off x="6528816" y="4837176"/>
            <a:ext cx="2606040" cy="56692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1" i="0">
                <a:solidFill>
                  <a:srgbClr val="1E2230"/>
                </a:solidFill>
                <a:latin typeface="IBM Plex Sans"/>
              </a:rPr>
              <a:t>Relationship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153144" y="4837176"/>
            <a:ext cx="2441448" cy="56692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0" i="0">
                <a:solidFill>
                  <a:srgbClr val="5B6272"/>
                </a:solidFill>
                <a:latin typeface="IBM Plex Sans"/>
              </a:rPr>
              <a:t>broken association between entities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272784" y="5486400"/>
            <a:ext cx="5413248" cy="73152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1" i="0">
                <a:solidFill>
                  <a:srgbClr val="9AA0A6"/>
                </a:solidFill>
                <a:latin typeface="IBM Plex Mono"/>
              </a:rPr>
              <a:t>+ Other</a:t>
            </a:r>
            <a:r>
              <a:rPr sz="1600" b="0" i="0">
                <a:solidFill>
                  <a:srgbClr val="5B6272"/>
                </a:solidFill>
                <a:latin typeface="IBM Plex Sans"/>
              </a:rPr>
              <a:t>  escape category, added in this study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502920" y="384048"/>
            <a:ext cx="82296" cy="868680"/>
          </a:xfrm>
          <a:prstGeom prst="rect">
            <a:avLst/>
          </a:prstGeom>
          <a:solidFill>
            <a:srgbClr val="2F4B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713232" y="274320"/>
            <a:ext cx="10515600" cy="384048"/>
          </a:xfrm>
          <a:prstGeom prst="rect">
            <a:avLst/>
          </a:prstGeom>
          <a:noFill/>
        </p:spPr>
        <p:txBody>
          <a:bodyPr wrap="square" lIns="36576" rIns="36576" tIns="36576" bIns="36576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2F4B9A"/>
                </a:solidFill>
                <a:latin typeface="IBM Plex Mono"/>
              </a:rPr>
              <a:t>// </a:t>
            </a:r>
            <a:r>
              <a:rPr sz="1500" b="1" i="0">
                <a:solidFill>
                  <a:srgbClr val="2F4B9A"/>
                </a:solidFill>
                <a:latin typeface="IBM Plex Mono"/>
              </a:rPr>
              <a:t>05  RELATED 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603504"/>
            <a:ext cx="10972800" cy="6858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1E2230"/>
                </a:solidFill>
                <a:latin typeface="IBM Plex Sans"/>
              </a:rPr>
              <a:t>What Existing Work Does — and Misses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02920" y="6355080"/>
            <a:ext cx="11183112" cy="0"/>
          </a:xfrm>
          <a:prstGeom prst="line">
            <a:avLst/>
          </a:prstGeom>
          <a:ln w="12700">
            <a:solidFill>
              <a:srgbClr val="D8D4C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502920" y="6437376"/>
            <a:ext cx="502920" cy="329184"/>
          </a:xfrm>
          <a:prstGeom prst="roundRect">
            <a:avLst>
              <a:gd name="adj" fmla="val 30000"/>
            </a:avLst>
          </a:prstGeom>
          <a:solidFill>
            <a:srgbClr val="2F4B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502920" y="6437376"/>
            <a:ext cx="502920" cy="329184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IBM Plex Mono"/>
              </a:rPr>
              <a:t>P1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6419088"/>
            <a:ext cx="6400800" cy="36576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5B6272"/>
                </a:solidFill>
                <a:latin typeface="IBM Plex Mono"/>
              </a:rPr>
              <a:t>CONTEXT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92640" y="6382512"/>
            <a:ext cx="2011680" cy="43891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no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800" b="1" i="0">
                <a:solidFill>
                  <a:srgbClr val="1E2230"/>
                </a:solidFill>
                <a:latin typeface="IBM Plex Mono"/>
              </a:rPr>
              <a:t>05 / 24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1463040"/>
            <a:ext cx="3611880" cy="25146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8D4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731520" y="1572768"/>
            <a:ext cx="3200400" cy="7315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600" b="1" i="0">
                <a:solidFill>
                  <a:srgbClr val="2F4B9A"/>
                </a:solidFill>
                <a:latin typeface="IBM Plex Mono"/>
              </a:rPr>
              <a:t>488</a:t>
            </a:r>
            <a:r>
              <a:rPr sz="1600" b="0" i="0">
                <a:solidFill>
                  <a:srgbClr val="5B6272"/>
                </a:solidFill>
                <a:latin typeface="IBM Plex Sans"/>
              </a:rPr>
              <a:t>  faults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2286000"/>
            <a:ext cx="3200400" cy="4114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5B6272"/>
                </a:solidFill>
                <a:latin typeface="IBM Plex Mono"/>
              </a:rPr>
              <a:t>Van der Spuy 2025 [4]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2670048"/>
            <a:ext cx="3200400" cy="4572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00" b="1" i="0">
                <a:solidFill>
                  <a:srgbClr val="1E2230"/>
                </a:solidFill>
                <a:latin typeface="IBM Plex Sans"/>
              </a:rPr>
              <a:t>Control/data-flow classes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3154680"/>
            <a:ext cx="3200400" cy="7315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1" i="0">
                <a:solidFill>
                  <a:srgbClr val="C62F3A"/>
                </a:solidFill>
                <a:latin typeface="IBM Plex Mono"/>
              </a:rPr>
              <a:t>− </a:t>
            </a:r>
            <a:r>
              <a:rPr sz="1600" b="0" i="0">
                <a:solidFill>
                  <a:srgbClr val="5B6272"/>
                </a:solidFill>
                <a:latin typeface="IBM Plex Sans"/>
              </a:rPr>
              <a:t>how a bug manifests, not its type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06824" y="1463040"/>
            <a:ext cx="3611880" cy="25146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8D4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4535424" y="1572768"/>
            <a:ext cx="3200400" cy="7315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600" b="1" i="0">
                <a:solidFill>
                  <a:srgbClr val="2F4B9A"/>
                </a:solidFill>
                <a:latin typeface="IBM Plex Mono"/>
              </a:rPr>
              <a:t>395</a:t>
            </a:r>
            <a:r>
              <a:rPr sz="1600" b="0" i="0">
                <a:solidFill>
                  <a:srgbClr val="5B6272"/>
                </a:solidFill>
                <a:latin typeface="IBM Plex Sans"/>
              </a:rPr>
              <a:t>  patches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35424" y="2286000"/>
            <a:ext cx="3200400" cy="4114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5B6272"/>
                </a:solidFill>
                <a:latin typeface="IBM Plex Mono"/>
              </a:rPr>
              <a:t>Sobreira et al. 2018 [5]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35424" y="2670048"/>
            <a:ext cx="3200400" cy="4572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00" b="1" i="0">
                <a:solidFill>
                  <a:srgbClr val="1E2230"/>
                </a:solidFill>
                <a:latin typeface="IBM Plex Sans"/>
              </a:rPr>
              <a:t>Repair-action patterns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35424" y="3154680"/>
            <a:ext cx="3200400" cy="7315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1" i="0">
                <a:solidFill>
                  <a:srgbClr val="C62F3A"/>
                </a:solidFill>
                <a:latin typeface="IBM Plex Mono"/>
              </a:rPr>
              <a:t>− </a:t>
            </a:r>
            <a:r>
              <a:rPr sz="1600" b="0" i="0">
                <a:solidFill>
                  <a:srgbClr val="5B6272"/>
                </a:solidFill>
                <a:latin typeface="IBM Plex Sans"/>
              </a:rPr>
              <a:t>what changed, not why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110728" y="1463040"/>
            <a:ext cx="3611880" cy="25146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8D4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339328" y="1572768"/>
            <a:ext cx="3200400" cy="7315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600" b="1" i="0">
                <a:solidFill>
                  <a:srgbClr val="2F4B9A"/>
                </a:solidFill>
                <a:latin typeface="IBM Plex Mono"/>
              </a:rPr>
              <a:t>50</a:t>
            </a:r>
            <a:r>
              <a:rPr sz="1600" b="0" i="0">
                <a:solidFill>
                  <a:srgbClr val="5B6272"/>
                </a:solidFill>
                <a:latin typeface="IBM Plex Sans"/>
              </a:rPr>
              <a:t>  bugs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39328" y="2286000"/>
            <a:ext cx="3200400" cy="4114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5B6272"/>
                </a:solidFill>
                <a:latin typeface="IBM Plex Mono"/>
              </a:rPr>
              <a:t>Jiang et al. 2019 [6]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39328" y="2670048"/>
            <a:ext cx="3200400" cy="4572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00" b="1" i="0">
                <a:solidFill>
                  <a:srgbClr val="1E2230"/>
                </a:solidFill>
                <a:latin typeface="IBM Plex Sans"/>
              </a:rPr>
              <a:t>Manual inspection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39328" y="3154680"/>
            <a:ext cx="3200400" cy="7315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1" i="0">
                <a:solidFill>
                  <a:srgbClr val="C62F3A"/>
                </a:solidFill>
                <a:latin typeface="IBM Plex Mono"/>
              </a:rPr>
              <a:t>− </a:t>
            </a:r>
            <a:r>
              <a:rPr sz="1600" b="0" i="0">
                <a:solidFill>
                  <a:srgbClr val="5B6272"/>
                </a:solidFill>
                <a:latin typeface="IBM Plex Sans"/>
              </a:rPr>
              <a:t>detailed, but does not scale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02920" y="4160520"/>
            <a:ext cx="11183112" cy="1143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8D4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731520" y="4224528"/>
            <a:ext cx="3017520" cy="4114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2F4B9A"/>
                </a:solidFill>
                <a:latin typeface="IBM Plex Mono"/>
              </a:rPr>
              <a:t>LLM-based classification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1520" y="4590288"/>
            <a:ext cx="10789920" cy="6858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00" b="0" i="0">
                <a:solidFill>
                  <a:srgbClr val="1E2230"/>
                </a:solidFill>
                <a:latin typeface="IBM Plex Sans"/>
              </a:rPr>
              <a:t>Promising with good prompts [7–9], but </a:t>
            </a:r>
            <a:r>
              <a:rPr sz="1700" b="1" i="0">
                <a:solidFill>
                  <a:srgbClr val="1E2230"/>
                </a:solidFill>
                <a:latin typeface="IBM Plex Sans"/>
              </a:rPr>
              <a:t>relies on bug-report text only</a:t>
            </a:r>
            <a:r>
              <a:rPr sz="1700" b="0" i="0">
                <a:solidFill>
                  <a:srgbClr val="1E2230"/>
                </a:solidFill>
                <a:latin typeface="IBM Plex Sans"/>
              </a:rPr>
              <a:t>, and without a fixed taxonomy different runs give </a:t>
            </a:r>
            <a:r>
              <a:rPr sz="1700" b="1" i="0">
                <a:solidFill>
                  <a:srgbClr val="1E2230"/>
                </a:solidFill>
                <a:latin typeface="IBM Plex Sans"/>
              </a:rPr>
              <a:t>inconsistent labels</a:t>
            </a:r>
            <a:r>
              <a:rPr sz="1700" b="0" i="0">
                <a:solidFill>
                  <a:srgbClr val="1E2230"/>
                </a:solidFill>
                <a:latin typeface="IBM Plex Sans"/>
              </a:rPr>
              <a:t>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02920" y="5486400"/>
            <a:ext cx="11183112" cy="71323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2F4B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Rectangle 29"/>
          <p:cNvSpPr/>
          <p:nvPr/>
        </p:nvSpPr>
        <p:spPr>
          <a:xfrm>
            <a:off x="502920" y="5486400"/>
            <a:ext cx="109728" cy="713232"/>
          </a:xfrm>
          <a:prstGeom prst="rect">
            <a:avLst/>
          </a:prstGeom>
          <a:solidFill>
            <a:srgbClr val="2F4B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777240" y="5486400"/>
            <a:ext cx="10789920" cy="7132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00" b="1" i="0">
                <a:solidFill>
                  <a:srgbClr val="1E2230"/>
                </a:solidFill>
                <a:latin typeface="IBM Plex Sans"/>
              </a:rPr>
              <a:t>Gap: </a:t>
            </a:r>
            <a:r>
              <a:rPr sz="1700" b="0" i="0">
                <a:solidFill>
                  <a:srgbClr val="1E2230"/>
                </a:solidFill>
                <a:latin typeface="IBM Plex Sans"/>
              </a:rPr>
              <a:t>no semantic defect-type labelling of Defects4J at benchmark scale, and no way to evaluate one without ground truth.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502920" y="384048"/>
            <a:ext cx="82296" cy="868680"/>
          </a:xfrm>
          <a:prstGeom prst="rect">
            <a:avLst/>
          </a:prstGeom>
          <a:solidFill>
            <a:srgbClr val="2F4B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713232" y="274320"/>
            <a:ext cx="10515600" cy="384048"/>
          </a:xfrm>
          <a:prstGeom prst="rect">
            <a:avLst/>
          </a:prstGeom>
          <a:noFill/>
        </p:spPr>
        <p:txBody>
          <a:bodyPr wrap="square" lIns="36576" rIns="36576" tIns="36576" bIns="36576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2F4B9A"/>
                </a:solidFill>
                <a:latin typeface="IBM Plex Mono"/>
              </a:rPr>
              <a:t>// </a:t>
            </a:r>
            <a:r>
              <a:rPr sz="1500" b="1" i="0">
                <a:solidFill>
                  <a:srgbClr val="2F4B9A"/>
                </a:solidFill>
                <a:latin typeface="IBM Plex Mono"/>
              </a:rPr>
              <a:t>06  PROBLEM STATEMENT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603504"/>
            <a:ext cx="10972800" cy="6858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1E2230"/>
                </a:solidFill>
                <a:latin typeface="IBM Plex Sans"/>
              </a:rPr>
              <a:t>The Problem We Address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02920" y="6355080"/>
            <a:ext cx="11183112" cy="0"/>
          </a:xfrm>
          <a:prstGeom prst="line">
            <a:avLst/>
          </a:prstGeom>
          <a:ln w="12700">
            <a:solidFill>
              <a:srgbClr val="D8D4C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502920" y="6437376"/>
            <a:ext cx="502920" cy="329184"/>
          </a:xfrm>
          <a:prstGeom prst="roundRect">
            <a:avLst>
              <a:gd name="adj" fmla="val 30000"/>
            </a:avLst>
          </a:prstGeom>
          <a:solidFill>
            <a:srgbClr val="2F4B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502920" y="6437376"/>
            <a:ext cx="502920" cy="329184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IBM Plex Mono"/>
              </a:rPr>
              <a:t>P1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6419088"/>
            <a:ext cx="6400800" cy="36576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5B6272"/>
                </a:solidFill>
                <a:latin typeface="IBM Plex Mono"/>
              </a:rPr>
              <a:t>CONTEXT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92640" y="6382512"/>
            <a:ext cx="2011680" cy="43891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no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800" b="1" i="0">
                <a:solidFill>
                  <a:srgbClr val="1E2230"/>
                </a:solidFill>
                <a:latin typeface="IBM Plex Mono"/>
              </a:rPr>
              <a:t>06 / 24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1508760"/>
            <a:ext cx="11183112" cy="1417320"/>
          </a:xfrm>
          <a:prstGeom prst="roundRect">
            <a:avLst>
              <a:gd name="adj" fmla="val 6000"/>
            </a:avLst>
          </a:prstGeom>
          <a:solidFill>
            <a:srgbClr val="1E22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822960" y="1508760"/>
            <a:ext cx="10515600" cy="141732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no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400" b="1" i="0">
                <a:solidFill>
                  <a:srgbClr val="FFFFFF"/>
                </a:solidFill>
                <a:latin typeface="IBM Plex Sans"/>
              </a:rPr>
              <a:t>How can we classify Defects4J bugs into ODC defect types </a:t>
            </a:r>
            <a:r>
              <a:rPr sz="2400" b="1" i="0">
                <a:solidFill>
                  <a:srgbClr val="F1959B"/>
                </a:solidFill>
                <a:latin typeface="IBM Plex Sans"/>
              </a:rPr>
              <a:t>from pre-fix evidence alone</a:t>
            </a:r>
            <a:r>
              <a:rPr sz="2400" b="1" i="0">
                <a:solidFill>
                  <a:srgbClr val="FFFFFF"/>
                </a:solidFill>
                <a:latin typeface="IBM Plex Sans"/>
              </a:rPr>
              <a:t>, and evaluate that classification </a:t>
            </a:r>
            <a:r>
              <a:rPr sz="2400" b="1" i="0">
                <a:solidFill>
                  <a:srgbClr val="8FD3A2"/>
                </a:solidFill>
                <a:latin typeface="IBM Plex Sans"/>
              </a:rPr>
              <a:t>without ground-truth labels</a:t>
            </a:r>
            <a:r>
              <a:rPr sz="2400" b="1" i="0">
                <a:solidFill>
                  <a:srgbClr val="FFFFFF"/>
                </a:solidFill>
                <a:latin typeface="IBM Plex Sans"/>
              </a:rPr>
              <a:t>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3154680"/>
            <a:ext cx="10972800" cy="4114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5B6272"/>
                </a:solidFill>
                <a:latin typeface="IBM Plex Mono"/>
              </a:rPr>
              <a:t>A solution therefore has to be: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3611880"/>
            <a:ext cx="3611880" cy="117043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D4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704088" y="3721608"/>
            <a:ext cx="3200400" cy="4114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800" b="1" i="0">
                <a:solidFill>
                  <a:srgbClr val="23813F"/>
                </a:solidFill>
                <a:latin typeface="IBM Plex Sans"/>
              </a:rPr>
              <a:t>✓ </a:t>
            </a:r>
            <a:r>
              <a:rPr sz="1800" b="1" i="0">
                <a:solidFill>
                  <a:srgbClr val="1E2230"/>
                </a:solidFill>
                <a:latin typeface="IBM Plex Sans"/>
              </a:rPr>
              <a:t>Context-aware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04088" y="4123944"/>
            <a:ext cx="3246120" cy="6400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0" i="0">
                <a:solidFill>
                  <a:srgbClr val="5B6272"/>
                </a:solidFill>
                <a:latin typeface="IBM Plex Sans"/>
              </a:rPr>
              <a:t>code, tests, stack traces and bug reports together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306824" y="3611880"/>
            <a:ext cx="3611880" cy="117043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D4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4507992" y="3721608"/>
            <a:ext cx="3200400" cy="4114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800" b="1" i="0">
                <a:solidFill>
                  <a:srgbClr val="23813F"/>
                </a:solidFill>
                <a:latin typeface="IBM Plex Sans"/>
              </a:rPr>
              <a:t>✓ </a:t>
            </a:r>
            <a:r>
              <a:rPr sz="1800" b="1" i="0">
                <a:solidFill>
                  <a:srgbClr val="1E2230"/>
                </a:solidFill>
                <a:latin typeface="IBM Plex Sans"/>
              </a:rPr>
              <a:t>Semantic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07992" y="4123944"/>
            <a:ext cx="3246120" cy="6400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0" i="0">
                <a:solidFill>
                  <a:srgbClr val="5B6272"/>
                </a:solidFill>
                <a:latin typeface="IBM Plex Sans"/>
              </a:rPr>
              <a:t>classifies the defect mechanism, not syntax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110728" y="3611880"/>
            <a:ext cx="3611880" cy="117043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D4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311896" y="3721608"/>
            <a:ext cx="3200400" cy="4114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800" b="1" i="0">
                <a:solidFill>
                  <a:srgbClr val="23813F"/>
                </a:solidFill>
                <a:latin typeface="IBM Plex Sans"/>
              </a:rPr>
              <a:t>✓ </a:t>
            </a:r>
            <a:r>
              <a:rPr sz="1800" b="1" i="0">
                <a:solidFill>
                  <a:srgbClr val="1E2230"/>
                </a:solidFill>
                <a:latin typeface="IBM Plex Sans"/>
              </a:rPr>
              <a:t>Taxonomy-constrained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11896" y="4123944"/>
            <a:ext cx="3246120" cy="6400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0" i="0">
                <a:solidFill>
                  <a:srgbClr val="5B6272"/>
                </a:solidFill>
                <a:latin typeface="IBM Plex Sans"/>
              </a:rPr>
              <a:t>a fixed ODC label space, comparable across studies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02920" y="4937760"/>
            <a:ext cx="3611880" cy="117043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D4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704088" y="5047488"/>
            <a:ext cx="3200400" cy="4114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800" b="1" i="0">
                <a:solidFill>
                  <a:srgbClr val="23813F"/>
                </a:solidFill>
                <a:latin typeface="IBM Plex Sans"/>
              </a:rPr>
              <a:t>✓ </a:t>
            </a:r>
            <a:r>
              <a:rPr sz="1800" b="1" i="0">
                <a:solidFill>
                  <a:srgbClr val="1E2230"/>
                </a:solidFill>
                <a:latin typeface="IBM Plex Sans"/>
              </a:rPr>
              <a:t>Open to its own limits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04088" y="5449824"/>
            <a:ext cx="3246120" cy="6400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0" i="0">
                <a:solidFill>
                  <a:srgbClr val="5B6272"/>
                </a:solidFill>
                <a:latin typeface="IBM Plex Sans"/>
              </a:rPr>
              <a:t>can record a bug that fits no type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306824" y="4937760"/>
            <a:ext cx="3611880" cy="117043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D4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4507992" y="5047488"/>
            <a:ext cx="3200400" cy="4114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800" b="1" i="0">
                <a:solidFill>
                  <a:srgbClr val="23813F"/>
                </a:solidFill>
                <a:latin typeface="IBM Plex Sans"/>
              </a:rPr>
              <a:t>✓ </a:t>
            </a:r>
            <a:r>
              <a:rPr sz="1800" b="1" i="0">
                <a:solidFill>
                  <a:srgbClr val="1E2230"/>
                </a:solidFill>
                <a:latin typeface="IBM Plex Sans"/>
              </a:rPr>
              <a:t>Scalable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07992" y="5449824"/>
            <a:ext cx="3246120" cy="6400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0" i="0">
                <a:solidFill>
                  <a:srgbClr val="5B6272"/>
                </a:solidFill>
                <a:latin typeface="IBM Plex Sans"/>
              </a:rPr>
              <a:t>LLM-based, no manual labelling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110728" y="4937760"/>
            <a:ext cx="3611880" cy="117043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D4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311896" y="5047488"/>
            <a:ext cx="3200400" cy="4114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800" b="1" i="0">
                <a:solidFill>
                  <a:srgbClr val="23813F"/>
                </a:solidFill>
                <a:latin typeface="IBM Plex Sans"/>
              </a:rPr>
              <a:t>✓ </a:t>
            </a:r>
            <a:r>
              <a:rPr sz="1800" b="1" i="0">
                <a:solidFill>
                  <a:srgbClr val="1E2230"/>
                </a:solidFill>
                <a:latin typeface="IBM Plex Sans"/>
              </a:rPr>
              <a:t>Evaluable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11896" y="5449824"/>
            <a:ext cx="3246120" cy="6400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0" i="0">
                <a:solidFill>
                  <a:srgbClr val="5B6272"/>
                </a:solidFill>
                <a:latin typeface="IBM Plex Sans"/>
              </a:rPr>
              <a:t>carries its own reference, since Defects4J has none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502920" y="384048"/>
            <a:ext cx="82296" cy="868680"/>
          </a:xfrm>
          <a:prstGeom prst="rect">
            <a:avLst/>
          </a:prstGeom>
          <a:solidFill>
            <a:srgbClr val="2F4B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713232" y="274320"/>
            <a:ext cx="10515600" cy="384048"/>
          </a:xfrm>
          <a:prstGeom prst="rect">
            <a:avLst/>
          </a:prstGeom>
          <a:noFill/>
        </p:spPr>
        <p:txBody>
          <a:bodyPr wrap="square" lIns="36576" rIns="36576" tIns="36576" bIns="36576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2F4B9A"/>
                </a:solidFill>
                <a:latin typeface="IBM Plex Mono"/>
              </a:rPr>
              <a:t>// </a:t>
            </a:r>
            <a:r>
              <a:rPr sz="1500" b="1" i="0">
                <a:solidFill>
                  <a:srgbClr val="2F4B9A"/>
                </a:solidFill>
                <a:latin typeface="IBM Plex Mono"/>
              </a:rPr>
              <a:t>07  CORE IDEA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603504"/>
            <a:ext cx="10972800" cy="6858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1E2230"/>
                </a:solidFill>
                <a:latin typeface="IBM Plex Sans"/>
              </a:rPr>
              <a:t>One Bug, Two Classifications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02920" y="6355080"/>
            <a:ext cx="11183112" cy="0"/>
          </a:xfrm>
          <a:prstGeom prst="line">
            <a:avLst/>
          </a:prstGeom>
          <a:ln w="12700">
            <a:solidFill>
              <a:srgbClr val="D8D4C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502920" y="6437376"/>
            <a:ext cx="502920" cy="329184"/>
          </a:xfrm>
          <a:prstGeom prst="roundRect">
            <a:avLst>
              <a:gd name="adj" fmla="val 30000"/>
            </a:avLst>
          </a:prstGeom>
          <a:solidFill>
            <a:srgbClr val="2F4B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502920" y="6437376"/>
            <a:ext cx="502920" cy="329184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IBM Plex Mono"/>
              </a:rPr>
              <a:t>P1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6419088"/>
            <a:ext cx="6400800" cy="36576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5B6272"/>
                </a:solidFill>
                <a:latin typeface="IBM Plex Mono"/>
              </a:rPr>
              <a:t>CONTEXT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92640" y="6382512"/>
            <a:ext cx="2011680" cy="43891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no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800" b="1" i="0">
                <a:solidFill>
                  <a:srgbClr val="1E2230"/>
                </a:solidFill>
                <a:latin typeface="IBM Plex Mono"/>
              </a:rPr>
              <a:t>07 / 24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1508760"/>
            <a:ext cx="5513832" cy="2514600"/>
          </a:xfrm>
          <a:prstGeom prst="roundRect">
            <a:avLst>
              <a:gd name="adj" fmla="val 5000"/>
            </a:avLst>
          </a:prstGeom>
          <a:solidFill>
            <a:srgbClr val="FBE8E8"/>
          </a:solidFill>
          <a:ln w="19050">
            <a:solidFill>
              <a:srgbClr val="C62F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731520" y="1627632"/>
            <a:ext cx="512064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200" b="1" i="0">
                <a:solidFill>
                  <a:srgbClr val="C62F3A"/>
                </a:solidFill>
                <a:latin typeface="IBM Plex Mono"/>
              </a:rPr>
              <a:t>− </a:t>
            </a:r>
            <a:r>
              <a:rPr sz="2200" b="1" i="0">
                <a:solidFill>
                  <a:srgbClr val="C62F3A"/>
                </a:solidFill>
                <a:latin typeface="IBM Plex Mono"/>
              </a:rPr>
              <a:t>PRE-FIX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2194560"/>
            <a:ext cx="5120640" cy="7315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800" b="1" i="0">
                <a:solidFill>
                  <a:srgbClr val="1E2230"/>
                </a:solidFill>
                <a:latin typeface="IBM Plex Sans"/>
              </a:rPr>
              <a:t>bug report · failing tests · stack trace · source code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2971800"/>
            <a:ext cx="5120640" cy="10058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no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700" b="0" i="0">
                <a:solidFill>
                  <a:srgbClr val="5B6272"/>
                </a:solidFill>
                <a:latin typeface="IBM Plex Sans"/>
              </a:rPr>
              <a:t>The triage situation: no fix exists yet. This is the label the pipeline produces.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72200" y="1508760"/>
            <a:ext cx="5513832" cy="2514600"/>
          </a:xfrm>
          <a:prstGeom prst="roundRect">
            <a:avLst>
              <a:gd name="adj" fmla="val 5000"/>
            </a:avLst>
          </a:prstGeom>
          <a:solidFill>
            <a:srgbClr val="E4F3E8"/>
          </a:solidFill>
          <a:ln w="19050">
            <a:solidFill>
              <a:srgbClr val="2381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6400800" y="1627632"/>
            <a:ext cx="512064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200" b="1" i="0">
                <a:solidFill>
                  <a:srgbClr val="23813F"/>
                </a:solidFill>
                <a:latin typeface="IBM Plex Mono"/>
              </a:rPr>
              <a:t>+ </a:t>
            </a:r>
            <a:r>
              <a:rPr sz="2200" b="1" i="0">
                <a:solidFill>
                  <a:srgbClr val="23813F"/>
                </a:solidFill>
                <a:latin typeface="IBM Plex Mono"/>
              </a:rPr>
              <a:t>POST-FIX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2194560"/>
            <a:ext cx="5120640" cy="7315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800" b="1" i="0">
                <a:solidFill>
                  <a:srgbClr val="1E2230"/>
                </a:solidFill>
                <a:latin typeface="IBM Plex Sans"/>
              </a:rPr>
              <a:t>the same evidence + the developer's buggy-to-fixed diff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2971800"/>
            <a:ext cx="5120640" cy="10058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no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700" b="0" i="0">
                <a:solidFill>
                  <a:srgbClr val="5B6272"/>
                </a:solidFill>
                <a:latin typeface="IBM Plex Sans"/>
              </a:rPr>
              <a:t>Better informed: an ODC type describes the correction, and this run sees it.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4206240"/>
            <a:ext cx="11155680" cy="4114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5B6272"/>
                </a:solidFill>
                <a:latin typeface="IBM Plex Mono"/>
              </a:rPr>
              <a:t>Defects4J has no ODC labels, so: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4617720"/>
            <a:ext cx="3611880" cy="10972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D4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685800" y="4681728"/>
            <a:ext cx="3291840" cy="4572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800" b="1" i="0">
                <a:solidFill>
                  <a:srgbClr val="1E2230"/>
                </a:solidFill>
                <a:latin typeface="IBM Plex Mono"/>
              </a:rPr>
              <a:t>post-fix label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5102352"/>
            <a:ext cx="3291840" cy="5486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00" b="0" i="0">
                <a:solidFill>
                  <a:srgbClr val="5B6272"/>
                </a:solidFill>
                <a:latin typeface="IBM Plex Sans"/>
              </a:rPr>
              <a:t>= the fix-informed reference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306824" y="4617720"/>
            <a:ext cx="3611880" cy="10972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D4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4489704" y="4681728"/>
            <a:ext cx="3291840" cy="4572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800" b="1" i="0">
                <a:solidFill>
                  <a:srgbClr val="1E2230"/>
                </a:solidFill>
                <a:latin typeface="IBM Plex Mono"/>
              </a:rPr>
              <a:t>pre-fix vs post-fix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489704" y="5102352"/>
            <a:ext cx="3291840" cy="5486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00" b="0" i="0">
                <a:solidFill>
                  <a:srgbClr val="5B6272"/>
                </a:solidFill>
                <a:latin typeface="IBM Plex Sans"/>
              </a:rPr>
              <a:t>= does the triage label hold?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110728" y="4617720"/>
            <a:ext cx="3611880" cy="10972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D4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8293608" y="4681728"/>
            <a:ext cx="3291840" cy="4572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800" b="1" i="0">
                <a:solidFill>
                  <a:srgbClr val="1E2230"/>
                </a:solidFill>
                <a:latin typeface="IBM Plex Mono"/>
              </a:rPr>
              <a:t>labels differ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93608" y="5102352"/>
            <a:ext cx="3291840" cy="5486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00" b="0" i="0">
                <a:solidFill>
                  <a:srgbClr val="5B6272"/>
                </a:solidFill>
                <a:latin typeface="IBM Plex Sans"/>
              </a:rPr>
              <a:t>= drift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02920" y="5806440"/>
            <a:ext cx="11155680" cy="4572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1" i="0">
                <a:solidFill>
                  <a:srgbClr val="1E2230"/>
                </a:solidFill>
                <a:latin typeface="IBM Plex Sans"/>
              </a:rPr>
              <a:t>Agreement is not correctness: </a:t>
            </a:r>
            <a:r>
              <a:rPr sz="1600" b="0" i="0">
                <a:solidFill>
                  <a:srgbClr val="5B6272"/>
                </a:solidFill>
                <a:latin typeface="IBM Plex Sans"/>
              </a:rPr>
              <a:t>we measure how closely a pre-fix label reproduces a better-informed reference.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502920" y="384048"/>
            <a:ext cx="82296" cy="868680"/>
          </a:xfrm>
          <a:prstGeom prst="rect">
            <a:avLst/>
          </a:prstGeom>
          <a:solidFill>
            <a:srgbClr val="2F4B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713232" y="274320"/>
            <a:ext cx="10515600" cy="384048"/>
          </a:xfrm>
          <a:prstGeom prst="rect">
            <a:avLst/>
          </a:prstGeom>
          <a:noFill/>
        </p:spPr>
        <p:txBody>
          <a:bodyPr wrap="square" lIns="36576" rIns="36576" tIns="36576" bIns="36576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2F4B9A"/>
                </a:solidFill>
                <a:latin typeface="IBM Plex Mono"/>
              </a:rPr>
              <a:t>// </a:t>
            </a:r>
            <a:r>
              <a:rPr sz="1500" b="1" i="0">
                <a:solidFill>
                  <a:srgbClr val="2F4B9A"/>
                </a:solidFill>
                <a:latin typeface="IBM Plex Mono"/>
              </a:rPr>
              <a:t>08  RESEARCH QUESTIONS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603504"/>
            <a:ext cx="10972800" cy="6858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1E2230"/>
                </a:solidFill>
                <a:latin typeface="IBM Plex Sans"/>
              </a:rPr>
              <a:t>Four Research Questions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02920" y="6355080"/>
            <a:ext cx="11183112" cy="0"/>
          </a:xfrm>
          <a:prstGeom prst="line">
            <a:avLst/>
          </a:prstGeom>
          <a:ln w="12700">
            <a:solidFill>
              <a:srgbClr val="D8D4C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502920" y="6437376"/>
            <a:ext cx="502920" cy="329184"/>
          </a:xfrm>
          <a:prstGeom prst="roundRect">
            <a:avLst>
              <a:gd name="adj" fmla="val 30000"/>
            </a:avLst>
          </a:prstGeom>
          <a:solidFill>
            <a:srgbClr val="2F4B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502920" y="6437376"/>
            <a:ext cx="502920" cy="329184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IBM Plex Mono"/>
              </a:rPr>
              <a:t>P1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6419088"/>
            <a:ext cx="6400800" cy="36576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5B6272"/>
                </a:solidFill>
                <a:latin typeface="IBM Plex Mono"/>
              </a:rPr>
              <a:t>CONTEXT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92640" y="6382512"/>
            <a:ext cx="2011680" cy="43891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no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800" b="1" i="0">
                <a:solidFill>
                  <a:srgbClr val="1E2230"/>
                </a:solidFill>
                <a:latin typeface="IBM Plex Mono"/>
              </a:rPr>
              <a:t>08 / 24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1463040"/>
            <a:ext cx="11183112" cy="96926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D4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731520" y="1700784"/>
            <a:ext cx="960120" cy="493776"/>
          </a:xfrm>
          <a:prstGeom prst="roundRect">
            <a:avLst>
              <a:gd name="adj" fmla="val 30000"/>
            </a:avLst>
          </a:prstGeom>
          <a:solidFill>
            <a:srgbClr val="2F4B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731520" y="1700784"/>
            <a:ext cx="960120" cy="493776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800" b="1" i="0">
                <a:solidFill>
                  <a:srgbClr val="FFFFFF"/>
                </a:solidFill>
                <a:latin typeface="IBM Plex Mono"/>
              </a:rPr>
              <a:t>RQ1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20240" y="1463040"/>
            <a:ext cx="3017520" cy="969264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900" b="1" i="0">
                <a:solidFill>
                  <a:srgbClr val="1E2230"/>
                </a:solidFill>
                <a:latin typeface="IBM Plex Sans"/>
              </a:rPr>
              <a:t>Defect-type distribution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937760" y="1463040"/>
            <a:ext cx="5486400" cy="969264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no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1600" b="0" i="0">
                <a:solidFill>
                  <a:srgbClr val="5B6272"/>
                </a:solidFill>
                <a:latin typeface="IBM Plex Sans"/>
              </a:rPr>
              <a:t>Which ODC types dominate Defects4J, and does the mix differ across projects?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378440" y="1463040"/>
            <a:ext cx="1188720" cy="969264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no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2F4B9A"/>
                </a:solidFill>
                <a:latin typeface="IBM Plex Mono"/>
              </a:rPr>
              <a:t>slide 17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2560320"/>
            <a:ext cx="11183112" cy="96926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D4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ounded Rectangle 17"/>
          <p:cNvSpPr/>
          <p:nvPr/>
        </p:nvSpPr>
        <p:spPr>
          <a:xfrm>
            <a:off x="731520" y="2798063"/>
            <a:ext cx="960120" cy="493776"/>
          </a:xfrm>
          <a:prstGeom prst="roundRect">
            <a:avLst>
              <a:gd name="adj" fmla="val 30000"/>
            </a:avLst>
          </a:prstGeom>
          <a:solidFill>
            <a:srgbClr val="2F4B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731520" y="2798063"/>
            <a:ext cx="960120" cy="493776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800" b="1" i="0">
                <a:solidFill>
                  <a:srgbClr val="FFFFFF"/>
                </a:solidFill>
                <a:latin typeface="IBM Plex Mono"/>
              </a:rPr>
              <a:t>RQ2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920240" y="2560320"/>
            <a:ext cx="3017520" cy="969264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900" b="1" i="0">
                <a:solidFill>
                  <a:srgbClr val="1E2230"/>
                </a:solidFill>
                <a:latin typeface="IBM Plex Sans"/>
              </a:rPr>
              <a:t>Taxonomy coverage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937760" y="2560320"/>
            <a:ext cx="5486400" cy="969264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no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1600" b="0" i="0">
                <a:solidFill>
                  <a:srgbClr val="5B6272"/>
                </a:solidFill>
                <a:latin typeface="IBM Plex Sans"/>
              </a:rPr>
              <a:t>Do the seven ODC types cover every bug, or is the “Other” escape needed?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378440" y="2560320"/>
            <a:ext cx="1188720" cy="969264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no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2F4B9A"/>
                </a:solidFill>
                <a:latin typeface="IBM Plex Mono"/>
              </a:rPr>
              <a:t>slide 17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02920" y="3657600"/>
            <a:ext cx="11183112" cy="96926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D4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ounded Rectangle 23"/>
          <p:cNvSpPr/>
          <p:nvPr/>
        </p:nvSpPr>
        <p:spPr>
          <a:xfrm>
            <a:off x="731520" y="3895344"/>
            <a:ext cx="960120" cy="493776"/>
          </a:xfrm>
          <a:prstGeom prst="roundRect">
            <a:avLst>
              <a:gd name="adj" fmla="val 30000"/>
            </a:avLst>
          </a:prstGeom>
          <a:solidFill>
            <a:srgbClr val="2F4B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731520" y="3895344"/>
            <a:ext cx="960120" cy="493776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800" b="1" i="0">
                <a:solidFill>
                  <a:srgbClr val="FFFFFF"/>
                </a:solidFill>
                <a:latin typeface="IBM Plex Mono"/>
              </a:rPr>
              <a:t>RQ3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920240" y="3657600"/>
            <a:ext cx="3017520" cy="969264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900" b="1" i="0">
                <a:solidFill>
                  <a:srgbClr val="1E2230"/>
                </a:solidFill>
                <a:latin typeface="IBM Plex Sans"/>
              </a:rPr>
              <a:t>Classification accuracy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937760" y="3657600"/>
            <a:ext cx="5486400" cy="969264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no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1600" b="0" i="0">
                <a:solidFill>
                  <a:srgbClr val="5B6272"/>
                </a:solidFill>
                <a:latin typeface="IBM Plex Sans"/>
              </a:rPr>
              <a:t>How often does the pre-fix label match the post-fix reference, and how do labels change?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378440" y="3657600"/>
            <a:ext cx="1188720" cy="969264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no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2F4B9A"/>
                </a:solidFill>
                <a:latin typeface="IBM Plex Mono"/>
              </a:rPr>
              <a:t>18–19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02920" y="4754879"/>
            <a:ext cx="11183112" cy="96926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D4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Rounded Rectangle 29"/>
          <p:cNvSpPr/>
          <p:nvPr/>
        </p:nvSpPr>
        <p:spPr>
          <a:xfrm>
            <a:off x="731520" y="4992623"/>
            <a:ext cx="960120" cy="493776"/>
          </a:xfrm>
          <a:prstGeom prst="roundRect">
            <a:avLst>
              <a:gd name="adj" fmla="val 30000"/>
            </a:avLst>
          </a:prstGeom>
          <a:solidFill>
            <a:srgbClr val="2F4B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731520" y="4992623"/>
            <a:ext cx="960120" cy="493776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800" b="1" i="0">
                <a:solidFill>
                  <a:srgbClr val="FFFFFF"/>
                </a:solidFill>
                <a:latin typeface="IBM Plex Mono"/>
              </a:rPr>
              <a:t>RQ4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920240" y="4754879"/>
            <a:ext cx="3017520" cy="969264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900" b="1" i="0">
                <a:solidFill>
                  <a:srgbClr val="1E2230"/>
                </a:solidFill>
                <a:latin typeface="IBM Plex Sans"/>
              </a:rPr>
              <a:t>Contribution of each part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937760" y="4754879"/>
            <a:ext cx="5486400" cy="969264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no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1600" b="0" i="0">
                <a:solidFill>
                  <a:srgbClr val="5B6272"/>
                </a:solidFill>
                <a:latin typeface="IBM Plex Sans"/>
              </a:rPr>
              <a:t>a) What does the ODC taxonomy add?  b) What does the enforced loop add over few-shot?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378440" y="4754879"/>
            <a:ext cx="1188720" cy="969264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no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2F4B9A"/>
                </a:solidFill>
                <a:latin typeface="IBM Plex Mono"/>
              </a:rPr>
              <a:t>20–21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02920" y="5897880"/>
            <a:ext cx="11155680" cy="384048"/>
          </a:xfrm>
          <a:prstGeom prst="rect">
            <a:avLst/>
          </a:prstGeom>
          <a:noFill/>
        </p:spPr>
        <p:txBody>
          <a:bodyPr wrap="square" lIns="36576" rIns="36576" tIns="36576" bIns="36576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1" i="0">
                <a:solidFill>
                  <a:srgbClr val="5B6272"/>
                </a:solidFill>
                <a:latin typeface="IBM Plex Mono"/>
              </a:rPr>
              <a:t>Evaluated on 410 bugs from 6 projects · 1,640 classifications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502920" y="384048"/>
            <a:ext cx="82296" cy="868680"/>
          </a:xfrm>
          <a:prstGeom prst="rect">
            <a:avLst/>
          </a:prstGeom>
          <a:solidFill>
            <a:srgbClr val="1D7F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713232" y="274320"/>
            <a:ext cx="10515600" cy="384048"/>
          </a:xfrm>
          <a:prstGeom prst="rect">
            <a:avLst/>
          </a:prstGeom>
          <a:noFill/>
        </p:spPr>
        <p:txBody>
          <a:bodyPr wrap="square" lIns="36576" rIns="36576" tIns="36576" bIns="36576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1D7F6E"/>
                </a:solidFill>
                <a:latin typeface="IBM Plex Mono"/>
              </a:rPr>
              <a:t>// </a:t>
            </a:r>
            <a:r>
              <a:rPr sz="1500" b="1" i="0">
                <a:solidFill>
                  <a:srgbClr val="1D7F6E"/>
                </a:solidFill>
                <a:latin typeface="IBM Plex Mono"/>
              </a:rPr>
              <a:t>09  PIPELINE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603504"/>
            <a:ext cx="10972800" cy="6858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1E2230"/>
                </a:solidFill>
                <a:latin typeface="IBM Plex Sans"/>
              </a:rPr>
              <a:t>Pipeline Architecture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02920" y="6355080"/>
            <a:ext cx="11183112" cy="0"/>
          </a:xfrm>
          <a:prstGeom prst="line">
            <a:avLst/>
          </a:prstGeom>
          <a:ln w="12700">
            <a:solidFill>
              <a:srgbClr val="D8D4C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502920" y="6437376"/>
            <a:ext cx="502920" cy="329184"/>
          </a:xfrm>
          <a:prstGeom prst="roundRect">
            <a:avLst>
              <a:gd name="adj" fmla="val 30000"/>
            </a:avLst>
          </a:prstGeom>
          <a:solidFill>
            <a:srgbClr val="1D7F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502920" y="6437376"/>
            <a:ext cx="502920" cy="329184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IBM Plex Mono"/>
              </a:rPr>
              <a:t>P2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6419088"/>
            <a:ext cx="6400800" cy="36576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5B6272"/>
                </a:solidFill>
                <a:latin typeface="IBM Plex Mono"/>
              </a:rPr>
              <a:t>METHODOLOGY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92640" y="6382512"/>
            <a:ext cx="2011680" cy="43891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no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800" b="1" i="0">
                <a:solidFill>
                  <a:srgbClr val="1E2230"/>
                </a:solidFill>
                <a:latin typeface="IBM Plex Mono"/>
              </a:rPr>
              <a:t>09 / 24</a:t>
            </a:r>
          </a:p>
        </p:txBody>
      </p:sp>
      <p:pic>
        <p:nvPicPr>
          <p:cNvPr id="11" name="Picture 10" descr="methodology_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43380" y="1417320"/>
            <a:ext cx="9304934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502920" y="384048"/>
            <a:ext cx="82296" cy="868680"/>
          </a:xfrm>
          <a:prstGeom prst="rect">
            <a:avLst/>
          </a:prstGeom>
          <a:solidFill>
            <a:srgbClr val="1D7F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713232" y="274320"/>
            <a:ext cx="10515600" cy="384048"/>
          </a:xfrm>
          <a:prstGeom prst="rect">
            <a:avLst/>
          </a:prstGeom>
          <a:noFill/>
        </p:spPr>
        <p:txBody>
          <a:bodyPr wrap="square" lIns="36576" rIns="36576" tIns="36576" bIns="36576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1D7F6E"/>
                </a:solidFill>
                <a:latin typeface="IBM Plex Mono"/>
              </a:rPr>
              <a:t>// </a:t>
            </a:r>
            <a:r>
              <a:rPr sz="1500" b="1" i="0">
                <a:solidFill>
                  <a:srgbClr val="1D7F6E"/>
                </a:solidFill>
                <a:latin typeface="IBM Plex Mono"/>
              </a:rPr>
              <a:t>10  EVIDENCE COLLECTION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603504"/>
            <a:ext cx="10972800" cy="6858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1E2230"/>
                </a:solidFill>
                <a:latin typeface="IBM Plex Sans"/>
              </a:rPr>
              <a:t>Building the Case File: context.json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02920" y="6355080"/>
            <a:ext cx="11183112" cy="0"/>
          </a:xfrm>
          <a:prstGeom prst="line">
            <a:avLst/>
          </a:prstGeom>
          <a:ln w="12700">
            <a:solidFill>
              <a:srgbClr val="D8D4C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502920" y="6437376"/>
            <a:ext cx="502920" cy="329184"/>
          </a:xfrm>
          <a:prstGeom prst="roundRect">
            <a:avLst>
              <a:gd name="adj" fmla="val 30000"/>
            </a:avLst>
          </a:prstGeom>
          <a:solidFill>
            <a:srgbClr val="1D7F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502920" y="6437376"/>
            <a:ext cx="502920" cy="329184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IBM Plex Mono"/>
              </a:rPr>
              <a:t>P2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6419088"/>
            <a:ext cx="6400800" cy="36576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5B6272"/>
                </a:solidFill>
                <a:latin typeface="IBM Plex Mono"/>
              </a:rPr>
              <a:t>METHODOLOGY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92640" y="6382512"/>
            <a:ext cx="2011680" cy="43891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no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800" b="1" i="0">
                <a:solidFill>
                  <a:srgbClr val="1E2230"/>
                </a:solidFill>
                <a:latin typeface="IBM Plex Mono"/>
              </a:rPr>
              <a:t>10 / 24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1463040"/>
            <a:ext cx="5212080" cy="4709160"/>
          </a:xfrm>
          <a:prstGeom prst="roundRect">
            <a:avLst>
              <a:gd name="adj" fmla="val 3000"/>
            </a:avLst>
          </a:prstGeom>
          <a:solidFill>
            <a:srgbClr val="1E22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731520" y="1691640"/>
            <a:ext cx="4846320" cy="4114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C9CFDB"/>
                </a:solidFill>
                <a:latin typeface="IBM Plex Mono"/>
              </a:rPr>
              <a:t>{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2121408"/>
            <a:ext cx="4846320" cy="4114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C9CFDB"/>
                </a:solidFill>
                <a:latin typeface="IBM Plex Mono"/>
              </a:rPr>
              <a:t>  "bug_report":  sanitized text,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2551176"/>
            <a:ext cx="4846320" cy="4114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C9CFDB"/>
                </a:solidFill>
                <a:latin typeface="IBM Plex Mono"/>
              </a:rPr>
              <a:t>  "failing_tests": [name, message,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2980944"/>
            <a:ext cx="4846320" cy="4114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C9CFDB"/>
                </a:solidFill>
                <a:latin typeface="IBM Plex Mono"/>
              </a:rPr>
              <a:t>                    stack trace],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3410712"/>
            <a:ext cx="4846320" cy="4114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C9CFDB"/>
                </a:solidFill>
                <a:latin typeface="IBM Plex Mono"/>
              </a:rPr>
              <a:t>  "suspicious_frames": [...],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3840479"/>
            <a:ext cx="4846320" cy="4114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C9CFDB"/>
                </a:solidFill>
                <a:latin typeface="IBM Plex Mono"/>
              </a:rPr>
              <a:t>  "code_snippets": [±12 / ±18 lines],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4270248"/>
            <a:ext cx="4846320" cy="4114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C9CFDB"/>
                </a:solidFill>
                <a:latin typeface="IBM Plex Mono"/>
              </a:rPr>
              <a:t>  "coverage": [line, branch rates],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4700016"/>
            <a:ext cx="4846320" cy="4114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E7C56B"/>
                </a:solidFill>
                <a:latin typeface="IBM Plex Mono"/>
              </a:rPr>
              <a:t>  "hidden_oracles": {modified classes},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5129783"/>
            <a:ext cx="4846320" cy="4114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8FD3A2"/>
                </a:solidFill>
                <a:latin typeface="IBM Plex Mono"/>
              </a:rPr>
              <a:t>  "fix_diff": "..."   // post-fix only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5559552"/>
            <a:ext cx="4846320" cy="4114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C9CFDB"/>
                </a:solidFill>
                <a:latin typeface="IBM Plex Mono"/>
              </a:rPr>
              <a:t>}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943600" y="1463040"/>
            <a:ext cx="5742432" cy="1417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8D4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ectangle 22"/>
          <p:cNvSpPr/>
          <p:nvPr/>
        </p:nvSpPr>
        <p:spPr>
          <a:xfrm>
            <a:off x="5943600" y="1463040"/>
            <a:ext cx="91440" cy="1417320"/>
          </a:xfrm>
          <a:prstGeom prst="rect">
            <a:avLst/>
          </a:prstGeom>
          <a:solidFill>
            <a:srgbClr val="1D7F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6199632" y="1554480"/>
            <a:ext cx="5349240" cy="4114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800" b="1" i="0">
                <a:solidFill>
                  <a:srgbClr val="1E2230"/>
                </a:solidFill>
                <a:latin typeface="IBM Plex Sans"/>
              </a:rPr>
              <a:t>Suspicious frames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199632" y="1938528"/>
            <a:ext cx="5349240" cy="9144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no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1600" b="0" i="0">
                <a:solidFill>
                  <a:srgbClr val="5B6272"/>
                </a:solidFill>
                <a:latin typeface="IBM Plex Sans"/>
              </a:rPr>
              <a:t>Keep only stack frames in the project's own source; drop JUnit, JDK and build-tool frames. They decide which code the model reads.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943600" y="3035808"/>
            <a:ext cx="5742432" cy="1417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8D4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Rectangle 26"/>
          <p:cNvSpPr/>
          <p:nvPr/>
        </p:nvSpPr>
        <p:spPr>
          <a:xfrm>
            <a:off x="5943600" y="3035808"/>
            <a:ext cx="91440" cy="1417320"/>
          </a:xfrm>
          <a:prstGeom prst="rect">
            <a:avLst/>
          </a:prstGeom>
          <a:solidFill>
            <a:srgbClr val="1D7F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6199632" y="3127248"/>
            <a:ext cx="5349240" cy="4114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800" b="1" i="0">
                <a:solidFill>
                  <a:srgbClr val="1E2230"/>
                </a:solidFill>
                <a:latin typeface="IBM Plex Sans"/>
              </a:rPr>
              <a:t>Sanitized pre-fix evidence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199632" y="3511296"/>
            <a:ext cx="5349240" cy="9144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no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1600" b="0" i="0">
                <a:solidFill>
                  <a:srgbClr val="5B6272"/>
                </a:solidFill>
                <a:latin typeface="IBM Plex Sans"/>
              </a:rPr>
              <a:t>Remove the classes the fix touched and any “fixed in” discussion from bug reports, so the pre-fix run cannot see the fix.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943600" y="4608576"/>
            <a:ext cx="5742432" cy="1417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8D4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Rectangle 30"/>
          <p:cNvSpPr/>
          <p:nvPr/>
        </p:nvSpPr>
        <p:spPr>
          <a:xfrm>
            <a:off x="5943600" y="4608576"/>
            <a:ext cx="91440" cy="1417320"/>
          </a:xfrm>
          <a:prstGeom prst="rect">
            <a:avLst/>
          </a:prstGeom>
          <a:solidFill>
            <a:srgbClr val="1D7F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TextBox 31"/>
          <p:cNvSpPr txBox="1"/>
          <p:nvPr/>
        </p:nvSpPr>
        <p:spPr>
          <a:xfrm>
            <a:off x="6199632" y="4700016"/>
            <a:ext cx="5349240" cy="4114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800" b="1" i="0">
                <a:solidFill>
                  <a:srgbClr val="1E2230"/>
                </a:solidFill>
                <a:latin typeface="IBM Plex Sans"/>
              </a:rPr>
              <a:t>Hidden oracle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199632" y="5084064"/>
            <a:ext cx="5349240" cy="9144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no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1600" b="0" i="0">
                <a:solidFill>
                  <a:srgbClr val="5B6272"/>
                </a:solidFill>
                <a:latin typeface="IBM Plex Sans"/>
              </a:rPr>
              <a:t>Modified classes are stored for evaluation only — never in the prompt.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502920" y="384048"/>
            <a:ext cx="82296" cy="868680"/>
          </a:xfrm>
          <a:prstGeom prst="rect">
            <a:avLst/>
          </a:prstGeom>
          <a:solidFill>
            <a:srgbClr val="1D7F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713232" y="274320"/>
            <a:ext cx="10515600" cy="384048"/>
          </a:xfrm>
          <a:prstGeom prst="rect">
            <a:avLst/>
          </a:prstGeom>
          <a:noFill/>
        </p:spPr>
        <p:txBody>
          <a:bodyPr wrap="square" lIns="36576" rIns="36576" tIns="36576" bIns="36576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1D7F6E"/>
                </a:solidFill>
                <a:latin typeface="IBM Plex Mono"/>
              </a:rPr>
              <a:t>// </a:t>
            </a:r>
            <a:r>
              <a:rPr sz="1500" b="1" i="0">
                <a:solidFill>
                  <a:srgbClr val="1D7F6E"/>
                </a:solidFill>
                <a:latin typeface="IBM Plex Mono"/>
              </a:rPr>
              <a:t>11  CLASSIFICATION CONDITIONS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603504"/>
            <a:ext cx="10972800" cy="6858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1E2230"/>
                </a:solidFill>
                <a:latin typeface="IBM Plex Sans"/>
              </a:rPr>
              <a:t>Two Choices Define Every Condition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02920" y="6355080"/>
            <a:ext cx="11183112" cy="0"/>
          </a:xfrm>
          <a:prstGeom prst="line">
            <a:avLst/>
          </a:prstGeom>
          <a:ln w="12700">
            <a:solidFill>
              <a:srgbClr val="D8D4C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502920" y="6437376"/>
            <a:ext cx="502920" cy="329184"/>
          </a:xfrm>
          <a:prstGeom prst="roundRect">
            <a:avLst>
              <a:gd name="adj" fmla="val 30000"/>
            </a:avLst>
          </a:prstGeom>
          <a:solidFill>
            <a:srgbClr val="1D7F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502920" y="6437376"/>
            <a:ext cx="502920" cy="329184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IBM Plex Mono"/>
              </a:rPr>
              <a:t>P2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6419088"/>
            <a:ext cx="6400800" cy="36576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5B6272"/>
                </a:solidFill>
                <a:latin typeface="IBM Plex Mono"/>
              </a:rPr>
              <a:t>METHODOLOGY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92640" y="6382512"/>
            <a:ext cx="2011680" cy="43891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no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800" b="1" i="0">
                <a:solidFill>
                  <a:srgbClr val="1E2230"/>
                </a:solidFill>
                <a:latin typeface="IBM Plex Mono"/>
              </a:rPr>
              <a:t>11 / 24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20240" y="1417320"/>
            <a:ext cx="4800600" cy="4114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5B6272"/>
                </a:solidFill>
                <a:latin typeface="IBM Plex Mono"/>
              </a:rPr>
              <a:t>TAXONOMY  (label space)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1901952"/>
            <a:ext cx="1371600" cy="3657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5B6272"/>
                </a:solidFill>
                <a:latin typeface="IBM Plex Mono"/>
              </a:rPr>
              <a:t>STRATEGY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920240" y="1901952"/>
            <a:ext cx="1600200" cy="3657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600" b="1" i="0">
                <a:solidFill>
                  <a:srgbClr val="1E2230"/>
                </a:solidFill>
                <a:latin typeface="IBM Plex Mono"/>
              </a:rPr>
              <a:t>free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20440" y="1901952"/>
            <a:ext cx="1600200" cy="3657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600" b="1" i="0">
                <a:solidFill>
                  <a:srgbClr val="1E2230"/>
                </a:solidFill>
                <a:latin typeface="IBM Plex Mono"/>
              </a:rPr>
              <a:t>closed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20640" y="1901952"/>
            <a:ext cx="1600200" cy="3657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600" b="1" i="0">
                <a:solidFill>
                  <a:srgbClr val="1E2230"/>
                </a:solidFill>
                <a:latin typeface="IBM Plex Mono"/>
              </a:rPr>
              <a:t>open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2304288"/>
            <a:ext cx="1371600" cy="96012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1" i="0">
                <a:solidFill>
                  <a:srgbClr val="1E2230"/>
                </a:solidFill>
                <a:latin typeface="IBM Plex Mono"/>
              </a:rPr>
              <a:t>zero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975104" y="2359152"/>
            <a:ext cx="1490472" cy="85039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1D7F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1975104" y="2359152"/>
            <a:ext cx="1490472" cy="85039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noAutofit/>
          </a:bodyPr>
          <a:lstStyle/>
          <a:p>
            <a:pPr algn="ctr">
              <a:lnSpc>
                <a:spcPct val="90000"/>
              </a:lnSpc>
              <a:spcAft>
                <a:spcPts val="0"/>
              </a:spcAft>
            </a:pPr>
            <a:r>
              <a:rPr sz="1500" b="1" i="0">
                <a:solidFill>
                  <a:srgbClr val="1E2230"/>
                </a:solidFill>
                <a:latin typeface="IBM Plex Mono"/>
              </a:rPr>
              <a:t>zero-</a:t>
            </a:r>
          </a:p>
          <a:p>
            <a:pPr algn="ctr">
              <a:lnSpc>
                <a:spcPct val="90000"/>
              </a:lnSpc>
              <a:spcAft>
                <a:spcPts val="0"/>
              </a:spcAft>
            </a:pPr>
            <a:r>
              <a:rPr sz="1500" b="1" i="0">
                <a:solidFill>
                  <a:srgbClr val="1E2230"/>
                </a:solidFill>
                <a:latin typeface="IBM Plex Mono"/>
              </a:rPr>
              <a:t>free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575304" y="2359152"/>
            <a:ext cx="1490472" cy="850392"/>
          </a:xfrm>
          <a:prstGeom prst="roundRect">
            <a:avLst>
              <a:gd name="adj" fmla="val 10000"/>
            </a:avLst>
          </a:prstGeom>
          <a:solidFill>
            <a:srgbClr val="EFED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3575304" y="2359152"/>
            <a:ext cx="1490472" cy="85039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600" b="0" i="0">
                <a:solidFill>
                  <a:srgbClr val="A7A9AE"/>
                </a:solidFill>
                <a:latin typeface="IBM Plex Sans"/>
              </a:rPr>
              <a:t>—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175503" y="2359152"/>
            <a:ext cx="1490472" cy="850392"/>
          </a:xfrm>
          <a:prstGeom prst="roundRect">
            <a:avLst>
              <a:gd name="adj" fmla="val 10000"/>
            </a:avLst>
          </a:prstGeom>
          <a:solidFill>
            <a:srgbClr val="EFED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5175503" y="2359152"/>
            <a:ext cx="1490472" cy="85039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600" b="0" i="0">
                <a:solidFill>
                  <a:srgbClr val="A7A9AE"/>
                </a:solidFill>
                <a:latin typeface="IBM Plex Sans"/>
              </a:rPr>
              <a:t>—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" y="3264408"/>
            <a:ext cx="1371600" cy="96012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1" i="0">
                <a:solidFill>
                  <a:srgbClr val="1E2230"/>
                </a:solidFill>
                <a:latin typeface="IBM Plex Mono"/>
              </a:rPr>
              <a:t>few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975104" y="3319272"/>
            <a:ext cx="1490472" cy="850392"/>
          </a:xfrm>
          <a:prstGeom prst="roundRect">
            <a:avLst>
              <a:gd name="adj" fmla="val 10000"/>
            </a:avLst>
          </a:prstGeom>
          <a:solidFill>
            <a:srgbClr val="EFED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1975104" y="3319272"/>
            <a:ext cx="1490472" cy="85039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600" b="0" i="0">
                <a:solidFill>
                  <a:srgbClr val="A7A9AE"/>
                </a:solidFill>
                <a:latin typeface="IBM Plex Sans"/>
              </a:rPr>
              <a:t>—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575304" y="3319272"/>
            <a:ext cx="1490472" cy="85039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1D7F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3575304" y="3319272"/>
            <a:ext cx="1490472" cy="85039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noAutofit/>
          </a:bodyPr>
          <a:lstStyle/>
          <a:p>
            <a:pPr algn="ctr">
              <a:lnSpc>
                <a:spcPct val="90000"/>
              </a:lnSpc>
              <a:spcAft>
                <a:spcPts val="0"/>
              </a:spcAft>
            </a:pPr>
            <a:r>
              <a:rPr sz="1500" b="1" i="0">
                <a:solidFill>
                  <a:srgbClr val="1E2230"/>
                </a:solidFill>
                <a:latin typeface="IBM Plex Mono"/>
              </a:rPr>
              <a:t>few-</a:t>
            </a:r>
          </a:p>
          <a:p>
            <a:pPr algn="ctr">
              <a:lnSpc>
                <a:spcPct val="90000"/>
              </a:lnSpc>
              <a:spcAft>
                <a:spcPts val="0"/>
              </a:spcAft>
            </a:pPr>
            <a:r>
              <a:rPr sz="1500" b="1" i="0">
                <a:solidFill>
                  <a:srgbClr val="1E2230"/>
                </a:solidFill>
                <a:latin typeface="IBM Plex Mono"/>
              </a:rPr>
              <a:t>closed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175503" y="3319272"/>
            <a:ext cx="1490472" cy="85039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1D7F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5175503" y="3319272"/>
            <a:ext cx="1490472" cy="85039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noAutofit/>
          </a:bodyPr>
          <a:lstStyle/>
          <a:p>
            <a:pPr algn="ctr">
              <a:lnSpc>
                <a:spcPct val="90000"/>
              </a:lnSpc>
              <a:spcAft>
                <a:spcPts val="0"/>
              </a:spcAft>
            </a:pPr>
            <a:r>
              <a:rPr sz="1500" b="1" i="0">
                <a:solidFill>
                  <a:srgbClr val="1E2230"/>
                </a:solidFill>
                <a:latin typeface="IBM Plex Mono"/>
              </a:rPr>
              <a:t>few-</a:t>
            </a:r>
          </a:p>
          <a:p>
            <a:pPr algn="ctr">
              <a:lnSpc>
                <a:spcPct val="90000"/>
              </a:lnSpc>
              <a:spcAft>
                <a:spcPts val="0"/>
              </a:spcAft>
            </a:pPr>
            <a:r>
              <a:rPr sz="1500" b="1" i="0">
                <a:solidFill>
                  <a:srgbClr val="1E2230"/>
                </a:solidFill>
                <a:latin typeface="IBM Plex Mono"/>
              </a:rPr>
              <a:t>open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2920" y="4224528"/>
            <a:ext cx="1371600" cy="96012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1" i="0">
                <a:solidFill>
                  <a:srgbClr val="1E2230"/>
                </a:solidFill>
                <a:latin typeface="IBM Plex Mono"/>
              </a:rPr>
              <a:t>scientific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975104" y="4279392"/>
            <a:ext cx="1490472" cy="850392"/>
          </a:xfrm>
          <a:prstGeom prst="roundRect">
            <a:avLst>
              <a:gd name="adj" fmla="val 10000"/>
            </a:avLst>
          </a:prstGeom>
          <a:solidFill>
            <a:srgbClr val="EFED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TextBox 31"/>
          <p:cNvSpPr txBox="1"/>
          <p:nvPr/>
        </p:nvSpPr>
        <p:spPr>
          <a:xfrm>
            <a:off x="1975104" y="4279392"/>
            <a:ext cx="1490472" cy="85039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600" b="0" i="0">
                <a:solidFill>
                  <a:srgbClr val="A7A9AE"/>
                </a:solidFill>
                <a:latin typeface="IBM Plex Sans"/>
              </a:rPr>
              <a:t>—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3575304" y="4279392"/>
            <a:ext cx="1490472" cy="85039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1D7F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3575304" y="4279392"/>
            <a:ext cx="1490472" cy="85039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noAutofit/>
          </a:bodyPr>
          <a:lstStyle/>
          <a:p>
            <a:pPr algn="ctr">
              <a:lnSpc>
                <a:spcPct val="90000"/>
              </a:lnSpc>
              <a:spcAft>
                <a:spcPts val="0"/>
              </a:spcAft>
            </a:pPr>
            <a:r>
              <a:rPr sz="1500" b="1" i="0">
                <a:solidFill>
                  <a:srgbClr val="1E2230"/>
                </a:solidFill>
                <a:latin typeface="IBM Plex Mono"/>
              </a:rPr>
              <a:t>scientific-</a:t>
            </a:r>
          </a:p>
          <a:p>
            <a:pPr algn="ctr">
              <a:lnSpc>
                <a:spcPct val="90000"/>
              </a:lnSpc>
              <a:spcAft>
                <a:spcPts val="0"/>
              </a:spcAft>
            </a:pPr>
            <a:r>
              <a:rPr sz="1500" b="1" i="0">
                <a:solidFill>
                  <a:srgbClr val="1E2230"/>
                </a:solidFill>
                <a:latin typeface="IBM Plex Mono"/>
              </a:rPr>
              <a:t>closed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175503" y="4279392"/>
            <a:ext cx="1490472" cy="850392"/>
          </a:xfrm>
          <a:prstGeom prst="roundRect">
            <a:avLst>
              <a:gd name="adj" fmla="val 10000"/>
            </a:avLst>
          </a:prstGeom>
          <a:solidFill>
            <a:srgbClr val="1D7F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TextBox 35"/>
          <p:cNvSpPr txBox="1"/>
          <p:nvPr/>
        </p:nvSpPr>
        <p:spPr>
          <a:xfrm>
            <a:off x="5175503" y="4279392"/>
            <a:ext cx="1490472" cy="85039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noAutofit/>
          </a:bodyPr>
          <a:lstStyle/>
          <a:p>
            <a:pPr algn="ctr">
              <a:lnSpc>
                <a:spcPct val="90000"/>
              </a:lnSpc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IBM Plex Mono"/>
              </a:rPr>
              <a:t>scientific-</a:t>
            </a:r>
          </a:p>
          <a:p>
            <a:pPr algn="ctr">
              <a:lnSpc>
                <a:spcPct val="90000"/>
              </a:lnSpc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IBM Plex Mono"/>
              </a:rPr>
              <a:t>open</a:t>
            </a:r>
          </a:p>
          <a:p>
            <a:pPr algn="ctr">
              <a:lnSpc>
                <a:spcPct val="90000"/>
              </a:lnSpc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IBM Plex Mono"/>
              </a:rPr>
              <a:t>default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02920" y="5257800"/>
            <a:ext cx="6400800" cy="9144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0" i="0">
                <a:solidFill>
                  <a:srgbClr val="5B6272"/>
                </a:solidFill>
                <a:latin typeface="IBM Plex Sans"/>
              </a:rPr>
              <a:t>5 of 9 combinations are valid: zero has no taxonomy, and free defines none.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178040" y="1481328"/>
            <a:ext cx="1600200" cy="68580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1" i="0">
                <a:solidFill>
                  <a:srgbClr val="1D7F6E"/>
                </a:solidFill>
                <a:latin typeface="IBM Plex Mono"/>
              </a:rPr>
              <a:t>free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778240" y="1481328"/>
            <a:ext cx="2926080" cy="68580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0" i="0">
                <a:solidFill>
                  <a:srgbClr val="1E2230"/>
                </a:solidFill>
                <a:latin typeface="IBM Plex Sans"/>
              </a:rPr>
              <a:t>model's own words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178040" y="2249424"/>
            <a:ext cx="1600200" cy="68580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1" i="0">
                <a:solidFill>
                  <a:srgbClr val="1D7F6E"/>
                </a:solidFill>
                <a:latin typeface="IBM Plex Mono"/>
              </a:rPr>
              <a:t>closed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778240" y="2249424"/>
            <a:ext cx="2926080" cy="68580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0" i="0">
                <a:solidFill>
                  <a:srgbClr val="1E2230"/>
                </a:solidFill>
                <a:latin typeface="IBM Plex Sans"/>
              </a:rPr>
              <a:t>one of the 7 ODC types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178040" y="3017520"/>
            <a:ext cx="1600200" cy="68580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1" i="0">
                <a:solidFill>
                  <a:srgbClr val="1D7F6E"/>
                </a:solidFill>
                <a:latin typeface="IBM Plex Mono"/>
              </a:rPr>
              <a:t>open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778240" y="3017520"/>
            <a:ext cx="2926080" cy="68580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0" i="0">
                <a:solidFill>
                  <a:srgbClr val="1E2230"/>
                </a:solidFill>
                <a:latin typeface="IBM Plex Sans"/>
              </a:rPr>
              <a:t>7 types + “Other”, which needs a written justification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178040" y="4014216"/>
            <a:ext cx="1600200" cy="68580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1" i="0">
                <a:solidFill>
                  <a:srgbClr val="1D7F6E"/>
                </a:solidFill>
                <a:latin typeface="IBM Plex Mono"/>
              </a:rPr>
              <a:t>zero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778240" y="4014216"/>
            <a:ext cx="2926080" cy="68580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0" i="0">
                <a:solidFill>
                  <a:srgbClr val="1E2230"/>
                </a:solidFill>
                <a:latin typeface="IBM Plex Sans"/>
              </a:rPr>
              <a:t>one plain prompt, no taxonomy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178040" y="4782312"/>
            <a:ext cx="1600200" cy="68580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1" i="0">
                <a:solidFill>
                  <a:srgbClr val="1D7F6E"/>
                </a:solidFill>
                <a:latin typeface="IBM Plex Mono"/>
              </a:rPr>
              <a:t>few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778240" y="4782312"/>
            <a:ext cx="2926080" cy="68580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0" i="0">
                <a:solidFill>
                  <a:srgbClr val="1E2230"/>
                </a:solidFill>
                <a:latin typeface="IBM Plex Sans"/>
              </a:rPr>
              <a:t>one prompt: definitions, checklist, 5 worked examples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178040" y="5550408"/>
            <a:ext cx="1600200" cy="68580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1" i="0">
                <a:solidFill>
                  <a:srgbClr val="1D7F6E"/>
                </a:solidFill>
                <a:latin typeface="IBM Plex Mono"/>
              </a:rPr>
              <a:t>scientific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778240" y="5550408"/>
            <a:ext cx="2926080" cy="68580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0" i="0">
                <a:solidFill>
                  <a:srgbClr val="1E2230"/>
                </a:solidFill>
                <a:latin typeface="IBM Plex Sans"/>
              </a:rPr>
              <a:t>enforced hypothesis → probe → observation loop</a:t>
            </a:r>
          </a:p>
        </p:txBody>
      </p:sp>
      <p:cxnSp>
        <p:nvCxnSpPr>
          <p:cNvPr id="50" name="Connector 49"/>
          <p:cNvCxnSpPr/>
          <p:nvPr/>
        </p:nvCxnSpPr>
        <p:spPr>
          <a:xfrm>
            <a:off x="7178040" y="3776472"/>
            <a:ext cx="4507992" cy="0"/>
          </a:xfrm>
          <a:prstGeom prst="line">
            <a:avLst/>
          </a:prstGeom>
          <a:ln w="12700">
            <a:solidFill>
              <a:srgbClr val="D8D4C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502920" y="384048"/>
            <a:ext cx="82296" cy="868680"/>
          </a:xfrm>
          <a:prstGeom prst="rect">
            <a:avLst/>
          </a:prstGeom>
          <a:solidFill>
            <a:srgbClr val="1D7F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713232" y="274320"/>
            <a:ext cx="10515600" cy="384048"/>
          </a:xfrm>
          <a:prstGeom prst="rect">
            <a:avLst/>
          </a:prstGeom>
          <a:noFill/>
        </p:spPr>
        <p:txBody>
          <a:bodyPr wrap="square" lIns="36576" rIns="36576" tIns="36576" bIns="36576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1D7F6E"/>
                </a:solidFill>
                <a:latin typeface="IBM Plex Mono"/>
              </a:rPr>
              <a:t>// </a:t>
            </a:r>
            <a:r>
              <a:rPr sz="1500" b="1" i="0">
                <a:solidFill>
                  <a:srgbClr val="1D7F6E"/>
                </a:solidFill>
                <a:latin typeface="IBM Plex Mono"/>
              </a:rPr>
              <a:t>12  PROMPT DESIGN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603504"/>
            <a:ext cx="10972800" cy="6858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1E2230"/>
                </a:solidFill>
                <a:latin typeface="IBM Plex Sans"/>
              </a:rPr>
              <a:t>Prompt Templates, Not Raw Prompts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02920" y="6355080"/>
            <a:ext cx="11183112" cy="0"/>
          </a:xfrm>
          <a:prstGeom prst="line">
            <a:avLst/>
          </a:prstGeom>
          <a:ln w="12700">
            <a:solidFill>
              <a:srgbClr val="D8D4C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502920" y="6437376"/>
            <a:ext cx="502920" cy="329184"/>
          </a:xfrm>
          <a:prstGeom prst="roundRect">
            <a:avLst>
              <a:gd name="adj" fmla="val 30000"/>
            </a:avLst>
          </a:prstGeom>
          <a:solidFill>
            <a:srgbClr val="1D7F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502920" y="6437376"/>
            <a:ext cx="502920" cy="329184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IBM Plex Mono"/>
              </a:rPr>
              <a:t>P2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6419088"/>
            <a:ext cx="6400800" cy="36576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5B6272"/>
                </a:solidFill>
                <a:latin typeface="IBM Plex Mono"/>
              </a:rPr>
              <a:t>METHODOLOGY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92640" y="6382512"/>
            <a:ext cx="2011680" cy="43891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no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800" b="1" i="0">
                <a:solidFill>
                  <a:srgbClr val="1E2230"/>
                </a:solidFill>
                <a:latin typeface="IBM Plex Mono"/>
              </a:rPr>
              <a:t>12 / 24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1463040"/>
            <a:ext cx="5513832" cy="4160520"/>
          </a:xfrm>
          <a:prstGeom prst="roundRect">
            <a:avLst>
              <a:gd name="adj" fmla="val 3000"/>
            </a:avLst>
          </a:prstGeom>
          <a:solidFill>
            <a:srgbClr val="1E22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731520" y="1554480"/>
            <a:ext cx="5120640" cy="4114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IBM Plex Mono"/>
              </a:rPr>
              <a:t>few</a:t>
            </a:r>
            <a:r>
              <a:rPr sz="1700" b="1" i="0">
                <a:solidFill>
                  <a:srgbClr val="9AA3B5"/>
                </a:solidFill>
                <a:latin typeface="IBM Plex Mono"/>
              </a:rPr>
              <a:t>   single call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2057400"/>
            <a:ext cx="5166360" cy="4114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8A93A6"/>
                </a:solidFill>
                <a:latin typeface="IBM Plex Mono"/>
              </a:rPr>
              <a:t>[SYSTEM]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2478024"/>
            <a:ext cx="5166360" cy="4114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7FB6F0"/>
                </a:solidFill>
                <a:latin typeface="IBM Plex Mono"/>
              </a:rPr>
              <a:t>  ODC_TAXONOMY  ANTI_BIAS_RULES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2898648"/>
            <a:ext cx="5166360" cy="4114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7FB6F0"/>
                </a:solidFill>
                <a:latin typeface="IBM Plex Mono"/>
              </a:rPr>
              <a:t>  DECISION_TREE   (7 questions)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3319272"/>
            <a:ext cx="5166360" cy="4114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7FB6F0"/>
                </a:solidFill>
                <a:latin typeface="IBM Plex Mono"/>
              </a:rPr>
              <a:t>  FEW_SHOT_EXAMPLES  (5)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3739896"/>
            <a:ext cx="5166360" cy="4114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7FB6F0"/>
                </a:solidFill>
                <a:latin typeface="IBM Plex Mono"/>
              </a:rPr>
              <a:t>  OUTPUT_SCHEMA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4160520"/>
            <a:ext cx="5166360" cy="4114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8A93A6"/>
                </a:solidFill>
                <a:latin typeface="IBM Plex Mono"/>
              </a:rPr>
              <a:t>[USER]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4581144"/>
            <a:ext cx="5166360" cy="4114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0" i="0">
                <a:solidFill>
                  <a:srgbClr val="C9CFDB"/>
                </a:solidFill>
                <a:latin typeface="IBM Plex Mono"/>
              </a:rPr>
              <a:t>  Classify this bug:  BUG_CONTEXT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5001768"/>
            <a:ext cx="5166360" cy="4114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0" i="0">
                <a:solidFill>
                  <a:srgbClr val="C9CFDB"/>
                </a:solidFill>
                <a:latin typeface="IBM Plex Mono"/>
              </a:rPr>
              <a:t>[MODEL]  one JSON classification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1463040"/>
            <a:ext cx="5513832" cy="4160520"/>
          </a:xfrm>
          <a:prstGeom prst="roundRect">
            <a:avLst>
              <a:gd name="adj" fmla="val 3000"/>
            </a:avLst>
          </a:prstGeom>
          <a:solidFill>
            <a:srgbClr val="1E22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6400800" y="1554480"/>
            <a:ext cx="5120640" cy="4114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IBM Plex Mono"/>
              </a:rPr>
              <a:t>scientific</a:t>
            </a:r>
            <a:r>
              <a:rPr sz="1700" b="1" i="0">
                <a:solidFill>
                  <a:srgbClr val="9AA3B5"/>
                </a:solidFill>
                <a:latin typeface="IBM Plex Mono"/>
              </a:rPr>
              <a:t>   multi-turn loop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0" y="2057400"/>
            <a:ext cx="5166360" cy="4114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8A93A6"/>
                </a:solidFill>
                <a:latin typeface="IBM Plex Mono"/>
              </a:rPr>
              <a:t>[SYSTEM]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0" y="2478024"/>
            <a:ext cx="5166360" cy="4114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7FB6F0"/>
                </a:solidFill>
                <a:latin typeface="IBM Plex Mono"/>
              </a:rPr>
              <a:t>  ODC_TAXONOMY  ANTI_BIAS_RULES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0" y="2898648"/>
            <a:ext cx="5166360" cy="4114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7FB6F0"/>
                </a:solidFill>
                <a:latin typeface="IBM Plex Mono"/>
              </a:rPr>
              <a:t>  PROBE_CATALOGUE  TURN_SCHEMA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0" y="3319272"/>
            <a:ext cx="5166360" cy="4114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0" i="0">
                <a:solidFill>
                  <a:srgbClr val="C9CFDB"/>
                </a:solidFill>
                <a:latin typeface="IBM Plex Mono"/>
              </a:rPr>
              <a:t>[USER]  BUG_CONTEXT (summary)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0" y="3739896"/>
            <a:ext cx="5166360" cy="4114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8A93A6"/>
                </a:solidFill>
                <a:latin typeface="IBM Plex Mono"/>
              </a:rPr>
              <a:t>loop t = 1 … 6: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0" y="4160520"/>
            <a:ext cx="5166360" cy="4114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0" i="0">
                <a:solidFill>
                  <a:srgbClr val="C9CFDB"/>
                </a:solidFill>
                <a:latin typeface="IBM Plex Mono"/>
              </a:rPr>
              <a:t>  [MODEL] hypothesis, prediction, probe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0" y="4581144"/>
            <a:ext cx="5166360" cy="4114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8FD3A2"/>
                </a:solidFill>
                <a:latin typeface="IBM Plex Mono"/>
              </a:rPr>
              <a:t>  [USER]  PROBE_RESULT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0" y="5001768"/>
            <a:ext cx="5166360" cy="4114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0" i="0">
                <a:solidFill>
                  <a:srgbClr val="C9CFDB"/>
                </a:solidFill>
                <a:latin typeface="IBM Plex Mono"/>
              </a:rPr>
              <a:t>until conclude → OUTPUT_SCHEMA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02920" y="5760720"/>
            <a:ext cx="11183112" cy="5029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1D7F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Rectangle 31"/>
          <p:cNvSpPr/>
          <p:nvPr/>
        </p:nvSpPr>
        <p:spPr>
          <a:xfrm>
            <a:off x="502920" y="5760720"/>
            <a:ext cx="109728" cy="502920"/>
          </a:xfrm>
          <a:prstGeom prst="rect">
            <a:avLst/>
          </a:prstGeom>
          <a:solidFill>
            <a:srgbClr val="1D7F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777240" y="5760720"/>
            <a:ext cx="10789920" cy="50292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00" b="0" i="0">
                <a:solidFill>
                  <a:srgbClr val="1E2230"/>
                </a:solidFill>
                <a:latin typeface="IBM Plex Sans"/>
              </a:rPr>
              <a:t>Same taxonomy and evidence; </a:t>
            </a:r>
            <a:r>
              <a:rPr sz="1700" b="1" i="0">
                <a:solidFill>
                  <a:srgbClr val="1E2230"/>
                </a:solidFill>
                <a:latin typeface="IBM Plex Mono"/>
              </a:rPr>
              <a:t>scientific</a:t>
            </a:r>
            <a:r>
              <a:rPr sz="1700" b="0" i="0">
                <a:solidFill>
                  <a:srgbClr val="1E2230"/>
                </a:solidFill>
                <a:latin typeface="IBM Plex Sans"/>
              </a:rPr>
              <a:t> replaces the decision tree and examples with a turn protocol.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502920" y="384048"/>
            <a:ext cx="82296" cy="868680"/>
          </a:xfrm>
          <a:prstGeom prst="rect">
            <a:avLst/>
          </a:prstGeom>
          <a:solidFill>
            <a:srgbClr val="1D7F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713232" y="274320"/>
            <a:ext cx="10515600" cy="384048"/>
          </a:xfrm>
          <a:prstGeom prst="rect">
            <a:avLst/>
          </a:prstGeom>
          <a:noFill/>
        </p:spPr>
        <p:txBody>
          <a:bodyPr wrap="square" lIns="36576" rIns="36576" tIns="36576" bIns="36576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1D7F6E"/>
                </a:solidFill>
                <a:latin typeface="IBM Plex Mono"/>
              </a:rPr>
              <a:t>// </a:t>
            </a:r>
            <a:r>
              <a:rPr sz="1500" b="1" i="0">
                <a:solidFill>
                  <a:srgbClr val="1D7F6E"/>
                </a:solidFill>
                <a:latin typeface="IBM Plex Mono"/>
              </a:rPr>
              <a:t>13  SCIENTIFIC DEBUGGING PROTOCOL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603504"/>
            <a:ext cx="10972800" cy="6858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1E2230"/>
                </a:solidFill>
                <a:latin typeface="IBM Plex Sans"/>
              </a:rPr>
              <a:t>The Enforced Reasoning Loop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02920" y="6355080"/>
            <a:ext cx="11183112" cy="0"/>
          </a:xfrm>
          <a:prstGeom prst="line">
            <a:avLst/>
          </a:prstGeom>
          <a:ln w="12700">
            <a:solidFill>
              <a:srgbClr val="D8D4C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502920" y="6437376"/>
            <a:ext cx="502920" cy="329184"/>
          </a:xfrm>
          <a:prstGeom prst="roundRect">
            <a:avLst>
              <a:gd name="adj" fmla="val 30000"/>
            </a:avLst>
          </a:prstGeom>
          <a:solidFill>
            <a:srgbClr val="1D7F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502920" y="6437376"/>
            <a:ext cx="502920" cy="329184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IBM Plex Mono"/>
              </a:rPr>
              <a:t>P2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6419088"/>
            <a:ext cx="6400800" cy="36576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5B6272"/>
                </a:solidFill>
                <a:latin typeface="IBM Plex Mono"/>
              </a:rPr>
              <a:t>METHODOLOGY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92640" y="6382512"/>
            <a:ext cx="2011680" cy="43891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no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800" b="1" i="0">
                <a:solidFill>
                  <a:srgbClr val="1E2230"/>
                </a:solidFill>
                <a:latin typeface="IBM Plex Mono"/>
              </a:rPr>
              <a:t>13 / 24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1691640"/>
            <a:ext cx="2331720" cy="12344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22225">
            <a:solidFill>
              <a:srgbClr val="1D7F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685800" y="1828800"/>
            <a:ext cx="2331720" cy="4572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900" b="1" i="0">
                <a:solidFill>
                  <a:srgbClr val="1E2230"/>
                </a:solidFill>
                <a:latin typeface="IBM Plex Sans"/>
              </a:rPr>
              <a:t>Hypothesis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2295144"/>
            <a:ext cx="2148840" cy="5486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500" b="0" i="0">
                <a:solidFill>
                  <a:srgbClr val="5B6272"/>
                </a:solidFill>
                <a:latin typeface="IBM Plex Sans"/>
              </a:rPr>
              <a:t>commit to a defect type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337560" y="1691640"/>
            <a:ext cx="2331720" cy="12344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22225">
            <a:solidFill>
              <a:srgbClr val="1D7F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3337560" y="1828800"/>
            <a:ext cx="2331720" cy="4572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900" b="1" i="0">
                <a:solidFill>
                  <a:srgbClr val="1E2230"/>
                </a:solidFill>
                <a:latin typeface="IBM Plex Sans"/>
              </a:rPr>
              <a:t>Prediction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29000" y="2295144"/>
            <a:ext cx="2148840" cy="5486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500" b="0" i="0">
                <a:solidFill>
                  <a:srgbClr val="5B6272"/>
                </a:solidFill>
                <a:latin typeface="IBM Plex Sans"/>
              </a:rPr>
              <a:t>evidence that must exist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337560" y="3703320"/>
            <a:ext cx="2331720" cy="12344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22225">
            <a:solidFill>
              <a:srgbClr val="1D7F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3337560" y="3840480"/>
            <a:ext cx="2331720" cy="4572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900" b="1" i="0">
                <a:solidFill>
                  <a:srgbClr val="1E2230"/>
                </a:solidFill>
                <a:latin typeface="IBM Plex Sans"/>
              </a:rPr>
              <a:t>Probe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29000" y="4306824"/>
            <a:ext cx="2148840" cy="5486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500" b="0" i="0">
                <a:solidFill>
                  <a:srgbClr val="5B6272"/>
                </a:solidFill>
                <a:latin typeface="IBM Plex Sans"/>
              </a:rPr>
              <a:t>request that evidence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85800" y="3703320"/>
            <a:ext cx="2331720" cy="12344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22225">
            <a:solidFill>
              <a:srgbClr val="1D7F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685800" y="3840480"/>
            <a:ext cx="2331720" cy="4572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900" b="1" i="0">
                <a:solidFill>
                  <a:srgbClr val="1E2230"/>
                </a:solidFill>
                <a:latin typeface="IBM Plex Sans"/>
              </a:rPr>
              <a:t>Observation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7240" y="4306824"/>
            <a:ext cx="2148840" cy="5486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500" b="0" i="0">
                <a:solidFill>
                  <a:srgbClr val="5B6272"/>
                </a:solidFill>
                <a:latin typeface="IBM Plex Sans"/>
              </a:rPr>
              <a:t>read what came back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3017520" y="2304288"/>
            <a:ext cx="320040" cy="0"/>
          </a:xfrm>
          <a:prstGeom prst="line">
            <a:avLst/>
          </a:prstGeom>
          <a:ln w="28575">
            <a:solidFill>
              <a:srgbClr val="1D7F6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4498848" y="2926080"/>
            <a:ext cx="0" cy="777240"/>
          </a:xfrm>
          <a:prstGeom prst="line">
            <a:avLst/>
          </a:prstGeom>
          <a:ln w="28575">
            <a:solidFill>
              <a:srgbClr val="1D7F6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 flipH="1">
            <a:off x="3017520" y="4315968"/>
            <a:ext cx="320040" cy="0"/>
          </a:xfrm>
          <a:prstGeom prst="line">
            <a:avLst/>
          </a:prstGeom>
          <a:ln w="28575">
            <a:solidFill>
              <a:srgbClr val="1D7F6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 flipV="1">
            <a:off x="1847088" y="2926080"/>
            <a:ext cx="0" cy="777240"/>
          </a:xfrm>
          <a:prstGeom prst="line">
            <a:avLst/>
          </a:prstGeom>
          <a:ln w="28575">
            <a:solidFill>
              <a:srgbClr val="1D7F6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685800" y="5074920"/>
            <a:ext cx="4983480" cy="11430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no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600" b="1" i="0">
                <a:solidFill>
                  <a:srgbClr val="23813F"/>
                </a:solidFill>
                <a:latin typeface="IBM Plex Sans"/>
              </a:rPr>
              <a:t>Conclude </a:t>
            </a:r>
            <a:r>
              <a:rPr sz="1600" b="0" i="0">
                <a:solidFill>
                  <a:srgbClr val="1E2230"/>
                </a:solidFill>
                <a:latin typeface="IBM Plex Sans"/>
              </a:rPr>
              <a:t>when the evidence supports one type,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600" b="0" i="0">
                <a:solidFill>
                  <a:srgbClr val="1E2230"/>
                </a:solidFill>
                <a:latin typeface="IBM Plex Sans"/>
              </a:rPr>
              <a:t>else next turn — </a:t>
            </a:r>
            <a:r>
              <a:rPr sz="1600" b="1" i="0">
                <a:solidFill>
                  <a:srgbClr val="1E2230"/>
                </a:solidFill>
                <a:latin typeface="IBM Plex Mono"/>
              </a:rPr>
              <a:t>max 6 turns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500" b="0" i="0">
                <a:solidFill>
                  <a:srgbClr val="5B6272"/>
                </a:solidFill>
                <a:latin typeface="IBM Plex Sans"/>
              </a:rPr>
              <a:t>Adapted from AutoSD [10]: find a fault → name its type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172200" y="1463040"/>
            <a:ext cx="5486400" cy="4114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5B6272"/>
                </a:solidFill>
                <a:latin typeface="IBM Plex Mono"/>
              </a:rPr>
              <a:t>5 probes · executed on the evidence store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172200" y="1874519"/>
            <a:ext cx="5513832" cy="621792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D8D4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6355080" y="1874519"/>
            <a:ext cx="2834640" cy="62179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1D7F6E"/>
                </a:solidFill>
                <a:latin typeface="IBM Plex Mono"/>
              </a:rPr>
              <a:t>list_evidence()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144000" y="1874519"/>
            <a:ext cx="2487168" cy="62179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0" i="0">
                <a:solidFill>
                  <a:srgbClr val="5B6272"/>
                </a:solidFill>
                <a:latin typeface="IBM Plex Sans"/>
              </a:rPr>
              <a:t>inventory of what exists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172200" y="2606039"/>
            <a:ext cx="5513832" cy="621792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D8D4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6355080" y="2606039"/>
            <a:ext cx="2834640" cy="62179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1D7F6E"/>
                </a:solidFill>
                <a:latin typeface="IBM Plex Mono"/>
              </a:rPr>
              <a:t>full_stack_trace(test)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44000" y="2606039"/>
            <a:ext cx="2487168" cy="62179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0" i="0">
                <a:solidFill>
                  <a:srgbClr val="5B6272"/>
                </a:solidFill>
                <a:latin typeface="IBM Plex Sans"/>
              </a:rPr>
              <a:t>complete trace + message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172200" y="3337560"/>
            <a:ext cx="5513832" cy="621792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D8D4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TextBox 35"/>
          <p:cNvSpPr txBox="1"/>
          <p:nvPr/>
        </p:nvSpPr>
        <p:spPr>
          <a:xfrm>
            <a:off x="6355080" y="3337560"/>
            <a:ext cx="2834640" cy="62179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1D7F6E"/>
                </a:solidFill>
                <a:latin typeface="IBM Plex Mono"/>
              </a:rPr>
              <a:t>snippet(class)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144000" y="3337560"/>
            <a:ext cx="2487168" cy="62179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0" i="0">
                <a:solidFill>
                  <a:srgbClr val="5B6272"/>
                </a:solidFill>
                <a:latin typeface="IBM Plex Sans"/>
              </a:rPr>
              <a:t>all source snippets of a class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172200" y="4069080"/>
            <a:ext cx="5513832" cy="621792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D8D4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TextBox 38"/>
          <p:cNvSpPr txBox="1"/>
          <p:nvPr/>
        </p:nvSpPr>
        <p:spPr>
          <a:xfrm>
            <a:off x="6355080" y="4069080"/>
            <a:ext cx="2834640" cy="62179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1D7F6E"/>
                </a:solidFill>
                <a:latin typeface="IBM Plex Mono"/>
              </a:rPr>
              <a:t>coverage(class)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144000" y="4069080"/>
            <a:ext cx="2487168" cy="62179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0" i="0">
                <a:solidFill>
                  <a:srgbClr val="5B6272"/>
                </a:solidFill>
                <a:latin typeface="IBM Plex Sans"/>
              </a:rPr>
              <a:t>full line / branch coverage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6172200" y="4800600"/>
            <a:ext cx="5513832" cy="621792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D8D4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2" name="TextBox 41"/>
          <p:cNvSpPr txBox="1"/>
          <p:nvPr/>
        </p:nvSpPr>
        <p:spPr>
          <a:xfrm>
            <a:off x="6355080" y="4800600"/>
            <a:ext cx="2834640" cy="62179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1D7F6E"/>
                </a:solidFill>
                <a:latin typeface="IBM Plex Mono"/>
              </a:rPr>
              <a:t>bug_report()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144000" y="4800600"/>
            <a:ext cx="2487168" cy="62179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0" i="0">
                <a:solidFill>
                  <a:srgbClr val="5B6272"/>
                </a:solidFill>
                <a:latin typeface="IBM Plex Sans"/>
              </a:rPr>
              <a:t>full report (sanitized pre-fix)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172200" y="5596128"/>
            <a:ext cx="5513832" cy="6858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0" i="0">
                <a:solidFill>
                  <a:srgbClr val="1E2230"/>
                </a:solidFill>
                <a:latin typeface="IBM Plex Sans"/>
              </a:rPr>
              <a:t>The prediction is fixed </a:t>
            </a:r>
            <a:r>
              <a:rPr sz="1600" b="1" i="0">
                <a:solidFill>
                  <a:srgbClr val="1E2230"/>
                </a:solidFill>
                <a:latin typeface="IBM Plex Sans"/>
              </a:rPr>
              <a:t>before</a:t>
            </a:r>
            <a:r>
              <a:rPr sz="1600" b="0" i="0">
                <a:solidFill>
                  <a:srgbClr val="1E2230"/>
                </a:solidFill>
                <a:latin typeface="IBM Plex Sans"/>
              </a:rPr>
              <a:t> the evidence arrives, so the model cannot rationalise its first guess.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502920" y="384048"/>
            <a:ext cx="82296" cy="868680"/>
          </a:xfrm>
          <a:prstGeom prst="rect">
            <a:avLst/>
          </a:prstGeom>
          <a:solidFill>
            <a:srgbClr val="1D7F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713232" y="274320"/>
            <a:ext cx="10515600" cy="384048"/>
          </a:xfrm>
          <a:prstGeom prst="rect">
            <a:avLst/>
          </a:prstGeom>
          <a:noFill/>
        </p:spPr>
        <p:txBody>
          <a:bodyPr wrap="square" lIns="36576" rIns="36576" tIns="36576" bIns="36576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1D7F6E"/>
                </a:solidFill>
                <a:latin typeface="IBM Plex Mono"/>
              </a:rPr>
              <a:t>// </a:t>
            </a:r>
            <a:r>
              <a:rPr sz="1500" b="1" i="0">
                <a:solidFill>
                  <a:srgbClr val="1D7F6E"/>
                </a:solidFill>
                <a:latin typeface="IBM Plex Mono"/>
              </a:rPr>
              <a:t>14  EVALUATION FRAMEWORK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603504"/>
            <a:ext cx="10972800" cy="6858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1E2230"/>
                </a:solidFill>
                <a:latin typeface="IBM Plex Sans"/>
              </a:rPr>
              <a:t>Four Tiers of Agreement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02920" y="6355080"/>
            <a:ext cx="11183112" cy="0"/>
          </a:xfrm>
          <a:prstGeom prst="line">
            <a:avLst/>
          </a:prstGeom>
          <a:ln w="12700">
            <a:solidFill>
              <a:srgbClr val="D8D4C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502920" y="6437376"/>
            <a:ext cx="502920" cy="329184"/>
          </a:xfrm>
          <a:prstGeom prst="roundRect">
            <a:avLst>
              <a:gd name="adj" fmla="val 30000"/>
            </a:avLst>
          </a:prstGeom>
          <a:solidFill>
            <a:srgbClr val="1D7F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502920" y="6437376"/>
            <a:ext cx="502920" cy="329184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IBM Plex Mono"/>
              </a:rPr>
              <a:t>P2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6419088"/>
            <a:ext cx="6400800" cy="36576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5B6272"/>
                </a:solidFill>
                <a:latin typeface="IBM Plex Mono"/>
              </a:rPr>
              <a:t>METHODOLOGY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92640" y="6382512"/>
            <a:ext cx="2011680" cy="43891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no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800" b="1" i="0">
                <a:solidFill>
                  <a:srgbClr val="1E2230"/>
                </a:solidFill>
                <a:latin typeface="IBM Plex Mono"/>
              </a:rPr>
              <a:t>14 / 24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1371600"/>
            <a:ext cx="5486400" cy="3657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5B6272"/>
                </a:solidFill>
                <a:latin typeface="IBM Plex Mono"/>
              </a:rPr>
              <a:t>strictest → most forgiving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1783080"/>
            <a:ext cx="5120640" cy="713232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9050">
            <a:solidFill>
              <a:srgbClr val="1D7F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658368" y="1929384"/>
            <a:ext cx="566928" cy="420624"/>
          </a:xfrm>
          <a:prstGeom prst="roundRect">
            <a:avLst>
              <a:gd name="adj" fmla="val 30000"/>
            </a:avLst>
          </a:prstGeom>
          <a:solidFill>
            <a:srgbClr val="1D7F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58368" y="1929384"/>
            <a:ext cx="566928" cy="420624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IBM Plex Mono"/>
              </a:rPr>
              <a:t>T1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71600" y="1783080"/>
            <a:ext cx="1920240" cy="7132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800" b="1" i="0">
                <a:solidFill>
                  <a:srgbClr val="1E2230"/>
                </a:solidFill>
                <a:latin typeface="IBM Plex Sans"/>
              </a:rPr>
              <a:t>Strict match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46120" y="1783080"/>
            <a:ext cx="2285999" cy="7132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0" i="0">
                <a:solidFill>
                  <a:srgbClr val="5B6272"/>
                </a:solidFill>
                <a:latin typeface="IBM Plex Sans"/>
              </a:rPr>
              <a:t>same ODC type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2624328"/>
            <a:ext cx="5806440" cy="713232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9050">
            <a:solidFill>
              <a:srgbClr val="1D7F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ounded Rectangle 17"/>
          <p:cNvSpPr/>
          <p:nvPr/>
        </p:nvSpPr>
        <p:spPr>
          <a:xfrm>
            <a:off x="658368" y="2770632"/>
            <a:ext cx="566928" cy="420624"/>
          </a:xfrm>
          <a:prstGeom prst="roundRect">
            <a:avLst>
              <a:gd name="adj" fmla="val 30000"/>
            </a:avLst>
          </a:prstGeom>
          <a:solidFill>
            <a:srgbClr val="1D7F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658368" y="2770632"/>
            <a:ext cx="566928" cy="420624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IBM Plex Mono"/>
              </a:rPr>
              <a:t>T2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2624328"/>
            <a:ext cx="1920240" cy="7132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800" b="1" i="0">
                <a:solidFill>
                  <a:srgbClr val="1E2230"/>
                </a:solidFill>
                <a:latin typeface="IBM Plex Sans"/>
              </a:rPr>
              <a:t>Top-2 match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246120" y="2624328"/>
            <a:ext cx="2971799" cy="7132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0" i="0">
                <a:solidFill>
                  <a:srgbClr val="5B6272"/>
                </a:solidFill>
                <a:latin typeface="IBM Plex Sans"/>
              </a:rPr>
              <a:t>either label among the other's alternatives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02920" y="3465576"/>
            <a:ext cx="6492240" cy="713232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9050">
            <a:solidFill>
              <a:srgbClr val="1D7F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ounded Rectangle 22"/>
          <p:cNvSpPr/>
          <p:nvPr/>
        </p:nvSpPr>
        <p:spPr>
          <a:xfrm>
            <a:off x="658368" y="3611880"/>
            <a:ext cx="566928" cy="420624"/>
          </a:xfrm>
          <a:prstGeom prst="roundRect">
            <a:avLst>
              <a:gd name="adj" fmla="val 30000"/>
            </a:avLst>
          </a:prstGeom>
          <a:solidFill>
            <a:srgbClr val="1D7F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658368" y="3611880"/>
            <a:ext cx="566928" cy="420624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IBM Plex Mono"/>
              </a:rPr>
              <a:t>T3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71600" y="3465576"/>
            <a:ext cx="1920240" cy="7132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800" b="1" i="0">
                <a:solidFill>
                  <a:srgbClr val="1E2230"/>
                </a:solidFill>
                <a:latin typeface="IBM Plex Sans"/>
              </a:rPr>
              <a:t>Family match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246120" y="3465576"/>
            <a:ext cx="3657599" cy="7132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0" i="0">
                <a:solidFill>
                  <a:srgbClr val="5B6272"/>
                </a:solidFill>
                <a:latin typeface="IBM Plex Sans"/>
              </a:rPr>
              <a:t>both types in the same family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02920" y="4434840"/>
            <a:ext cx="6492240" cy="12344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1D7F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Rounded Rectangle 27"/>
          <p:cNvSpPr/>
          <p:nvPr/>
        </p:nvSpPr>
        <p:spPr>
          <a:xfrm>
            <a:off x="658368" y="4846320"/>
            <a:ext cx="566928" cy="420624"/>
          </a:xfrm>
          <a:prstGeom prst="roundRect">
            <a:avLst>
              <a:gd name="adj" fmla="val 30000"/>
            </a:avLst>
          </a:prstGeom>
          <a:solidFill>
            <a:srgbClr val="1D7F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658368" y="4846320"/>
            <a:ext cx="566928" cy="420624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IBM Plex Mono"/>
              </a:rPr>
              <a:t>T4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371600" y="4526279"/>
            <a:ext cx="5486400" cy="4572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800" b="1" i="0">
                <a:solidFill>
                  <a:srgbClr val="1E2230"/>
                </a:solidFill>
                <a:latin typeface="IBM Plex Sans"/>
              </a:rPr>
              <a:t>Cohen's κ</a:t>
            </a:r>
            <a:r>
              <a:rPr sz="1800" b="1" i="0">
                <a:solidFill>
                  <a:srgbClr val="1E2230"/>
                </a:solidFill>
                <a:latin typeface="IBM Plex Sans"/>
              </a:rPr>
              <a:t> — strict match corrected for chance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71600" y="5001768"/>
            <a:ext cx="5486400" cy="5669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000" b="1" i="0">
                <a:solidFill>
                  <a:srgbClr val="1D7F6E"/>
                </a:solidFill>
                <a:latin typeface="IBM Plex Sans"/>
              </a:rPr>
              <a:t>κ</a:t>
            </a:r>
            <a:r>
              <a:rPr sz="2000" b="1" i="0">
                <a:solidFill>
                  <a:srgbClr val="1D7F6E"/>
                </a:solidFill>
                <a:latin typeface="IBM Plex Mono"/>
              </a:rPr>
              <a:t> = (p_o − p_e) / (1 − p_e)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315200" y="1371600"/>
            <a:ext cx="4370832" cy="4297680"/>
          </a:xfrm>
          <a:prstGeom prst="roundRect">
            <a:avLst>
              <a:gd name="adj" fmla="val 5000"/>
            </a:avLst>
          </a:prstGeom>
          <a:solidFill>
            <a:srgbClr val="EFED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7516368" y="1481328"/>
            <a:ext cx="3977639" cy="4572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800" b="1" i="0">
                <a:solidFill>
                  <a:srgbClr val="1E2230"/>
                </a:solidFill>
                <a:latin typeface="IBM Plex Sans"/>
              </a:rPr>
              <a:t>Reading the tiers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516368" y="1965960"/>
            <a:ext cx="3977639" cy="14630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no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600" b="0" i="0">
                <a:solidFill>
                  <a:srgbClr val="5B6272"/>
                </a:solidFill>
                <a:latin typeface="IBM Plex Sans"/>
              </a:rPr>
              <a:t>3 types cover 97.8% of labels and share one family, so </a:t>
            </a:r>
            <a:r>
              <a:rPr sz="1600" b="1" i="0">
                <a:solidFill>
                  <a:srgbClr val="C62F3A"/>
                </a:solidFill>
                <a:latin typeface="IBM Plex Sans"/>
              </a:rPr>
              <a:t>shuffled labels still reach &gt;92%</a:t>
            </a:r>
            <a:r>
              <a:rPr sz="1600" b="0" i="0">
                <a:solidFill>
                  <a:srgbClr val="5B6272"/>
                </a:solidFill>
                <a:latin typeface="IBM Plex Sans"/>
              </a:rPr>
              <a:t> on T2–T3. We use them to grade disagreements: near miss vs unrelated.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516368" y="3520440"/>
            <a:ext cx="3977639" cy="3657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1D7F6E"/>
                </a:solidFill>
                <a:latin typeface="IBM Plex Mono"/>
              </a:rPr>
              <a:t>κ, worked out (scientific)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516368" y="3931920"/>
            <a:ext cx="2011680" cy="45720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00" b="1" i="0">
                <a:solidFill>
                  <a:srgbClr val="1E2230"/>
                </a:solidFill>
                <a:latin typeface="IBM Plex Mono"/>
              </a:rPr>
              <a:t>p_o = 0.702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555480" y="3931920"/>
            <a:ext cx="2011680" cy="45720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0" i="0">
                <a:solidFill>
                  <a:srgbClr val="5B6272"/>
                </a:solidFill>
                <a:latin typeface="IBM Plex Sans"/>
              </a:rPr>
              <a:t>labels agree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516368" y="4462272"/>
            <a:ext cx="2011680" cy="45720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00" b="1" i="0">
                <a:solidFill>
                  <a:srgbClr val="1E2230"/>
                </a:solidFill>
                <a:latin typeface="IBM Plex Mono"/>
              </a:rPr>
              <a:t>p_e = 0.399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555480" y="4462272"/>
            <a:ext cx="2011680" cy="45720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0" i="0">
                <a:solidFill>
                  <a:srgbClr val="5B6272"/>
                </a:solidFill>
                <a:latin typeface="IBM Plex Sans"/>
              </a:rPr>
              <a:t>agree by chance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516368" y="4992624"/>
            <a:ext cx="2011680" cy="45720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00" b="1" i="0">
                <a:solidFill>
                  <a:srgbClr val="1E2230"/>
                </a:solidFill>
                <a:latin typeface="IBM Plex Mono"/>
              </a:rPr>
              <a:t>κ   = 0.505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555480" y="4992624"/>
            <a:ext cx="2011680" cy="45720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0" i="0">
                <a:solidFill>
                  <a:srgbClr val="5B6272"/>
                </a:solidFill>
                <a:latin typeface="IBM Plex Sans"/>
              </a:rPr>
              <a:t>moderate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02920" y="5806440"/>
            <a:ext cx="11155680" cy="4572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1" i="0">
                <a:solidFill>
                  <a:srgbClr val="5B6272"/>
                </a:solidFill>
                <a:latin typeface="IBM Plex Sans"/>
              </a:rPr>
              <a:t>Landis–Koch [13]: </a:t>
            </a:r>
            <a:r>
              <a:rPr sz="1600" b="0" i="0">
                <a:solidFill>
                  <a:srgbClr val="5B6272"/>
                </a:solidFill>
                <a:latin typeface="IBM Plex Sans"/>
              </a:rPr>
              <a:t>0.21–0.40 fair  ·  0.41–0.60 moderate  ·  ≥ 0.61 substantial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502920" y="384048"/>
            <a:ext cx="82296" cy="868680"/>
          </a:xfrm>
          <a:prstGeom prst="rect">
            <a:avLst/>
          </a:prstGeom>
          <a:solidFill>
            <a:srgbClr val="1D7F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713232" y="274320"/>
            <a:ext cx="10515600" cy="384048"/>
          </a:xfrm>
          <a:prstGeom prst="rect">
            <a:avLst/>
          </a:prstGeom>
          <a:noFill/>
        </p:spPr>
        <p:txBody>
          <a:bodyPr wrap="square" lIns="36576" rIns="36576" tIns="36576" bIns="36576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1D7F6E"/>
                </a:solidFill>
                <a:latin typeface="IBM Plex Mono"/>
              </a:rPr>
              <a:t>// </a:t>
            </a:r>
            <a:r>
              <a:rPr sz="1500" b="1" i="0">
                <a:solidFill>
                  <a:srgbClr val="1D7F6E"/>
                </a:solidFill>
                <a:latin typeface="IBM Plex Mono"/>
              </a:rPr>
              <a:t>15  WHY POST-FIX IS A VALID REFERENCE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603504"/>
            <a:ext cx="10972800" cy="6858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1E2230"/>
                </a:solidFill>
                <a:latin typeface="IBM Plex Sans"/>
              </a:rPr>
              <a:t>Agreement Depends on Evidence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02920" y="6355080"/>
            <a:ext cx="11183112" cy="0"/>
          </a:xfrm>
          <a:prstGeom prst="line">
            <a:avLst/>
          </a:prstGeom>
          <a:ln w="12700">
            <a:solidFill>
              <a:srgbClr val="D8D4C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502920" y="6437376"/>
            <a:ext cx="502920" cy="329184"/>
          </a:xfrm>
          <a:prstGeom prst="roundRect">
            <a:avLst>
              <a:gd name="adj" fmla="val 30000"/>
            </a:avLst>
          </a:prstGeom>
          <a:solidFill>
            <a:srgbClr val="1D7F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502920" y="6437376"/>
            <a:ext cx="502920" cy="329184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IBM Plex Mono"/>
              </a:rPr>
              <a:t>P2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6419088"/>
            <a:ext cx="6400800" cy="36576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5B6272"/>
                </a:solidFill>
                <a:latin typeface="IBM Plex Mono"/>
              </a:rPr>
              <a:t>METHODOLOGY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92640" y="6382512"/>
            <a:ext cx="2011680" cy="43891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no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800" b="1" i="0">
                <a:solidFill>
                  <a:srgbClr val="1E2230"/>
                </a:solidFill>
                <a:latin typeface="IBM Plex Mono"/>
              </a:rPr>
              <a:t>15 / 24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1417320"/>
            <a:ext cx="5669280" cy="4114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5B6272"/>
                </a:solidFill>
                <a:latin typeface="IBM Plex Mono"/>
              </a:rPr>
              <a:t>Human agreement on ODC-style labels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1920240"/>
            <a:ext cx="5486400" cy="4114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00" b="1" i="0">
                <a:solidFill>
                  <a:srgbClr val="1E2230"/>
                </a:solidFill>
                <a:latin typeface="IBM Plex Sans"/>
              </a:rPr>
              <a:t>fault descriptions only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2377440"/>
            <a:ext cx="4754880" cy="457200"/>
          </a:xfrm>
          <a:prstGeom prst="rect">
            <a:avLst/>
          </a:prstGeom>
          <a:solidFill>
            <a:srgbClr val="EFED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502920" y="2377440"/>
            <a:ext cx="760780" cy="457200"/>
          </a:xfrm>
          <a:prstGeom prst="rect">
            <a:avLst/>
          </a:prstGeom>
          <a:solidFill>
            <a:srgbClr val="C62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1355140" y="2377440"/>
            <a:ext cx="1463040" cy="45720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00" b="1" i="0">
                <a:solidFill>
                  <a:srgbClr val="1E2230"/>
                </a:solidFill>
                <a:latin typeface="IBM Plex Mono"/>
              </a:rPr>
              <a:t>κ = 0.16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2852928"/>
            <a:ext cx="5486400" cy="3657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0" i="0">
                <a:solidFill>
                  <a:srgbClr val="5B6272"/>
                </a:solidFill>
                <a:latin typeface="IBM Plex Sans"/>
              </a:rPr>
              <a:t>Henningsson &amp; Wohlin [11]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3246120"/>
            <a:ext cx="5486400" cy="4114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00" b="1" i="0">
                <a:solidFill>
                  <a:srgbClr val="1E2230"/>
                </a:solidFill>
                <a:latin typeface="IBM Plex Sans"/>
              </a:rPr>
              <a:t>full code and change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3703320"/>
            <a:ext cx="4754880" cy="457200"/>
          </a:xfrm>
          <a:prstGeom prst="rect">
            <a:avLst/>
          </a:prstGeom>
          <a:solidFill>
            <a:srgbClr val="EFED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502920" y="3703320"/>
            <a:ext cx="4422038" cy="457200"/>
          </a:xfrm>
          <a:prstGeom prst="rect">
            <a:avLst/>
          </a:prstGeom>
          <a:solidFill>
            <a:srgbClr val="2381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594360" y="3703320"/>
            <a:ext cx="1463040" cy="45720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IBM Plex Mono"/>
              </a:rPr>
              <a:t>κ = 0.93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4178808"/>
            <a:ext cx="5486400" cy="3657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0" i="0">
                <a:solidFill>
                  <a:srgbClr val="5B6272"/>
                </a:solidFill>
                <a:latin typeface="IBM Plex Sans"/>
              </a:rPr>
              <a:t>Agnelo et al. [12]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4572000"/>
            <a:ext cx="5394960" cy="10972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no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700" b="0" i="0">
                <a:solidFill>
                  <a:srgbClr val="1E2230"/>
                </a:solidFill>
                <a:latin typeface="IBM Plex Sans"/>
              </a:rPr>
              <a:t>More evidence → higher agreement, so the run that sees the fix is the better-informed rater.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92240" y="1417320"/>
            <a:ext cx="5120640" cy="4114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5B6272"/>
                </a:solidFill>
                <a:latin typeface="IBM Plex Mono"/>
              </a:rPr>
              <a:t>Our data agree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92240" y="1874519"/>
            <a:ext cx="5193792" cy="1051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D4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6675120" y="1920239"/>
            <a:ext cx="2651760" cy="96012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200" b="1" i="0">
                <a:solidFill>
                  <a:srgbClr val="1D7F6E"/>
                </a:solidFill>
                <a:latin typeface="IBM Plex Mono"/>
              </a:rPr>
              <a:t>16 → 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89720" y="1920239"/>
            <a:ext cx="2423160" cy="96012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0" i="0">
                <a:solidFill>
                  <a:srgbClr val="5B6272"/>
                </a:solidFill>
                <a:latin typeface="IBM Plex Sans"/>
              </a:rPr>
              <a:t>human-review flags: pre-fix → post-fix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492240" y="3063239"/>
            <a:ext cx="5193792" cy="1051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D4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6675120" y="3108959"/>
            <a:ext cx="2651760" cy="96012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200" b="1" i="0">
                <a:solidFill>
                  <a:srgbClr val="1D7F6E"/>
                </a:solidFill>
                <a:latin typeface="IBM Plex Mono"/>
              </a:rPr>
              <a:t>68.0% → 76.3%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89720" y="3108959"/>
            <a:ext cx="2423160" cy="96012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0" i="0">
                <a:solidFill>
                  <a:srgbClr val="5B6272"/>
                </a:solidFill>
                <a:latin typeface="IBM Plex Sans"/>
              </a:rPr>
              <a:t>scientific vs few-shot agreement, without → with the fix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492240" y="4251960"/>
            <a:ext cx="5193792" cy="1051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D4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6675120" y="4297680"/>
            <a:ext cx="2651760" cy="96012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200" b="1" i="0">
                <a:solidFill>
                  <a:srgbClr val="1D7F6E"/>
                </a:solidFill>
                <a:latin typeface="IBM Plex Mono"/>
              </a:rPr>
              <a:t>6 / 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89720" y="4297680"/>
            <a:ext cx="2423160" cy="96012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0" i="0">
                <a:solidFill>
                  <a:srgbClr val="5B6272"/>
                </a:solidFill>
                <a:latin typeface="IBM Plex Sans"/>
              </a:rPr>
              <a:t>projects where the strategies agree more once the fix is visible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02920" y="5596128"/>
            <a:ext cx="11183112" cy="603504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1D7F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Rectangle 33"/>
          <p:cNvSpPr/>
          <p:nvPr/>
        </p:nvSpPr>
        <p:spPr>
          <a:xfrm>
            <a:off x="502920" y="5596128"/>
            <a:ext cx="109728" cy="603504"/>
          </a:xfrm>
          <a:prstGeom prst="rect">
            <a:avLst/>
          </a:prstGeom>
          <a:solidFill>
            <a:srgbClr val="1D7F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777240" y="5596128"/>
            <a:ext cx="10789920" cy="603504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00" b="0" i="0">
                <a:solidFill>
                  <a:srgbClr val="1E2230"/>
                </a:solidFill>
                <a:latin typeface="IBM Plex Sans"/>
              </a:rPr>
              <a:t>Caveat: two labels can agree and both be wrong — we claim reproduction of a reference, not correctness.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502920" y="384048"/>
            <a:ext cx="82296" cy="868680"/>
          </a:xfrm>
          <a:prstGeom prst="rect">
            <a:avLst/>
          </a:prstGeom>
          <a:solidFill>
            <a:srgbClr val="1D7F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713232" y="274320"/>
            <a:ext cx="10515600" cy="384048"/>
          </a:xfrm>
          <a:prstGeom prst="rect">
            <a:avLst/>
          </a:prstGeom>
          <a:noFill/>
        </p:spPr>
        <p:txBody>
          <a:bodyPr wrap="square" lIns="36576" rIns="36576" tIns="36576" bIns="36576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1D7F6E"/>
                </a:solidFill>
                <a:latin typeface="IBM Plex Mono"/>
              </a:rPr>
              <a:t>// </a:t>
            </a:r>
            <a:r>
              <a:rPr sz="1500" b="1" i="0">
                <a:solidFill>
                  <a:srgbClr val="1D7F6E"/>
                </a:solidFill>
                <a:latin typeface="IBM Plex Mono"/>
              </a:rPr>
              <a:t>16  EXPERIMENTAL SETUP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603504"/>
            <a:ext cx="10972800" cy="6858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1E2230"/>
                </a:solidFill>
                <a:latin typeface="IBM Plex Sans"/>
              </a:rPr>
              <a:t>Corpus, Models, and Statistics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02920" y="6355080"/>
            <a:ext cx="11183112" cy="0"/>
          </a:xfrm>
          <a:prstGeom prst="line">
            <a:avLst/>
          </a:prstGeom>
          <a:ln w="12700">
            <a:solidFill>
              <a:srgbClr val="D8D4C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502920" y="6437376"/>
            <a:ext cx="502920" cy="329184"/>
          </a:xfrm>
          <a:prstGeom prst="roundRect">
            <a:avLst>
              <a:gd name="adj" fmla="val 30000"/>
            </a:avLst>
          </a:prstGeom>
          <a:solidFill>
            <a:srgbClr val="1D7F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502920" y="6437376"/>
            <a:ext cx="502920" cy="329184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IBM Plex Mono"/>
              </a:rPr>
              <a:t>P2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6419088"/>
            <a:ext cx="6400800" cy="36576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5B6272"/>
                </a:solidFill>
                <a:latin typeface="IBM Plex Mono"/>
              </a:rPr>
              <a:t>METHODOLOGY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92640" y="6382512"/>
            <a:ext cx="2011680" cy="43891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no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800" b="1" i="0">
                <a:solidFill>
                  <a:srgbClr val="1E2230"/>
                </a:solidFill>
                <a:latin typeface="IBM Plex Mono"/>
              </a:rPr>
              <a:t>16 / 24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1417320"/>
            <a:ext cx="5760720" cy="4114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5B6272"/>
                </a:solidFill>
                <a:latin typeface="IBM Plex Mono"/>
              </a:rPr>
              <a:t>410 bugs · 6 Defects4J projects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1874519"/>
            <a:ext cx="1234440" cy="45720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1" i="0">
                <a:solidFill>
                  <a:srgbClr val="1E2230"/>
                </a:solidFill>
                <a:latin typeface="IBM Plex Sans"/>
              </a:rPr>
              <a:t>Closure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783080" y="1947672"/>
            <a:ext cx="2651760" cy="329184"/>
          </a:xfrm>
          <a:prstGeom prst="rect">
            <a:avLst/>
          </a:prstGeom>
          <a:solidFill>
            <a:srgbClr val="1D7F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4507992" y="1874519"/>
            <a:ext cx="640080" cy="45720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1" i="0">
                <a:solidFill>
                  <a:srgbClr val="1E2230"/>
                </a:solidFill>
                <a:latin typeface="IBM Plex Mono"/>
              </a:rPr>
              <a:t>153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66360" y="1874519"/>
            <a:ext cx="1188720" cy="45720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0" i="0">
                <a:solidFill>
                  <a:srgbClr val="5B6272"/>
                </a:solidFill>
                <a:latin typeface="IBM Plex Sans"/>
              </a:rPr>
              <a:t>compiler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2441448"/>
            <a:ext cx="1234440" cy="45720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1" i="0">
                <a:solidFill>
                  <a:srgbClr val="1E2230"/>
                </a:solidFill>
                <a:latin typeface="IBM Plex Sans"/>
              </a:rPr>
              <a:t>Math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783080" y="2514600"/>
            <a:ext cx="1837167" cy="329184"/>
          </a:xfrm>
          <a:prstGeom prst="rect">
            <a:avLst/>
          </a:prstGeom>
          <a:solidFill>
            <a:srgbClr val="1D7F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3693399" y="2441448"/>
            <a:ext cx="640080" cy="45720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1" i="0">
                <a:solidFill>
                  <a:srgbClr val="1E2230"/>
                </a:solidFill>
                <a:latin typeface="IBM Plex Mono"/>
              </a:rPr>
              <a:t>106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166360" y="2441448"/>
            <a:ext cx="1188720" cy="45720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0" i="0">
                <a:solidFill>
                  <a:srgbClr val="5B6272"/>
                </a:solidFill>
                <a:latin typeface="IBM Plex Sans"/>
              </a:rPr>
              <a:t>numerics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3008376"/>
            <a:ext cx="1234440" cy="45720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1" i="0">
                <a:solidFill>
                  <a:srgbClr val="1E2230"/>
                </a:solidFill>
                <a:latin typeface="IBM Plex Sans"/>
              </a:rPr>
              <a:t>Lang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783080" y="3081528"/>
            <a:ext cx="1057237" cy="329184"/>
          </a:xfrm>
          <a:prstGeom prst="rect">
            <a:avLst/>
          </a:prstGeom>
          <a:solidFill>
            <a:srgbClr val="1D7F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2913469" y="3008376"/>
            <a:ext cx="640080" cy="45720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1" i="0">
                <a:solidFill>
                  <a:srgbClr val="1E2230"/>
                </a:solidFill>
                <a:latin typeface="IBM Plex Mono"/>
              </a:rPr>
              <a:t>61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66360" y="3008376"/>
            <a:ext cx="1188720" cy="45720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0" i="0">
                <a:solidFill>
                  <a:srgbClr val="5B6272"/>
                </a:solidFill>
                <a:latin typeface="IBM Plex Sans"/>
              </a:rPr>
              <a:t>utilities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" y="3575303"/>
            <a:ext cx="1234440" cy="45720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1" i="0">
                <a:solidFill>
                  <a:srgbClr val="1E2230"/>
                </a:solidFill>
                <a:latin typeface="IBM Plex Sans"/>
              </a:rPr>
              <a:t>Mockito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783080" y="3648456"/>
            <a:ext cx="658607" cy="329184"/>
          </a:xfrm>
          <a:prstGeom prst="rect">
            <a:avLst/>
          </a:prstGeom>
          <a:solidFill>
            <a:srgbClr val="1D7F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2514839" y="3575303"/>
            <a:ext cx="640080" cy="45720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1" i="0">
                <a:solidFill>
                  <a:srgbClr val="1E2230"/>
                </a:solidFill>
                <a:latin typeface="IBM Plex Mono"/>
              </a:rPr>
              <a:t>38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66360" y="3575303"/>
            <a:ext cx="1188720" cy="45720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0" i="0">
                <a:solidFill>
                  <a:srgbClr val="5B6272"/>
                </a:solidFill>
                <a:latin typeface="IBM Plex Sans"/>
              </a:rPr>
              <a:t>mocking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02920" y="4142231"/>
            <a:ext cx="1234440" cy="45720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1" i="0">
                <a:solidFill>
                  <a:srgbClr val="1E2230"/>
                </a:solidFill>
                <a:latin typeface="IBM Plex Sans"/>
              </a:rPr>
              <a:t>Chart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783080" y="4215383"/>
            <a:ext cx="450625" cy="329184"/>
          </a:xfrm>
          <a:prstGeom prst="rect">
            <a:avLst/>
          </a:prstGeom>
          <a:solidFill>
            <a:srgbClr val="1D7F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2306857" y="4142231"/>
            <a:ext cx="640080" cy="45720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1" i="0">
                <a:solidFill>
                  <a:srgbClr val="1E2230"/>
                </a:solidFill>
                <a:latin typeface="IBM Plex Mono"/>
              </a:rPr>
              <a:t>26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166360" y="4142231"/>
            <a:ext cx="1188720" cy="45720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0" i="0">
                <a:solidFill>
                  <a:srgbClr val="5B6272"/>
                </a:solidFill>
                <a:latin typeface="IBM Plex Sans"/>
              </a:rPr>
              <a:t>plotting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02920" y="4709160"/>
            <a:ext cx="1234440" cy="45720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1" i="0">
                <a:solidFill>
                  <a:srgbClr val="1E2230"/>
                </a:solidFill>
                <a:latin typeface="IBM Plex Sans"/>
              </a:rPr>
              <a:t>Time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783080" y="4782312"/>
            <a:ext cx="450625" cy="329184"/>
          </a:xfrm>
          <a:prstGeom prst="rect">
            <a:avLst/>
          </a:prstGeom>
          <a:solidFill>
            <a:srgbClr val="1D7F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2306857" y="4709160"/>
            <a:ext cx="640080" cy="45720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1" i="0">
                <a:solidFill>
                  <a:srgbClr val="1E2230"/>
                </a:solidFill>
                <a:latin typeface="IBM Plex Mono"/>
              </a:rPr>
              <a:t>26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166360" y="4709160"/>
            <a:ext cx="1188720" cy="45720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0" i="0">
                <a:solidFill>
                  <a:srgbClr val="5B6272"/>
                </a:solidFill>
                <a:latin typeface="IBM Plex Sans"/>
              </a:rPr>
              <a:t>date/time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02920" y="5394960"/>
            <a:ext cx="5669280" cy="84124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8D4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TextBox 36"/>
          <p:cNvSpPr txBox="1"/>
          <p:nvPr/>
        </p:nvSpPr>
        <p:spPr>
          <a:xfrm>
            <a:off x="685800" y="5394960"/>
            <a:ext cx="5394960" cy="84124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0" i="0">
                <a:solidFill>
                  <a:srgbClr val="1E2230"/>
                </a:solidFill>
                <a:latin typeface="IBM Plex Sans"/>
              </a:rPr>
              <a:t>410 × 2 conditions × 2 modes = </a:t>
            </a:r>
            <a:r>
              <a:rPr sz="1600" b="1" i="0">
                <a:solidFill>
                  <a:srgbClr val="1D7F6E"/>
                </a:solidFill>
                <a:latin typeface="IBM Plex Mono"/>
              </a:rPr>
              <a:t>1,640</a:t>
            </a:r>
            <a:r>
              <a:rPr sz="1600" b="0" i="0">
                <a:solidFill>
                  <a:srgbClr val="1E2230"/>
                </a:solidFill>
                <a:latin typeface="IBM Plex Sans"/>
              </a:rPr>
              <a:t> classifications, + zero-free baseline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537960" y="1417320"/>
            <a:ext cx="5120640" cy="4114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5B6272"/>
                </a:solidFill>
                <a:latin typeface="IBM Plex Mono"/>
              </a:rPr>
              <a:t>Models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537960" y="1828800"/>
            <a:ext cx="5148072" cy="566928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D8D4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TextBox 39"/>
          <p:cNvSpPr txBox="1"/>
          <p:nvPr/>
        </p:nvSpPr>
        <p:spPr>
          <a:xfrm>
            <a:off x="6720840" y="1828800"/>
            <a:ext cx="3017520" cy="56692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1E2230"/>
                </a:solidFill>
                <a:latin typeface="IBM Plex Mono"/>
              </a:rPr>
              <a:t>gemini-3.1-flash-lite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601200" y="1828800"/>
            <a:ext cx="2011680" cy="56692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no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500" b="0" i="0">
                <a:solidFill>
                  <a:srgbClr val="5B6272"/>
                </a:solidFill>
                <a:latin typeface="IBM Plex Sans"/>
              </a:rPr>
              <a:t>all 410-bug results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537960" y="2487168"/>
            <a:ext cx="5148072" cy="566928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D8D4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TextBox 42"/>
          <p:cNvSpPr txBox="1"/>
          <p:nvPr/>
        </p:nvSpPr>
        <p:spPr>
          <a:xfrm>
            <a:off x="6720840" y="2487168"/>
            <a:ext cx="3017520" cy="56692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1E2230"/>
                </a:solidFill>
                <a:latin typeface="IBM Plex Mono"/>
              </a:rPr>
              <a:t>gpt-5-mini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601200" y="2487168"/>
            <a:ext cx="2011680" cy="56692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no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500" b="0" i="0">
                <a:solidFill>
                  <a:srgbClr val="5B6272"/>
                </a:solidFill>
                <a:latin typeface="IBM Plex Sans"/>
              </a:rPr>
              <a:t>cross-model analysis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537960" y="3291840"/>
            <a:ext cx="5120640" cy="4114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5B6272"/>
                </a:solidFill>
                <a:latin typeface="IBM Plex Mono"/>
              </a:rPr>
              <a:t>Statistics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6537960" y="3703320"/>
            <a:ext cx="2532888" cy="73152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D8D4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7" name="TextBox 46"/>
          <p:cNvSpPr txBox="1"/>
          <p:nvPr/>
        </p:nvSpPr>
        <p:spPr>
          <a:xfrm>
            <a:off x="6647688" y="3721607"/>
            <a:ext cx="2331720" cy="41148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1E2230"/>
                </a:solidFill>
                <a:latin typeface="IBM Plex Sans"/>
              </a:rPr>
              <a:t>permutation χ²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647688" y="4069080"/>
            <a:ext cx="2331720" cy="329184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1D7F6E"/>
                </a:solidFill>
                <a:latin typeface="IBM Plex Mono"/>
              </a:rPr>
              <a:t>RQ1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9153144" y="3703320"/>
            <a:ext cx="2532888" cy="73152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D8D4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0" name="TextBox 49"/>
          <p:cNvSpPr txBox="1"/>
          <p:nvPr/>
        </p:nvSpPr>
        <p:spPr>
          <a:xfrm>
            <a:off x="9262872" y="3721607"/>
            <a:ext cx="2331720" cy="41148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1E2230"/>
                </a:solidFill>
                <a:latin typeface="IBM Plex Sans"/>
              </a:rPr>
              <a:t>rule of three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262872" y="4069080"/>
            <a:ext cx="2331720" cy="329184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1D7F6E"/>
                </a:solidFill>
                <a:latin typeface="IBM Plex Mono"/>
              </a:rPr>
              <a:t>RQ2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6537960" y="4544568"/>
            <a:ext cx="2532888" cy="73152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D8D4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3" name="TextBox 52"/>
          <p:cNvSpPr txBox="1"/>
          <p:nvPr/>
        </p:nvSpPr>
        <p:spPr>
          <a:xfrm>
            <a:off x="6647688" y="4562855"/>
            <a:ext cx="2331720" cy="41148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1E2230"/>
                </a:solidFill>
                <a:latin typeface="IBM Plex Sans"/>
              </a:rPr>
              <a:t>bootstrap CI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647688" y="4910328"/>
            <a:ext cx="2331720" cy="329184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1D7F6E"/>
                </a:solidFill>
                <a:latin typeface="IBM Plex Mono"/>
              </a:rPr>
              <a:t>RQ3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9153144" y="4544568"/>
            <a:ext cx="2532888" cy="73152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D8D4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6" name="TextBox 55"/>
          <p:cNvSpPr txBox="1"/>
          <p:nvPr/>
        </p:nvSpPr>
        <p:spPr>
          <a:xfrm>
            <a:off x="9262872" y="4562855"/>
            <a:ext cx="2331720" cy="41148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1E2230"/>
                </a:solidFill>
                <a:latin typeface="IBM Plex Sans"/>
              </a:rPr>
              <a:t>paired bootstrap Δκ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9262872" y="4910328"/>
            <a:ext cx="2331720" cy="329184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1D7F6E"/>
                </a:solidFill>
                <a:latin typeface="IBM Plex Mono"/>
              </a:rPr>
              <a:t>RQ4b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6537960" y="5385816"/>
            <a:ext cx="2532888" cy="73152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D8D4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9" name="TextBox 58"/>
          <p:cNvSpPr txBox="1"/>
          <p:nvPr/>
        </p:nvSpPr>
        <p:spPr>
          <a:xfrm>
            <a:off x="6647688" y="5404103"/>
            <a:ext cx="2331720" cy="41148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1E2230"/>
                </a:solidFill>
                <a:latin typeface="IBM Plex Sans"/>
              </a:rPr>
              <a:t>McNemar exact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647688" y="5751576"/>
            <a:ext cx="2331720" cy="329184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1D7F6E"/>
                </a:solidFill>
                <a:latin typeface="IBM Plex Mono"/>
              </a:rPr>
              <a:t>RQ4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9153144" y="5385816"/>
            <a:ext cx="2532888" cy="73152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D8D4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2" name="TextBox 61"/>
          <p:cNvSpPr txBox="1"/>
          <p:nvPr/>
        </p:nvSpPr>
        <p:spPr>
          <a:xfrm>
            <a:off x="9262872" y="5404103"/>
            <a:ext cx="2331720" cy="41148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1E2230"/>
                </a:solidFill>
                <a:latin typeface="IBM Plex Sans"/>
              </a:rPr>
              <a:t>sign test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262872" y="5751576"/>
            <a:ext cx="2331720" cy="329184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1D7F6E"/>
                </a:solidFill>
                <a:latin typeface="IBM Plex Mono"/>
              </a:rPr>
              <a:t>RQ4b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502920" y="384048"/>
            <a:ext cx="82296" cy="868680"/>
          </a:xfrm>
          <a:prstGeom prst="rect">
            <a:avLst/>
          </a:prstGeom>
          <a:solidFill>
            <a:srgbClr val="C466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713232" y="274320"/>
            <a:ext cx="10515600" cy="384048"/>
          </a:xfrm>
          <a:prstGeom prst="rect">
            <a:avLst/>
          </a:prstGeom>
          <a:noFill/>
        </p:spPr>
        <p:txBody>
          <a:bodyPr wrap="square" lIns="36576" rIns="36576" tIns="36576" bIns="36576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C4661F"/>
                </a:solidFill>
                <a:latin typeface="IBM Plex Mono"/>
              </a:rPr>
              <a:t>// </a:t>
            </a:r>
            <a:r>
              <a:rPr sz="1500" b="1" i="0">
                <a:solidFill>
                  <a:srgbClr val="C4661F"/>
                </a:solidFill>
                <a:latin typeface="IBM Plex Mono"/>
              </a:rPr>
              <a:t>17  RQ1 · RQ2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603504"/>
            <a:ext cx="10972800" cy="6858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1E2230"/>
                </a:solidFill>
                <a:latin typeface="IBM Plex Sans"/>
              </a:rPr>
              <a:t>Three Types Dominate — and Nothing Escapes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02920" y="6355080"/>
            <a:ext cx="11183112" cy="0"/>
          </a:xfrm>
          <a:prstGeom prst="line">
            <a:avLst/>
          </a:prstGeom>
          <a:ln w="12700">
            <a:solidFill>
              <a:srgbClr val="D8D4C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502920" y="6437376"/>
            <a:ext cx="502920" cy="329184"/>
          </a:xfrm>
          <a:prstGeom prst="roundRect">
            <a:avLst>
              <a:gd name="adj" fmla="val 30000"/>
            </a:avLst>
          </a:prstGeom>
          <a:solidFill>
            <a:srgbClr val="C466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502920" y="6437376"/>
            <a:ext cx="502920" cy="329184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IBM Plex Mono"/>
              </a:rPr>
              <a:t>P3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6419088"/>
            <a:ext cx="6400800" cy="36576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5B6272"/>
                </a:solidFill>
                <a:latin typeface="IBM Plex Mono"/>
              </a:rPr>
              <a:t>RESULTS &amp; ANALYSIS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92640" y="6382512"/>
            <a:ext cx="2011680" cy="43891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no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800" b="1" i="0">
                <a:solidFill>
                  <a:srgbClr val="1E2230"/>
                </a:solidFill>
                <a:latin typeface="IBM Plex Mono"/>
              </a:rPr>
              <a:t>17 / 24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1417320"/>
            <a:ext cx="6400800" cy="4114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5B6272"/>
                </a:solidFill>
                <a:latin typeface="IBM Plex Mono"/>
              </a:rPr>
              <a:t>RQ1 · type mix (scientific, pre-fix)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874519"/>
            <a:ext cx="3091118" cy="777240"/>
          </a:xfrm>
          <a:prstGeom prst="rect">
            <a:avLst/>
          </a:prstGeom>
          <a:solidFill>
            <a:srgbClr val="D982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502920" y="1874519"/>
            <a:ext cx="3091118" cy="77724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IBM Plex Sans"/>
              </a:rPr>
              <a:t>Checking 48.3%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594038" y="1874519"/>
            <a:ext cx="2732048" cy="777240"/>
          </a:xfrm>
          <a:prstGeom prst="rect">
            <a:avLst/>
          </a:prstGeom>
          <a:solidFill>
            <a:srgbClr val="3867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3594038" y="1874519"/>
            <a:ext cx="2732048" cy="77724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IBM Plex Sans"/>
              </a:rPr>
              <a:t>Algorithm 42.7%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326086" y="1874519"/>
            <a:ext cx="437127" cy="777240"/>
          </a:xfrm>
          <a:prstGeom prst="rect">
            <a:avLst/>
          </a:prstGeom>
          <a:solidFill>
            <a:srgbClr val="8A5B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6763214" y="1874519"/>
            <a:ext cx="140505" cy="777240"/>
          </a:xfrm>
          <a:prstGeom prst="rect">
            <a:avLst/>
          </a:prstGeom>
          <a:solidFill>
            <a:srgbClr val="A07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ctangle 17"/>
          <p:cNvSpPr/>
          <p:nvPr/>
        </p:nvSpPr>
        <p:spPr>
          <a:xfrm>
            <a:off x="502920" y="2816352"/>
            <a:ext cx="182880" cy="182880"/>
          </a:xfrm>
          <a:prstGeom prst="rect">
            <a:avLst/>
          </a:prstGeom>
          <a:solidFill>
            <a:srgbClr val="8A5B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740664" y="2697480"/>
            <a:ext cx="1732788" cy="420624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0" i="0">
                <a:solidFill>
                  <a:srgbClr val="5B6272"/>
                </a:solidFill>
                <a:latin typeface="IBM Plex Sans"/>
              </a:rPr>
              <a:t>Assignment 6.8%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464308" y="2816352"/>
            <a:ext cx="182880" cy="182880"/>
          </a:xfrm>
          <a:prstGeom prst="rect">
            <a:avLst/>
          </a:prstGeom>
          <a:solidFill>
            <a:srgbClr val="A07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2702052" y="2697480"/>
            <a:ext cx="1828800" cy="420624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0" i="0">
                <a:solidFill>
                  <a:srgbClr val="5B6272"/>
                </a:solidFill>
                <a:latin typeface="IBM Plex Sans"/>
              </a:rPr>
              <a:t>other types 2.2%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3154680"/>
            <a:ext cx="2926080" cy="9144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4400" b="1" i="0">
                <a:solidFill>
                  <a:srgbClr val="C4661F"/>
                </a:solidFill>
                <a:latin typeface="IBM Plex Mono"/>
              </a:rPr>
              <a:t>97.8%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834640" y="3246120"/>
            <a:ext cx="4023360" cy="82296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00" b="0" i="0">
                <a:solidFill>
                  <a:srgbClr val="1E2230"/>
                </a:solidFill>
                <a:latin typeface="IBM Plex Sans"/>
              </a:rPr>
              <a:t>of bugs fall in three Control and Data Flow types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02920" y="4206240"/>
            <a:ext cx="6400800" cy="1417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8D4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685800" y="4261104"/>
            <a:ext cx="6035040" cy="4114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00" b="1" i="0">
                <a:solidFill>
                  <a:srgbClr val="1E2230"/>
                </a:solidFill>
                <a:latin typeface="IBM Plex Sans"/>
              </a:rPr>
              <a:t>Does the mix differ by project? (permutation χ²)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85800" y="4663440"/>
            <a:ext cx="1737360" cy="4114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C4661F"/>
                </a:solidFill>
                <a:latin typeface="IBM Plex Mono"/>
              </a:rPr>
              <a:t>scientific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423160" y="4663440"/>
            <a:ext cx="4389120" cy="4114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0" i="0">
                <a:solidFill>
                  <a:srgbClr val="1E2230"/>
                </a:solidFill>
                <a:latin typeface="IBM Plex Mono"/>
              </a:rPr>
              <a:t>p = 0.096   no, at the 5% level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85800" y="5093207"/>
            <a:ext cx="1737360" cy="4114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C4661F"/>
                </a:solidFill>
                <a:latin typeface="IBM Plex Mono"/>
              </a:rPr>
              <a:t>few-shot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423160" y="5093207"/>
            <a:ext cx="4389120" cy="4114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0" i="0">
                <a:solidFill>
                  <a:srgbClr val="1E2230"/>
                </a:solidFill>
                <a:latin typeface="IBM Plex Mono"/>
              </a:rPr>
              <a:t>p = 0.010   yes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2920" y="5715000"/>
            <a:ext cx="6400800" cy="5486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0" i="0">
                <a:solidFill>
                  <a:srgbClr val="5B6272"/>
                </a:solidFill>
                <a:latin typeface="IBM Plex Sans"/>
              </a:rPr>
              <a:t>Timing/Serialization: 0 of 1,640 — expected for single-threaded unit-test failures.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269480" y="1417320"/>
            <a:ext cx="4416552" cy="4800600"/>
          </a:xfrm>
          <a:prstGeom prst="roundRect">
            <a:avLst>
              <a:gd name="adj" fmla="val 4000"/>
            </a:avLst>
          </a:prstGeom>
          <a:solidFill>
            <a:srgbClr val="1E22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TextBox 31"/>
          <p:cNvSpPr txBox="1"/>
          <p:nvPr/>
        </p:nvSpPr>
        <p:spPr>
          <a:xfrm>
            <a:off x="7543800" y="1554480"/>
            <a:ext cx="3931920" cy="4114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9AA3B5"/>
                </a:solidFill>
                <a:latin typeface="IBM Plex Mono"/>
              </a:rPr>
              <a:t>RQ2 · “Other” escape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543800" y="2011680"/>
            <a:ext cx="3931920" cy="10972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0" b="1" i="0">
                <a:solidFill>
                  <a:srgbClr val="FFFFFF"/>
                </a:solidFill>
                <a:latin typeface="IBM Plex Mono"/>
              </a:rPr>
              <a:t>0</a:t>
            </a:r>
            <a:r>
              <a:rPr sz="2600" b="1" i="0">
                <a:solidFill>
                  <a:srgbClr val="C9CFDB"/>
                </a:solidFill>
                <a:latin typeface="IBM Plex Mono"/>
              </a:rPr>
              <a:t> / 1,640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543800" y="3108960"/>
            <a:ext cx="3931920" cy="7315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0" i="0">
                <a:solidFill>
                  <a:srgbClr val="C9CFDB"/>
                </a:solidFill>
                <a:latin typeface="IBM Plex Sans"/>
              </a:rPr>
              <a:t>classifications chose “Other”, although it was offered every time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543800" y="3977639"/>
            <a:ext cx="1600200" cy="64008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00" b="1" i="0">
                <a:solidFill>
                  <a:srgbClr val="8FD3A2"/>
                </a:solidFill>
                <a:latin typeface="IBM Plex Mono"/>
              </a:rPr>
              <a:t>≤ 0.2%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189720" y="3977639"/>
            <a:ext cx="2377440" cy="64008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noAutofit/>
          </a:bodyPr>
          <a:lstStyle/>
          <a:p>
            <a:pPr algn="l">
              <a:lnSpc>
                <a:spcPct val="98000"/>
              </a:lnSpc>
              <a:spcAft>
                <a:spcPts val="0"/>
              </a:spcAft>
            </a:pPr>
            <a:r>
              <a:rPr sz="1500" b="0" i="0">
                <a:solidFill>
                  <a:srgbClr val="C9CFDB"/>
                </a:solidFill>
                <a:latin typeface="IBM Plex Sans"/>
              </a:rPr>
              <a:t>95% upper bound on the escape rate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543800" y="4690872"/>
            <a:ext cx="1600200" cy="64008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00" b="1" i="0">
                <a:solidFill>
                  <a:srgbClr val="8FD3A2"/>
                </a:solidFill>
                <a:latin typeface="IBM Plex Mono"/>
              </a:rPr>
              <a:t>28·17·13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189720" y="4690872"/>
            <a:ext cx="2377440" cy="64008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noAutofit/>
          </a:bodyPr>
          <a:lstStyle/>
          <a:p>
            <a:pPr algn="l">
              <a:lnSpc>
                <a:spcPct val="98000"/>
              </a:lnSpc>
              <a:spcAft>
                <a:spcPts val="0"/>
              </a:spcAft>
            </a:pPr>
            <a:r>
              <a:rPr sz="1500" b="0" i="0">
                <a:solidFill>
                  <a:srgbClr val="C9CFDB"/>
                </a:solidFill>
                <a:latin typeface="IBM Plex Sans"/>
              </a:rPr>
              <a:t>rare types were still used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543800" y="5404104"/>
            <a:ext cx="1600200" cy="64008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00" b="1" i="0">
                <a:solidFill>
                  <a:srgbClr val="8FD3A2"/>
                </a:solidFill>
                <a:latin typeface="IBM Plex Mono"/>
              </a:rPr>
              <a:t>366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189720" y="5404104"/>
            <a:ext cx="2377440" cy="64008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noAutofit/>
          </a:bodyPr>
          <a:lstStyle/>
          <a:p>
            <a:pPr algn="l">
              <a:lnSpc>
                <a:spcPct val="98000"/>
              </a:lnSpc>
              <a:spcAft>
                <a:spcPts val="0"/>
              </a:spcAft>
            </a:pPr>
            <a:r>
              <a:rPr sz="1500" b="0" i="0">
                <a:solidFill>
                  <a:srgbClr val="C9CFDB"/>
                </a:solidFill>
                <a:latin typeface="IBM Plex Sans"/>
              </a:rPr>
              <a:t>labels written without a taxonomy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502920" y="384048"/>
            <a:ext cx="82296" cy="868680"/>
          </a:xfrm>
          <a:prstGeom prst="rect">
            <a:avLst/>
          </a:prstGeom>
          <a:solidFill>
            <a:srgbClr val="C466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713232" y="274320"/>
            <a:ext cx="10515600" cy="384048"/>
          </a:xfrm>
          <a:prstGeom prst="rect">
            <a:avLst/>
          </a:prstGeom>
          <a:noFill/>
        </p:spPr>
        <p:txBody>
          <a:bodyPr wrap="square" lIns="36576" rIns="36576" tIns="36576" bIns="36576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C4661F"/>
                </a:solidFill>
                <a:latin typeface="IBM Plex Mono"/>
              </a:rPr>
              <a:t>// </a:t>
            </a:r>
            <a:r>
              <a:rPr sz="1500" b="1" i="0">
                <a:solidFill>
                  <a:srgbClr val="C4661F"/>
                </a:solidFill>
                <a:latin typeface="IBM Plex Mono"/>
              </a:rPr>
              <a:t>18  RQ3 · AGREEMENT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603504"/>
            <a:ext cx="10972800" cy="6858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1E2230"/>
                </a:solidFill>
                <a:latin typeface="IBM Plex Sans"/>
              </a:rPr>
              <a:t>Pre-Fix Labels Mostly Hold Up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02920" y="6355080"/>
            <a:ext cx="11183112" cy="0"/>
          </a:xfrm>
          <a:prstGeom prst="line">
            <a:avLst/>
          </a:prstGeom>
          <a:ln w="12700">
            <a:solidFill>
              <a:srgbClr val="D8D4C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502920" y="6437376"/>
            <a:ext cx="502920" cy="329184"/>
          </a:xfrm>
          <a:prstGeom prst="roundRect">
            <a:avLst>
              <a:gd name="adj" fmla="val 30000"/>
            </a:avLst>
          </a:prstGeom>
          <a:solidFill>
            <a:srgbClr val="C466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502920" y="6437376"/>
            <a:ext cx="502920" cy="329184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IBM Plex Mono"/>
              </a:rPr>
              <a:t>P3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6419088"/>
            <a:ext cx="6400800" cy="36576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5B6272"/>
                </a:solidFill>
                <a:latin typeface="IBM Plex Mono"/>
              </a:rPr>
              <a:t>RESULTS &amp; ANALYSIS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92640" y="6382512"/>
            <a:ext cx="2011680" cy="43891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no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800" b="1" i="0">
                <a:solidFill>
                  <a:srgbClr val="1E2230"/>
                </a:solidFill>
                <a:latin typeface="IBM Plex Mono"/>
              </a:rPr>
              <a:t>18 / 24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1371600"/>
            <a:ext cx="2743200" cy="10058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000" b="1" i="0">
                <a:solidFill>
                  <a:srgbClr val="C4661F"/>
                </a:solidFill>
                <a:latin typeface="IBM Plex Mono"/>
              </a:rPr>
              <a:t>70.2%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46120" y="1481328"/>
            <a:ext cx="3657600" cy="82296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800" b="0" i="0">
                <a:solidFill>
                  <a:srgbClr val="1E2230"/>
                </a:solidFill>
                <a:latin typeface="IBM Plex Sans"/>
              </a:rPr>
              <a:t>of pre-fix labels match the post-fix reference exactly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0" y="1325880"/>
            <a:ext cx="4389120" cy="68580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1E2230"/>
                </a:solidFill>
                <a:latin typeface="IBM Plex Sans"/>
              </a:rPr>
              <a:t>κ</a:t>
            </a:r>
            <a:r>
              <a:rPr sz="3000" b="1" i="0">
                <a:solidFill>
                  <a:srgbClr val="1E2230"/>
                </a:solidFill>
                <a:latin typeface="IBM Plex Mono"/>
              </a:rPr>
              <a:t> = 0.505</a:t>
            </a:r>
            <a:r>
              <a:rPr sz="1600" b="0" i="0">
                <a:solidFill>
                  <a:srgbClr val="5B6272"/>
                </a:solidFill>
                <a:latin typeface="IBM Plex Sans"/>
              </a:rPr>
              <a:t>  moderate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0" y="2011680"/>
            <a:ext cx="4389120" cy="4114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5B6272"/>
                </a:solidFill>
                <a:latin typeface="IBM Plex Mono"/>
              </a:rPr>
              <a:t>95% CI [0.433, 0.574]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2606040"/>
            <a:ext cx="10972800" cy="4114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5B6272"/>
                </a:solidFill>
                <a:latin typeface="IBM Plex Mono"/>
              </a:rPr>
              <a:t>What happens to all 410 bugs (scientific):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3017520"/>
            <a:ext cx="7850544" cy="868680"/>
          </a:xfrm>
          <a:prstGeom prst="rect">
            <a:avLst/>
          </a:prstGeom>
          <a:solidFill>
            <a:srgbClr val="2381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502920" y="3017520"/>
            <a:ext cx="7850544" cy="86868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IBM Plex Sans"/>
              </a:rPr>
              <a:t>exact match 70.2%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353464" y="3017520"/>
            <a:ext cx="3052989" cy="868680"/>
          </a:xfrm>
          <a:prstGeom prst="rect">
            <a:avLst/>
          </a:prstGeom>
          <a:solidFill>
            <a:srgbClr val="E0A4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8353464" y="3017520"/>
            <a:ext cx="3052989" cy="86868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IBM Plex Sans"/>
              </a:rPr>
              <a:t>near miss 27.3%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06454" y="3017520"/>
            <a:ext cx="268394" cy="868680"/>
          </a:xfrm>
          <a:prstGeom prst="rect">
            <a:avLst/>
          </a:prstGeom>
          <a:solidFill>
            <a:srgbClr val="C62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ectangle 20"/>
          <p:cNvSpPr/>
          <p:nvPr/>
        </p:nvSpPr>
        <p:spPr>
          <a:xfrm>
            <a:off x="9235440" y="4050791"/>
            <a:ext cx="182880" cy="182880"/>
          </a:xfrm>
          <a:prstGeom prst="rect">
            <a:avLst/>
          </a:prstGeom>
          <a:solidFill>
            <a:srgbClr val="C62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473184" y="3931920"/>
            <a:ext cx="1636776" cy="420624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0" i="0">
                <a:solidFill>
                  <a:srgbClr val="5B6272"/>
                </a:solidFill>
                <a:latin typeface="IBM Plex Sans"/>
              </a:rPr>
              <a:t>unrelated 2.4%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" y="3931920"/>
            <a:ext cx="8503920" cy="4572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0" i="0">
                <a:solidFill>
                  <a:srgbClr val="5B6272"/>
                </a:solidFill>
                <a:latin typeface="IBM Plex Sans"/>
              </a:rPr>
              <a:t>near miss = one label is the other's runner-up, or both share a family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02920" y="4526280"/>
            <a:ext cx="5486400" cy="1691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8D4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685800" y="4590288"/>
            <a:ext cx="2743200" cy="4114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00" b="1" i="0">
                <a:solidFill>
                  <a:srgbClr val="1E2230"/>
                </a:solidFill>
                <a:latin typeface="IBM Plex Sans"/>
              </a:rPr>
              <a:t>Four tiers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926080" y="4617720"/>
            <a:ext cx="2926080" cy="384048"/>
          </a:xfrm>
          <a:prstGeom prst="rect">
            <a:avLst/>
          </a:prstGeom>
          <a:noFill/>
        </p:spPr>
        <p:txBody>
          <a:bodyPr wrap="square" lIns="36576" rIns="36576" tIns="36576" bIns="36576" anchor="t">
            <a:no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500" b="0" i="0">
                <a:solidFill>
                  <a:srgbClr val="5B6272"/>
                </a:solidFill>
                <a:latin typeface="IBM Plex Mono"/>
              </a:rPr>
              <a:t>scientific   few-shot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5800" y="5029200"/>
            <a:ext cx="2194560" cy="384048"/>
          </a:xfrm>
          <a:prstGeom prst="rect">
            <a:avLst/>
          </a:prstGeom>
          <a:noFill/>
        </p:spPr>
        <p:txBody>
          <a:bodyPr wrap="square" lIns="36576" rIns="36576" tIns="36576" bIns="36576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1" i="0">
                <a:solidFill>
                  <a:srgbClr val="1E2230"/>
                </a:solidFill>
                <a:latin typeface="IBM Plex Mono"/>
              </a:rPr>
              <a:t>T1 strict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880360" y="5029200"/>
            <a:ext cx="2971800" cy="384048"/>
          </a:xfrm>
          <a:prstGeom prst="rect">
            <a:avLst/>
          </a:prstGeom>
          <a:noFill/>
        </p:spPr>
        <p:txBody>
          <a:bodyPr wrap="square" lIns="36576" rIns="36576" tIns="36576" bIns="36576" anchor="t">
            <a:no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600" b="0" i="0">
                <a:solidFill>
                  <a:srgbClr val="1E2230"/>
                </a:solidFill>
                <a:latin typeface="IBM Plex Mono"/>
              </a:rPr>
              <a:t>  70.2%     66.6%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85800" y="5413248"/>
            <a:ext cx="2194560" cy="384048"/>
          </a:xfrm>
          <a:prstGeom prst="rect">
            <a:avLst/>
          </a:prstGeom>
          <a:noFill/>
        </p:spPr>
        <p:txBody>
          <a:bodyPr wrap="square" lIns="36576" rIns="36576" tIns="36576" bIns="36576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1" i="0">
                <a:solidFill>
                  <a:srgbClr val="1E2230"/>
                </a:solidFill>
                <a:latin typeface="IBM Plex Mono"/>
              </a:rPr>
              <a:t>T2 top-2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880360" y="5413248"/>
            <a:ext cx="2971800" cy="384048"/>
          </a:xfrm>
          <a:prstGeom prst="rect">
            <a:avLst/>
          </a:prstGeom>
          <a:noFill/>
        </p:spPr>
        <p:txBody>
          <a:bodyPr wrap="square" lIns="36576" rIns="36576" tIns="36576" bIns="36576" anchor="t">
            <a:no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600" b="0" i="0">
                <a:solidFill>
                  <a:srgbClr val="1E2230"/>
                </a:solidFill>
                <a:latin typeface="IBM Plex Mono"/>
              </a:rPr>
              <a:t>  97.1%     98.5%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85800" y="5797296"/>
            <a:ext cx="2194560" cy="384048"/>
          </a:xfrm>
          <a:prstGeom prst="rect">
            <a:avLst/>
          </a:prstGeom>
          <a:noFill/>
        </p:spPr>
        <p:txBody>
          <a:bodyPr wrap="square" lIns="36576" rIns="36576" tIns="36576" bIns="36576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1" i="0">
                <a:solidFill>
                  <a:srgbClr val="1E2230"/>
                </a:solidFill>
                <a:latin typeface="IBM Plex Mono"/>
              </a:rPr>
              <a:t>T4 kappa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880360" y="5797296"/>
            <a:ext cx="2971800" cy="384048"/>
          </a:xfrm>
          <a:prstGeom prst="rect">
            <a:avLst/>
          </a:prstGeom>
          <a:noFill/>
        </p:spPr>
        <p:txBody>
          <a:bodyPr wrap="square" lIns="36576" rIns="36576" tIns="36576" bIns="36576" anchor="t">
            <a:no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600" b="0" i="0">
                <a:solidFill>
                  <a:srgbClr val="1E2230"/>
                </a:solidFill>
                <a:latin typeface="IBM Plex Mono"/>
              </a:rPr>
              <a:t>  0.505     0.389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199632" y="4526280"/>
            <a:ext cx="5486400" cy="1691640"/>
          </a:xfrm>
          <a:prstGeom prst="roundRect">
            <a:avLst>
              <a:gd name="adj" fmla="val 6000"/>
            </a:avLst>
          </a:prstGeom>
          <a:solidFill>
            <a:srgbClr val="EFED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6400800" y="4590288"/>
            <a:ext cx="5120640" cy="4114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00" b="1" i="0">
                <a:solidFill>
                  <a:srgbClr val="1E2230"/>
                </a:solidFill>
                <a:latin typeface="IBM Plex Sans"/>
              </a:rPr>
              <a:t>Reference level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00800" y="4983480"/>
            <a:ext cx="5120640" cy="11887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no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600" b="0" i="0">
                <a:solidFill>
                  <a:srgbClr val="1E2230"/>
                </a:solidFill>
                <a:latin typeface="IBM Plex Sans"/>
              </a:rPr>
              <a:t>Two fix-aware runs still agree only </a:t>
            </a:r>
            <a:r>
              <a:rPr sz="1600" b="1" i="0">
                <a:solidFill>
                  <a:srgbClr val="1E2230"/>
                </a:solidFill>
                <a:latin typeface="IBM Plex Mono"/>
              </a:rPr>
              <a:t>76.3%</a:t>
            </a:r>
            <a:r>
              <a:rPr sz="1600" b="0" i="0">
                <a:solidFill>
                  <a:srgbClr val="1E2230"/>
                </a:solidFill>
                <a:latin typeface="IBM Plex Sans"/>
              </a:rPr>
              <a:t> of the time; pre-fix is </a:t>
            </a:r>
            <a:r>
              <a:rPr sz="1600" b="1" i="0">
                <a:solidFill>
                  <a:srgbClr val="1E2230"/>
                </a:solidFill>
                <a:latin typeface="IBM Plex Sans"/>
              </a:rPr>
              <a:t>~6 points</a:t>
            </a:r>
            <a:r>
              <a:rPr sz="1600" b="0" i="0">
                <a:solidFill>
                  <a:srgbClr val="1E2230"/>
                </a:solidFill>
                <a:latin typeface="IBM Plex Sans"/>
              </a:rPr>
              <a:t> below. Much of the rest is ODC boundary ambiguity.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502920" y="384048"/>
            <a:ext cx="82296" cy="868680"/>
          </a:xfrm>
          <a:prstGeom prst="rect">
            <a:avLst/>
          </a:prstGeom>
          <a:solidFill>
            <a:srgbClr val="C466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713232" y="274320"/>
            <a:ext cx="10515600" cy="384048"/>
          </a:xfrm>
          <a:prstGeom prst="rect">
            <a:avLst/>
          </a:prstGeom>
          <a:noFill/>
        </p:spPr>
        <p:txBody>
          <a:bodyPr wrap="square" lIns="36576" rIns="36576" tIns="36576" bIns="36576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C4661F"/>
                </a:solidFill>
                <a:latin typeface="IBM Plex Mono"/>
              </a:rPr>
              <a:t>// </a:t>
            </a:r>
            <a:r>
              <a:rPr sz="1500" b="1" i="0">
                <a:solidFill>
                  <a:srgbClr val="C4661F"/>
                </a:solidFill>
                <a:latin typeface="IBM Plex Mono"/>
              </a:rPr>
              <a:t>19  RQ3 · LABEL CHANGES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603504"/>
            <a:ext cx="10972800" cy="6858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1E2230"/>
                </a:solidFill>
                <a:latin typeface="IBM Plex Sans"/>
              </a:rPr>
              <a:t>When the Fix Is Visible, Labels Move — but Nearby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02920" y="6355080"/>
            <a:ext cx="11183112" cy="0"/>
          </a:xfrm>
          <a:prstGeom prst="line">
            <a:avLst/>
          </a:prstGeom>
          <a:ln w="12700">
            <a:solidFill>
              <a:srgbClr val="D8D4C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502920" y="6437376"/>
            <a:ext cx="502920" cy="329184"/>
          </a:xfrm>
          <a:prstGeom prst="roundRect">
            <a:avLst>
              <a:gd name="adj" fmla="val 30000"/>
            </a:avLst>
          </a:prstGeom>
          <a:solidFill>
            <a:srgbClr val="C466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502920" y="6437376"/>
            <a:ext cx="502920" cy="329184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IBM Plex Mono"/>
              </a:rPr>
              <a:t>P3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6419088"/>
            <a:ext cx="6400800" cy="36576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5B6272"/>
                </a:solidFill>
                <a:latin typeface="IBM Plex Mono"/>
              </a:rPr>
              <a:t>RESULTS &amp; ANALYSIS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92640" y="6382512"/>
            <a:ext cx="2011680" cy="43891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no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800" b="1" i="0">
                <a:solidFill>
                  <a:srgbClr val="1E2230"/>
                </a:solidFill>
                <a:latin typeface="IBM Plex Mono"/>
              </a:rPr>
              <a:t>19 / 24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600200" y="4572000"/>
            <a:ext cx="3977640" cy="0"/>
          </a:xfrm>
          <a:prstGeom prst="line">
            <a:avLst/>
          </a:prstGeom>
          <a:ln w="88900">
            <a:solidFill>
              <a:srgbClr val="C4661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V="1">
            <a:off x="1600200" y="2011680"/>
            <a:ext cx="1993392" cy="2560320"/>
          </a:xfrm>
          <a:prstGeom prst="line">
            <a:avLst/>
          </a:prstGeom>
          <a:ln w="28575">
            <a:solidFill>
              <a:srgbClr val="C4661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H="1" flipV="1">
            <a:off x="3593592" y="2011680"/>
            <a:ext cx="1984248" cy="2560320"/>
          </a:xfrm>
          <a:prstGeom prst="line">
            <a:avLst/>
          </a:prstGeom>
          <a:ln w="28575">
            <a:solidFill>
              <a:srgbClr val="C4661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3177539" y="4334256"/>
            <a:ext cx="822960" cy="475488"/>
          </a:xfrm>
          <a:prstGeom prst="roundRect">
            <a:avLst>
              <a:gd name="adj" fmla="val 30000"/>
            </a:avLst>
          </a:prstGeom>
          <a:solidFill>
            <a:srgbClr val="F7F6F2"/>
          </a:solidFill>
          <a:ln w="19050">
            <a:solidFill>
              <a:srgbClr val="C466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3177539" y="4334256"/>
            <a:ext cx="822960" cy="47548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800" b="1" i="0">
                <a:solidFill>
                  <a:srgbClr val="1E2230"/>
                </a:solidFill>
                <a:latin typeface="IBM Plex Mono"/>
              </a:rPr>
              <a:t>75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185415" y="3054096"/>
            <a:ext cx="822960" cy="475488"/>
          </a:xfrm>
          <a:prstGeom prst="roundRect">
            <a:avLst>
              <a:gd name="adj" fmla="val 30000"/>
            </a:avLst>
          </a:prstGeom>
          <a:solidFill>
            <a:srgbClr val="F7F6F2"/>
          </a:solidFill>
          <a:ln w="19050">
            <a:solidFill>
              <a:srgbClr val="C466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2185415" y="3054096"/>
            <a:ext cx="822960" cy="47548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800" b="1" i="0">
                <a:solidFill>
                  <a:srgbClr val="1E2230"/>
                </a:solidFill>
                <a:latin typeface="IBM Plex Mono"/>
              </a:rPr>
              <a:t>12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174235" y="3054096"/>
            <a:ext cx="822960" cy="475488"/>
          </a:xfrm>
          <a:prstGeom prst="roundRect">
            <a:avLst>
              <a:gd name="adj" fmla="val 30000"/>
            </a:avLst>
          </a:prstGeom>
          <a:solidFill>
            <a:srgbClr val="F7F6F2"/>
          </a:solidFill>
          <a:ln w="19050">
            <a:solidFill>
              <a:srgbClr val="C466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4174235" y="3054096"/>
            <a:ext cx="822960" cy="47548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800" b="1" i="0">
                <a:solidFill>
                  <a:srgbClr val="1E2230"/>
                </a:solidFill>
                <a:latin typeface="IBM Plex Mono"/>
              </a:rPr>
              <a:t>11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85800" y="4160520"/>
            <a:ext cx="1828800" cy="822960"/>
          </a:xfrm>
          <a:prstGeom prst="roundRect">
            <a:avLst>
              <a:gd name="adj" fmla="val 20000"/>
            </a:avLst>
          </a:prstGeom>
          <a:solidFill>
            <a:srgbClr val="3867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685800" y="4160520"/>
            <a:ext cx="1828800" cy="82296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IBM Plex Sans"/>
              </a:rPr>
              <a:t>Algorithm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663440" y="4160520"/>
            <a:ext cx="1828800" cy="822960"/>
          </a:xfrm>
          <a:prstGeom prst="roundRect">
            <a:avLst>
              <a:gd name="adj" fmla="val 20000"/>
            </a:avLst>
          </a:prstGeom>
          <a:solidFill>
            <a:srgbClr val="D982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4663440" y="4160520"/>
            <a:ext cx="1828800" cy="82296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IBM Plex Sans"/>
              </a:rPr>
              <a:t>Checking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679192" y="1600200"/>
            <a:ext cx="1828800" cy="822960"/>
          </a:xfrm>
          <a:prstGeom prst="roundRect">
            <a:avLst>
              <a:gd name="adj" fmla="val 20000"/>
            </a:avLst>
          </a:prstGeom>
          <a:solidFill>
            <a:srgbClr val="8A5B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2679192" y="1600200"/>
            <a:ext cx="1828800" cy="82296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IBM Plex Sans"/>
              </a:rPr>
              <a:t>Assignment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2920" y="5166360"/>
            <a:ext cx="6492240" cy="4114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0" i="0">
                <a:solidFill>
                  <a:srgbClr val="5B6272"/>
                </a:solidFill>
                <a:latin typeface="IBM Plex Sans"/>
              </a:rPr>
              <a:t>edge = bugs whose label moved between the two types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2920" y="5559552"/>
            <a:ext cx="6492240" cy="7315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no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600" b="1" i="0">
                <a:solidFill>
                  <a:srgbClr val="C4661F"/>
                </a:solidFill>
                <a:latin typeface="IBM Plex Mono"/>
              </a:rPr>
              <a:t>80.3%</a:t>
            </a:r>
            <a:r>
              <a:rPr sz="1600" b="0" i="0">
                <a:solidFill>
                  <a:srgbClr val="1E2230"/>
                </a:solidFill>
                <a:latin typeface="IBM Plex Sans"/>
              </a:rPr>
              <a:t> of changes stay inside these three types — the boundary human raters also confuse.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269480" y="1463040"/>
            <a:ext cx="4416552" cy="1051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D4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7424927" y="1463040"/>
            <a:ext cx="1691640" cy="105156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200" b="1" i="0">
                <a:solidFill>
                  <a:srgbClr val="C4661F"/>
                </a:solidFill>
                <a:latin typeface="IBM Plex Mono"/>
              </a:rPr>
              <a:t>29.8%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44000" y="1463040"/>
            <a:ext cx="2468880" cy="105156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0" i="0">
                <a:solidFill>
                  <a:srgbClr val="5B6272"/>
                </a:solidFill>
                <a:latin typeface="IBM Plex Sans"/>
              </a:rPr>
              <a:t>of bugs change label (122 of 410)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269480" y="2651760"/>
            <a:ext cx="4416552" cy="1051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D4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TextBox 31"/>
          <p:cNvSpPr txBox="1"/>
          <p:nvPr/>
        </p:nvSpPr>
        <p:spPr>
          <a:xfrm>
            <a:off x="7424927" y="2651760"/>
            <a:ext cx="1691640" cy="105156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200" b="1" i="0">
                <a:solidFill>
                  <a:srgbClr val="C4661F"/>
                </a:solidFill>
                <a:latin typeface="IBM Plex Mono"/>
              </a:rPr>
              <a:t>0.051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144000" y="2651760"/>
            <a:ext cx="2468880" cy="105156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0" i="0">
                <a:solidFill>
                  <a:srgbClr val="5B6272"/>
                </a:solidFill>
                <a:latin typeface="IBM Plex Sans"/>
              </a:rPr>
              <a:t>total variation distance: the overall mix barely moves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269480" y="3840480"/>
            <a:ext cx="4416552" cy="1051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D4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7424927" y="3840480"/>
            <a:ext cx="1691640" cy="105156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200" b="1" i="0">
                <a:solidFill>
                  <a:srgbClr val="C4661F"/>
                </a:solidFill>
                <a:latin typeface="IBM Plex Mono"/>
              </a:rPr>
              <a:t>38 / 37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144000" y="3840480"/>
            <a:ext cx="2468880" cy="105156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0" i="0">
                <a:solidFill>
                  <a:srgbClr val="5B6272"/>
                </a:solidFill>
                <a:latin typeface="IBM Plex Sans"/>
              </a:rPr>
              <a:t>Algorithm → Checking vs Checking → Algorithm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7269480" y="5029200"/>
            <a:ext cx="4416552" cy="1051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D4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7424927" y="5029200"/>
            <a:ext cx="1691640" cy="105156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200" b="1" i="0">
                <a:solidFill>
                  <a:srgbClr val="C4661F"/>
                </a:solidFill>
                <a:latin typeface="IBM Plex Mono"/>
              </a:rPr>
              <a:t>43 / 54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144000" y="5029200"/>
            <a:ext cx="2468880" cy="105156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0" i="0">
                <a:solidFill>
                  <a:srgbClr val="5B6272"/>
                </a:solidFill>
                <a:latin typeface="IBM Plex Sans"/>
              </a:rPr>
              <a:t>Closure changes on the Algorithm–Checking boundary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502920" y="384048"/>
            <a:ext cx="82296" cy="868680"/>
          </a:xfrm>
          <a:prstGeom prst="rect">
            <a:avLst/>
          </a:prstGeom>
          <a:solidFill>
            <a:srgbClr val="C466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713232" y="274320"/>
            <a:ext cx="10515600" cy="384048"/>
          </a:xfrm>
          <a:prstGeom prst="rect">
            <a:avLst/>
          </a:prstGeom>
          <a:noFill/>
        </p:spPr>
        <p:txBody>
          <a:bodyPr wrap="square" lIns="36576" rIns="36576" tIns="36576" bIns="36576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C4661F"/>
                </a:solidFill>
                <a:latin typeface="IBM Plex Mono"/>
              </a:rPr>
              <a:t>// </a:t>
            </a:r>
            <a:r>
              <a:rPr sz="1500" b="1" i="0">
                <a:solidFill>
                  <a:srgbClr val="C4661F"/>
                </a:solidFill>
                <a:latin typeface="IBM Plex Mono"/>
              </a:rPr>
              <a:t>20  RQ4a · TAXONOMY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603504"/>
            <a:ext cx="10972800" cy="6858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1E2230"/>
                </a:solidFill>
                <a:latin typeface="IBM Plex Sans"/>
              </a:rPr>
              <a:t>Without a Taxonomy, Labels Cannot Be Counted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02920" y="6355080"/>
            <a:ext cx="11183112" cy="0"/>
          </a:xfrm>
          <a:prstGeom prst="line">
            <a:avLst/>
          </a:prstGeom>
          <a:ln w="12700">
            <a:solidFill>
              <a:srgbClr val="D8D4C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502920" y="6437376"/>
            <a:ext cx="502920" cy="329184"/>
          </a:xfrm>
          <a:prstGeom prst="roundRect">
            <a:avLst>
              <a:gd name="adj" fmla="val 30000"/>
            </a:avLst>
          </a:prstGeom>
          <a:solidFill>
            <a:srgbClr val="C466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502920" y="6437376"/>
            <a:ext cx="502920" cy="329184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IBM Plex Mono"/>
              </a:rPr>
              <a:t>P3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6419088"/>
            <a:ext cx="6400800" cy="36576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5B6272"/>
                </a:solidFill>
                <a:latin typeface="IBM Plex Mono"/>
              </a:rPr>
              <a:t>RESULTS &amp; ANALYSIS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92640" y="6382512"/>
            <a:ext cx="2011680" cy="43891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no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800" b="1" i="0">
                <a:solidFill>
                  <a:srgbClr val="1E2230"/>
                </a:solidFill>
                <a:latin typeface="IBM Plex Mono"/>
              </a:rPr>
              <a:t>20 / 24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1417320"/>
            <a:ext cx="6583680" cy="4114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5B6272"/>
                </a:solidFill>
                <a:latin typeface="IBM Plex Mono"/>
              </a:rPr>
              <a:t>distinct labels for 410 bugs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1874519"/>
            <a:ext cx="2194560" cy="4114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1" i="0">
                <a:solidFill>
                  <a:srgbClr val="1E2230"/>
                </a:solidFill>
                <a:latin typeface="IBM Plex Mono"/>
              </a:rPr>
              <a:t>zero-free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2258568"/>
            <a:ext cx="2194560" cy="3657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0" i="0">
                <a:solidFill>
                  <a:srgbClr val="5B6272"/>
                </a:solidFill>
                <a:latin typeface="IBM Plex Sans"/>
              </a:rPr>
              <a:t>no taxonomy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697480" y="1984248"/>
            <a:ext cx="3931920" cy="548640"/>
          </a:xfrm>
          <a:prstGeom prst="rect">
            <a:avLst/>
          </a:prstGeom>
          <a:solidFill>
            <a:srgbClr val="C62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2788920" y="1984248"/>
            <a:ext cx="1097280" cy="54864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000" b="1" i="0">
                <a:solidFill>
                  <a:srgbClr val="FFFFFF"/>
                </a:solidFill>
                <a:latin typeface="IBM Plex Mono"/>
              </a:rPr>
              <a:t>366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2788920"/>
            <a:ext cx="2194560" cy="4114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1" i="0">
                <a:solidFill>
                  <a:srgbClr val="1E2230"/>
                </a:solidFill>
                <a:latin typeface="IBM Plex Mono"/>
              </a:rPr>
              <a:t>few-open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3172968"/>
            <a:ext cx="2194560" cy="3657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0" i="0">
                <a:solidFill>
                  <a:srgbClr val="5B6272"/>
                </a:solidFill>
                <a:latin typeface="IBM Plex Sans"/>
              </a:rPr>
              <a:t>ODC + examples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697480" y="2898648"/>
            <a:ext cx="109728" cy="548640"/>
          </a:xfrm>
          <a:prstGeom prst="rect">
            <a:avLst/>
          </a:prstGeom>
          <a:solidFill>
            <a:srgbClr val="5B62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2916936" y="2898648"/>
            <a:ext cx="1097280" cy="54864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000" b="1" i="0">
                <a:solidFill>
                  <a:srgbClr val="1E2230"/>
                </a:solidFill>
                <a:latin typeface="IBM Plex Mono"/>
              </a:rPr>
              <a:t>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3703320"/>
            <a:ext cx="2194560" cy="4114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1" i="0">
                <a:solidFill>
                  <a:srgbClr val="1E2230"/>
                </a:solidFill>
                <a:latin typeface="IBM Plex Mono"/>
              </a:rPr>
              <a:t>scientific-open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4087368"/>
            <a:ext cx="2194560" cy="3657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0" i="0">
                <a:solidFill>
                  <a:srgbClr val="5B6272"/>
                </a:solidFill>
                <a:latin typeface="IBM Plex Sans"/>
              </a:rPr>
              <a:t>ODC + loop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697480" y="3813048"/>
            <a:ext cx="109728" cy="548640"/>
          </a:xfrm>
          <a:prstGeom prst="rect">
            <a:avLst/>
          </a:prstGeom>
          <a:solidFill>
            <a:srgbClr val="2381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2916936" y="3813048"/>
            <a:ext cx="1097280" cy="54864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000" b="1" i="0">
                <a:solidFill>
                  <a:srgbClr val="1E2230"/>
                </a:solidFill>
                <a:latin typeface="IBM Plex Mono"/>
              </a:rPr>
              <a:t>6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02920" y="4709160"/>
            <a:ext cx="6583680" cy="1508760"/>
          </a:xfrm>
          <a:prstGeom prst="roundRect">
            <a:avLst>
              <a:gd name="adj" fmla="val 6000"/>
            </a:avLst>
          </a:prstGeom>
          <a:solidFill>
            <a:srgbClr val="EFED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685800" y="4773168"/>
            <a:ext cx="6217920" cy="4114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5B6272"/>
                </a:solidFill>
                <a:latin typeface="IBM Plex Mono"/>
              </a:rPr>
              <a:t>Chart_9, zero-free, same bug: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85800" y="5138928"/>
            <a:ext cx="6217920" cy="10058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no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700" b="1" i="0">
                <a:solidFill>
                  <a:srgbClr val="C62F3A"/>
                </a:solidFill>
                <a:latin typeface="IBM Plex Mono"/>
              </a:rPr>
              <a:t>− </a:t>
            </a:r>
            <a:r>
              <a:rPr sz="1700" b="0" i="0">
                <a:solidFill>
                  <a:srgbClr val="1E2230"/>
                </a:solidFill>
                <a:latin typeface="IBM Plex Sans"/>
              </a:rPr>
              <a:t>“Improper input validation logic”</a:t>
            </a:r>
          </a:p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700" b="1" i="0">
                <a:solidFill>
                  <a:srgbClr val="23813F"/>
                </a:solidFill>
                <a:latin typeface="IBM Plex Mono"/>
              </a:rPr>
              <a:t>+ </a:t>
            </a:r>
            <a:r>
              <a:rPr sz="1700" b="0" i="0">
                <a:solidFill>
                  <a:srgbClr val="1E2230"/>
                </a:solidFill>
                <a:latin typeface="IBM Plex Sans"/>
              </a:rPr>
              <a:t>“Incorrect boundary condition logic”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452360" y="1417320"/>
            <a:ext cx="4206240" cy="4114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5B6272"/>
                </a:solidFill>
                <a:latin typeface="IBM Plex Mono"/>
              </a:rPr>
              <a:t>label identical in both modes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52360" y="1874519"/>
            <a:ext cx="2103120" cy="77724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600" b="1" i="0">
                <a:solidFill>
                  <a:srgbClr val="C62F3A"/>
                </a:solidFill>
                <a:latin typeface="IBM Plex Mono"/>
              </a:rPr>
              <a:t>15.1%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18320" y="1874519"/>
            <a:ext cx="2240280" cy="77724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0" i="0">
                <a:solidFill>
                  <a:srgbClr val="5B6272"/>
                </a:solidFill>
                <a:latin typeface="IBM Plex Mono"/>
              </a:rPr>
              <a:t>entropy 8.38 bits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452360" y="2788920"/>
            <a:ext cx="2103120" cy="77724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600" b="1" i="0">
                <a:solidFill>
                  <a:srgbClr val="1E2230"/>
                </a:solidFill>
                <a:latin typeface="IBM Plex Mono"/>
              </a:rPr>
              <a:t>66.6%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18320" y="2788920"/>
            <a:ext cx="2240280" cy="77724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0" i="0">
                <a:solidFill>
                  <a:srgbClr val="5B6272"/>
                </a:solidFill>
                <a:latin typeface="IBM Plex Mono"/>
              </a:rPr>
              <a:t>entropy 1.29 bits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452360" y="3703320"/>
            <a:ext cx="2103120" cy="77724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600" b="1" i="0">
                <a:solidFill>
                  <a:srgbClr val="23813F"/>
                </a:solidFill>
                <a:latin typeface="IBM Plex Mono"/>
              </a:rPr>
              <a:t>70.2%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418320" y="3703320"/>
            <a:ext cx="2240280" cy="77724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0" i="0">
                <a:solidFill>
                  <a:srgbClr val="5B6272"/>
                </a:solidFill>
                <a:latin typeface="IBM Plex Mono"/>
              </a:rPr>
              <a:t>entropy 1.45 bits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452360" y="4709160"/>
            <a:ext cx="4233672" cy="15087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C466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Rectangle 34"/>
          <p:cNvSpPr/>
          <p:nvPr/>
        </p:nvSpPr>
        <p:spPr>
          <a:xfrm>
            <a:off x="7452360" y="4709160"/>
            <a:ext cx="91440" cy="1508760"/>
          </a:xfrm>
          <a:prstGeom prst="rect">
            <a:avLst/>
          </a:prstGeom>
          <a:solidFill>
            <a:srgbClr val="C466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TextBox 35"/>
          <p:cNvSpPr txBox="1"/>
          <p:nvPr/>
        </p:nvSpPr>
        <p:spPr>
          <a:xfrm>
            <a:off x="7680960" y="4754880"/>
            <a:ext cx="3886200" cy="141732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no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600" b="1" i="0">
                <a:solidFill>
                  <a:srgbClr val="1E2230"/>
                </a:solidFill>
                <a:latin typeface="IBM Plex Mono"/>
              </a:rPr>
              <a:t>342 of 366</a:t>
            </a:r>
            <a:r>
              <a:rPr sz="1600" b="0" i="0">
                <a:solidFill>
                  <a:srgbClr val="1E2230"/>
                </a:solidFill>
                <a:latin typeface="IBM Plex Sans"/>
              </a:rPr>
              <a:t> free-form labels occur only once. A taxonomy is a precondition for aggregate analysis.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502920" y="384048"/>
            <a:ext cx="82296" cy="868680"/>
          </a:xfrm>
          <a:prstGeom prst="rect">
            <a:avLst/>
          </a:prstGeom>
          <a:solidFill>
            <a:srgbClr val="C466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713232" y="274320"/>
            <a:ext cx="10515600" cy="384048"/>
          </a:xfrm>
          <a:prstGeom prst="rect">
            <a:avLst/>
          </a:prstGeom>
          <a:noFill/>
        </p:spPr>
        <p:txBody>
          <a:bodyPr wrap="square" lIns="36576" rIns="36576" tIns="36576" bIns="36576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C4661F"/>
                </a:solidFill>
                <a:latin typeface="IBM Plex Mono"/>
              </a:rPr>
              <a:t>// </a:t>
            </a:r>
            <a:r>
              <a:rPr sz="1500" b="1" i="0">
                <a:solidFill>
                  <a:srgbClr val="C4661F"/>
                </a:solidFill>
                <a:latin typeface="IBM Plex Mono"/>
              </a:rPr>
              <a:t>21  RQ4b · SCIENTIFIC LOOP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603504"/>
            <a:ext cx="10972800" cy="6858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1E2230"/>
                </a:solidFill>
                <a:latin typeface="IBM Plex Sans"/>
              </a:rPr>
              <a:t>The Loop Beats a Strong Few-Shot Prompt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02920" y="6355080"/>
            <a:ext cx="11183112" cy="0"/>
          </a:xfrm>
          <a:prstGeom prst="line">
            <a:avLst/>
          </a:prstGeom>
          <a:ln w="12700">
            <a:solidFill>
              <a:srgbClr val="D8D4C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502920" y="6437376"/>
            <a:ext cx="502920" cy="329184"/>
          </a:xfrm>
          <a:prstGeom prst="roundRect">
            <a:avLst>
              <a:gd name="adj" fmla="val 30000"/>
            </a:avLst>
          </a:prstGeom>
          <a:solidFill>
            <a:srgbClr val="C466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502920" y="6437376"/>
            <a:ext cx="502920" cy="329184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IBM Plex Mono"/>
              </a:rPr>
              <a:t>P3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6419088"/>
            <a:ext cx="6400800" cy="36576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5B6272"/>
                </a:solidFill>
                <a:latin typeface="IBM Plex Mono"/>
              </a:rPr>
              <a:t>RESULTS &amp; ANALYSIS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92640" y="6382512"/>
            <a:ext cx="2011680" cy="43891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no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800" b="1" i="0">
                <a:solidFill>
                  <a:srgbClr val="1E2230"/>
                </a:solidFill>
                <a:latin typeface="IBM Plex Mono"/>
              </a:rPr>
              <a:t>21 / 24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1371600"/>
            <a:ext cx="4297680" cy="86868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600" b="1" i="0">
                <a:solidFill>
                  <a:srgbClr val="C4661F"/>
                </a:solidFill>
                <a:latin typeface="IBM Plex Sans"/>
              </a:rPr>
              <a:t>Δκ</a:t>
            </a:r>
            <a:r>
              <a:rPr sz="3600" b="1" i="0">
                <a:solidFill>
                  <a:srgbClr val="C4661F"/>
                </a:solidFill>
                <a:latin typeface="IBM Plex Mono"/>
              </a:rPr>
              <a:t> = +0.115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2212848"/>
            <a:ext cx="4297680" cy="7315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5B6272"/>
                </a:solidFill>
                <a:latin typeface="IBM Plex Mono"/>
              </a:rPr>
              <a:t>95% CI [0.026, 0.208]
p ≈ 0.012, paired bootstrap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2926080"/>
            <a:ext cx="4297680" cy="5486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800" b="0" i="0">
                <a:solidFill>
                  <a:srgbClr val="1E2230"/>
                </a:solidFill>
                <a:latin typeface="IBM Plex Sans"/>
              </a:rPr>
              <a:t>κ </a:t>
            </a:r>
            <a:r>
              <a:rPr sz="1800" b="1" i="0">
                <a:solidFill>
                  <a:srgbClr val="1E2230"/>
                </a:solidFill>
                <a:latin typeface="IBM Plex Sans"/>
              </a:rPr>
              <a:t>0.389</a:t>
            </a:r>
            <a:r>
              <a:rPr sz="1800" b="0" i="0">
                <a:solidFill>
                  <a:srgbClr val="1E2230"/>
                </a:solidFill>
                <a:latin typeface="IBM Plex Sans"/>
              </a:rPr>
              <a:t> few-shot → </a:t>
            </a:r>
            <a:r>
              <a:rPr sz="1800" b="1" i="0">
                <a:solidFill>
                  <a:srgbClr val="C4661F"/>
                </a:solidFill>
                <a:latin typeface="IBM Plex Sans"/>
              </a:rPr>
              <a:t>0.505</a:t>
            </a:r>
            <a:r>
              <a:rPr sz="1800" b="0" i="0">
                <a:solidFill>
                  <a:srgbClr val="1E2230"/>
                </a:solidFill>
                <a:latin typeface="IBM Plex Sans"/>
              </a:rPr>
              <a:t> scientific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3611880"/>
            <a:ext cx="4297680" cy="76809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8D4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640080" y="3611880"/>
            <a:ext cx="1417320" cy="768096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1" i="0">
                <a:solidFill>
                  <a:srgbClr val="1E2230"/>
                </a:solidFill>
                <a:latin typeface="IBM Plex Mono"/>
              </a:rPr>
              <a:t>6 / 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057400" y="3611880"/>
            <a:ext cx="2697480" cy="768096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0" i="0">
                <a:solidFill>
                  <a:srgbClr val="5B6272"/>
                </a:solidFill>
                <a:latin typeface="IBM Plex Sans"/>
              </a:rPr>
              <a:t>projects with higher κ (sign test p = 0.016)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4489704"/>
            <a:ext cx="4297680" cy="76809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8D4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640080" y="4489704"/>
            <a:ext cx="1417320" cy="768096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1" i="0">
                <a:solidFill>
                  <a:srgbClr val="1E2230"/>
                </a:solidFill>
                <a:latin typeface="IBM Plex Mono"/>
              </a:rPr>
              <a:t>p = 0.221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057400" y="4489704"/>
            <a:ext cx="2697480" cy="768096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0" i="0">
                <a:solidFill>
                  <a:srgbClr val="5B6272"/>
                </a:solidFill>
                <a:latin typeface="IBM Plex Sans"/>
              </a:rPr>
              <a:t>raw McNemar: few-shot's 265 Algorithm labels inflate chance agreement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5367528"/>
            <a:ext cx="4297680" cy="76809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8D4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640080" y="5367528"/>
            <a:ext cx="1417320" cy="768096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1" i="0">
                <a:solidFill>
                  <a:srgbClr val="1E2230"/>
                </a:solidFill>
                <a:latin typeface="IBM Plex Mono"/>
              </a:rPr>
              <a:t>Closure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057400" y="5367528"/>
            <a:ext cx="2697480" cy="768096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0" i="0">
                <a:solidFill>
                  <a:srgbClr val="5B6272"/>
                </a:solidFill>
                <a:latin typeface="IBM Plex Sans"/>
              </a:rPr>
              <a:t>gain +0.065, CI includes 0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074920" y="1417320"/>
            <a:ext cx="6611112" cy="484632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D8D4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5303520" y="1508760"/>
            <a:ext cx="6126480" cy="4114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5B6272"/>
                </a:solidFill>
                <a:latin typeface="IBM Plex Mono"/>
              </a:rPr>
              <a:t>per-project kappa, pre-fix vs post-fix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57800" y="1984248"/>
            <a:ext cx="1188720" cy="56692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1E2230"/>
                </a:solidFill>
                <a:latin typeface="IBM Plex Sans"/>
              </a:rPr>
              <a:t>Chart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446520" y="2011679"/>
            <a:ext cx="2127504" cy="237744"/>
          </a:xfrm>
          <a:prstGeom prst="rect">
            <a:avLst/>
          </a:prstGeom>
          <a:solidFill>
            <a:srgbClr val="B9BE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Rectangle 26"/>
          <p:cNvSpPr/>
          <p:nvPr/>
        </p:nvSpPr>
        <p:spPr>
          <a:xfrm>
            <a:off x="6446520" y="2286000"/>
            <a:ext cx="4096512" cy="237744"/>
          </a:xfrm>
          <a:prstGeom prst="rect">
            <a:avLst/>
          </a:prstGeom>
          <a:solidFill>
            <a:srgbClr val="C466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10616184" y="2148840"/>
            <a:ext cx="822960" cy="41148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1E2230"/>
                </a:solidFill>
                <a:latin typeface="IBM Plex Mono"/>
              </a:rPr>
              <a:t>0.67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257800" y="2624328"/>
            <a:ext cx="1188720" cy="56692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1E2230"/>
                </a:solidFill>
                <a:latin typeface="IBM Plex Sans"/>
              </a:rPr>
              <a:t>Math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446520" y="2651760"/>
            <a:ext cx="3273552" cy="237744"/>
          </a:xfrm>
          <a:prstGeom prst="rect">
            <a:avLst/>
          </a:prstGeom>
          <a:solidFill>
            <a:srgbClr val="B9BE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Rectangle 30"/>
          <p:cNvSpPr/>
          <p:nvPr/>
        </p:nvSpPr>
        <p:spPr>
          <a:xfrm>
            <a:off x="6446520" y="2926080"/>
            <a:ext cx="3675887" cy="237744"/>
          </a:xfrm>
          <a:prstGeom prst="rect">
            <a:avLst/>
          </a:prstGeom>
          <a:solidFill>
            <a:srgbClr val="C466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TextBox 31"/>
          <p:cNvSpPr txBox="1"/>
          <p:nvPr/>
        </p:nvSpPr>
        <p:spPr>
          <a:xfrm>
            <a:off x="10195560" y="2788920"/>
            <a:ext cx="822960" cy="41148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1E2230"/>
                </a:solidFill>
                <a:latin typeface="IBM Plex Mono"/>
              </a:rPr>
              <a:t>0.60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257800" y="3264408"/>
            <a:ext cx="1188720" cy="56692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1E2230"/>
                </a:solidFill>
                <a:latin typeface="IBM Plex Sans"/>
              </a:rPr>
              <a:t>Lang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446520" y="3291839"/>
            <a:ext cx="3029711" cy="237744"/>
          </a:xfrm>
          <a:prstGeom prst="rect">
            <a:avLst/>
          </a:prstGeom>
          <a:solidFill>
            <a:srgbClr val="B9BE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Rectangle 34"/>
          <p:cNvSpPr/>
          <p:nvPr/>
        </p:nvSpPr>
        <p:spPr>
          <a:xfrm>
            <a:off x="6446520" y="3566160"/>
            <a:ext cx="3328416" cy="237744"/>
          </a:xfrm>
          <a:prstGeom prst="rect">
            <a:avLst/>
          </a:prstGeom>
          <a:solidFill>
            <a:srgbClr val="C466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TextBox 35"/>
          <p:cNvSpPr txBox="1"/>
          <p:nvPr/>
        </p:nvSpPr>
        <p:spPr>
          <a:xfrm>
            <a:off x="9848088" y="3429000"/>
            <a:ext cx="822960" cy="41148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1E2230"/>
                </a:solidFill>
                <a:latin typeface="IBM Plex Mono"/>
              </a:rPr>
              <a:t>0.55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257800" y="3904487"/>
            <a:ext cx="1188720" cy="56692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1E2230"/>
                </a:solidFill>
                <a:latin typeface="IBM Plex Sans"/>
              </a:rPr>
              <a:t>Mockito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446520" y="3931920"/>
            <a:ext cx="1658112" cy="237744"/>
          </a:xfrm>
          <a:prstGeom prst="rect">
            <a:avLst/>
          </a:prstGeom>
          <a:solidFill>
            <a:srgbClr val="B9BE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Rectangle 38"/>
          <p:cNvSpPr/>
          <p:nvPr/>
        </p:nvSpPr>
        <p:spPr>
          <a:xfrm>
            <a:off x="6446520" y="4206240"/>
            <a:ext cx="3041904" cy="237744"/>
          </a:xfrm>
          <a:prstGeom prst="rect">
            <a:avLst/>
          </a:prstGeom>
          <a:solidFill>
            <a:srgbClr val="C466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TextBox 39"/>
          <p:cNvSpPr txBox="1"/>
          <p:nvPr/>
        </p:nvSpPr>
        <p:spPr>
          <a:xfrm>
            <a:off x="9561576" y="4069079"/>
            <a:ext cx="822960" cy="41148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1E2230"/>
                </a:solidFill>
                <a:latin typeface="IBM Plex Mono"/>
              </a:rPr>
              <a:t>0.50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257800" y="4544568"/>
            <a:ext cx="1188720" cy="56692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1E2230"/>
                </a:solidFill>
                <a:latin typeface="IBM Plex Sans"/>
              </a:rPr>
              <a:t>Time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446520" y="4572000"/>
            <a:ext cx="1292352" cy="237744"/>
          </a:xfrm>
          <a:prstGeom prst="rect">
            <a:avLst/>
          </a:prstGeom>
          <a:solidFill>
            <a:srgbClr val="B9BE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Rectangle 42"/>
          <p:cNvSpPr/>
          <p:nvPr/>
        </p:nvSpPr>
        <p:spPr>
          <a:xfrm>
            <a:off x="6446520" y="4846320"/>
            <a:ext cx="2926079" cy="237744"/>
          </a:xfrm>
          <a:prstGeom prst="rect">
            <a:avLst/>
          </a:prstGeom>
          <a:solidFill>
            <a:srgbClr val="C466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TextBox 43"/>
          <p:cNvSpPr txBox="1"/>
          <p:nvPr/>
        </p:nvSpPr>
        <p:spPr>
          <a:xfrm>
            <a:off x="9445752" y="4709159"/>
            <a:ext cx="822960" cy="41148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1E2230"/>
                </a:solidFill>
                <a:latin typeface="IBM Plex Mono"/>
              </a:rPr>
              <a:t>0.48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257800" y="5184648"/>
            <a:ext cx="1188720" cy="56692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1E2230"/>
                </a:solidFill>
                <a:latin typeface="IBM Plex Sans"/>
              </a:rPr>
              <a:t>Closure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446520" y="5212080"/>
            <a:ext cx="1792224" cy="237744"/>
          </a:xfrm>
          <a:prstGeom prst="rect">
            <a:avLst/>
          </a:prstGeom>
          <a:solidFill>
            <a:srgbClr val="B9BE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7" name="Rectangle 46"/>
          <p:cNvSpPr/>
          <p:nvPr/>
        </p:nvSpPr>
        <p:spPr>
          <a:xfrm>
            <a:off x="6446520" y="5486400"/>
            <a:ext cx="2188464" cy="237744"/>
          </a:xfrm>
          <a:prstGeom prst="rect">
            <a:avLst/>
          </a:prstGeom>
          <a:solidFill>
            <a:srgbClr val="C466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8" name="TextBox 47"/>
          <p:cNvSpPr txBox="1"/>
          <p:nvPr/>
        </p:nvSpPr>
        <p:spPr>
          <a:xfrm>
            <a:off x="8708136" y="5349240"/>
            <a:ext cx="822960" cy="41148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1E2230"/>
                </a:solidFill>
                <a:latin typeface="IBM Plex Mono"/>
              </a:rPr>
              <a:t>0.36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303520" y="5971031"/>
            <a:ext cx="182880" cy="182880"/>
          </a:xfrm>
          <a:prstGeom prst="rect">
            <a:avLst/>
          </a:prstGeom>
          <a:solidFill>
            <a:srgbClr val="B9BE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0" name="TextBox 49"/>
          <p:cNvSpPr txBox="1"/>
          <p:nvPr/>
        </p:nvSpPr>
        <p:spPr>
          <a:xfrm>
            <a:off x="5541264" y="5852159"/>
            <a:ext cx="1060704" cy="420624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0" i="0">
                <a:solidFill>
                  <a:srgbClr val="5B6272"/>
                </a:solidFill>
                <a:latin typeface="IBM Plex Sans"/>
              </a:rPr>
              <a:t>few-shot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592824" y="5971031"/>
            <a:ext cx="182880" cy="182880"/>
          </a:xfrm>
          <a:prstGeom prst="rect">
            <a:avLst/>
          </a:prstGeom>
          <a:solidFill>
            <a:srgbClr val="C466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2" name="TextBox 51"/>
          <p:cNvSpPr txBox="1"/>
          <p:nvPr/>
        </p:nvSpPr>
        <p:spPr>
          <a:xfrm>
            <a:off x="6830568" y="5852159"/>
            <a:ext cx="1252728" cy="420624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0" i="0">
                <a:solidFill>
                  <a:srgbClr val="5B6272"/>
                </a:solidFill>
                <a:latin typeface="IBM Plex Sans"/>
              </a:rPr>
              <a:t>scientific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502920" y="384048"/>
            <a:ext cx="82296" cy="868680"/>
          </a:xfrm>
          <a:prstGeom prst="rect">
            <a:avLst/>
          </a:prstGeom>
          <a:solidFill>
            <a:srgbClr val="C466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713232" y="274320"/>
            <a:ext cx="10515600" cy="384048"/>
          </a:xfrm>
          <a:prstGeom prst="rect">
            <a:avLst/>
          </a:prstGeom>
          <a:noFill/>
        </p:spPr>
        <p:txBody>
          <a:bodyPr wrap="square" lIns="36576" rIns="36576" tIns="36576" bIns="36576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C4661F"/>
                </a:solidFill>
                <a:latin typeface="IBM Plex Mono"/>
              </a:rPr>
              <a:t>// </a:t>
            </a:r>
            <a:r>
              <a:rPr sz="1500" b="1" i="0">
                <a:solidFill>
                  <a:srgbClr val="C4661F"/>
                </a:solidFill>
                <a:latin typeface="IBM Plex Mono"/>
              </a:rPr>
              <a:t>22  QUALITATIVE · CROSS-MODEL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603504"/>
            <a:ext cx="10972800" cy="6858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1E2230"/>
                </a:solidFill>
                <a:latin typeface="IBM Plex Sans"/>
              </a:rPr>
              <a:t>Failure Modes, and What Depends on the Model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02920" y="6355080"/>
            <a:ext cx="11183112" cy="0"/>
          </a:xfrm>
          <a:prstGeom prst="line">
            <a:avLst/>
          </a:prstGeom>
          <a:ln w="12700">
            <a:solidFill>
              <a:srgbClr val="D8D4C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502920" y="6437376"/>
            <a:ext cx="502920" cy="329184"/>
          </a:xfrm>
          <a:prstGeom prst="roundRect">
            <a:avLst>
              <a:gd name="adj" fmla="val 30000"/>
            </a:avLst>
          </a:prstGeom>
          <a:solidFill>
            <a:srgbClr val="C466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502920" y="6437376"/>
            <a:ext cx="502920" cy="329184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IBM Plex Mono"/>
              </a:rPr>
              <a:t>P3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6419088"/>
            <a:ext cx="6400800" cy="36576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5B6272"/>
                </a:solidFill>
                <a:latin typeface="IBM Plex Mono"/>
              </a:rPr>
              <a:t>RESULTS &amp; ANALYSIS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92640" y="6382512"/>
            <a:ext cx="2011680" cy="43891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no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800" b="1" i="0">
                <a:solidFill>
                  <a:srgbClr val="1E2230"/>
                </a:solidFill>
                <a:latin typeface="IBM Plex Mono"/>
              </a:rPr>
              <a:t>22 / 24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1417320"/>
            <a:ext cx="5486400" cy="4114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5B6272"/>
                </a:solidFill>
                <a:latin typeface="IBM Plex Mono"/>
              </a:rPr>
              <a:t>13 manually analysed scenario bugs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1828800"/>
            <a:ext cx="5486400" cy="960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D4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502920" y="1828800"/>
            <a:ext cx="91440" cy="960120"/>
          </a:xfrm>
          <a:prstGeom prst="rect">
            <a:avLst/>
          </a:prstGeom>
          <a:solidFill>
            <a:srgbClr val="C62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731520" y="1874519"/>
            <a:ext cx="3017520" cy="4114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00" b="1" i="0">
                <a:solidFill>
                  <a:srgbClr val="1E2230"/>
                </a:solidFill>
                <a:latin typeface="IBM Plex Sans"/>
              </a:rPr>
              <a:t>Symptom-site bias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023360" y="1874519"/>
            <a:ext cx="1828800" cy="4114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no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5B6272"/>
                </a:solidFill>
                <a:latin typeface="IBM Plex Mono"/>
              </a:rPr>
              <a:t>Chart_17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2267712"/>
            <a:ext cx="512064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0" i="0">
                <a:solidFill>
                  <a:srgbClr val="5B6272"/>
                </a:solidFill>
                <a:latin typeface="IBM Plex Sans"/>
              </a:rPr>
              <a:t>label follows where the exception surfaced, not what was changed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2907791"/>
            <a:ext cx="5486400" cy="960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D4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ctangle 17"/>
          <p:cNvSpPr/>
          <p:nvPr/>
        </p:nvSpPr>
        <p:spPr>
          <a:xfrm>
            <a:off x="502920" y="2907791"/>
            <a:ext cx="91440" cy="960120"/>
          </a:xfrm>
          <a:prstGeom prst="rect">
            <a:avLst/>
          </a:prstGeom>
          <a:solidFill>
            <a:srgbClr val="C62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731520" y="2953511"/>
            <a:ext cx="3017520" cy="4114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00" b="1" i="0">
                <a:solidFill>
                  <a:srgbClr val="1E2230"/>
                </a:solidFill>
                <a:latin typeface="IBM Plex Sans"/>
              </a:rPr>
              <a:t>Bug-report anchoring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023360" y="2953511"/>
            <a:ext cx="1828800" cy="4114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no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5B6272"/>
                </a:solidFill>
                <a:latin typeface="IBM Plex Mono"/>
              </a:rPr>
              <a:t>Math_90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3346703"/>
            <a:ext cx="512064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0" i="0">
                <a:solidFill>
                  <a:srgbClr val="5B6272"/>
                </a:solidFill>
                <a:latin typeface="IBM Plex Sans"/>
              </a:rPr>
              <a:t>a fix suggested in the report becomes the label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02920" y="3986783"/>
            <a:ext cx="5486400" cy="960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D4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ectangle 22"/>
          <p:cNvSpPr/>
          <p:nvPr/>
        </p:nvSpPr>
        <p:spPr>
          <a:xfrm>
            <a:off x="502920" y="3986783"/>
            <a:ext cx="91440" cy="960120"/>
          </a:xfrm>
          <a:prstGeom prst="rect">
            <a:avLst/>
          </a:prstGeom>
          <a:solidFill>
            <a:srgbClr val="C62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731520" y="4032503"/>
            <a:ext cx="3017520" cy="4114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00" b="1" i="0">
                <a:solidFill>
                  <a:srgbClr val="1E2230"/>
                </a:solidFill>
                <a:latin typeface="IBM Plex Sans"/>
              </a:rPr>
              <a:t>Surface syntax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023360" y="4032503"/>
            <a:ext cx="1828800" cy="4114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no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5B6272"/>
                </a:solidFill>
                <a:latin typeface="IBM Plex Mono"/>
              </a:rPr>
              <a:t>Math_23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1520" y="4425696"/>
            <a:ext cx="512064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0" i="0">
                <a:solidFill>
                  <a:srgbClr val="5B6272"/>
                </a:solidFill>
                <a:latin typeface="IBM Plex Sans"/>
              </a:rPr>
              <a:t>post-fix run labels the patch shape, not the ODC definition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02920" y="5065776"/>
            <a:ext cx="5486400" cy="960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D4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Rectangle 27"/>
          <p:cNvSpPr/>
          <p:nvPr/>
        </p:nvSpPr>
        <p:spPr>
          <a:xfrm>
            <a:off x="502920" y="5065776"/>
            <a:ext cx="91440" cy="960120"/>
          </a:xfrm>
          <a:prstGeom prst="rect">
            <a:avLst/>
          </a:prstGeom>
          <a:solidFill>
            <a:srgbClr val="C62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731520" y="5111496"/>
            <a:ext cx="3017520" cy="4114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00" b="1" i="0">
                <a:solidFill>
                  <a:srgbClr val="1E2230"/>
                </a:solidFill>
                <a:latin typeface="IBM Plex Sans"/>
              </a:rPr>
              <a:t>Underdetermined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023360" y="5111496"/>
            <a:ext cx="1828800" cy="4114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no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5B6272"/>
                </a:solidFill>
                <a:latin typeface="IBM Plex Mono"/>
              </a:rPr>
              <a:t>Lang_20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31520" y="5504688"/>
            <a:ext cx="512064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0" i="0">
                <a:solidFill>
                  <a:srgbClr val="5B6272"/>
                </a:solidFill>
                <a:latin typeface="IBM Plex Sans"/>
              </a:rPr>
              <a:t>two valid fixes imply two different ODC types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263640" y="1417320"/>
            <a:ext cx="5394960" cy="4114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5B6272"/>
                </a:solidFill>
                <a:latin typeface="IBM Plex Mono"/>
              </a:rPr>
              <a:t>Gemini vs gpt-5-mini, same bugs &amp; prompts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263640" y="1828800"/>
            <a:ext cx="5422392" cy="1691640"/>
          </a:xfrm>
          <a:prstGeom prst="roundRect">
            <a:avLst>
              <a:gd name="adj" fmla="val 5000"/>
            </a:avLst>
          </a:prstGeom>
          <a:solidFill>
            <a:srgbClr val="E4F3E8"/>
          </a:solidFill>
          <a:ln w="15875">
            <a:solidFill>
              <a:srgbClr val="2381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6446520" y="1874519"/>
            <a:ext cx="5029200" cy="4114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00" b="1" i="0">
                <a:solidFill>
                  <a:srgbClr val="23813F"/>
                </a:solidFill>
                <a:latin typeface="IBM Plex Sans"/>
              </a:rPr>
              <a:t>Comes from the pipeline (both models)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46520" y="2286000"/>
            <a:ext cx="5074920" cy="1417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no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600" b="0" i="0">
                <a:solidFill>
                  <a:srgbClr val="1E2230"/>
                </a:solidFill>
                <a:latin typeface="IBM Plex Sans"/>
              </a:rPr>
              <a:t>› loop beats few-shot pre-fix: </a:t>
            </a:r>
            <a:r>
              <a:rPr sz="1600" b="1" i="0">
                <a:solidFill>
                  <a:srgbClr val="1E2230"/>
                </a:solidFill>
                <a:latin typeface="IBM Plex Mono"/>
              </a:rPr>
              <a:t>6 vs 4</a:t>
            </a:r>
          </a:p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600" b="0" i="0">
                <a:solidFill>
                  <a:srgbClr val="1E2230"/>
                </a:solidFill>
                <a:latin typeface="IBM Plex Sans"/>
              </a:rPr>
              <a:t>› fix resolves ambiguity: few post-fix </a:t>
            </a:r>
            <a:r>
              <a:rPr sz="1600" b="1" i="0">
                <a:solidFill>
                  <a:srgbClr val="1E2230"/>
                </a:solidFill>
                <a:latin typeface="IBM Plex Mono"/>
              </a:rPr>
              <a:t>11 · 12</a:t>
            </a:r>
          </a:p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600" b="0" i="0">
                <a:solidFill>
                  <a:srgbClr val="1E2230"/>
                </a:solidFill>
                <a:latin typeface="IBM Plex Sans"/>
              </a:rPr>
              <a:t>› same failures on Chart_17, Math_90, Lang_20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263640" y="3703320"/>
            <a:ext cx="5422392" cy="25146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875">
            <a:solidFill>
              <a:srgbClr val="C466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TextBox 36"/>
          <p:cNvSpPr txBox="1"/>
          <p:nvPr/>
        </p:nvSpPr>
        <p:spPr>
          <a:xfrm>
            <a:off x="6446520" y="3749039"/>
            <a:ext cx="5029200" cy="4114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00" b="1" i="0">
                <a:solidFill>
                  <a:srgbClr val="C4661F"/>
                </a:solidFill>
                <a:latin typeface="IBM Plex Sans"/>
              </a:rPr>
              <a:t>Comes from the model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446520" y="4187952"/>
            <a:ext cx="5074920" cy="19659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no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600" b="0" i="0">
                <a:solidFill>
                  <a:srgbClr val="1E2230"/>
                </a:solidFill>
                <a:latin typeface="IBM Plex Sans"/>
              </a:rPr>
              <a:t>› loop uses the fix diff: </a:t>
            </a:r>
            <a:r>
              <a:rPr sz="1600" b="1" i="0">
                <a:solidFill>
                  <a:srgbClr val="1E2230"/>
                </a:solidFill>
                <a:latin typeface="IBM Plex Mono"/>
              </a:rPr>
              <a:t>6 vs 11</a:t>
            </a:r>
            <a:r>
              <a:rPr sz="1600" b="0" i="0">
                <a:solidFill>
                  <a:srgbClr val="1E2230"/>
                </a:solidFill>
                <a:latin typeface="IBM Plex Sans"/>
              </a:rPr>
              <a:t> of 13</a:t>
            </a:r>
          </a:p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600" b="0" i="0">
                <a:solidFill>
                  <a:srgbClr val="1E2230"/>
                </a:solidFill>
                <a:latin typeface="IBM Plex Sans"/>
              </a:rPr>
              <a:t>› probes per run: </a:t>
            </a:r>
            <a:r>
              <a:rPr sz="1600" b="1" i="0">
                <a:solidFill>
                  <a:srgbClr val="1E2230"/>
                </a:solidFill>
                <a:latin typeface="IBM Plex Mono"/>
              </a:rPr>
              <a:t>1.7 vs 3.0</a:t>
            </a:r>
          </a:p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600" b="0" i="0">
                <a:solidFill>
                  <a:srgbClr val="1E2230"/>
                </a:solidFill>
                <a:latin typeface="IBM Plex Sans"/>
              </a:rPr>
              <a:t>› only 3 of 6 correct bugs shared</a:t>
            </a:r>
          </a:p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600" b="0" i="0">
                <a:solidFill>
                  <a:srgbClr val="1E2230"/>
                </a:solidFill>
                <a:latin typeface="IBM Plex Sans"/>
              </a:rPr>
              <a:t>› loop output depends more on the model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502920" y="384048"/>
            <a:ext cx="82296" cy="868680"/>
          </a:xfrm>
          <a:prstGeom prst="rect">
            <a:avLst/>
          </a:prstGeom>
          <a:solidFill>
            <a:srgbClr val="C466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713232" y="274320"/>
            <a:ext cx="10515600" cy="384048"/>
          </a:xfrm>
          <a:prstGeom prst="rect">
            <a:avLst/>
          </a:prstGeom>
          <a:noFill/>
        </p:spPr>
        <p:txBody>
          <a:bodyPr wrap="square" lIns="36576" rIns="36576" tIns="36576" bIns="36576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C4661F"/>
                </a:solidFill>
                <a:latin typeface="IBM Plex Mono"/>
              </a:rPr>
              <a:t>// </a:t>
            </a:r>
            <a:r>
              <a:rPr sz="1500" b="1" i="0">
                <a:solidFill>
                  <a:srgbClr val="C4661F"/>
                </a:solidFill>
                <a:latin typeface="IBM Plex Mono"/>
              </a:rPr>
              <a:t>23  THREATS TO VALIDITY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603504"/>
            <a:ext cx="10972800" cy="6858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1E2230"/>
                </a:solidFill>
                <a:latin typeface="IBM Plex Sans"/>
              </a:rPr>
              <a:t>What Could Undermine These Results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02920" y="6355080"/>
            <a:ext cx="11183112" cy="0"/>
          </a:xfrm>
          <a:prstGeom prst="line">
            <a:avLst/>
          </a:prstGeom>
          <a:ln w="12700">
            <a:solidFill>
              <a:srgbClr val="D8D4C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502920" y="6437376"/>
            <a:ext cx="502920" cy="329184"/>
          </a:xfrm>
          <a:prstGeom prst="roundRect">
            <a:avLst>
              <a:gd name="adj" fmla="val 30000"/>
            </a:avLst>
          </a:prstGeom>
          <a:solidFill>
            <a:srgbClr val="C466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502920" y="6437376"/>
            <a:ext cx="502920" cy="329184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IBM Plex Mono"/>
              </a:rPr>
              <a:t>P3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6419088"/>
            <a:ext cx="6400800" cy="36576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5B6272"/>
                </a:solidFill>
                <a:latin typeface="IBM Plex Mono"/>
              </a:rPr>
              <a:t>RESULTS &amp; ANALYSIS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92640" y="6382512"/>
            <a:ext cx="2011680" cy="43891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no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800" b="1" i="0">
                <a:solidFill>
                  <a:srgbClr val="1E2230"/>
                </a:solidFill>
                <a:latin typeface="IBM Plex Mono"/>
              </a:rPr>
              <a:t>23 / 24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1463040"/>
            <a:ext cx="5513832" cy="20574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8D4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ectangle 11"/>
          <p:cNvSpPr/>
          <p:nvPr/>
        </p:nvSpPr>
        <p:spPr>
          <a:xfrm>
            <a:off x="502920" y="1463040"/>
            <a:ext cx="5513832" cy="73152"/>
          </a:xfrm>
          <a:prstGeom prst="rect">
            <a:avLst/>
          </a:prstGeom>
          <a:solidFill>
            <a:srgbClr val="C466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731520" y="1627632"/>
            <a:ext cx="5029200" cy="4572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000" b="1" i="0">
                <a:solidFill>
                  <a:srgbClr val="1E2230"/>
                </a:solidFill>
                <a:latin typeface="IBM Plex Sans"/>
              </a:rPr>
              <a:t>Internal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2066544"/>
            <a:ext cx="5120640" cy="1417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no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600" b="1" i="0">
                <a:solidFill>
                  <a:srgbClr val="C4661F"/>
                </a:solidFill>
                <a:latin typeface="IBM Plex Sans"/>
              </a:rPr>
              <a:t>› </a:t>
            </a:r>
            <a:r>
              <a:rPr sz="1600" b="0" i="0">
                <a:solidFill>
                  <a:srgbClr val="5B6272"/>
                </a:solidFill>
                <a:latin typeface="IBM Plex Sans"/>
              </a:rPr>
              <a:t>LLM output is non-deterministic</a:t>
            </a:r>
          </a:p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600" b="1" i="0">
                <a:solidFill>
                  <a:srgbClr val="C4661F"/>
                </a:solidFill>
                <a:latin typeface="IBM Plex Sans"/>
              </a:rPr>
              <a:t>› </a:t>
            </a:r>
            <a:r>
              <a:rPr sz="1600" b="0" i="0">
                <a:solidFill>
                  <a:srgbClr val="5B6272"/>
                </a:solidFill>
                <a:latin typeface="IBM Plex Sans"/>
              </a:rPr>
              <a:t>pre-fix evidence sanitized against fix leakage</a:t>
            </a:r>
          </a:p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600" b="1" i="0">
                <a:solidFill>
                  <a:srgbClr val="C4661F"/>
                </a:solidFill>
                <a:latin typeface="IBM Plex Sans"/>
              </a:rPr>
              <a:t>› </a:t>
            </a:r>
            <a:r>
              <a:rPr sz="1600" b="0" i="0">
                <a:solidFill>
                  <a:srgbClr val="5B6272"/>
                </a:solidFill>
                <a:latin typeface="IBM Plex Sans"/>
              </a:rPr>
              <a:t>prompt names no expected distribution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72200" y="1463040"/>
            <a:ext cx="5513832" cy="20574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8D4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6172200" y="1463040"/>
            <a:ext cx="5513832" cy="73152"/>
          </a:xfrm>
          <a:prstGeom prst="rect">
            <a:avLst/>
          </a:prstGeom>
          <a:solidFill>
            <a:srgbClr val="C466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400800" y="1627632"/>
            <a:ext cx="5029200" cy="4572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000" b="1" i="0">
                <a:solidFill>
                  <a:srgbClr val="1E2230"/>
                </a:solidFill>
                <a:latin typeface="IBM Plex Sans"/>
              </a:rPr>
              <a:t>Construct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2066544"/>
            <a:ext cx="5120640" cy="1417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no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600" b="1" i="0">
                <a:solidFill>
                  <a:srgbClr val="C4661F"/>
                </a:solidFill>
                <a:latin typeface="IBM Plex Sans"/>
              </a:rPr>
              <a:t>› </a:t>
            </a:r>
            <a:r>
              <a:rPr sz="1600" b="0" i="0">
                <a:solidFill>
                  <a:srgbClr val="5B6272"/>
                </a:solidFill>
                <a:latin typeface="IBM Plex Sans"/>
              </a:rPr>
              <a:t>agreement ≠ correctness</a:t>
            </a:r>
          </a:p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600" b="1" i="0">
                <a:solidFill>
                  <a:srgbClr val="C4661F"/>
                </a:solidFill>
                <a:latin typeface="IBM Plex Sans"/>
              </a:rPr>
              <a:t>› </a:t>
            </a:r>
            <a:r>
              <a:rPr sz="1600" b="0" i="0">
                <a:solidFill>
                  <a:srgbClr val="5B6272"/>
                </a:solidFill>
                <a:latin typeface="IBM Plex Sans"/>
              </a:rPr>
              <a:t>modified class missing from evidence for 285 / 410 bugs</a:t>
            </a:r>
          </a:p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600" b="1" i="0">
                <a:solidFill>
                  <a:srgbClr val="C4661F"/>
                </a:solidFill>
                <a:latin typeface="IBM Plex Sans"/>
              </a:rPr>
              <a:t>› </a:t>
            </a:r>
            <a:r>
              <a:rPr sz="1600" b="0" i="0">
                <a:solidFill>
                  <a:srgbClr val="5B6272"/>
                </a:solidFill>
                <a:latin typeface="IBM Plex Sans"/>
              </a:rPr>
              <a:t>zero-free used the earlier evidence corpus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3657600"/>
            <a:ext cx="5513832" cy="20574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8D4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ectangle 19"/>
          <p:cNvSpPr/>
          <p:nvPr/>
        </p:nvSpPr>
        <p:spPr>
          <a:xfrm>
            <a:off x="502920" y="3657600"/>
            <a:ext cx="5513832" cy="73152"/>
          </a:xfrm>
          <a:prstGeom prst="rect">
            <a:avLst/>
          </a:prstGeom>
          <a:solidFill>
            <a:srgbClr val="C466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731520" y="3822191"/>
            <a:ext cx="5029200" cy="4572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000" b="1" i="0">
                <a:solidFill>
                  <a:srgbClr val="1E2230"/>
                </a:solidFill>
                <a:latin typeface="IBM Plex Sans"/>
              </a:rPr>
              <a:t>External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20" y="4261104"/>
            <a:ext cx="5120640" cy="1417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no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600" b="1" i="0">
                <a:solidFill>
                  <a:srgbClr val="C4661F"/>
                </a:solidFill>
                <a:latin typeface="IBM Plex Sans"/>
              </a:rPr>
              <a:t>› </a:t>
            </a:r>
            <a:r>
              <a:rPr sz="1600" b="0" i="0">
                <a:solidFill>
                  <a:srgbClr val="5B6272"/>
                </a:solidFill>
                <a:latin typeface="IBM Plex Sans"/>
              </a:rPr>
              <a:t>6 of 17 projects; Closure 153 of 174</a:t>
            </a:r>
          </a:p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600" b="1" i="0">
                <a:solidFill>
                  <a:srgbClr val="C4661F"/>
                </a:solidFill>
                <a:latin typeface="IBM Plex Sans"/>
              </a:rPr>
              <a:t>› </a:t>
            </a:r>
            <a:r>
              <a:rPr sz="1600" b="0" i="0">
                <a:solidFill>
                  <a:srgbClr val="5B6272"/>
                </a:solidFill>
                <a:latin typeface="IBM Plex Sans"/>
              </a:rPr>
              <a:t>corpus results from one model</a:t>
            </a:r>
          </a:p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600" b="1" i="0">
                <a:solidFill>
                  <a:srgbClr val="C4661F"/>
                </a:solidFill>
                <a:latin typeface="IBM Plex Sans"/>
              </a:rPr>
              <a:t>› </a:t>
            </a:r>
            <a:r>
              <a:rPr sz="1600" b="0" i="0">
                <a:solidFill>
                  <a:srgbClr val="5B6272"/>
                </a:solidFill>
                <a:latin typeface="IBM Plex Sans"/>
              </a:rPr>
              <a:t>Java and Defects4J only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172200" y="3657600"/>
            <a:ext cx="5513832" cy="20574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8D4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ectangle 23"/>
          <p:cNvSpPr/>
          <p:nvPr/>
        </p:nvSpPr>
        <p:spPr>
          <a:xfrm>
            <a:off x="6172200" y="3657600"/>
            <a:ext cx="5513832" cy="73152"/>
          </a:xfrm>
          <a:prstGeom prst="rect">
            <a:avLst/>
          </a:prstGeom>
          <a:solidFill>
            <a:srgbClr val="C466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6400800" y="3822191"/>
            <a:ext cx="5029200" cy="4572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000" b="1" i="0">
                <a:solidFill>
                  <a:srgbClr val="1E2230"/>
                </a:solidFill>
                <a:latin typeface="IBM Plex Sans"/>
              </a:rPr>
              <a:t>Conclusion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0" y="4261104"/>
            <a:ext cx="5120640" cy="1417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no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600" b="1" i="0">
                <a:solidFill>
                  <a:srgbClr val="C4661F"/>
                </a:solidFill>
                <a:latin typeface="IBM Plex Sans"/>
              </a:rPr>
              <a:t>› </a:t>
            </a:r>
            <a:r>
              <a:rPr sz="1600" b="0" i="0">
                <a:solidFill>
                  <a:srgbClr val="5B6272"/>
                </a:solidFill>
                <a:latin typeface="IBM Plex Sans"/>
              </a:rPr>
              <a:t>one run per bug per condition</a:t>
            </a:r>
          </a:p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600" b="1" i="0">
                <a:solidFill>
                  <a:srgbClr val="C4661F"/>
                </a:solidFill>
                <a:latin typeface="IBM Plex Sans"/>
              </a:rPr>
              <a:t>› </a:t>
            </a:r>
            <a:r>
              <a:rPr sz="1600" b="0" i="0">
                <a:solidFill>
                  <a:srgbClr val="5B6272"/>
                </a:solidFill>
                <a:latin typeface="IBM Plex Sans"/>
              </a:rPr>
              <a:t>bootstrap / permutation values are estimates</a:t>
            </a:r>
          </a:p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600" b="1" i="0">
                <a:solidFill>
                  <a:srgbClr val="C4661F"/>
                </a:solidFill>
                <a:latin typeface="IBM Plex Sans"/>
              </a:rPr>
              <a:t>› </a:t>
            </a:r>
            <a:r>
              <a:rPr sz="1600" b="0" i="0">
                <a:solidFill>
                  <a:srgbClr val="5B6272"/>
                </a:solidFill>
                <a:latin typeface="IBM Plex Sans"/>
              </a:rPr>
              <a:t>13-bug analysis: purposive, single rater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2920" y="5916168"/>
            <a:ext cx="11155680" cy="384048"/>
          </a:xfrm>
          <a:prstGeom prst="rect">
            <a:avLst/>
          </a:prstGeom>
          <a:noFill/>
        </p:spPr>
        <p:txBody>
          <a:bodyPr wrap="square" lIns="36576" rIns="36576" tIns="36576" bIns="36576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0" i="0">
                <a:solidFill>
                  <a:srgbClr val="5B6272"/>
                </a:solidFill>
                <a:latin typeface="IBM Plex Sans"/>
              </a:rPr>
              <a:t>Also: possible pre-training exposure to Defects4J; model confidence fields are not a usable signal.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502920" y="384048"/>
            <a:ext cx="82296" cy="868680"/>
          </a:xfrm>
          <a:prstGeom prst="rect">
            <a:avLst/>
          </a:prstGeom>
          <a:solidFill>
            <a:srgbClr val="C466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713232" y="274320"/>
            <a:ext cx="10515600" cy="384048"/>
          </a:xfrm>
          <a:prstGeom prst="rect">
            <a:avLst/>
          </a:prstGeom>
          <a:noFill/>
        </p:spPr>
        <p:txBody>
          <a:bodyPr wrap="square" lIns="36576" rIns="36576" tIns="36576" bIns="36576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C4661F"/>
                </a:solidFill>
                <a:latin typeface="IBM Plex Mono"/>
              </a:rPr>
              <a:t>// </a:t>
            </a:r>
            <a:r>
              <a:rPr sz="1500" b="1" i="0">
                <a:solidFill>
                  <a:srgbClr val="C4661F"/>
                </a:solidFill>
                <a:latin typeface="IBM Plex Mono"/>
              </a:rPr>
              <a:t>24  CONCLUSION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603504"/>
            <a:ext cx="10972800" cy="6858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1E2230"/>
                </a:solidFill>
                <a:latin typeface="IBM Plex Sans"/>
              </a:rPr>
              <a:t>Conclusion and Future Work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02920" y="6355080"/>
            <a:ext cx="11183112" cy="0"/>
          </a:xfrm>
          <a:prstGeom prst="line">
            <a:avLst/>
          </a:prstGeom>
          <a:ln w="12700">
            <a:solidFill>
              <a:srgbClr val="D8D4C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502920" y="6437376"/>
            <a:ext cx="502920" cy="329184"/>
          </a:xfrm>
          <a:prstGeom prst="roundRect">
            <a:avLst>
              <a:gd name="adj" fmla="val 30000"/>
            </a:avLst>
          </a:prstGeom>
          <a:solidFill>
            <a:srgbClr val="C466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502920" y="6437376"/>
            <a:ext cx="502920" cy="329184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IBM Plex Mono"/>
              </a:rPr>
              <a:t>P3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6419088"/>
            <a:ext cx="6400800" cy="36576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5B6272"/>
                </a:solidFill>
                <a:latin typeface="IBM Plex Mono"/>
              </a:rPr>
              <a:t>RESULTS &amp; ANALYSIS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92640" y="6382512"/>
            <a:ext cx="2011680" cy="43891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no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800" b="1" i="0">
                <a:solidFill>
                  <a:srgbClr val="1E2230"/>
                </a:solidFill>
                <a:latin typeface="IBM Plex Mono"/>
              </a:rPr>
              <a:t>24 / 24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1417320"/>
            <a:ext cx="5943600" cy="4114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5B6272"/>
                </a:solidFill>
                <a:latin typeface="IBM Plex Mono"/>
              </a:rPr>
              <a:t>Contributions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1828800"/>
            <a:ext cx="5852160" cy="26517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noAutofit/>
          </a:bodyPr>
          <a:lstStyle/>
          <a:p>
            <a:pPr algn="l">
              <a:lnSpc>
                <a:spcPct val="100000"/>
              </a:lnSpc>
              <a:spcAft>
                <a:spcPts val="700"/>
              </a:spcAft>
            </a:pPr>
            <a:r>
              <a:rPr sz="1700" b="1" i="0">
                <a:solidFill>
                  <a:srgbClr val="23813F"/>
                </a:solidFill>
                <a:latin typeface="IBM Plex Sans"/>
              </a:rPr>
              <a:t>✓ </a:t>
            </a:r>
            <a:r>
              <a:rPr sz="1700" b="0" i="0">
                <a:solidFill>
                  <a:srgbClr val="1E2230"/>
                </a:solidFill>
                <a:latin typeface="IBM Plex Sans"/>
              </a:rPr>
              <a:t>Taxonomy × strategy condition space</a:t>
            </a:r>
          </a:p>
          <a:p>
            <a:pPr algn="l">
              <a:lnSpc>
                <a:spcPct val="100000"/>
              </a:lnSpc>
              <a:spcAft>
                <a:spcPts val="700"/>
              </a:spcAft>
            </a:pPr>
            <a:r>
              <a:rPr sz="1700" b="1" i="0">
                <a:solidFill>
                  <a:srgbClr val="23813F"/>
                </a:solidFill>
                <a:latin typeface="IBM Plex Sans"/>
              </a:rPr>
              <a:t>✓ </a:t>
            </a:r>
            <a:r>
              <a:rPr sz="1700" b="0" i="0">
                <a:solidFill>
                  <a:srgbClr val="1E2230"/>
                </a:solidFill>
                <a:latin typeface="IBM Plex Sans"/>
              </a:rPr>
              <a:t>Open ODC with a justified “Other” escape</a:t>
            </a:r>
          </a:p>
          <a:p>
            <a:pPr algn="l">
              <a:lnSpc>
                <a:spcPct val="100000"/>
              </a:lnSpc>
              <a:spcAft>
                <a:spcPts val="700"/>
              </a:spcAft>
            </a:pPr>
            <a:r>
              <a:rPr sz="1700" b="1" i="0">
                <a:solidFill>
                  <a:srgbClr val="23813F"/>
                </a:solidFill>
                <a:latin typeface="IBM Plex Sans"/>
              </a:rPr>
              <a:t>✓ </a:t>
            </a:r>
            <a:r>
              <a:rPr sz="1700" b="0" i="0">
                <a:solidFill>
                  <a:srgbClr val="1E2230"/>
                </a:solidFill>
                <a:latin typeface="IBM Plex Sans"/>
              </a:rPr>
              <a:t>Enforced hypothesis–probe loop with auditable transcripts</a:t>
            </a:r>
          </a:p>
          <a:p>
            <a:pPr algn="l">
              <a:lnSpc>
                <a:spcPct val="100000"/>
              </a:lnSpc>
              <a:spcAft>
                <a:spcPts val="700"/>
              </a:spcAft>
            </a:pPr>
            <a:r>
              <a:rPr sz="1700" b="1" i="0">
                <a:solidFill>
                  <a:srgbClr val="23813F"/>
                </a:solidFill>
                <a:latin typeface="IBM Plex Sans"/>
              </a:rPr>
              <a:t>✓ </a:t>
            </a:r>
            <a:r>
              <a:rPr sz="1700" b="0" i="0">
                <a:solidFill>
                  <a:srgbClr val="1E2230"/>
                </a:solidFill>
                <a:latin typeface="IBM Plex Sans"/>
              </a:rPr>
              <a:t>Pre-fix / post-fix evaluation without ground truth</a:t>
            </a:r>
          </a:p>
          <a:p>
            <a:pPr algn="l">
              <a:lnSpc>
                <a:spcPct val="100000"/>
              </a:lnSpc>
              <a:spcAft>
                <a:spcPts val="700"/>
              </a:spcAft>
            </a:pPr>
            <a:r>
              <a:rPr sz="1700" b="1" i="0">
                <a:solidFill>
                  <a:srgbClr val="23813F"/>
                </a:solidFill>
                <a:latin typeface="IBM Plex Sans"/>
              </a:rPr>
              <a:t>✓ </a:t>
            </a:r>
            <a:r>
              <a:rPr sz="1700" b="0" i="0">
                <a:solidFill>
                  <a:srgbClr val="1E2230"/>
                </a:solidFill>
                <a:latin typeface="IBM Plex Sans"/>
              </a:rPr>
              <a:t>Results on 410 bugs, analysed with two LLMs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0" y="1417320"/>
            <a:ext cx="5120640" cy="4114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5B6272"/>
                </a:solidFill>
                <a:latin typeface="IBM Plex Mono"/>
              </a:rPr>
              <a:t>Future work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0" y="1828800"/>
            <a:ext cx="5120640" cy="26517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noAutofit/>
          </a:bodyPr>
          <a:lstStyle/>
          <a:p>
            <a:pPr algn="l">
              <a:lnSpc>
                <a:spcPct val="100000"/>
              </a:lnSpc>
              <a:spcAft>
                <a:spcPts val="700"/>
              </a:spcAft>
            </a:pPr>
            <a:r>
              <a:rPr sz="1700" b="1" i="0">
                <a:solidFill>
                  <a:srgbClr val="C4661F"/>
                </a:solidFill>
                <a:latin typeface="IBM Plex Sans"/>
              </a:rPr>
              <a:t>→ </a:t>
            </a:r>
            <a:r>
              <a:rPr sz="1700" b="0" i="0">
                <a:solidFill>
                  <a:srgbClr val="1E2230"/>
                </a:solidFill>
                <a:latin typeface="IBM Plex Sans"/>
              </a:rPr>
              <a:t>Human reference labels for a random sample</a:t>
            </a:r>
          </a:p>
          <a:p>
            <a:pPr algn="l">
              <a:lnSpc>
                <a:spcPct val="100000"/>
              </a:lnSpc>
              <a:spcAft>
                <a:spcPts val="700"/>
              </a:spcAft>
            </a:pPr>
            <a:r>
              <a:rPr sz="1700" b="1" i="0">
                <a:solidFill>
                  <a:srgbClr val="C4661F"/>
                </a:solidFill>
                <a:latin typeface="IBM Plex Sans"/>
              </a:rPr>
              <a:t>→ </a:t>
            </a:r>
            <a:r>
              <a:rPr sz="1700" b="0" i="0">
                <a:solidFill>
                  <a:srgbClr val="1E2230"/>
                </a:solidFill>
                <a:latin typeface="IBM Plex Sans"/>
              </a:rPr>
              <a:t>Grade the reasoning, not only the label</a:t>
            </a:r>
          </a:p>
          <a:p>
            <a:pPr algn="l">
              <a:lnSpc>
                <a:spcPct val="100000"/>
              </a:lnSpc>
              <a:spcAft>
                <a:spcPts val="700"/>
              </a:spcAft>
            </a:pPr>
            <a:r>
              <a:rPr sz="1700" b="1" i="0">
                <a:solidFill>
                  <a:srgbClr val="C4661F"/>
                </a:solidFill>
                <a:latin typeface="IBM Plex Sans"/>
              </a:rPr>
              <a:t>→ </a:t>
            </a:r>
            <a:r>
              <a:rPr sz="1700" b="0" i="0">
                <a:solidFill>
                  <a:srgbClr val="1E2230"/>
                </a:solidFill>
                <a:latin typeface="IBM Plex Sans"/>
              </a:rPr>
              <a:t>Full corpus with more LLMs and consensus</a:t>
            </a:r>
          </a:p>
          <a:p>
            <a:pPr algn="l">
              <a:lnSpc>
                <a:spcPct val="100000"/>
              </a:lnSpc>
              <a:spcAft>
                <a:spcPts val="700"/>
              </a:spcAft>
            </a:pPr>
            <a:r>
              <a:rPr sz="1700" b="1" i="0">
                <a:solidFill>
                  <a:srgbClr val="C4661F"/>
                </a:solidFill>
                <a:latin typeface="IBM Plex Sans"/>
              </a:rPr>
              <a:t>→ </a:t>
            </a:r>
            <a:r>
              <a:rPr sz="1700" b="0" i="0">
                <a:solidFill>
                  <a:srgbClr val="1E2230"/>
                </a:solidFill>
                <a:latin typeface="IBM Plex Sans"/>
              </a:rPr>
              <a:t>Impact, Trigger and Age attributes</a:t>
            </a:r>
          </a:p>
          <a:p>
            <a:pPr algn="l">
              <a:lnSpc>
                <a:spcPct val="100000"/>
              </a:lnSpc>
              <a:spcAft>
                <a:spcPts val="700"/>
              </a:spcAft>
            </a:pPr>
            <a:r>
              <a:rPr sz="1700" b="1" i="0">
                <a:solidFill>
                  <a:srgbClr val="C4661F"/>
                </a:solidFill>
                <a:latin typeface="IBM Plex Sans"/>
              </a:rPr>
              <a:t>→ </a:t>
            </a:r>
            <a:r>
              <a:rPr sz="1700" b="0" i="0">
                <a:solidFill>
                  <a:srgbClr val="1E2230"/>
                </a:solidFill>
                <a:latin typeface="IBM Plex Sans"/>
              </a:rPr>
              <a:t>All Defects4J projects, other benchmarks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4526280"/>
            <a:ext cx="11183112" cy="1691640"/>
          </a:xfrm>
          <a:prstGeom prst="roundRect">
            <a:avLst>
              <a:gd name="adj" fmla="val 5000"/>
            </a:avLst>
          </a:prstGeom>
          <a:solidFill>
            <a:srgbClr val="1E22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731520" y="4663440"/>
            <a:ext cx="2651760" cy="7772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8FD3A2"/>
                </a:solidFill>
                <a:latin typeface="IBM Plex Mono"/>
              </a:rPr>
              <a:t>97.8%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5413248"/>
            <a:ext cx="2651760" cy="5486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0" i="0">
                <a:solidFill>
                  <a:srgbClr val="C9CFDB"/>
                </a:solidFill>
                <a:latin typeface="IBM Plex Sans"/>
              </a:rPr>
              <a:t>three types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93008" y="4663440"/>
            <a:ext cx="2651760" cy="7772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F2C57C"/>
                </a:solidFill>
                <a:latin typeface="IBM Plex Mono"/>
              </a:rPr>
              <a:t>0 / 1,640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93008" y="5413248"/>
            <a:ext cx="2651760" cy="5486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0" i="0">
                <a:solidFill>
                  <a:srgbClr val="C9CFDB"/>
                </a:solidFill>
                <a:latin typeface="IBM Plex Sans"/>
              </a:rPr>
              <a:t>escapes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54496" y="4663440"/>
            <a:ext cx="2651760" cy="7772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8FD3A2"/>
                </a:solidFill>
                <a:latin typeface="IBM Plex Mono"/>
              </a:rPr>
              <a:t>70.2%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54496" y="5413248"/>
            <a:ext cx="2651760" cy="5486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0" i="0">
                <a:solidFill>
                  <a:srgbClr val="C9CFDB"/>
                </a:solidFill>
                <a:latin typeface="IBM Plex Sans"/>
              </a:rPr>
              <a:t>pre-fix match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015984" y="4663440"/>
            <a:ext cx="2651760" cy="7772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8FD3A2"/>
                </a:solidFill>
                <a:latin typeface="IBM Plex Mono"/>
              </a:rPr>
              <a:t>+0.115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015984" y="5413248"/>
            <a:ext cx="2651760" cy="5486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0" i="0">
                <a:solidFill>
                  <a:srgbClr val="C9CFDB"/>
                </a:solidFill>
                <a:latin typeface="IBM Plex Sans"/>
              </a:rPr>
              <a:t>Δκ from the loop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502920" y="384048"/>
            <a:ext cx="82296" cy="868680"/>
          </a:xfrm>
          <a:prstGeom prst="rect">
            <a:avLst/>
          </a:prstGeom>
          <a:solidFill>
            <a:srgbClr val="1E22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713232" y="274320"/>
            <a:ext cx="10515600" cy="384048"/>
          </a:xfrm>
          <a:prstGeom prst="rect">
            <a:avLst/>
          </a:prstGeom>
          <a:noFill/>
        </p:spPr>
        <p:txBody>
          <a:bodyPr wrap="square" lIns="36576" rIns="36576" tIns="36576" bIns="36576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1E2230"/>
                </a:solidFill>
                <a:latin typeface="IBM Plex Mono"/>
              </a:rPr>
              <a:t>// </a:t>
            </a:r>
            <a:r>
              <a:rPr sz="1500" b="1" i="0">
                <a:solidFill>
                  <a:srgbClr val="1E2230"/>
                </a:solidFill>
                <a:latin typeface="IBM Plex Mono"/>
              </a:rPr>
              <a:t>25  REFERENCES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603504"/>
            <a:ext cx="10972800" cy="6858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1E2230"/>
                </a:solidFill>
                <a:latin typeface="IBM Plex Sans"/>
              </a:rPr>
              <a:t>References (1/2)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1508760"/>
            <a:ext cx="10927080" cy="46634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noAutofit/>
          </a:bodyPr>
          <a:lstStyle/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500" b="0" i="0">
                <a:solidFill>
                  <a:srgbClr val="1E2230"/>
                </a:solidFill>
                <a:latin typeface="IBM Plex Sans"/>
              </a:rPr>
              <a:t>[1] R. Just, D. Jalali, and M. D. Ernst, “Defects4J: A Database of Existing Faults to Enable Controlled Testing Studies for Java Programs,” ISSTA, 2014.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500" b="0" i="0">
                <a:solidFill>
                  <a:srgbClr val="1E2230"/>
                </a:solidFill>
                <a:latin typeface="IBM Plex Sans"/>
              </a:rPr>
              <a:t>[2] R. Chillarege et al., “Orthogonal Defect Classification — A Concept for In-Process Measurements,” IEEE TSE, vol. 18, no. 11, 1992.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500" b="0" i="0">
                <a:solidFill>
                  <a:srgbClr val="1E2230"/>
                </a:solidFill>
                <a:latin typeface="IBM Plex Sans"/>
              </a:rPr>
              <a:t>[3] IBM, “Orthogonal Defect Classification v5.2 for Software Design and Code,” IBM Research, 2013.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500" b="0" i="0">
                <a:solidFill>
                  <a:srgbClr val="1E2230"/>
                </a:solidFill>
                <a:latin typeface="IBM Plex Sans"/>
              </a:rPr>
              <a:t>[4] A. Van der Spuy and B. Fischer, “An Anatomy of 488 Faults from Defects4J Based on the Control- and Data-Flow Graph Representations of Programs,” EASE, 2025.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500" b="0" i="0">
                <a:solidFill>
                  <a:srgbClr val="1E2230"/>
                </a:solidFill>
                <a:latin typeface="IBM Plex Sans"/>
              </a:rPr>
              <a:t>[5] V. Sobreira et al., “Dissection of a Bug Dataset: Anatomy of 395 Patches from Defects4J,” SANER, 2018.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500" b="0" i="0">
                <a:solidFill>
                  <a:srgbClr val="1E2230"/>
                </a:solidFill>
                <a:latin typeface="IBM Plex Sans"/>
              </a:rPr>
              <a:t>[6] J. Jiang, Y. Xiong, and X. Xia, “A Manual Inspection of Defects4J Bugs and Its Implications for Automatic Program Repair,” Science China Information Sciences, 2019.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500" b="0" i="0">
                <a:solidFill>
                  <a:srgbClr val="1E2230"/>
                </a:solidFill>
                <a:latin typeface="IBM Plex Sans"/>
              </a:rPr>
              <a:t>[7] G. Colavito et al., “Large Language Models for Issue Report Classification,” Ital-IA Workshops, 2024.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02920" y="6355080"/>
            <a:ext cx="11183112" cy="0"/>
          </a:xfrm>
          <a:prstGeom prst="line">
            <a:avLst/>
          </a:prstGeom>
          <a:ln w="12700">
            <a:solidFill>
              <a:srgbClr val="D8D4C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9692640" y="6382512"/>
            <a:ext cx="2011680" cy="43891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no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800" b="1" i="0">
                <a:solidFill>
                  <a:srgbClr val="1E2230"/>
                </a:solidFill>
                <a:latin typeface="IBM Plex Mono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502920" y="384048"/>
            <a:ext cx="82296" cy="868680"/>
          </a:xfrm>
          <a:prstGeom prst="rect">
            <a:avLst/>
          </a:prstGeom>
          <a:solidFill>
            <a:srgbClr val="1E22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713232" y="274320"/>
            <a:ext cx="10515600" cy="384048"/>
          </a:xfrm>
          <a:prstGeom prst="rect">
            <a:avLst/>
          </a:prstGeom>
          <a:noFill/>
        </p:spPr>
        <p:txBody>
          <a:bodyPr wrap="square" lIns="36576" rIns="36576" tIns="36576" bIns="36576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1E2230"/>
                </a:solidFill>
                <a:latin typeface="IBM Plex Mono"/>
              </a:rPr>
              <a:t>// </a:t>
            </a:r>
            <a:r>
              <a:rPr sz="1500" b="1" i="0">
                <a:solidFill>
                  <a:srgbClr val="1E2230"/>
                </a:solidFill>
                <a:latin typeface="IBM Plex Mono"/>
              </a:rPr>
              <a:t>26  REFERENCES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603504"/>
            <a:ext cx="10972800" cy="6858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1E2230"/>
                </a:solidFill>
                <a:latin typeface="IBM Plex Sans"/>
              </a:rPr>
              <a:t>References (2/2)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1508760"/>
            <a:ext cx="10927080" cy="46634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noAutofit/>
          </a:bodyPr>
          <a:lstStyle/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500" b="0" i="0">
                <a:solidFill>
                  <a:srgbClr val="1E2230"/>
                </a:solidFill>
                <a:latin typeface="IBM Plex Sans"/>
              </a:rPr>
              <a:t>[8] A. Koyuncu, “Exploring Fine-Grained Bug Report Categorization with Large Language Models and Prompt Engineering,” ACM TOSEM, 2026.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500" b="0" i="0">
                <a:solidFill>
                  <a:srgbClr val="1E2230"/>
                </a:solidFill>
                <a:latin typeface="IBM Plex Sans"/>
              </a:rPr>
              <a:t>[9] C. Li et al., “KnowBug: Enhancing Large Language Models with Bug Report Knowledge for Deep Learning Framework Bug Prediction,” Knowledge-Based Systems, 2024.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500" b="0" i="0">
                <a:solidFill>
                  <a:srgbClr val="1E2230"/>
                </a:solidFill>
                <a:latin typeface="IBM Plex Sans"/>
              </a:rPr>
              <a:t>[10] S. Kang, B. Chen, S. Yoo, and J.-G. Lou, “Explainable Automated Debugging via Large Language Model-driven Scientific Debugging,” Empirical Software Engineering, 2025.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500" b="0" i="0">
                <a:solidFill>
                  <a:srgbClr val="1E2230"/>
                </a:solidFill>
                <a:latin typeface="IBM Plex Sans"/>
              </a:rPr>
              <a:t>[11] K. Henningsson and C. Wohlin, “Assuring Fault Classification Agreement — An Empirical Evaluation,” ISESE, 2004.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500" b="0" i="0">
                <a:solidFill>
                  <a:srgbClr val="1E2230"/>
                </a:solidFill>
                <a:latin typeface="IBM Plex Sans"/>
              </a:rPr>
              <a:t>[12] J. Agnelo, N. Laranjeiro, and J. Bernardino, “Using Orthogonal Defect Classification to Characterize NoSQL Database Defects,” Journal of Systems and Software, 2020.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500" b="0" i="0">
                <a:solidFill>
                  <a:srgbClr val="1E2230"/>
                </a:solidFill>
                <a:latin typeface="IBM Plex Sans"/>
              </a:rPr>
              <a:t>[13] J. R. Landis and G. G. Koch, “The Measurement of Observer Agreement for Categorical Data,” Biometrics, vol. 33, no. 1, 1977.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02920" y="6355080"/>
            <a:ext cx="11183112" cy="0"/>
          </a:xfrm>
          <a:prstGeom prst="line">
            <a:avLst/>
          </a:prstGeom>
          <a:ln w="12700">
            <a:solidFill>
              <a:srgbClr val="D8D4C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9692640" y="6382512"/>
            <a:ext cx="2011680" cy="43891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no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800" b="1" i="0">
                <a:solidFill>
                  <a:srgbClr val="1E2230"/>
                </a:solidFill>
                <a:latin typeface="IBM Plex Mono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2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731520" y="2103120"/>
            <a:ext cx="10698480" cy="10972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4800" b="1" i="0">
                <a:solidFill>
                  <a:srgbClr val="F1959B"/>
                </a:solidFill>
                <a:latin typeface="IBM Plex Mono"/>
              </a:rPr>
              <a:t>- </a:t>
            </a:r>
            <a:r>
              <a:rPr sz="4800" b="1" i="0">
                <a:solidFill>
                  <a:srgbClr val="F1959B"/>
                </a:solidFill>
                <a:latin typeface="IBM Plex Mono"/>
              </a:rPr>
              <a:t>questions?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154680"/>
            <a:ext cx="10698480" cy="10972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4800" b="1" i="0">
                <a:solidFill>
                  <a:srgbClr val="8FD3A2"/>
                </a:solidFill>
                <a:latin typeface="IBM Plex Mono"/>
              </a:rPr>
              <a:t>+ </a:t>
            </a:r>
            <a:r>
              <a:rPr sz="4800" b="1" i="0">
                <a:solidFill>
                  <a:srgbClr val="8FD3A2"/>
                </a:solidFill>
                <a:latin typeface="IBM Plex Mono"/>
              </a:rPr>
              <a:t>thank you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4663440"/>
            <a:ext cx="10698480" cy="4572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800" b="0" i="0">
                <a:solidFill>
                  <a:srgbClr val="C9CFDB"/>
                </a:solidFill>
                <a:latin typeface="IBM Plex Sans"/>
              </a:rPr>
              <a:t>Orthogonal Defect Classification on Defects4J Using an LLM-Driven Scientific Approach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92640" y="6382512"/>
            <a:ext cx="2011680" cy="43891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no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800" b="1" i="0">
                <a:solidFill>
                  <a:srgbClr val="C9CFDB"/>
                </a:solidFill>
                <a:latin typeface="IBM Plex Mono"/>
              </a:rPr>
              <a:t>27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